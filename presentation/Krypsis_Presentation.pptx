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7A2B"/>
                </a:solidFill>
                <a:latin typeface="Calibri"/>
              </a:rPr>
              <a:t>COMPUTER NETWORKS — COURSE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172420"/>
                </a:solidFill>
                <a:latin typeface="Arial Black"/>
              </a:rPr>
              <a:t>KRYPSIS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56655D"/>
                </a:solidFill>
                <a:latin typeface="Calibri"/>
              </a:rPr>
              <a:t>Federated Learning–based Network Intrusion Detection with a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56655D"/>
                </a:solidFill>
                <a:latin typeface="Calibri"/>
              </a:rPr>
              <a:t>Custom Communication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5D"/>
                </a:solidFill>
                <a:latin typeface="Calibri"/>
              </a:rPr>
              <a:t>Rithika K · CB.SC.U4AIE25126      Pradhaniya S · CB.SC.U4AIE25148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5D"/>
                </a:solidFill>
                <a:latin typeface="Calibri"/>
              </a:rPr>
              <a:t>Sathya K · CB.SC.U4AIE25154      Vinudharshini PP · CB.SC.U4AIE25161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46B62"/>
                </a:solidFill>
                <a:latin typeface="Calibri"/>
              </a:rPr>
              <a:t>01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172420"/>
                </a:solidFill>
                <a:latin typeface="Arial Black"/>
              </a:rPr>
              <a:t>Why this project, and what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6B62"/>
                </a:solidFill>
                <a:latin typeface="Calibri"/>
              </a:rPr>
              <a:t>WHY WE CHOSE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172420"/>
                </a:solidFill>
                <a:latin typeface="Calibri"/>
              </a:rPr>
              <a:t>▪  Cyberattacks are growing faster than networks can be secured, and most detection systems assume traffic can be pooled onto one central server.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172420"/>
                </a:solidFill>
                <a:latin typeface="Calibri"/>
              </a:rPr>
              <a:t>▪  That pooling is often unsafe or illegal — traffic reveals internal structure, and privacy regulations restrict sharing it across organizations.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172420"/>
                </a:solidFill>
                <a:latin typeface="Calibri"/>
              </a:rPr>
              <a:t>▪  We wanted a project connecting course networking concepts — protocols, layers, distributed communication — to a live research problem in AI and security.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9659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6B62"/>
                </a:solidFill>
                <a:latin typeface="Calibri"/>
              </a:rPr>
              <a:t>WHAT THE PROJECT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37744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172420"/>
                </a:solidFill>
                <a:latin typeface="Calibri"/>
              </a:rPr>
              <a:t>▪  A Network Intrusion Detection System (NIDS) — watches network connections and classifies each as normal or attack.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172420"/>
                </a:solidFill>
                <a:latin typeface="Calibri"/>
              </a:rPr>
              <a:t>▪  Trained using Federated Learning: 10 routers train one shared detector without ever sending raw traffic anywhere.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172420"/>
                </a:solidFill>
                <a:latin typeface="Calibri"/>
              </a:rPr>
              <a:t>▪  Model updates travel over our own security-fused protocol — integrity tag + fingerprint — instead of plain HTTP/gRPC.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46B62"/>
                </a:solidFill>
                <a:latin typeface="Calibri"/>
              </a:rPr>
              <a:t>02 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72420"/>
                </a:solidFill>
                <a:latin typeface="Arial Black"/>
              </a:rPr>
              <a:t>Where this matters, and what we did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6B62"/>
                </a:solidFill>
                <a:latin typeface="Calibri"/>
              </a:rPr>
              <a:t>REAL-WORLD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172420"/>
                </a:solidFill>
                <a:latin typeface="Calibri"/>
              </a:rPr>
              <a:t>▪  Hospitals, banks, universities jointly training a shared intrusion detector without exposing internal network layouts to each other.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172420"/>
                </a:solidFill>
                <a:latin typeface="Calibri"/>
              </a:rPr>
              <a:t>▪  IoT / edge networks — routers and smart devices each contributing local learning (the “fog computing” pattern from Unit 3).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172420"/>
                </a:solidFill>
                <a:latin typeface="Calibri"/>
              </a:rPr>
              <a:t>▪  Cross-border threat intelligence sharing between organizations bound by different data-protection laws.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9659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6B62"/>
                </a:solidFill>
                <a:latin typeface="Calibri"/>
              </a:rPr>
              <a:t>WHAT WE ACTUALLY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37744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172420"/>
                </a:solidFill>
                <a:latin typeface="Calibri"/>
              </a:rPr>
              <a:t>▪  Used FLNET2023: traffic captured at 10 real (emulated) routers — each router is one federated client with its own mix of attacks.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172420"/>
                </a:solidFill>
                <a:latin typeface="Calibri"/>
              </a:rPr>
              <a:t>▪  Trained one shared detection model across all 10 using Federated Averaging (FedAvg).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172420"/>
                </a:solidFill>
                <a:latin typeface="Calibri"/>
              </a:rPr>
              <a:t>▪  Built and attacked our custom protocol: poisoned updates, tampered messages, backdoors — and repeated it on NSL-KDD.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46B62"/>
                </a:solidFill>
                <a:latin typeface="Calibri"/>
              </a:rPr>
              <a:t>03  TOOLS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172420"/>
                </a:solidFill>
                <a:latin typeface="Arial Black"/>
              </a:rPr>
              <a:t>The toolchain behind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6655D"/>
                </a:solidFill>
                <a:latin typeface="Calibri"/>
              </a:rPr>
              <a:t>A machine-learning implementation project, not a network-topology simulation — so the tools are a data-science stack, not Mininet/Packet Tracer. A deliberate distinction, not a gap.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342900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72420"/>
                </a:solidFill>
                <a:latin typeface="Calibri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81528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6655D"/>
                </a:solidFill>
                <a:latin typeface="Calibri"/>
              </a:rPr>
              <a:t>Core implementation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514600"/>
            <a:ext cx="342900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6517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72420"/>
                </a:solidFill>
                <a:latin typeface="Calibri"/>
              </a:rPr>
              <a:t>TensorFlow / Keras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081528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6655D"/>
                </a:solidFill>
                <a:latin typeface="Calibri"/>
              </a:rPr>
              <a:t>Building &amp; training the neural network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514600"/>
            <a:ext cx="342900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6517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72420"/>
                </a:solidFill>
                <a:latin typeface="Calibri"/>
              </a:rPr>
              <a:t>scikit-learn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81528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6655D"/>
                </a:solidFill>
                <a:latin typeface="Calibri"/>
              </a:rPr>
              <a:t>Preprocessing, metrics,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342900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72420"/>
                </a:solidFill>
                <a:latin typeface="Calibri"/>
              </a:rPr>
              <a:t>pandas / NumPy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61688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6655D"/>
                </a:solidFill>
                <a:latin typeface="Calibri"/>
              </a:rPr>
              <a:t>Data handling &amp; arrays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794760"/>
            <a:ext cx="342900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9319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72420"/>
                </a:solidFill>
                <a:latin typeface="Calibri"/>
              </a:rPr>
              <a:t>FLNET2023 + NSL-KDD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361688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6655D"/>
                </a:solidFill>
                <a:latin typeface="Calibri"/>
              </a:rPr>
              <a:t>Router flow captures + classic benchmark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794760"/>
            <a:ext cx="342900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39319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72420"/>
                </a:solidFill>
                <a:latin typeface="Calibri"/>
              </a:rPr>
              <a:t>Git &amp; 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361688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6655D"/>
                </a:solidFill>
                <a:latin typeface="Calibri"/>
              </a:rPr>
              <a:t>Version control, full project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46B62"/>
                </a:solidFill>
                <a:latin typeface="Calibri"/>
              </a:rPr>
              <a:t>04 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72420"/>
                </a:solidFill>
                <a:latin typeface="Arial Black"/>
              </a:rPr>
              <a:t>How it was built, step by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6060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6B62"/>
                </a:solidFill>
                <a:latin typeface="Calibri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2331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72420"/>
                </a:solidFill>
                <a:latin typeface="Calibri"/>
              </a:rPr>
              <a:t>Preprocess FLNET2023: 66 flow features, drop IP/port/time identifiers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920240"/>
            <a:ext cx="26060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01168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6B62"/>
                </a:solidFill>
                <a:latin typeface="Calibri"/>
              </a:rP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286000"/>
            <a:ext cx="2331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72420"/>
                </a:solidFill>
                <a:latin typeface="Calibri"/>
              </a:rPr>
              <a:t>One client per router — real non-IID data (19%–92% attack per router)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20240"/>
            <a:ext cx="26060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01168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6B62"/>
                </a:solidFill>
                <a:latin typeface="Calibri"/>
              </a:rP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2331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72420"/>
                </a:solidFill>
                <a:latin typeface="Calibri"/>
              </a:rPr>
              <a:t>Define the model: MLP, 256→128→64→1 neurons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920240"/>
            <a:ext cx="26060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201168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6B62"/>
                </a:solidFill>
                <a:latin typeface="Calibri"/>
              </a:rPr>
              <a:t>STEP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286000"/>
            <a:ext cx="2331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72420"/>
                </a:solidFill>
                <a:latin typeface="Calibri"/>
              </a:rPr>
              <a:t>Run FedAvg over the Krypsis protocol: train → verify → filter → average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6B62"/>
                </a:solidFill>
                <a:latin typeface="Calibri"/>
              </a:rPr>
              <a:t>THE FEDAVG LOOP, IN WORDS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108813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172420"/>
                </a:solidFill>
                <a:latin typeface="Calibri"/>
              </a:rPr>
              <a:t>▪  Server sends the current shared model to all 10 router clients.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172420"/>
                </a:solidFill>
                <a:latin typeface="Calibri"/>
              </a:rPr>
              <a:t>▪  Each client trains it further on its own data only — nothing else moves.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172420"/>
                </a:solidFill>
                <a:latin typeface="Calibri"/>
              </a:rPr>
              <a:t>▪  Clients send back only the updated weights, never raw traffic — wrapped in a Krypsis message (tag + fingerprint).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172420"/>
                </a:solidFill>
                <a:latin typeface="Calibri"/>
              </a:rPr>
              <a:t>▪  Server verifies each message, filters suspicious ones, then combines the rest weighted by data size (capped per client).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172420"/>
                </a:solidFill>
                <a:latin typeface="Calibri"/>
              </a:rPr>
              <a:t>▪  Repeat for 15 rounds, checking accuracy after every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46B62"/>
                </a:solidFill>
                <a:latin typeface="Calibri"/>
              </a:rPr>
              <a:t>05  STATUS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2420"/>
                </a:solidFill>
                <a:latin typeface="Arial Black"/>
              </a:rPr>
              <a:t>What's done, and the real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6060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84247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E7D4F"/>
                </a:solidFill>
                <a:latin typeface="Arial Black"/>
              </a:rPr>
              <a:t>100.0%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19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6655D"/>
                </a:solidFill>
                <a:latin typeface="Calibri"/>
              </a:rPr>
              <a:t>Centralized accuracy (FLNET2023)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74519"/>
            <a:ext cx="26060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984247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46B62"/>
                </a:solidFill>
                <a:latin typeface="Arial Black"/>
              </a:rPr>
              <a:t>99.93%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60319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6655D"/>
                </a:solidFill>
                <a:latin typeface="Calibri"/>
              </a:rPr>
              <a:t>FedAvg, 10 real router clients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74519"/>
            <a:ext cx="26060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984247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46B62"/>
                </a:solidFill>
                <a:latin typeface="Arial Black"/>
              </a:rPr>
              <a:t>99.999%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560319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6655D"/>
                </a:solidFill>
                <a:latin typeface="Calibri"/>
              </a:rPr>
              <a:t>FedAvg, IID control split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874519"/>
            <a:ext cx="26060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984247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E7D4F"/>
                </a:solidFill>
                <a:latin typeface="Arial Black"/>
              </a:rPr>
              <a:t>105/105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560319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6655D"/>
                </a:solidFill>
                <a:latin typeface="Calibri"/>
              </a:rPr>
              <a:t>Tampered messages rejected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83280"/>
            <a:ext cx="1088136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77724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72420"/>
                </a:solidFill>
                <a:latin typeface="Calibri"/>
              </a:rPr>
              <a:t>Dataset switch: NSL-KDD → FLNET2023 (real router clients)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611880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E7D4F"/>
                </a:solidFill>
                <a:latin typeface="Calibri"/>
              </a:rPr>
              <a:t>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05072"/>
            <a:ext cx="77724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72420"/>
                </a:solidFill>
                <a:latin typeface="Calibri"/>
              </a:rPr>
              <a:t>Preprocessing, router split, MLP, FedAvg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005072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E7D4F"/>
                </a:solidFill>
                <a:latin typeface="Calibri"/>
              </a:rPr>
              <a:t>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98264"/>
            <a:ext cx="77724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72420"/>
                </a:solidFill>
                <a:latin typeface="Calibri"/>
              </a:rPr>
              <a:t>Custom protocol: HMAC tag + fingerprint + anomaly 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398264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E7D4F"/>
                </a:solidFill>
                <a:latin typeface="Calibri"/>
              </a:rPr>
              <a:t>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91456"/>
            <a:ext cx="77724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72420"/>
                </a:solidFill>
                <a:latin typeface="Calibri"/>
              </a:rPr>
              <a:t>Global vs. Mondrian thresholds (research question)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791456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E7D4F"/>
                </a:solidFill>
                <a:latin typeface="Calibri"/>
              </a:rPr>
              <a:t>Answered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84648"/>
            <a:ext cx="77724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72420"/>
                </a:solidFill>
                <a:latin typeface="Calibri"/>
              </a:rPr>
              <a:t>Weight cap + second check, backdoor attack, NSL-KDD replication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184648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E7D4F"/>
                </a:solidFill>
                <a:latin typeface="Calibri"/>
              </a:rPr>
              <a:t>Complete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77840"/>
            <a:ext cx="77724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72420"/>
                </a:solidFill>
                <a:latin typeface="Calibri"/>
              </a:rPr>
              <a:t>Robustness: client dropout, traffic shift, 10–40 clients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5577840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E7D4F"/>
                </a:solidFill>
                <a:latin typeface="Calibri"/>
              </a:rPr>
              <a:t>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971032"/>
            <a:ext cx="77724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72420"/>
                </a:solidFill>
                <a:latin typeface="Calibri"/>
              </a:rPr>
              <a:t>Multi-class detection (11 traffic types)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5971032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E7D4F"/>
                </a:solidFill>
                <a:latin typeface="Calibri"/>
              </a:rPr>
              <a:t>Complete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46B62"/>
                </a:solidFill>
                <a:latin typeface="Calibri"/>
              </a:rPr>
              <a:t>06  THE KRYPSIS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2420"/>
                </a:solidFill>
                <a:latin typeface="Arial Black"/>
              </a:rPr>
              <a:t>What one update message looks like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914400" cy="1051560"/>
          </a:xfrm>
          <a:prstGeom prst="roundRect">
            <a:avLst>
              <a:gd name="adj" fmla="val 5000"/>
            </a:avLst>
          </a:prstGeom>
          <a:solidFill>
            <a:srgbClr val="E7EBE4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103120"/>
            <a:ext cx="694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6B62"/>
                </a:solidFill>
                <a:latin typeface="Calibri"/>
              </a:rPr>
              <a:t>LENGTH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50592"/>
            <a:ext cx="69494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72420"/>
                </a:solidFill>
                <a:latin typeface="Calibri"/>
              </a:rPr>
              <a:t>4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2011680"/>
            <a:ext cx="3291840" cy="1051560"/>
          </a:xfrm>
          <a:prstGeom prst="roundRect">
            <a:avLst>
              <a:gd name="adj" fmla="val 5000"/>
            </a:avLst>
          </a:prstGeom>
          <a:solidFill>
            <a:srgbClr val="D7EBE7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4208" y="2103120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6B62"/>
                </a:solidFill>
                <a:latin typeface="Calibri"/>
              </a:rPr>
              <a:t>HEADER + FINGERPRINT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450592"/>
            <a:ext cx="30723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72420"/>
                </a:solidFill>
                <a:latin typeface="Calibri"/>
              </a:rPr>
              <a:t>client, round, L2 norms, 64-number sketch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011680"/>
            <a:ext cx="493776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2103120"/>
            <a:ext cx="47183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6B62"/>
                </a:solidFill>
                <a:latin typeface="Calibri"/>
              </a:rPr>
              <a:t>PAYLOAD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450592"/>
            <a:ext cx="47183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72420"/>
                </a:solidFill>
                <a:latin typeface="Calibri"/>
              </a:rPr>
              <a:t>model update, 233,476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2011680"/>
            <a:ext cx="1737360" cy="1051560"/>
          </a:xfrm>
          <a:prstGeom prst="roundRect">
            <a:avLst>
              <a:gd name="adj" fmla="val 5000"/>
            </a:avLst>
          </a:prstGeom>
          <a:solidFill>
            <a:srgbClr val="F5E2C8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93808" y="2103120"/>
            <a:ext cx="15179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6B62"/>
                </a:solidFill>
                <a:latin typeface="Calibri"/>
              </a:rPr>
              <a:t>TAG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3808" y="2450592"/>
            <a:ext cx="15179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72420"/>
                </a:solidFill>
                <a:latin typeface="Calibri"/>
              </a:rPr>
              <a:t>HMAC-SHA256, 32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546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6655D"/>
                </a:solidFill>
                <a:latin typeface="Calibri"/>
              </a:rPr>
              <a:t>Protocol overhead: +1,559 B (0.67%) per update — the same update as plain HTTP/JSON is 5.6x larger.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6B62"/>
                </a:solidFill>
                <a:latin typeface="Calibri"/>
              </a:rPr>
              <a:t>WHAT THE SERVER DOES, BEFORE AVERAGING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69080"/>
            <a:ext cx="108813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172420"/>
                </a:solidFill>
                <a:latin typeface="Calibri"/>
              </a:rPr>
              <a:t>▪  1. Check the HMAC tag — any change in transit → reject.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172420"/>
                </a:solidFill>
                <a:latin typeface="Calibri"/>
              </a:rPr>
              <a:t>▪  2. Recompute the fingerprint from the payload — a client cannot lie about it.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172420"/>
                </a:solidFill>
                <a:latin typeface="Calibri"/>
              </a:rPr>
              <a:t>▪  3. Score the update vs. the other clients this round: size, direction vs. consensus, change vs. its own last update.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172420"/>
                </a:solidFill>
                <a:latin typeface="Calibri"/>
              </a:rPr>
              <a:t>▪  4. Over the calibrated threshold → flagged → second check against a trimmed-mean reference (rescue or drop).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172420"/>
                </a:solidFill>
                <a:latin typeface="Calibri"/>
              </a:rPr>
              <a:t>▪  5. Average the accepted updates, with no client weighted above 15%.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46B62"/>
                </a:solidFill>
                <a:latin typeface="Calibri"/>
              </a:rPr>
              <a:t>07  PROTOCOL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2420"/>
                </a:solidFill>
                <a:latin typeface="Arial Black"/>
              </a:rPr>
              <a:t>Does it stop the attacks?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6655D"/>
                </a:solidFill>
                <a:latin typeface="Calibri"/>
              </a:rPr>
              <a:t>2 of 10 clients attack after 5 clean rounds. Mean over random seeds; v1 = protocol drops flagged updates, v2 = + weight cap + second check.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088136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6B62"/>
                </a:solidFill>
                <a:latin typeface="Calibri"/>
              </a:rPr>
              <a:t>Dataset / attack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51460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6B62"/>
                </a:solidFill>
                <a:latin typeface="Calibri"/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25146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6B62"/>
                </a:solidFill>
                <a:latin typeface="Calibri"/>
              </a:rPr>
              <a:t>No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5146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6B62"/>
                </a:solidFill>
                <a:latin typeface="Calibri"/>
              </a:rPr>
              <a:t>Protocol 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25146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6B62"/>
                </a:solidFill>
                <a:latin typeface="Calibri"/>
              </a:rPr>
              <a:t>Protocol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175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420"/>
                </a:solidFill>
                <a:latin typeface="Calibri"/>
              </a:rPr>
              <a:t>FLNET2023 · label flip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01752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420"/>
                </a:solidFill>
                <a:latin typeface="Calibri"/>
              </a:rPr>
              <a:t>Accuracy 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0175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420"/>
                </a:solidFill>
                <a:latin typeface="Calibri"/>
              </a:rPr>
              <a:t>92.4%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0175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420"/>
                </a:solidFill>
                <a:latin typeface="Calibri"/>
              </a:rPr>
              <a:t>99.4%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30175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72420"/>
                </a:solidFill>
                <a:latin typeface="Calibri"/>
              </a:rPr>
              <a:t>96.7%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204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420"/>
                </a:solidFill>
                <a:latin typeface="Calibri"/>
              </a:rPr>
              <a:t>NSL-KDD · label flip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5204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420"/>
                </a:solidFill>
                <a:latin typeface="Calibri"/>
              </a:rPr>
              <a:t>Accuracy 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5204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420"/>
                </a:solidFill>
                <a:latin typeface="Calibri"/>
              </a:rPr>
              <a:t>68.8%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5204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420"/>
                </a:solidFill>
                <a:latin typeface="Calibri"/>
              </a:rPr>
              <a:t>78.6%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35204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72420"/>
                </a:solidFill>
                <a:latin typeface="Calibri"/>
              </a:rPr>
              <a:t>79.2%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233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420"/>
                </a:solidFill>
                <a:latin typeface="Calibri"/>
              </a:rPr>
              <a:t>FLNET2023 · backdoor (failed)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02336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420"/>
                </a:solidFill>
                <a:latin typeface="Calibri"/>
              </a:rPr>
              <a:t>Backdoor success 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402336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420"/>
                </a:solidFill>
                <a:latin typeface="Calibri"/>
              </a:rP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402336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420"/>
                </a:solidFill>
                <a:latin typeface="Calibri"/>
              </a:rPr>
              <a:t>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402336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72420"/>
                </a:solidFill>
                <a:latin typeface="Calibri"/>
              </a:rP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5262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420"/>
                </a:solidFill>
                <a:latin typeface="Calibri"/>
              </a:rPr>
              <a:t>NSL-KDD · backdoor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5262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420"/>
                </a:solidFill>
                <a:latin typeface="Calibri"/>
              </a:rPr>
              <a:t>Backdoor success 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52628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420"/>
                </a:solidFill>
                <a:latin typeface="Calibri"/>
              </a:rPr>
              <a:t>34.1%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452628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420"/>
                </a:solidFill>
                <a:latin typeface="Calibri"/>
              </a:rPr>
              <a:t>10.8%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452628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72420"/>
                </a:solidFill>
                <a:latin typeface="Calibri"/>
              </a:rPr>
              <a:t>8.7%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9496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420"/>
                </a:solidFill>
                <a:latin typeface="Calibri"/>
              </a:rPr>
              <a:t>Research question — global vs. Mondrian thresholds (15 seeds): Mondrian caught 57.6% vs 53.3% of poisoned updates and wrongly flagged 4.6% vs 2.7% of honest ones — neither difference is statistically significant.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46B62"/>
                </a:solidFill>
                <a:latin typeface="Calibri"/>
              </a:rPr>
              <a:t>08 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2420"/>
                </a:solidFill>
                <a:latin typeface="Arial Black"/>
              </a:rPr>
              <a:t>Dropout, traffic shift, more clients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6655D"/>
                </a:solidFill>
                <a:latin typeface="Calibri"/>
              </a:rPr>
              <a:t>FLNET2023 router split, protocol v2, 5 seeds per setting.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676656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ropout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6583680" cy="283986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2286000"/>
            <a:ext cx="39319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35915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6B62"/>
                </a:solidFill>
                <a:latin typeface="Calibri"/>
              </a:rPr>
              <a:t>CLIENT DROPOUT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633472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72420"/>
                </a:solidFill>
                <a:latin typeface="Calibri"/>
              </a:rPr>
              <a:t>Still helps at every level, but catches only 36% of poisoned updates when routers are offline 40% of the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383280"/>
            <a:ext cx="39319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45643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6B62"/>
                </a:solidFill>
                <a:latin typeface="Calibri"/>
              </a:rPr>
              <a:t>TRAFFIC 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730752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72420"/>
                </a:solidFill>
                <a:latin typeface="Calibri"/>
              </a:rPr>
              <a:t>A router suddenly seeing new DDoS traffic was wrongly excluded 0% of the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480560"/>
            <a:ext cx="39319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55371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6B62"/>
                </a:solidFill>
                <a:latin typeface="Calibri"/>
              </a:rPr>
              <a:t>10 → 20 → 40 CLIENTS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828032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72420"/>
                </a:solidFill>
                <a:latin typeface="Calibri"/>
              </a:rPr>
              <a:t>Catches 71% → 89% → 84%; server time 24 → 37 → 73 ms per round.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420"/>
                </a:solidFill>
                <a:latin typeface="Calibri"/>
              </a:rPr>
              <a:t>More clients make the protocol stronger; heavy dropout makes it weaker. Mondrian thresholds still showed no significant gain over a global threshold, even at 40 clients.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46B62"/>
                </a:solidFill>
                <a:latin typeface="Calibri"/>
              </a:rPr>
              <a:t>09 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2420"/>
                </a:solidFill>
                <a:latin typeface="Arial Black"/>
              </a:rPr>
              <a:t>How this connects to our syllabus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6655D"/>
                </a:solidFill>
                <a:latin typeface="Calibri"/>
              </a:rPr>
              <a:t>Every unit of this course shows up somewhere in this project — intrusion detection is fundamentally a networking problem.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10881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73152" cy="1280160"/>
          </a:xfrm>
          <a:prstGeom prst="rect">
            <a:avLst/>
          </a:prstGeom>
          <a:solidFill>
            <a:srgbClr val="14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6B62"/>
                </a:solidFill>
                <a:latin typeface="Calibri"/>
              </a:rPr>
              <a:t>UNIT 1 — NETWORK EDGE, OSI LAYERS, PACKET SWITCHING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72420"/>
                </a:solidFill>
                <a:latin typeface="Calibri"/>
              </a:rPr>
              <a:t>Every FLNET2023 record is a network flow captured at a router: ports, packet counts and sizes, TCP flags, inter-arrival times. Our federated clients ARE routers — network edge nodes.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10881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86200"/>
            <a:ext cx="73152" cy="1280160"/>
          </a:xfrm>
          <a:prstGeom prst="rect">
            <a:avLst/>
          </a:prstGeom>
          <a:solidFill>
            <a:srgbClr val="14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6B62"/>
                </a:solidFill>
                <a:latin typeface="Calibri"/>
              </a:rPr>
              <a:t>UNIT 2 — APPLICATION LAYER, TRANSPORT LAYER, SOCKETS,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72420"/>
                </a:solidFill>
                <a:latin typeface="Calibri"/>
              </a:rPr>
              <a:t>Our custom protocol design is application-layer protocol design (vs. HTTP/gRPC). Client-server exchange mirrors socket-based communication. dst_host_count ties to routing/host addressing.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49240"/>
            <a:ext cx="10881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349240"/>
            <a:ext cx="73152" cy="1280160"/>
          </a:xfrm>
          <a:prstGeom prst="rect">
            <a:avLst/>
          </a:prstGeom>
          <a:solidFill>
            <a:srgbClr val="14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6B62"/>
                </a:solidFill>
                <a:latin typeface="Calibri"/>
              </a:rPr>
              <a:t>UNIT 3 — IOT, FOG/CLOUD COMPUTING, SDN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72420"/>
                </a:solidFill>
                <a:latin typeface="Calibri"/>
              </a:rPr>
              <a:t>Federated Learning's architecture IS fog computing: local processing at the edge, summarized results to a central aggregator. Our custom protocol mirrors SDN/OpenFlow — customizing behavior beyond fixed defaults.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46B62"/>
                </a:solidFill>
                <a:latin typeface="Calibri"/>
              </a:rPr>
              <a:t>10 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2420"/>
                </a:solidFill>
                <a:latin typeface="Arial Black"/>
              </a:rPr>
              <a:t>What we learned — including what didn't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46B62"/>
                </a:solidFill>
                <a:latin typeface="Arial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0312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72420"/>
                </a:solidFill>
                <a:latin typeface="Calibri"/>
              </a:rPr>
              <a:t>Binary detection on FLNET2023 is too easy — naming the attack is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23160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5D"/>
                </a:solidFill>
                <a:latin typeface="Calibri"/>
              </a:rPr>
              <a:t>One feature alone scores 97.5% on attack vs normal. Asked for the exact attack type, federated training on real routers reaches macro-F1 0.39 vs 0.76 with IID data: attacks seen at only one router are never learned.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88136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46B62"/>
                </a:solidFill>
                <a:latin typeface="Arial Blac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4612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72420"/>
                </a:solidFill>
                <a:latin typeface="Calibri"/>
              </a:rPr>
              <a:t>The first protocol design flagged honest 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566160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5D"/>
                </a:solidFill>
                <a:latin typeface="Calibri"/>
              </a:rPr>
              <a:t>Once training converges, every update looks noisy: 65–96% of honest updates were flagged. Fixed by scoring each update relative to the other clients in the same round.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51960"/>
            <a:ext cx="1088136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46B62"/>
                </a:solidFill>
                <a:latin typeface="Arial Blac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38912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72420"/>
                </a:solidFill>
                <a:latin typeface="Calibri"/>
              </a:rPr>
              <a:t>Mondrian thresholds did not significantly beat a global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709160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5D"/>
                </a:solidFill>
                <a:latin typeface="Calibri"/>
              </a:rPr>
              <a:t>Our research question, answered honestly: with 10 clients and 5 calibration rounds, each cluster has too little data for reliable thresholds.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94960"/>
            <a:ext cx="1088136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46B62"/>
                </a:solidFill>
                <a:latin typeface="Arial Black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53212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72420"/>
                </a:solidFill>
                <a:latin typeface="Calibri"/>
              </a:rPr>
              <a:t>A fixed weight cap is not a free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852160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5D"/>
                </a:solidFill>
                <a:latin typeface="Calibri"/>
              </a:rPr>
              <a:t>Capping a large router stops it dominating when it attacks — but when it is honest, its lost weight partly goes to the attackers (one FLNET2023 seed: 97.3% → 83.8%).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