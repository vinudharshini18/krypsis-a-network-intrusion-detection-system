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Accuracy under label-flipping attack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protocol</c:v>
                </c:pt>
              </c:strCache>
            </c:strRef>
          </c:tx>
          <c:spPr>
            <a:solidFill>
              <a:srgbClr val="8A968F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92.35561258507254</c:v>
                </c:pt>
                <c:pt idx="1">
                  <c:v>68.76863023420864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Krypsis</c:v>
                </c:pt>
              </c:strCache>
            </c:strRef>
          </c:tx>
          <c:spPr>
            <a:solidFill>
              <a:srgbClr val="146B62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96.72742826231901</c:v>
                </c:pt>
                <c:pt idx="1">
                  <c:v>79.15498580553584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56655D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Naming the attack type (11 classes): macro-F1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C97A2B"/>
            </a:solidFill>
          </c:spPr>
          <c:cat>
            <c:strRef>
              <c:f>Sheet1!$A$2:$A$4</c:f>
              <c:strCache>
                <c:ptCount val="3"/>
                <c:pt idx="0">
                  <c:v>Centralized</c:v>
                </c:pt>
                <c:pt idx="1">
                  <c:v>FedAvg IID</c:v>
                </c:pt>
                <c:pt idx="2">
                  <c:v>FedAvg routers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78.9875770383257</c:v>
                </c:pt>
                <c:pt idx="1">
                  <c:v>75.88834627427782</c:v>
                </c:pt>
                <c:pt idx="2">
                  <c:v>38.89182280782382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project is Krypsis: a network intrusion detection system trained</a:t>
            </a:r>
          </a:p>
          <a:p>
            <a:r>
              <a:t>with federated learning across 10 routers, protected by our own update protocol.</a:t>
            </a:r>
          </a:p>
          <a:p>
            <a:r>
              <a:t>Most of this talk is the methodology, step by step, with the real code we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intrusion detector needs lots of varied traffic to learn, but organisations</a:t>
            </a:r>
          </a:p>
          <a:p>
            <a:r>
              <a:t>cannot share their traffic because it is private. Federated learning solves that:</a:t>
            </a:r>
          </a:p>
          <a:p>
            <a:r>
              <a:t>each router trains locally and only sends model updates. But then the updates</a:t>
            </a:r>
          </a:p>
          <a:p>
            <a:r>
              <a:t>become the weak point: they can be changed on the way, or a bad client can send a</a:t>
            </a:r>
          </a:p>
          <a:p>
            <a:r>
              <a:t>poisoned one.</a:t>
            </a:r>
          </a:p>
          <a:p>
            <a:r>
              <a:t>Our five objectives are on the right. The research question at the bottom: since</a:t>
            </a:r>
          </a:p>
          <a:p>
            <a:r>
              <a:t>every router sees different traffic, does a single global threshold wrongly flag</a:t>
            </a:r>
          </a:p>
          <a:p>
            <a:r>
              <a:t>honest routers, and does a per-cluster Mondrian threshold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method in eight steps. The top row is the federated learning</a:t>
            </a:r>
          </a:p>
          <a:p>
            <a:r>
              <a:t>system: prepare the data, split it into clients, define the model, train it with</a:t>
            </a:r>
          </a:p>
          <a:p>
            <a:r>
              <a:t>FedAvg. The highlighted bottom row is our protocol, Krypsis: build the message,</a:t>
            </a:r>
          </a:p>
          <a:p>
            <a:r>
              <a:t>verify it on the server, score how suspicious it is, then decide with a threshold</a:t>
            </a:r>
          </a:p>
          <a:p>
            <a:r>
              <a:t>and aggregate. Steps four to eight repeat every round. The next eight slides go</a:t>
            </a:r>
          </a:p>
          <a:p>
            <a:r>
              <a:t>through each step with its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 is the data. FLNET2023 was recorded at 10 routers of an emulated network and</a:t>
            </a:r>
          </a:p>
          <a:p>
            <a:r>
              <a:t>has normal traffic plus 10 attack types: the chart on the right shows how many training</a:t>
            </a:r>
          </a:p>
          <a:p>
            <a:r>
              <a:t>flows of each type we have. Most are normal, DoS-hulk and DDoS-tcp; web attacks are</a:t>
            </a:r>
          </a:p>
          <a:p>
            <a:r>
              <a:t>rare.</a:t>
            </a:r>
          </a:p>
          <a:p>
            <a:r>
              <a:t>The top row is our preprocessing. We sample 10 percent of each file, because the full</a:t>
            </a:r>
          </a:p>
          <a:p>
            <a:r>
              <a:t>4.8 million flows is too big to train many times. We drop IP addresses, the port and the</a:t>
            </a:r>
          </a:p>
          <a:p>
            <a:r>
              <a:t>timestamp, so the model learns what an attack looks like instead of memorising the</a:t>
            </a:r>
          </a:p>
          <a:p>
            <a:r>
              <a:t>attacker's address. We remove broken rows and 12 columns that never change. Then a log</a:t>
            </a:r>
          </a:p>
          <a:p>
            <a:r>
              <a:t>and a 0 to 1 scaling, fitted only on the training data. The result is 66 features per</a:t>
            </a:r>
          </a:p>
          <a:p>
            <a:r>
              <a:t>flow and a label: 0 for normal, 1 for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decides which data each client holds. The three charts show the share of</a:t>
            </a:r>
          </a:p>
          <a:p>
            <a:r>
              <a:t>attack traffic at each of the 10 clients.</a:t>
            </a:r>
          </a:p>
          <a:p>
            <a:r>
              <a:t>Left, the IID split: we shuffle all flows and deal them out evenly, so every client is</a:t>
            </a:r>
          </a:p>
          <a:p>
            <a:r>
              <a:t>about 66 percent attack. This is only a control.</a:t>
            </a:r>
          </a:p>
          <a:p>
            <a:r>
              <a:t>Middle, our main setup: FLNET2023's real routers, one router per client. It is uneven by</a:t>
            </a:r>
          </a:p>
          <a:p>
            <a:r>
              <a:t>nature: router 3 has 19 percent attacks, router 4 has 92.</a:t>
            </a:r>
          </a:p>
          <a:p>
            <a:r>
              <a:t>Right, NSL-KDD with a Dirichlet split. For each attack type, a Dirichlet distribution</a:t>
            </a:r>
          </a:p>
          <a:p>
            <a:r>
              <a:t>with alpha 0.5 gives every client a random share, so some clients are almost all attack</a:t>
            </a:r>
          </a:p>
          <a:p>
            <a:r>
              <a:t>and others almost all normal.</a:t>
            </a:r>
          </a:p>
          <a:p>
            <a:r>
              <a:t>This matters because a protocol that rejects unusual updates might reject an honest</a:t>
            </a:r>
          </a:p>
          <a:p>
            <a:r>
              <a:t>router just because its traffic is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model, a multilayer perceptron, drawn on the left. The input is the</a:t>
            </a:r>
          </a:p>
          <a:p>
            <a:r>
              <a:t>66 features of one flow. Three hidden layers of 256, 128 and 64 neurons learn</a:t>
            </a:r>
          </a:p>
          <a:p>
            <a:r>
              <a:t>combinations of those features, using the ReLU activation. Dropout randomly switches</a:t>
            </a:r>
          </a:p>
          <a:p>
            <a:r>
              <a:t>off neurons during training and L2 keeps the weights small; both stop the model from</a:t>
            </a:r>
          </a:p>
          <a:p>
            <a:r>
              <a:t>memorising. The single output neuron uses a sigmoid to give the probability of an</a:t>
            </a:r>
          </a:p>
          <a:p>
            <a:r>
              <a:t>attack.</a:t>
            </a:r>
          </a:p>
          <a:p>
            <a:r>
              <a:t>We chose an MLP because our data is a table of numbers, and its weights average</a:t>
            </a:r>
          </a:p>
          <a:p>
            <a:r>
              <a:t>cleanly in federated learning. It has 58,369 weights, and that is exactly the update</a:t>
            </a:r>
          </a:p>
          <a:p>
            <a:r>
              <a:t>each client sends every round. Trained on all the data in one place, it is our</a:t>
            </a:r>
          </a:p>
          <a:p>
            <a:r>
              <a:t>centralized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is federated training, a loop that repeats every round. One: the server</a:t>
            </a:r>
          </a:p>
          <a:p>
            <a:r>
              <a:t>sends the current global model to all 10 routers. Two: each router trains it for two</a:t>
            </a:r>
          </a:p>
          <a:p>
            <a:r>
              <a:t>epochs on its own traffic. Three: each router sends back only its new weights and how</a:t>
            </a:r>
          </a:p>
          <a:p>
            <a:r>
              <a:t>many flows it trained on. Four: the server averages them with the FedAvg rule on the</a:t>
            </a:r>
          </a:p>
          <a:p>
            <a:r>
              <a:t>right: each router's model is weighted by its share of the data, so a router with more</a:t>
            </a:r>
          </a:p>
          <a:p>
            <a:r>
              <a:t>traffic counts more.</a:t>
            </a:r>
          </a:p>
          <a:p>
            <a:r>
              <a:t>After 15 rounds the federated model reaches 99.93 percent, almost the same as training</a:t>
            </a:r>
          </a:p>
          <a:p>
            <a:r>
              <a:t>on all data in one place. In the protected version, steps five to eight happen between</a:t>
            </a:r>
          </a:p>
          <a:p>
            <a:r>
              <a:t>"send weights back" and "average".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five is our protocol on the client. After training, the client wraps its update in</a:t>
            </a:r>
          </a:p>
          <a:p>
            <a:r>
              <a:t>one message, shown on top: a length field, a header with the fingerprint, the update</a:t>
            </a:r>
          </a:p>
          <a:p>
            <a:r>
              <a:t>itself as raw numbers, and the integrity tag at the end.</a:t>
            </a:r>
          </a:p>
          <a:p>
            <a:r>
              <a:t>Left: the fingerprint is a short summary of the update. The 58,369 numbers are</a:t>
            </a:r>
          </a:p>
          <a:p>
            <a:r>
              <a:t>multiplied by a fixed random matrix, made from a public seed, which squeezes them into</a:t>
            </a:r>
          </a:p>
          <a:p>
            <a:r>
              <a:t>64 numbers that keep the update's direction. We add the overall size and the size per</a:t>
            </a:r>
          </a:p>
          <a:p>
            <a:r>
              <a:t>layer. Because the seed is public, the server can recompute the fingerprint and check</a:t>
            </a:r>
          </a:p>
          <a:p>
            <a:r>
              <a:t>it.</a:t>
            </a:r>
          </a:p>
          <a:p>
            <a:r>
              <a:t>Right: the integrity tag. The header and payload are run through HMAC with SHA-256,</a:t>
            </a:r>
          </a:p>
          <a:p>
            <a:r>
              <a:t>together with a secret key that only this client and the server know. If anyone changes</a:t>
            </a:r>
          </a:p>
          <a:p>
            <a:r>
              <a:t>even one byte on the way, the tag will not match. All of this adds only 0.67 percent to</a:t>
            </a:r>
          </a:p>
          <a:p>
            <a:r>
              <a:t>the message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six runs on the server and follows this flowchart. The message is split into its</a:t>
            </a:r>
          </a:p>
          <a:p>
            <a:r>
              <a:t>four parts. Check one: the server recomputes the HMAC tag with that client's secret key.</a:t>
            </a:r>
          </a:p>
          <a:p>
            <a:r>
              <a:t>If it does not match, something changed on the way and the message is rejected as</a:t>
            </a:r>
          </a:p>
          <a:p>
            <a:r>
              <a:t>bad tag. Check two: the server recomputes the fingerprint from the payload itself. If it</a:t>
            </a:r>
          </a:p>
          <a:p>
            <a:r>
              <a:t>differs from the one in the header, the client tried to lie about its update, and the</a:t>
            </a:r>
          </a:p>
          <a:p>
            <a:r>
              <a:t>message is rejected. Only messages that pass both checks go on to scoring.</a:t>
            </a:r>
          </a:p>
          <a:p>
            <a:r>
              <a:t>The few lines of code at the bottom are these two checks. In our tests we changed one</a:t>
            </a:r>
          </a:p>
          <a:p>
            <a:r>
              <a:t>byte in 105 messages, and all 105 were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seven asks: does this update look suspicious? We use three cheap scores, all from</a:t>
            </a:r>
          </a:p>
          <a:p>
            <a:r>
              <a:t>the fingerprints, so the server never has to study the full update.</a:t>
            </a:r>
          </a:p>
          <a:p>
            <a:r>
              <a:t>First, the norm score: is this update much bigger or smaller than the others? In the</a:t>
            </a:r>
          </a:p>
          <a:p>
            <a:r>
              <a:t>picture, one arrow is far longer than the rest.</a:t>
            </a:r>
          </a:p>
          <a:p>
            <a:r>
              <a:t>Second, the consensus score: we take the median direction of all clients, the dark</a:t>
            </a:r>
          </a:p>
          <a:p>
            <a:r>
              <a:t>arrow, and measure how far each update points away from it. The median is used because</a:t>
            </a:r>
          </a:p>
          <a:p>
            <a:r>
              <a:t>a few attackers cannot drag it.</a:t>
            </a:r>
          </a:p>
          <a:p>
            <a:r>
              <a:t>Third, the history score: is this update very different from the same client's update</a:t>
            </a:r>
          </a:p>
          <a:p>
            <a:r>
              <a:t>last round?</a:t>
            </a:r>
          </a:p>
          <a:p>
            <a:r>
              <a:t>At the bottom: each score is standardized against the other clients in the same round.</a:t>
            </a:r>
          </a:p>
          <a:p>
            <a:r>
              <a:t>This was an important lesson. Our first version used fixed limits, and once training</a:t>
            </a:r>
          </a:p>
          <a:p>
            <a:r>
              <a:t>settled down it flagged 65 to 96 percent of honest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eight makes the decision, following the flowchart on the left. If none of the</a:t>
            </a:r>
          </a:p>
          <a:p>
            <a:r>
              <a:t>three scores is above its limit, the update is accepted. If one is, it is not thrown</a:t>
            </a:r>
          </a:p>
          <a:p>
            <a:r>
              <a:t>away immediately: a second check compares it with a trimmed mean of all updates, which</a:t>
            </a:r>
          </a:p>
          <a:p>
            <a:r>
              <a:t>ignores the most extreme values. If it is close enough, it is rescued; otherwise it is</a:t>
            </a:r>
          </a:p>
          <a:p>
            <a:r>
              <a:t>rejected. All accepted updates are then averaged with FedAvg, but no client may hold</a:t>
            </a:r>
          </a:p>
          <a:p>
            <a:r>
              <a:t>more than 15 percent of the weight, so one big router cannot dominate.</a:t>
            </a:r>
          </a:p>
          <a:p>
            <a:r>
              <a:t>On the right is where the limit comes from. In the 5 clean rounds we collect scores and</a:t>
            </a:r>
          </a:p>
          <a:p>
            <a:r>
              <a:t>set a conformal threshold, so only about 5 percent of honest scores go above it. With a</a:t>
            </a:r>
          </a:p>
          <a:p>
            <a:r>
              <a:t>global threshold there is one line for everybody, and honest clients with unusual</a:t>
            </a:r>
          </a:p>
          <a:p>
            <a:r>
              <a:t>traffic can end up above it. With Mondrian, clients are grouped into 3 clusters by</a:t>
            </a:r>
          </a:p>
          <a:p>
            <a:r>
              <a:t>k-means and each cluster gets its own line. Which one is better is our research</a:t>
            </a:r>
          </a:p>
          <a:p>
            <a:r>
              <a:t>question, answered on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results. Top left: federated training over the 10 routers reaches</a:t>
            </a:r>
          </a:p>
          <a:p>
            <a:r>
              <a:t>99.93%, almost the same as the centralized</a:t>
            </a:r>
          </a:p>
          <a:p>
            <a:r>
              <a:t>100.0%. Every one of the 105 tampered messages was rejected. Under</a:t>
            </a:r>
          </a:p>
          <a:p>
            <a:r>
              <a:t>the label-flipping attack the protocol caught 71.4% of</a:t>
            </a:r>
          </a:p>
          <a:p>
            <a:r>
              <a:t>poisoned updates on FLNET2023 and 99.3% on NSL-KDD,</a:t>
            </a:r>
          </a:p>
          <a:p>
            <a:r>
              <a:t>while wrongly flagging under 1.2 percent of honest ones.</a:t>
            </a:r>
          </a:p>
          <a:p>
            <a:r>
              <a:t>Bottom left: accuracy at the end of an attacked run, without and with Krypsis:</a:t>
            </a:r>
          </a:p>
          <a:p>
            <a:r>
              <a:t>FLNET2023 92.4% to 96.7%, NSL-KDD</a:t>
            </a:r>
          </a:p>
          <a:p>
            <a:r>
              <a:t>68.8% to 79.2%; the NSL-KDD gain is</a:t>
            </a:r>
          </a:p>
          <a:p>
            <a:r>
              <a:t>statistically significant, p = 0.009.</a:t>
            </a:r>
          </a:p>
          <a:p>
            <a:r>
              <a:t>Bottom right: the binary task is easy, so we also named the 11 traffic types. There,</a:t>
            </a:r>
          </a:p>
          <a:p>
            <a:r>
              <a:t>real uneven routers drop macro-F1 from 0.76 to 0.39: attack types that only one</a:t>
            </a:r>
          </a:p>
          <a:p>
            <a:r>
              <a:t>router sees get averaged away. That is the cost of non-IID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our research question, using the dedicated 15-seed experiment on</a:t>
            </a:r>
          </a:p>
          <a:p>
            <a:r>
              <a:t>FLNET2023. Without the protocol, accuracy under attack ends at</a:t>
            </a:r>
          </a:p>
          <a:p>
            <a:r>
              <a:t>78.0%. With the protocol and a global threshold it is</a:t>
            </a:r>
          </a:p>
          <a:p>
            <a:r>
              <a:t>88.2%; with Mondrian 87.5%. Mondrian</a:t>
            </a:r>
          </a:p>
          <a:p>
            <a:r>
              <a:t>caught slightly more attacks, 57.6% against</a:t>
            </a:r>
          </a:p>
          <a:p>
            <a:r>
              <a:t>53.3%, but also wrongly flagged more honest clients,</a:t>
            </a:r>
          </a:p>
          <a:p>
            <a:r>
              <a:t>4.6% against 2.7%. Paired</a:t>
            </a:r>
          </a:p>
          <a:p>
            <a:r>
              <a:t>t-tests over the 15 seeds show neither difference is significant. So the simpler</a:t>
            </a:r>
          </a:p>
          <a:p>
            <a:r>
              <a:t>global threshold is the best choice, and both rejected every tampered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conclude. We built a federated intrusion detector over 10 real router clients</a:t>
            </a:r>
          </a:p>
          <a:p>
            <a:r>
              <a:t>and our own protocol for the model updates. The protocol rejected every tampered</a:t>
            </a:r>
          </a:p>
          <a:p>
            <a:r>
              <a:t>message and filtered poisoned updates for less than 1 percent extra message size.</a:t>
            </a:r>
          </a:p>
          <a:p>
            <a:r>
              <a:t>Federated training almost matches centralized training, and under attack Krypsis</a:t>
            </a:r>
          </a:p>
          <a:p>
            <a:r>
              <a:t>keeps accuracy higher. Our research finding: one global threshold is enough; the</a:t>
            </a:r>
          </a:p>
          <a:p>
            <a:r>
              <a:t>per-cluster Mondrian threshold gave no significant gain. Next we would run the</a:t>
            </a:r>
          </a:p>
          <a:p>
            <a:r>
              <a:t>protocol on the 11-class task, use a trust-based weight cap, and test on a real</a:t>
            </a:r>
          </a:p>
          <a:p>
            <a:r>
              <a:t>network. The key references are on the right, and all the code and results are on</a:t>
            </a:r>
          </a:p>
          <a:p>
            <a:r>
              <a:t>GitHub. Thank you,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MILCOM58377.2023.10356272" TargetMode="External"/><Relationship Id="rId3" Type="http://schemas.openxmlformats.org/officeDocument/2006/relationships/hyperlink" Target="https://arxiv.org/abs/1602.05629" TargetMode="External"/><Relationship Id="rId4" Type="http://schemas.openxmlformats.org/officeDocument/2006/relationships/hyperlink" Target="https://arxiv.org/abs/1909.06335" TargetMode="External"/><Relationship Id="rId5" Type="http://schemas.openxmlformats.org/officeDocument/2006/relationships/hyperlink" Target="https://arxiv.org/abs/2107.07511" TargetMode="External"/><Relationship Id="rId6" Type="http://schemas.openxmlformats.org/officeDocument/2006/relationships/hyperlink" Target="https://arxiv.org/abs/1703.02757" TargetMode="External"/><Relationship Id="rId7" Type="http://schemas.openxmlformats.org/officeDocument/2006/relationships/hyperlink" Target="https://arxiv.org/abs/1803.01498" TargetMode="External"/><Relationship Id="rId8" Type="http://schemas.openxmlformats.org/officeDocument/2006/relationships/hyperlink" Target="https://arxiv.org/abs/2007.08432" TargetMode="External"/><Relationship Id="rId9" Type="http://schemas.openxmlformats.org/officeDocument/2006/relationships/hyperlink" Target="https://www.rfc-editor.org/rfc/rfc2104" TargetMode="Externa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COMPUTER NETWORKS  —  FINAL PROJECT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network intrusion detection with a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security-fused model-update protocol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4434840"/>
            <a:ext cx="6309360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943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Rithika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Pradhaniya 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Sathya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Vinudharshini PP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INTRODUCTION  · 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The problem, and 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965960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Detection needs data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An intrusion detector learns from traffic, but traffic logs are private and cannot be pooled.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944368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Federated learning helps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Each router trains locally; only model updates travel to the server (FedAvg).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227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22776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Updates become the risk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Updates can be tampered with on the way, or poisoned by a bad client.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5544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920240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920240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Detect attacks without sharing raw traffic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523744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523744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23744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Design our own secure update protocol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127248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127248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27248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Stop tampered and poisoned updates before averaging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3730752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730752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30752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Keep the protocol's message overhead small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4334256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334256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334256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Test global vs per-cluster (Mondrian) thresholds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12080"/>
            <a:ext cx="1063447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RESEARCH QUESTION   </a:t>
            </a:r>
            <a:r>
              <a:rPr sz="1400" b="0" i="0">
                <a:solidFill>
                  <a:srgbClr val="172420"/>
                </a:solidFill>
                <a:latin typeface="Calibri"/>
              </a:rPr>
              <a:t>Routers see different traffic (non-IID). Does one global anomaly threshold wrongly flag honest but unusual routers, and do per-cluster (Mondrian) thresholds fix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23113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Eight steps, from raw traffic to a protected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Each step is one of the next slides, explained with a diagram.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Data &amp; preprocessing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preprocess.py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3410712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Client split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client_simulation.py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6318504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Model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model.py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87384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9226296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7464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Federated training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federated_training.py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60736" y="3200400"/>
            <a:ext cx="0" cy="73152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9226296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27464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7464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Krypsis message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pack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787384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6318504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Server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unpack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879592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3410712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Anomaly scoring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AnomalyScorer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71800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502920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Threshold &amp; aggregation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calibrators · second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46B62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72420"/>
                </a:solidFill>
                <a:latin typeface="Calibri"/>
              </a:rPr>
              <a:t>Steps 05–08 are our protocol, Krypsis.  </a:t>
            </a:r>
            <a:r>
              <a:rPr sz="1250" b="0" i="0">
                <a:solidFill>
                  <a:srgbClr val="56655D"/>
                </a:solidFill>
                <a:latin typeface="Calibri"/>
              </a:rPr>
              <a:t>Steps 04–08 repeat every round: 12–15 rounds per run.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68F"/>
                </a:solidFill>
                <a:latin typeface="Calibri"/>
              </a:rPr>
              <a:t>One round: routers train locally → each sends a signed, fingerprinted update → the server verifies, scores and filters → capped FedAvg → new global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Data and preprocessing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 records network flows at 10 routers. Five steps turn the raw captures into clean model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Raw captures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one CSV set per router · 4.8 M flows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0370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240030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345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Sample 10%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at least 2,000 rows per file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0108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429768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Drop identifiers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src/dst IP, source port, timestamp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9846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8" name="Rounded Rectangle 17"/>
          <p:cNvSpPr/>
          <p:nvPr/>
        </p:nvSpPr>
        <p:spPr>
          <a:xfrm>
            <a:off x="619506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821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Clean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inf / NaN rows · 12 constant columns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9584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809244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559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Scale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signed log, then min-max to 0–1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9322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998982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297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Model input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66 features · label 0 /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175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Why each step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3814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364992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sample?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4.8 million flows is too many to train hundreds of federated runs on a laptop; 10% keeps every router's mix of traffic.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4411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70960"/>
            <a:ext cx="5166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drop identifiers?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Attackers in the capture use fixed addresses. With IPs and time left in, the model would memorise who attacks, not what an attack looks like.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4820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575048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log scaling?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Byte and packet counts range from 1 to about a billion; the log stops a few huge flows from squashing the rest.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5416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081016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No test leakage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The scaler is fitted on training data only. Result: 564,007 training and 79,491 test flows.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017520"/>
            <a:ext cx="54223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1272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TRAINING FLOWS BY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45643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Normal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3493008"/>
            <a:ext cx="2651760" cy="155448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80192" y="345643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192,253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703320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DoS-hulk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80" y="3739896"/>
            <a:ext cx="2268106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96538" y="3703320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164,438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50208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DDoS-tcp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3986784"/>
            <a:ext cx="1283859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12291" y="395020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93,080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197096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DDoS-stomp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0" y="4233672"/>
            <a:ext cx="537295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65727" y="4197096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38,954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443984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DDoS-dyn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55280" y="4480560"/>
            <a:ext cx="445406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73838" y="4443984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32,292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69087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Infiltration-MITM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80" y="4727448"/>
            <a:ext cx="220689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49121" y="469087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16,000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937760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DoS-slowhttp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80" y="4974336"/>
            <a:ext cx="198193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6625" y="4937760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14,369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5184648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DDoS-bot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5221224"/>
            <a:ext cx="121117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49549" y="518464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8,781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5431536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Web-XSS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80" y="5468112"/>
            <a:ext cx="42331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70763" y="5431536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3,069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678424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Web-SQL-injection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80" y="5715000"/>
            <a:ext cx="27432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55864" y="5678424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9253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Web-cmd-injection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80" y="5961888"/>
            <a:ext cx="27432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55864" y="592531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330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Client split: who holds which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IID means every client has a similar mix. Non-IID means every client is different, as in real networks.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IID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7129" y="3281782"/>
            <a:ext cx="200126" cy="814730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89" y="308061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8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912" y="3278078"/>
            <a:ext cx="200126" cy="818434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72" y="307691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7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92695" y="3285485"/>
            <a:ext cx="200126" cy="811027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1255" y="308431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125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15478" y="3286719"/>
            <a:ext cx="200126" cy="809793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4038" y="308555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403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8262" y="3284250"/>
            <a:ext cx="200126" cy="812262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46822" y="3083082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682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61045" y="3284250"/>
            <a:ext cx="200126" cy="812262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69605" y="3083082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960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83828" y="3278078"/>
            <a:ext cx="200126" cy="818434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2388" y="307691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9238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06611" y="3286719"/>
            <a:ext cx="200126" cy="809793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15171" y="308555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1517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29394" y="3280547"/>
            <a:ext cx="200126" cy="815965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37954" y="307937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3795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2178" y="3280547"/>
            <a:ext cx="200126" cy="815965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0738" y="307937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073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73152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All flows shuffled and dealt out evenly. Every client is about 66% attack, so everyone looks alike.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Router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FLNET2023 · main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41889" y="3408929"/>
            <a:ext cx="200126" cy="687583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0449" y="320776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044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64672" y="3069458"/>
            <a:ext cx="200126" cy="1027054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73232" y="286829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7323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7455" y="3861968"/>
            <a:ext cx="200126" cy="234544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96015" y="366080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9601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10238" y="2959593"/>
            <a:ext cx="200126" cy="1136919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8798" y="2758425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1879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33022" y="3154634"/>
            <a:ext cx="200126" cy="94187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1582" y="2953466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76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4158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55805" y="3280547"/>
            <a:ext cx="200126" cy="815965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4365" y="307937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436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78588" y="3575578"/>
            <a:ext cx="200126" cy="520934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87148" y="337441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714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01371" y="3469416"/>
            <a:ext cx="200126" cy="627096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09931" y="3268248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0993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24154" y="3204012"/>
            <a:ext cx="200126" cy="89250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32714" y="30028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3271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46938" y="3250921"/>
            <a:ext cx="200126" cy="845591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55498" y="3049753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68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549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48056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452628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real router is one client. Router 3 sees 19% attacks, router 4 sees 92%: naturally uneven.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09244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2104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Dirichlet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NSL-KDD · alpha = 0.5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4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36649" y="3750869"/>
            <a:ext cx="200126" cy="345643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45209" y="354970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520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59432" y="2862072"/>
            <a:ext cx="200126" cy="123444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67992" y="266090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6799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82215" y="2871948"/>
            <a:ext cx="200126" cy="1224564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90775" y="267078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89077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304998" y="3869375"/>
            <a:ext cx="200126" cy="227137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213558" y="366820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355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27782" y="3600267"/>
            <a:ext cx="200126" cy="496245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36342" y="339909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3634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50565" y="2891699"/>
            <a:ext cx="200126" cy="1204813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59125" y="269053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5912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3348" y="3600267"/>
            <a:ext cx="200126" cy="496245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181908" y="339909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190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96131" y="3949614"/>
            <a:ext cx="200126" cy="146898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504691" y="3748446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50469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18914" y="3058348"/>
            <a:ext cx="200126" cy="1038164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827474" y="285718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2747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241698" y="3426211"/>
            <a:ext cx="200126" cy="670301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150258" y="3225043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5025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827532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113" name="TextBox 112"/>
          <p:cNvSpPr txBox="1"/>
          <p:nvPr/>
        </p:nvSpPr>
        <p:spPr>
          <a:xfrm>
            <a:off x="832104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attack type is shared out with random Dirichlet proportions. Smaller alpha = more uneven clients.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0" y="5650992"/>
            <a:ext cx="11183112" cy="621792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02920" y="5650992"/>
            <a:ext cx="54864" cy="621792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77240" y="5650992"/>
            <a:ext cx="1072591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C97A2B"/>
                </a:solidFill>
                <a:latin typeface="Calibri"/>
              </a:rPr>
              <a:t>Why it matters  </a:t>
            </a:r>
            <a:r>
              <a:rPr sz="1250" b="0" i="0">
                <a:solidFill>
                  <a:srgbClr val="172420"/>
                </a:solidFill>
                <a:latin typeface="Calibri"/>
              </a:rPr>
              <a:t>An honest client with unusual data can look like an attacker to an outlier check. That is exactly our research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Model: a multilayer perceptron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One small neural network, used for the centralized baseline and copied to every client.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06 / 14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822960" y="20345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82296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82296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82296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82296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2296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2296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22960" y="224028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822960" y="20345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82296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82296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2296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296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82296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2296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22960" y="265176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822960" y="20345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2296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2296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2296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2296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2296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2296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822960" y="30632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822960" y="20345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82296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82296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82296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82296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82296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82296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22960" y="34747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822960" y="20345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82296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3" name="Connector 42"/>
          <p:cNvCxnSpPr/>
          <p:nvPr/>
        </p:nvCxnSpPr>
        <p:spPr>
          <a:xfrm flipV="1">
            <a:off x="82296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82296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5" name="Connector 44"/>
          <p:cNvCxnSpPr/>
          <p:nvPr/>
        </p:nvCxnSpPr>
        <p:spPr>
          <a:xfrm flipV="1">
            <a:off x="82296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82296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2296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822960" y="38862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9" name="Connector 48"/>
          <p:cNvCxnSpPr/>
          <p:nvPr/>
        </p:nvCxnSpPr>
        <p:spPr>
          <a:xfrm flipV="1">
            <a:off x="822960" y="203454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0" name="Connector 49"/>
          <p:cNvCxnSpPr/>
          <p:nvPr/>
        </p:nvCxnSpPr>
        <p:spPr>
          <a:xfrm flipV="1">
            <a:off x="82296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1" name="Connector 50"/>
          <p:cNvCxnSpPr/>
          <p:nvPr/>
        </p:nvCxnSpPr>
        <p:spPr>
          <a:xfrm flipV="1">
            <a:off x="82296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2" name="Connector 51"/>
          <p:cNvCxnSpPr/>
          <p:nvPr/>
        </p:nvCxnSpPr>
        <p:spPr>
          <a:xfrm flipV="1">
            <a:off x="82296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3" name="Connector 52"/>
          <p:cNvCxnSpPr/>
          <p:nvPr/>
        </p:nvCxnSpPr>
        <p:spPr>
          <a:xfrm flipV="1">
            <a:off x="82296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4" name="Connector 53"/>
          <p:cNvCxnSpPr/>
          <p:nvPr/>
        </p:nvCxnSpPr>
        <p:spPr>
          <a:xfrm flipV="1">
            <a:off x="82296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82296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6" name="Connector 55"/>
          <p:cNvCxnSpPr/>
          <p:nvPr/>
        </p:nvCxnSpPr>
        <p:spPr>
          <a:xfrm>
            <a:off x="822960" y="42976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822960" y="203454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82296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82296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82296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1" name="Connector 60"/>
          <p:cNvCxnSpPr/>
          <p:nvPr/>
        </p:nvCxnSpPr>
        <p:spPr>
          <a:xfrm flipV="1">
            <a:off x="82296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82296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82296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822960" y="47091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2240280" y="20345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2240280" y="20345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2240280" y="20345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2240280" y="20345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2240280" y="20345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0" name="Connector 69"/>
          <p:cNvCxnSpPr/>
          <p:nvPr/>
        </p:nvCxnSpPr>
        <p:spPr>
          <a:xfrm>
            <a:off x="2240280" y="203454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1" name="Connector 70"/>
          <p:cNvCxnSpPr/>
          <p:nvPr/>
        </p:nvCxnSpPr>
        <p:spPr>
          <a:xfrm>
            <a:off x="2240280" y="203454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224028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224028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224028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224028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6" name="Connector 75"/>
          <p:cNvCxnSpPr/>
          <p:nvPr/>
        </p:nvCxnSpPr>
        <p:spPr>
          <a:xfrm>
            <a:off x="224028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7" name="Connector 76"/>
          <p:cNvCxnSpPr/>
          <p:nvPr/>
        </p:nvCxnSpPr>
        <p:spPr>
          <a:xfrm>
            <a:off x="224028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224028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224028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0" name="Connector 79"/>
          <p:cNvCxnSpPr/>
          <p:nvPr/>
        </p:nvCxnSpPr>
        <p:spPr>
          <a:xfrm flipV="1">
            <a:off x="224028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224028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2" name="Connector 81"/>
          <p:cNvCxnSpPr/>
          <p:nvPr/>
        </p:nvCxnSpPr>
        <p:spPr>
          <a:xfrm>
            <a:off x="224028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224028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224028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224028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6" name="Connector 85"/>
          <p:cNvCxnSpPr/>
          <p:nvPr/>
        </p:nvCxnSpPr>
        <p:spPr>
          <a:xfrm flipV="1">
            <a:off x="224028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7" name="Connector 86"/>
          <p:cNvCxnSpPr/>
          <p:nvPr/>
        </p:nvCxnSpPr>
        <p:spPr>
          <a:xfrm flipV="1">
            <a:off x="224028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8" name="Connector 87"/>
          <p:cNvCxnSpPr/>
          <p:nvPr/>
        </p:nvCxnSpPr>
        <p:spPr>
          <a:xfrm flipV="1">
            <a:off x="224028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9" name="Connector 88"/>
          <p:cNvCxnSpPr/>
          <p:nvPr/>
        </p:nvCxnSpPr>
        <p:spPr>
          <a:xfrm>
            <a:off x="224028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0" name="Connector 89"/>
          <p:cNvCxnSpPr/>
          <p:nvPr/>
        </p:nvCxnSpPr>
        <p:spPr>
          <a:xfrm>
            <a:off x="224028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224028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2" name="Connector 91"/>
          <p:cNvCxnSpPr/>
          <p:nvPr/>
        </p:nvCxnSpPr>
        <p:spPr>
          <a:xfrm>
            <a:off x="224028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3" name="Connector 92"/>
          <p:cNvCxnSpPr/>
          <p:nvPr/>
        </p:nvCxnSpPr>
        <p:spPr>
          <a:xfrm flipV="1">
            <a:off x="224028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4" name="Connector 93"/>
          <p:cNvCxnSpPr/>
          <p:nvPr/>
        </p:nvCxnSpPr>
        <p:spPr>
          <a:xfrm flipV="1">
            <a:off x="224028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224028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6" name="Connector 95"/>
          <p:cNvCxnSpPr/>
          <p:nvPr/>
        </p:nvCxnSpPr>
        <p:spPr>
          <a:xfrm flipV="1">
            <a:off x="224028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7" name="Connector 96"/>
          <p:cNvCxnSpPr/>
          <p:nvPr/>
        </p:nvCxnSpPr>
        <p:spPr>
          <a:xfrm>
            <a:off x="224028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8" name="Connector 97"/>
          <p:cNvCxnSpPr/>
          <p:nvPr/>
        </p:nvCxnSpPr>
        <p:spPr>
          <a:xfrm>
            <a:off x="224028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9" name="Connector 98"/>
          <p:cNvCxnSpPr/>
          <p:nvPr/>
        </p:nvCxnSpPr>
        <p:spPr>
          <a:xfrm>
            <a:off x="224028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224028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224028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224028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3" name="Connector 102"/>
          <p:cNvCxnSpPr/>
          <p:nvPr/>
        </p:nvCxnSpPr>
        <p:spPr>
          <a:xfrm flipV="1">
            <a:off x="224028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4" name="Connector 103"/>
          <p:cNvCxnSpPr/>
          <p:nvPr/>
        </p:nvCxnSpPr>
        <p:spPr>
          <a:xfrm flipV="1">
            <a:off x="224028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5" name="Connector 104"/>
          <p:cNvCxnSpPr/>
          <p:nvPr/>
        </p:nvCxnSpPr>
        <p:spPr>
          <a:xfrm>
            <a:off x="224028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6" name="Connector 105"/>
          <p:cNvCxnSpPr/>
          <p:nvPr/>
        </p:nvCxnSpPr>
        <p:spPr>
          <a:xfrm>
            <a:off x="224028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V="1">
            <a:off x="224028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224028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9" name="Connector 108"/>
          <p:cNvCxnSpPr/>
          <p:nvPr/>
        </p:nvCxnSpPr>
        <p:spPr>
          <a:xfrm flipV="1">
            <a:off x="224028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0" name="Connector 109"/>
          <p:cNvCxnSpPr/>
          <p:nvPr/>
        </p:nvCxnSpPr>
        <p:spPr>
          <a:xfrm flipV="1">
            <a:off x="224028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1" name="Connector 110"/>
          <p:cNvCxnSpPr/>
          <p:nvPr/>
        </p:nvCxnSpPr>
        <p:spPr>
          <a:xfrm flipV="1">
            <a:off x="224028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2" name="Connector 111"/>
          <p:cNvCxnSpPr/>
          <p:nvPr/>
        </p:nvCxnSpPr>
        <p:spPr>
          <a:xfrm flipV="1">
            <a:off x="224028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3" name="Connector 112"/>
          <p:cNvCxnSpPr/>
          <p:nvPr/>
        </p:nvCxnSpPr>
        <p:spPr>
          <a:xfrm>
            <a:off x="224028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4" name="Connector 113"/>
          <p:cNvCxnSpPr/>
          <p:nvPr/>
        </p:nvCxnSpPr>
        <p:spPr>
          <a:xfrm flipV="1">
            <a:off x="2240280" y="224028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5" name="Connector 114"/>
          <p:cNvCxnSpPr/>
          <p:nvPr/>
        </p:nvCxnSpPr>
        <p:spPr>
          <a:xfrm flipV="1">
            <a:off x="2240280" y="265176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6" name="Connector 115"/>
          <p:cNvCxnSpPr/>
          <p:nvPr/>
        </p:nvCxnSpPr>
        <p:spPr>
          <a:xfrm flipV="1">
            <a:off x="2240280" y="30632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7" name="Connector 116"/>
          <p:cNvCxnSpPr/>
          <p:nvPr/>
        </p:nvCxnSpPr>
        <p:spPr>
          <a:xfrm flipV="1">
            <a:off x="2240280" y="34747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8" name="Connector 117"/>
          <p:cNvCxnSpPr/>
          <p:nvPr/>
        </p:nvCxnSpPr>
        <p:spPr>
          <a:xfrm flipV="1">
            <a:off x="2240280" y="38862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9" name="Connector 118"/>
          <p:cNvCxnSpPr/>
          <p:nvPr/>
        </p:nvCxnSpPr>
        <p:spPr>
          <a:xfrm flipV="1">
            <a:off x="2240280" y="42976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0" name="Connector 119"/>
          <p:cNvCxnSpPr/>
          <p:nvPr/>
        </p:nvCxnSpPr>
        <p:spPr>
          <a:xfrm flipV="1">
            <a:off x="2240280" y="47091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1" name="Connector 120"/>
          <p:cNvCxnSpPr/>
          <p:nvPr/>
        </p:nvCxnSpPr>
        <p:spPr>
          <a:xfrm>
            <a:off x="365760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2" name="Connector 121"/>
          <p:cNvCxnSpPr/>
          <p:nvPr/>
        </p:nvCxnSpPr>
        <p:spPr>
          <a:xfrm>
            <a:off x="365760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3" name="Connector 122"/>
          <p:cNvCxnSpPr/>
          <p:nvPr/>
        </p:nvCxnSpPr>
        <p:spPr>
          <a:xfrm>
            <a:off x="365760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4" name="Connector 123"/>
          <p:cNvCxnSpPr/>
          <p:nvPr/>
        </p:nvCxnSpPr>
        <p:spPr>
          <a:xfrm>
            <a:off x="365760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5" name="Connector 124"/>
          <p:cNvCxnSpPr/>
          <p:nvPr/>
        </p:nvCxnSpPr>
        <p:spPr>
          <a:xfrm>
            <a:off x="365760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6" name="Connector 125"/>
          <p:cNvCxnSpPr/>
          <p:nvPr/>
        </p:nvCxnSpPr>
        <p:spPr>
          <a:xfrm>
            <a:off x="365760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7" name="Connector 126"/>
          <p:cNvCxnSpPr/>
          <p:nvPr/>
        </p:nvCxnSpPr>
        <p:spPr>
          <a:xfrm flipV="1">
            <a:off x="365760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8" name="Connector 127"/>
          <p:cNvCxnSpPr/>
          <p:nvPr/>
        </p:nvCxnSpPr>
        <p:spPr>
          <a:xfrm>
            <a:off x="365760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9" name="Connector 128"/>
          <p:cNvCxnSpPr/>
          <p:nvPr/>
        </p:nvCxnSpPr>
        <p:spPr>
          <a:xfrm>
            <a:off x="365760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0" name="Connector 129"/>
          <p:cNvCxnSpPr/>
          <p:nvPr/>
        </p:nvCxnSpPr>
        <p:spPr>
          <a:xfrm>
            <a:off x="365760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1" name="Connector 130"/>
          <p:cNvCxnSpPr/>
          <p:nvPr/>
        </p:nvCxnSpPr>
        <p:spPr>
          <a:xfrm>
            <a:off x="365760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2" name="Connector 131"/>
          <p:cNvCxnSpPr/>
          <p:nvPr/>
        </p:nvCxnSpPr>
        <p:spPr>
          <a:xfrm>
            <a:off x="365760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3" name="Connector 132"/>
          <p:cNvCxnSpPr/>
          <p:nvPr/>
        </p:nvCxnSpPr>
        <p:spPr>
          <a:xfrm flipV="1">
            <a:off x="365760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4" name="Connector 133"/>
          <p:cNvCxnSpPr/>
          <p:nvPr/>
        </p:nvCxnSpPr>
        <p:spPr>
          <a:xfrm flipV="1">
            <a:off x="365760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5" name="Connector 134"/>
          <p:cNvCxnSpPr/>
          <p:nvPr/>
        </p:nvCxnSpPr>
        <p:spPr>
          <a:xfrm>
            <a:off x="365760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6" name="Connector 135"/>
          <p:cNvCxnSpPr/>
          <p:nvPr/>
        </p:nvCxnSpPr>
        <p:spPr>
          <a:xfrm>
            <a:off x="365760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7" name="Connector 136"/>
          <p:cNvCxnSpPr/>
          <p:nvPr/>
        </p:nvCxnSpPr>
        <p:spPr>
          <a:xfrm>
            <a:off x="365760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8" name="Connector 137"/>
          <p:cNvCxnSpPr/>
          <p:nvPr/>
        </p:nvCxnSpPr>
        <p:spPr>
          <a:xfrm>
            <a:off x="365760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9" name="Connector 138"/>
          <p:cNvCxnSpPr/>
          <p:nvPr/>
        </p:nvCxnSpPr>
        <p:spPr>
          <a:xfrm flipV="1">
            <a:off x="365760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0" name="Connector 139"/>
          <p:cNvCxnSpPr/>
          <p:nvPr/>
        </p:nvCxnSpPr>
        <p:spPr>
          <a:xfrm flipV="1">
            <a:off x="365760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1" name="Connector 140"/>
          <p:cNvCxnSpPr/>
          <p:nvPr/>
        </p:nvCxnSpPr>
        <p:spPr>
          <a:xfrm flipV="1">
            <a:off x="365760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2" name="Connector 141"/>
          <p:cNvCxnSpPr/>
          <p:nvPr/>
        </p:nvCxnSpPr>
        <p:spPr>
          <a:xfrm>
            <a:off x="365760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3" name="Connector 142"/>
          <p:cNvCxnSpPr/>
          <p:nvPr/>
        </p:nvCxnSpPr>
        <p:spPr>
          <a:xfrm>
            <a:off x="365760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4" name="Connector 143"/>
          <p:cNvCxnSpPr/>
          <p:nvPr/>
        </p:nvCxnSpPr>
        <p:spPr>
          <a:xfrm>
            <a:off x="365760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5" name="Connector 144"/>
          <p:cNvCxnSpPr/>
          <p:nvPr/>
        </p:nvCxnSpPr>
        <p:spPr>
          <a:xfrm flipV="1">
            <a:off x="365760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6" name="Connector 145"/>
          <p:cNvCxnSpPr/>
          <p:nvPr/>
        </p:nvCxnSpPr>
        <p:spPr>
          <a:xfrm flipV="1">
            <a:off x="365760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7" name="Connector 146"/>
          <p:cNvCxnSpPr/>
          <p:nvPr/>
        </p:nvCxnSpPr>
        <p:spPr>
          <a:xfrm flipV="1">
            <a:off x="365760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8" name="Connector 147"/>
          <p:cNvCxnSpPr/>
          <p:nvPr/>
        </p:nvCxnSpPr>
        <p:spPr>
          <a:xfrm flipV="1">
            <a:off x="365760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365760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0" name="Connector 149"/>
          <p:cNvCxnSpPr/>
          <p:nvPr/>
        </p:nvCxnSpPr>
        <p:spPr>
          <a:xfrm>
            <a:off x="365760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1" name="Connector 150"/>
          <p:cNvCxnSpPr/>
          <p:nvPr/>
        </p:nvCxnSpPr>
        <p:spPr>
          <a:xfrm flipV="1">
            <a:off x="365760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2" name="Connector 151"/>
          <p:cNvCxnSpPr/>
          <p:nvPr/>
        </p:nvCxnSpPr>
        <p:spPr>
          <a:xfrm flipV="1">
            <a:off x="365760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3" name="Connector 152"/>
          <p:cNvCxnSpPr/>
          <p:nvPr/>
        </p:nvCxnSpPr>
        <p:spPr>
          <a:xfrm flipV="1">
            <a:off x="365760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4" name="Connector 153"/>
          <p:cNvCxnSpPr/>
          <p:nvPr/>
        </p:nvCxnSpPr>
        <p:spPr>
          <a:xfrm flipV="1">
            <a:off x="365760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5" name="Connector 154"/>
          <p:cNvCxnSpPr/>
          <p:nvPr/>
        </p:nvCxnSpPr>
        <p:spPr>
          <a:xfrm flipV="1">
            <a:off x="365760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6" name="Connector 155"/>
          <p:cNvCxnSpPr/>
          <p:nvPr/>
        </p:nvCxnSpPr>
        <p:spPr>
          <a:xfrm>
            <a:off x="365760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7" name="Connector 156"/>
          <p:cNvCxnSpPr/>
          <p:nvPr/>
        </p:nvCxnSpPr>
        <p:spPr>
          <a:xfrm flipV="1">
            <a:off x="365760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8" name="Connector 157"/>
          <p:cNvCxnSpPr/>
          <p:nvPr/>
        </p:nvCxnSpPr>
        <p:spPr>
          <a:xfrm flipV="1">
            <a:off x="365760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9" name="Connector 158"/>
          <p:cNvCxnSpPr/>
          <p:nvPr/>
        </p:nvCxnSpPr>
        <p:spPr>
          <a:xfrm flipV="1">
            <a:off x="365760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0" name="Connector 159"/>
          <p:cNvCxnSpPr/>
          <p:nvPr/>
        </p:nvCxnSpPr>
        <p:spPr>
          <a:xfrm flipV="1">
            <a:off x="365760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1" name="Connector 160"/>
          <p:cNvCxnSpPr/>
          <p:nvPr/>
        </p:nvCxnSpPr>
        <p:spPr>
          <a:xfrm flipV="1">
            <a:off x="365760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2" name="Connector 161"/>
          <p:cNvCxnSpPr/>
          <p:nvPr/>
        </p:nvCxnSpPr>
        <p:spPr>
          <a:xfrm flipV="1">
            <a:off x="365760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3" name="Connector 162"/>
          <p:cNvCxnSpPr/>
          <p:nvPr/>
        </p:nvCxnSpPr>
        <p:spPr>
          <a:xfrm>
            <a:off x="507492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4" name="Connector 163"/>
          <p:cNvCxnSpPr/>
          <p:nvPr/>
        </p:nvCxnSpPr>
        <p:spPr>
          <a:xfrm>
            <a:off x="507492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5" name="Connector 164"/>
          <p:cNvCxnSpPr/>
          <p:nvPr/>
        </p:nvCxnSpPr>
        <p:spPr>
          <a:xfrm>
            <a:off x="507492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6" name="Connector 165"/>
          <p:cNvCxnSpPr/>
          <p:nvPr/>
        </p:nvCxnSpPr>
        <p:spPr>
          <a:xfrm flipV="1">
            <a:off x="507492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7" name="Connector 166"/>
          <p:cNvCxnSpPr/>
          <p:nvPr/>
        </p:nvCxnSpPr>
        <p:spPr>
          <a:xfrm flipV="1">
            <a:off x="507492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8" name="Connector 167"/>
          <p:cNvCxnSpPr/>
          <p:nvPr/>
        </p:nvCxnSpPr>
        <p:spPr>
          <a:xfrm flipV="1">
            <a:off x="507492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sp>
        <p:nvSpPr>
          <p:cNvPr id="169" name="Oval 168"/>
          <p:cNvSpPr/>
          <p:nvPr/>
        </p:nvSpPr>
        <p:spPr>
          <a:xfrm>
            <a:off x="704088" y="212140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04088" y="253288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04088" y="2944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04088" y="33558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704088" y="376732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04088" y="417880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04088" y="459028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121408" y="19156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121408" y="23271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121408" y="27386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21408" y="31501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2121408" y="35615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121408" y="39730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121408" y="43845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121408" y="47960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538728" y="21214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538728" y="25328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538728" y="29443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538728" y="33558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3538728" y="37673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8728" y="41788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538728" y="45902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956048" y="23271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956048" y="27386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4956048" y="31501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956048" y="35615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956048" y="39730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956048" y="43845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6373368" y="3355848"/>
            <a:ext cx="237744" cy="237744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3716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Input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66 features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55448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256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97180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128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38912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64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80644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Output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sigmoid → P(attack)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406640" y="169164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Design choices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406640" y="211226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635240" y="2039112"/>
            <a:ext cx="405079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an MLP?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Flow features are a flat table of numbers; a dense network fits them well and averages cleanly under FedAvg.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406640" y="281635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635240" y="2743200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Hidden layers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256 → 128 → 64 neurons with ReLU learn combinations of packet, byte and timing features.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406640" y="332232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635240" y="3249168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Against overfitting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Dropout switches off random neurons while training; L2 keeps the weights small.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06640" y="382828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635240" y="3755136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Output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One sigmoid neuron gives the probability that a flow is an attack.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7406640" y="4334256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635240" y="4261104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Size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58,369 weights: exactly what each client sends every round.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06640" y="484022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35240" y="4767072"/>
            <a:ext cx="405079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Baseline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Trained centrally with class weights, early stopping and a tuned threshold: the best accuracy to aim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Federated training with FedAvg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Every round: send the model out, train locally, send weights back, average. Raw traffic never leaves a router.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07 / 14</a:t>
            </a:r>
          </a:p>
        </p:txBody>
      </p:sp>
      <p:sp>
        <p:nvSpPr>
          <p:cNvPr id="9" name="Oval 8"/>
          <p:cNvSpPr/>
          <p:nvPr/>
        </p:nvSpPr>
        <p:spPr>
          <a:xfrm>
            <a:off x="3182111" y="3319272"/>
            <a:ext cx="1133856" cy="1133856"/>
          </a:xfrm>
          <a:prstGeom prst="ellipse">
            <a:avLst/>
          </a:prstGeom>
          <a:solidFill>
            <a:srgbClr val="D7EBE7"/>
          </a:solidFill>
          <a:ln w="1905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1" y="3319272"/>
            <a:ext cx="1133856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899" y="171450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2051" y="171450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1 · Send global model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server → all 10 routers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4900" y="345186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8052" y="345186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2 · Train locally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2 epochs on own traffic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8899" y="518922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02051" y="518922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3 · Send weights back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new weights + sample count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" y="345186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" y="345186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4 · Weighted average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FedAvg → new global 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69179" y="2148840"/>
            <a:ext cx="1165861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 flipH="1">
            <a:off x="4869179" y="4320540"/>
            <a:ext cx="1165861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 flipH="1" flipV="1">
            <a:off x="1463040" y="4320540"/>
            <a:ext cx="1165859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 flipV="1">
            <a:off x="1463040" y="2148840"/>
            <a:ext cx="1165859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315200" y="1691640"/>
            <a:ext cx="437083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8308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THE FEDAVG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057400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46B62"/>
                </a:solidFill>
                <a:latin typeface="Calibri"/>
              </a:rPr>
              <a:t>new model = Σ  (n</a:t>
            </a:r>
            <a:r>
              <a:rPr sz="1200" b="1" i="0">
                <a:solidFill>
                  <a:srgbClr val="146B62"/>
                </a:solidFill>
                <a:latin typeface="Calibri"/>
              </a:rPr>
              <a:t>k</a:t>
            </a:r>
            <a:r>
              <a:rPr sz="1900" b="1" i="0">
                <a:solidFill>
                  <a:srgbClr val="146B62"/>
                </a:solidFill>
                <a:latin typeface="Calibri"/>
              </a:rPr>
              <a:t> / n) × model</a:t>
            </a:r>
            <a:r>
              <a:rPr sz="1200" b="1" i="0">
                <a:solidFill>
                  <a:srgbClr val="146B62"/>
                </a:solidFill>
                <a:latin typeface="Calibri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514600"/>
            <a:ext cx="4005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nk = flows at router k, n = all flows: bigger routers count more.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22783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3154680"/>
            <a:ext cx="414223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weighted?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A router with more traffic has seen more examples, so its model counts more. Router 10 holds 25% of all flows.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858768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Setup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10 clients · 15 rounds · 2 local epochs · batch size 256.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43788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4364736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Privacy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Only the 58,369 weights travel; the 564,007 flows stay on their routers.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943856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4870704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Result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99.93% over the real routers vs 100.0% centralized.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544982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5376672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Where Krypsis fits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Steps 5–8 run between 3 (send back) and 4 (average).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The Krypsis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After local training, each client wraps its update in one message with a fingerprint and an integrity tag.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08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1371600" cy="960120"/>
          </a:xfrm>
          <a:prstGeom prst="rect">
            <a:avLst/>
          </a:prstGeom>
          <a:solidFill>
            <a:srgbClr val="E7EBE4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Length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4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where the header ends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20" y="1691640"/>
            <a:ext cx="3383280" cy="960120"/>
          </a:xfrm>
          <a:prstGeom prst="rect">
            <a:avLst/>
          </a:prstGeom>
          <a:solidFill>
            <a:srgbClr val="D7EBE7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3108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Header + fingerprint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≈1.5 KB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client · round · sample count · fingerprint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169164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737360"/>
            <a:ext cx="39319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Payload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233,476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the update Δw: 58,369 float32 numbers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4040" y="1691640"/>
            <a:ext cx="2221992" cy="960120"/>
          </a:xfrm>
          <a:prstGeom prst="rect">
            <a:avLst/>
          </a:prstGeom>
          <a:solidFill>
            <a:srgbClr val="F5E2C8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37360"/>
            <a:ext cx="19476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Integrity tag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32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HMAC-SHA256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803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90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THE FINGERPRINT: A SHORT 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429000"/>
            <a:ext cx="320040" cy="2103120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57784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Δw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58,369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0" y="4480560"/>
            <a:ext cx="14630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1234440" y="388620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× random matrix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(public seed 2023)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3474720"/>
            <a:ext cx="320040" cy="8229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44728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sketch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64 numbers: the update's direction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4526280"/>
            <a:ext cx="320040" cy="22860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44988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L2 norm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1 number: overall size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5257800"/>
            <a:ext cx="320040" cy="41148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23036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layer norms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4 numbers: size per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566928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6B62"/>
                </a:solidFill>
                <a:latin typeface="Calibri"/>
              </a:rPr>
              <a:t>The server can recompute it, so it cannot be faked.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28803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2990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7A2B"/>
                </a:solidFill>
                <a:latin typeface="Calibri"/>
              </a:rPr>
              <a:t>THE INTEGRITY TAG: A DIGITAL SEAL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3474720"/>
            <a:ext cx="17373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347472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header + payload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4343400"/>
            <a:ext cx="17373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47104" y="434340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secret key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32 bytes, one per client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14232" y="3886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87384" y="3886200"/>
            <a:ext cx="117957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HMAC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SHA-256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05872" y="3931920"/>
            <a:ext cx="10515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79024" y="3931920"/>
            <a:ext cx="9052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tag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32 bytes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11312" y="3813048"/>
            <a:ext cx="502920" cy="301752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 flipV="1">
            <a:off x="8211312" y="4389120"/>
            <a:ext cx="502920" cy="292608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>
            <a:off x="10040112" y="4251960"/>
            <a:ext cx="365760" cy="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6473952" y="52578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Only the client and the server know the key. Change even one byte on the way and the tag no longer matches. Total cost: +0.67% message size (plain JSON would be 5.6× bigger).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Server verification: two hard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Before anything else, the server checks that the message is genuine. Failures are dropped immediately.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09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148840"/>
            <a:ext cx="149961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Message arrives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from client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1488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2148840"/>
            <a:ext cx="168249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Split it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length · header · payload · tag</a:t>
            </a:r>
          </a:p>
        </p:txBody>
      </p:sp>
      <p:sp>
        <p:nvSpPr>
          <p:cNvPr id="13" name="Diamond 12"/>
          <p:cNvSpPr/>
          <p:nvPr/>
        </p:nvSpPr>
        <p:spPr>
          <a:xfrm>
            <a:off x="4663440" y="2011680"/>
            <a:ext cx="2103120" cy="137160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17373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Tag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matches?</a:t>
            </a:r>
          </a:p>
        </p:txBody>
      </p:sp>
      <p:sp>
        <p:nvSpPr>
          <p:cNvPr id="15" name="Diamond 14"/>
          <p:cNvSpPr/>
          <p:nvPr/>
        </p:nvSpPr>
        <p:spPr>
          <a:xfrm>
            <a:off x="7178040" y="2011680"/>
            <a:ext cx="2103120" cy="137160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011680"/>
            <a:ext cx="17373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Fingerprint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matches?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993392" cy="109728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2148840"/>
            <a:ext cx="184708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Accepted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go to scoring (step 7)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48840" y="2697480"/>
            <a:ext cx="36576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343400" y="2697480"/>
            <a:ext cx="3200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6766560" y="2697480"/>
            <a:ext cx="41148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>
            <a:off x="9281160" y="2697480"/>
            <a:ext cx="41148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6720840" y="240487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15000" y="3383280"/>
            <a:ext cx="0" cy="50292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5788152" y="34747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88620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88620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Reject: bad_tag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changed on the way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3383280"/>
            <a:ext cx="0" cy="50292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8302752" y="34747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0" y="388620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5472" y="388620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Reject: fingerprint_mismatch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client lied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1947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46320"/>
            <a:ext cx="45720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Check 1 · tag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The server recomputes the HMAC with that client's key and compares in constant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42544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352288"/>
            <a:ext cx="45720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Check 2 · fingerprint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It recomputes the fingerprint from the payload instead of trusting the header.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0" y="4754880"/>
            <a:ext cx="4069080" cy="15361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754880"/>
            <a:ext cx="406908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4754880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· unpack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5303520"/>
            <a:ext cx="3657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53328" y="5257800"/>
            <a:ext cx="0" cy="896112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6199632" y="5303520"/>
            <a:ext cx="324612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88"/>
              </a:lnSpc>
            </a:pPr>
            <a:r>
              <a:rPr sz="90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hmac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compare_digest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tag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expected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"bad_tag"</a:t>
            </a:r>
          </a:p>
          <a:p>
            <a:pPr algn="l">
              <a:lnSpc>
                <a:spcPts val="1188"/>
              </a:lnSpc>
            </a:pPr>
            <a:r>
              <a:rPr sz="90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allclose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fp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compute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"fp"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"fingerprint_mismatch"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754880"/>
            <a:ext cx="1993392" cy="1536192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0" y="4754880"/>
            <a:ext cx="1993392" cy="1536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46B62"/>
                </a:solidFill>
                <a:latin typeface="Arial Black"/>
              </a:rPr>
              <a:t>105 / 105</a:t>
            </a:r>
          </a:p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tampered messages 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Anomaly scoring: is this update suspicious?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Three cheap scores, computed only from the fingerprints of this round's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Norm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Is it much bigger or smaller than the others?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325880" y="3220339"/>
            <a:ext cx="498254" cy="711581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 flipV="1">
            <a:off x="1325880" y="3314767"/>
            <a:ext cx="735495" cy="617153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325880" y="3564800"/>
            <a:ext cx="787291" cy="367120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325880" y="3773136"/>
            <a:ext cx="900508" cy="158784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325880" y="2617804"/>
            <a:ext cx="530937" cy="1314116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2011680" y="26060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too large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| log( size / median size ) |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Consensus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Does it point away from everyone else?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852160" y="3287993"/>
            <a:ext cx="1211051" cy="643927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852160" y="3087479"/>
            <a:ext cx="1080836" cy="844441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5852160" y="2945274"/>
            <a:ext cx="952793" cy="986646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852160" y="3164931"/>
            <a:ext cx="1137108" cy="766989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52160" y="2886351"/>
            <a:ext cx="1387517" cy="1045569"/>
          </a:xfrm>
          <a:prstGeom prst="line">
            <a:avLst/>
          </a:prstGeom>
          <a:ln w="31750">
            <a:solidFill>
              <a:srgbClr val="146B62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7269480" y="2697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median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4862293" y="3360420"/>
            <a:ext cx="989867" cy="571500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28" name="TextBox 27"/>
          <p:cNvSpPr txBox="1"/>
          <p:nvPr/>
        </p:nvSpPr>
        <p:spPr>
          <a:xfrm>
            <a:off x="4526280" y="3063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outlier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1 − cos( sketch, median sketch 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History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Is it unlike this client's own last update?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8915400" y="2987859"/>
            <a:ext cx="1348259" cy="944061"/>
          </a:xfrm>
          <a:prstGeom prst="line">
            <a:avLst/>
          </a:prstGeom>
          <a:ln w="25400">
            <a:solidFill>
              <a:srgbClr val="8A968F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10332720" y="2788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A968F"/>
                </a:solidFill>
                <a:latin typeface="Calibri"/>
              </a:rPr>
              <a:t>last round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8584070" y="2695380"/>
            <a:ext cx="331330" cy="1236540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8229600" y="30175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this round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532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1 − cos( sketch, last sketch 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20640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0640"/>
            <a:ext cx="54864" cy="114300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20640"/>
            <a:ext cx="45720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Standardize within the round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z = (score − median) / (1.4826 × MAD)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120640"/>
            <a:ext cx="62179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score is compared with the other clients in the same round. Lesson learned: our first version used fixed limits, and once training settled 65–96% of honest updates were flagged. Comparing within the round fixed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Decision: threshold, second check, capped average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Rounds 1–5 are clean and set the limits. From round 6 every update goes through this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78308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3 standardized scores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2468880"/>
            <a:ext cx="0" cy="22860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2" name="Diamond 11"/>
          <p:cNvSpPr/>
          <p:nvPr/>
        </p:nvSpPr>
        <p:spPr>
          <a:xfrm>
            <a:off x="457200" y="2697480"/>
            <a:ext cx="2286000" cy="105156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19202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Any score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above limit?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80360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2880360"/>
            <a:ext cx="168249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Accept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218688"/>
            <a:ext cx="7772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2880360" y="29260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00200" y="3749039"/>
            <a:ext cx="0" cy="22860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1691640" y="373075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yes</a:t>
            </a:r>
          </a:p>
        </p:txBody>
      </p:sp>
      <p:sp>
        <p:nvSpPr>
          <p:cNvPr id="20" name="Diamond 19"/>
          <p:cNvSpPr/>
          <p:nvPr/>
        </p:nvSpPr>
        <p:spPr>
          <a:xfrm>
            <a:off x="457200" y="3977639"/>
            <a:ext cx="2286000" cy="105156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19202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Close to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trimmed mean?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160520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3592" y="4160520"/>
            <a:ext cx="168249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Rescue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accept after all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43200" y="4498848"/>
            <a:ext cx="7772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2880360" y="420624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00200" y="5029200"/>
            <a:ext cx="0" cy="22860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502920" y="5257800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5257800"/>
            <a:ext cx="20482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Reject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49240" y="3218688"/>
            <a:ext cx="320040" cy="0"/>
          </a:xfrm>
          <a:prstGeom prst="line">
            <a:avLst/>
          </a:prstGeom>
          <a:ln w="15875">
            <a:solidFill>
              <a:srgbClr val="146B62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5349240" y="4498848"/>
            <a:ext cx="320040" cy="0"/>
          </a:xfrm>
          <a:prstGeom prst="line">
            <a:avLst/>
          </a:prstGeom>
          <a:ln w="15875">
            <a:solidFill>
              <a:srgbClr val="146B62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669280" y="3218688"/>
            <a:ext cx="0" cy="2039112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3520440" y="5257800"/>
            <a:ext cx="2377440" cy="640080"/>
          </a:xfrm>
          <a:prstGeom prst="roundRect">
            <a:avLst>
              <a:gd name="adj" fmla="val 10000"/>
            </a:avLst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3592" y="5257800"/>
            <a:ext cx="22311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Capped FedAvg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D7EBE7"/>
                </a:solidFill>
                <a:latin typeface="Calibri"/>
              </a:rPr>
              <a:t>no client above 15%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1691640"/>
            <a:ext cx="5285232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1801368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WHERE THE LIMIT COMES FROM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103120"/>
            <a:ext cx="4828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Conformal threshold from the 5 clean rounds: about 5% of honest scores (alpha = 0.05) are allowed above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880360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Global: one limit for all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66560" y="4206240"/>
            <a:ext cx="464515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858000" y="388620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0" y="374904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0" y="3941064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41985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86800" y="333756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44000" y="383133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01200" y="3995928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58400" y="347472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15600" y="369417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972800" y="3310129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766560" y="3602736"/>
            <a:ext cx="4645152" cy="0"/>
          </a:xfrm>
          <a:prstGeom prst="line">
            <a:avLst/>
          </a:prstGeom>
          <a:ln w="19050">
            <a:solidFill>
              <a:srgbClr val="C97A2B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10451592" y="3346704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limit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20272" y="422452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172420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Mondrian: one limit per cluster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66560" y="5897880"/>
            <a:ext cx="464515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6858000" y="557784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15200" y="544068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72400" y="5632704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229600" y="5111496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86800" y="5029200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144000" y="552297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601200" y="5687568"/>
            <a:ext cx="146304" cy="146304"/>
          </a:xfrm>
          <a:prstGeom prst="ellipse">
            <a:avLst/>
          </a:prstGeom>
          <a:solidFill>
            <a:srgbClr val="2E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058400" y="5166360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15600" y="538581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972800" y="5001769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6784848" y="5390388"/>
            <a:ext cx="3950208" cy="0"/>
          </a:xfrm>
          <a:prstGeom prst="line">
            <a:avLst/>
          </a:prstGeom>
          <a:ln w="19050">
            <a:solidFill>
              <a:srgbClr val="146B62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8156448" y="5006340"/>
            <a:ext cx="3035808" cy="0"/>
          </a:xfrm>
          <a:prstGeom prst="line">
            <a:avLst/>
          </a:prstGeom>
          <a:ln w="19050">
            <a:solidFill>
              <a:srgbClr val="C97A2B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9528048" y="5678424"/>
            <a:ext cx="292608" cy="0"/>
          </a:xfrm>
          <a:prstGeom prst="line">
            <a:avLst/>
          </a:prstGeom>
          <a:ln w="19050">
            <a:solidFill>
              <a:srgbClr val="2E558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11320272" y="591616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172420"/>
                </a:solidFill>
                <a:latin typeface="Calibri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9400" y="5897880"/>
            <a:ext cx="4828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Dots = honest clients' scores. In the global plot, unusual clients sit above the 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9098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9098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the experiments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Attack: 2 of 10 clients flip labels (attack ↔ normal) from round 6 of 12. Means over 5 (FLNET2023) and 10 (NSL-KDD)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99.93%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FedAvg accuracy, 10 routers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centralized 100.0%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1159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4039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105 / 105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tampered messages rejected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integrity tag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398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2278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71.4% · 99.3%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poisoned updates caught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FLNET2023 · NSL-KDD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7637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0517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0.4% · 1.1%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honest updates wrongly flagged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FLNET2023 · NSL-KDD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02920" y="3017520"/>
          <a:ext cx="54864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172200" y="3017520"/>
          <a:ext cx="5513832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529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COMPARISON  · 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No protocol vs global vs Mondrian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FLNET2023, 2 of 10 attackers, 15 seeds, paired t-tests.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No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Protocol + global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5361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536192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2F4F0"/>
                </a:solidFill>
                <a:latin typeface="Calibri"/>
              </a:rPr>
              <a:t>BEST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69164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6916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Protocol + Mondrian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2350008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02920" y="23500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Accuracy under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78.0%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88.2%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35000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87.5%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008376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02920" y="30083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Attacks caught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53.3%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0083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57.6%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3666744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02920" y="3666744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Honest wrongly flagged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2.7%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66674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4.6%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4325112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02920" y="4325112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Tampered rejected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not checked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105 / 105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32511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105 / 105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25780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257800"/>
            <a:ext cx="54864" cy="91440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257800"/>
            <a:ext cx="10725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C97A2B"/>
                </a:solidFill>
                <a:latin typeface="Calibri"/>
              </a:rPr>
              <a:t>Answer: no.  </a:t>
            </a:r>
            <a:r>
              <a:rPr sz="1350" b="0" i="0">
                <a:solidFill>
                  <a:srgbClr val="172420"/>
                </a:solidFill>
                <a:latin typeface="Calibri"/>
              </a:rPr>
              <a:t>Mondrian caught a little more but flagged more honest clients; neither difference is significant (p = 0.21 and 0.18). One global threshold is enough.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we built and 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6304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A federated intrusion detector over 10 real router clients, with our own update protocol.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221284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HMAC tag + verifiable fingerprint: all tampering rejected, poisoned updates filtered, +0.67% size.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3580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35808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962656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Federated nearly matches centralized; under attack Krypsis keeps accuracy higher.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85616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85616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371246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One global threshold is enough; Mondrian gave no significant gain.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5424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3542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Calibri"/>
              </a:rP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20" y="446227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Protocol on the 11-class task, a trust-based weight cap, a real network testbed.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417320"/>
            <a:ext cx="4279392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KEY 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92024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FLNET2023 dataset, MILCOM 2023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2"/>
              </a:rPr>
              <a:t>https://doi.org/10.1109/MILCOM58377.2023.10356272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45059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McMahan et al. 2017 · FedAvg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3"/>
              </a:rPr>
              <a:t>https://arxiv.org/abs/1602.05629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98094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Hsu et al. 2019 · Dirichlet non-IID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4"/>
              </a:rPr>
              <a:t>https://arxiv.org/abs/1909.06335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11296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Angelopoulos &amp; Bates 2021 · conformal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5"/>
              </a:rPr>
              <a:t>https://arxiv.org/abs/2107.07511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041648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Blanchard et al. 2017 · Krum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6"/>
              </a:rPr>
              <a:t>https://arxiv.org/abs/1703.02757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5720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Yin et al. 2018 · trimmed mean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7"/>
              </a:rPr>
              <a:t>https://arxiv.org/abs/1803.01498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10235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Tolpegin et al. 2020 · label flipping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8"/>
              </a:rPr>
              <a:t>https://arxiv.org/abs/2007.08432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63270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RFC 2104 · HMAC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9"/>
              </a:rPr>
              <a:t>https://www.rfc-editor.org/rfc/rfc2104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406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172420"/>
                </a:solidFill>
                <a:latin typeface="Calibri"/>
              </a:rPr>
              <a:t>Thank you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68F"/>
                </a:solidFill>
                <a:latin typeface="Calibri"/>
              </a:rPr>
              <a:t>Questions welcome  ·  code: github.com/Vinudharshini18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46B62"/>
      </a:hlink>
      <a:folHlink>
        <a:srgbClr val="146B6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