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team and the project in one sentence: Krypsis trains one intrusion detector across 10 routers without moving their traffic, and protects the model updates with our own protocol.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parts. Introduction, objectives and methodology are covered in detail; then results, the comparisons, and our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motivation: detection needs varied traffic, but traffic is sensitive. Centralizing it is a privacy, legal and security problem. The examples on the right are the settings where that matters most.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Federated learning flips the flow. The server sends the model out; each router trains it locally and sends back only weight updates. In our project the clients are 10 real routers from the FLNET2023 dataset.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Federated learning removes the data-sharing problem but creates a new one: the updates. Three threats: tampering, poisoning, and the subtle one — honest routers that look unusual. Existing work treats efficiency and security separately, and robust aggregation is applied after everything is received.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gap: fuse integrity checking and cheap anomaly filtering into the protocol. Our research question tests whether a global threshold is unfair to unusual honest routers, and whether per-group thresholds fix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objectives, each with how far it was met. The right column is the evidence; every number comes from our results files.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about what was and was not done. In particular: everything is simulated in one process, keys are pre-shared, and the attackers are not adaptive. These are the honest limits of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round, left to right: the router trains locally and wraps its update in a Krypsis message; the server verifies it, scores it, filters it, and averages the accepted updates with a per-client cap. The new model goes back to every router.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FLNET2023 was built for federated intrusion detection: 10 routers, each seeing a different mix. Router 3 is mostly normal; router 4 is 92% attack; router 10 is a quarter of all data. NSL-KDD is our second dataset.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steps. The important design choice is removing IP addresses, the source port and timestamps — otherwise the model could memorise which machine is the attacker instead of learning what attacks look like.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standard multilayer perceptron — the right tool for tabular flow features, and it averages cleanly under FedAvg. Centralized training is our upper bound; federated training is the real system.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update is wrapped like this. The tag catches tampering; the fingerprint lets the server judge the update cheaply; and because the server recomputes it, a cheating client cannot fake it. All of this costs well under one percent of the message size.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steps. The first two are hard checks — reject. Then three cheap scores, standardized within the round, compared to calibrated thresholds. Flagged updates get a second, more careful check instead of being thrown away. The global-versus-Mondrian choice is our research question.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attack our own system four ways and measure detection, false alarms, accuracy and cost. Every comparison is paired by seed so differences are not just luck, and we report p-values.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Federated training matches centralized training almost exactly. But a perfect score needs checking: the dataset turned out to be separable by a single feature. That is why the rest of the results focus on multi-class detection and on attacks.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the model must name the attack, federated training over real routers loses half its macro-F1. Attack types seen at only one router are averaged away. This is the non-IID problem our project is about, made visible.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Attackers start after the dashed line. Without protection accuracy swings and drops; with the protocol it stays near the clean level. The NSL-KDD result is statistically significant; FLNET2023 points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protocol cuts the backdoor's success by about three quarters on NSL-KDD. Right: all of the protection costs less than one percent in message size, while JSON would be more than five times larger.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round every router is offline with some probability. The protocol still helps, but at 40% dropout it catches only about a third of the poisoned updates — the consensus it compares against is built from fewer routers.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Splitting each router into sub-clients gives 20 and 40 clients. More clients make the filter stronger and the server cost stays in milliseconds. Mondrian is still not better. An honest router whose traffic changed was never wrongly rejected.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FedAvg has no protection. HTTP plus TLS protects the channel but not against a malicious client. Krum and trimmed mean filter updates, but only after receiving everything, every round. Krypsis adds per-client integrity and a cheap filter first. Rows marked as literature were not re-implemented.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both datasets the protocol beats no defense. v2 cuts false alarms; on NSL-KDD it is better than v1 on every measure, while on FLNET2023 the weight cap has a real downside. Mondrian is never clearly better.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tested the question three separate ways. Mondrian was never significantly better. A negative answer, tested properly, is still an answer — and it tells practitioners the simpler option is enough.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report what did not work as clearly as what did. Each of these is documented in the README with the measurements behind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conclusions and five next steps. The most valuable next step is the multi-class protocol experiment, where honest routers genuinely disagree.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links are clickable in the slide. The GitHub repository has the code, every result file, and the full README.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the panel and open for questions. The handbook has prepared answers for the likely ones: why 100% accuracy, and why the research question came out negative.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09/MILCOM58377.2023.10356272" TargetMode="External"/><Relationship Id="rId3" Type="http://schemas.openxmlformats.org/officeDocument/2006/relationships/hyperlink" Target="https://github.com/nsol-nmsu/FML-Network" TargetMode="External"/><Relationship Id="rId4" Type="http://schemas.openxmlformats.org/officeDocument/2006/relationships/hyperlink" Target="https://arxiv.org/abs/1602.05629" TargetMode="External"/><Relationship Id="rId5" Type="http://schemas.openxmlformats.org/officeDocument/2006/relationships/hyperlink" Target="https://arxiv.org/abs/1703.02757" TargetMode="External"/><Relationship Id="rId6" Type="http://schemas.openxmlformats.org/officeDocument/2006/relationships/hyperlink" Target="https://arxiv.org/abs/1803.01498" TargetMode="External"/><Relationship Id="rId7" Type="http://schemas.openxmlformats.org/officeDocument/2006/relationships/hyperlink" Target="https://arxiv.org/abs/1807.00459" TargetMode="External"/><Relationship Id="rId8" Type="http://schemas.openxmlformats.org/officeDocument/2006/relationships/hyperlink" Target="https://arxiv.org/abs/2007.08432" TargetMode="External"/><Relationship Id="rId9" Type="http://schemas.openxmlformats.org/officeDocument/2006/relationships/hyperlink" Target="https://arxiv.org/abs/1909.06335" TargetMode="External"/><Relationship Id="rId10" Type="http://schemas.openxmlformats.org/officeDocument/2006/relationships/hyperlink" Target="https://arxiv.org/abs/2107.07511" TargetMode="External"/><Relationship Id="rId11" Type="http://schemas.openxmlformats.org/officeDocument/2006/relationships/hyperlink" Target="https://www.unb.ca/cic/datasets/nsl.html" TargetMode="External"/><Relationship Id="rId12" Type="http://schemas.openxmlformats.org/officeDocument/2006/relationships/hyperlink" Target="https://doi.org/10.1145/3687124" TargetMode="External"/><Relationship Id="rId13" Type="http://schemas.openxmlformats.org/officeDocument/2006/relationships/hyperlink" Target="https://www.rfc-editor.org/rfc/rfc2104" TargetMode="External"/><Relationship Id="rId14"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234440"/>
            <a:ext cx="7315200" cy="274320"/>
          </a:xfrm>
          <a:prstGeom prst="rect">
            <a:avLst/>
          </a:prstGeom>
          <a:noFill/>
        </p:spPr>
        <p:txBody>
          <a:bodyPr wrap="square" anchor="t" lIns="0" rIns="0" tIns="0" bIns="0">
            <a:spAutoFit/>
          </a:bodyPr>
          <a:lstStyle/>
          <a:p>
            <a:pPr algn="l">
              <a:lnSpc>
                <a:spcPct val="120000"/>
              </a:lnSpc>
            </a:pPr>
            <a:r>
              <a:rPr sz="1100" b="1" i="0">
                <a:solidFill>
                  <a:srgbClr val="3E5F5A"/>
                </a:solidFill>
                <a:latin typeface="Segoe UI"/>
              </a:rPr>
              <a:t>COMPUTER NETWORKS  ·  FINAL PROJECT REVIEW</a:t>
            </a:r>
          </a:p>
        </p:txBody>
      </p:sp>
      <p:cxnSp>
        <p:nvCxnSpPr>
          <p:cNvPr id="4" name="Connector 3"/>
          <p:cNvCxnSpPr/>
          <p:nvPr/>
        </p:nvCxnSpPr>
        <p:spPr>
          <a:xfrm>
            <a:off x="731520" y="1600200"/>
            <a:ext cx="548640" cy="0"/>
          </a:xfrm>
          <a:prstGeom prst="line">
            <a:avLst/>
          </a:prstGeom>
          <a:ln w="19050">
            <a:solidFill>
              <a:srgbClr val="3E5F5A"/>
            </a:solidFill>
          </a:ln>
        </p:spPr>
      </p:cxnSp>
      <p:sp>
        <p:nvSpPr>
          <p:cNvPr id="5" name="TextBox 4"/>
          <p:cNvSpPr txBox="1"/>
          <p:nvPr/>
        </p:nvSpPr>
        <p:spPr>
          <a:xfrm>
            <a:off x="731520" y="1828800"/>
            <a:ext cx="10058400" cy="1188720"/>
          </a:xfrm>
          <a:prstGeom prst="rect">
            <a:avLst/>
          </a:prstGeom>
          <a:noFill/>
        </p:spPr>
        <p:txBody>
          <a:bodyPr wrap="square" anchor="t" lIns="0" rIns="0" tIns="0" bIns="0">
            <a:spAutoFit/>
          </a:bodyPr>
          <a:lstStyle/>
          <a:p>
            <a:pPr algn="l">
              <a:lnSpc>
                <a:spcPct val="120000"/>
              </a:lnSpc>
            </a:pPr>
            <a:r>
              <a:rPr sz="7200" b="0" i="0">
                <a:solidFill>
                  <a:srgbClr val="1F2421"/>
                </a:solidFill>
                <a:latin typeface="Georgia"/>
              </a:rPr>
              <a:t>Krypsis</a:t>
            </a:r>
          </a:p>
        </p:txBody>
      </p:sp>
      <p:sp>
        <p:nvSpPr>
          <p:cNvPr id="6" name="TextBox 5"/>
          <p:cNvSpPr txBox="1"/>
          <p:nvPr/>
        </p:nvSpPr>
        <p:spPr>
          <a:xfrm>
            <a:off x="731520" y="3063240"/>
            <a:ext cx="10058400" cy="914400"/>
          </a:xfrm>
          <a:prstGeom prst="rect">
            <a:avLst/>
          </a:prstGeom>
          <a:noFill/>
        </p:spPr>
        <p:txBody>
          <a:bodyPr wrap="square" anchor="t" lIns="0" rIns="0" tIns="0" bIns="0">
            <a:spAutoFit/>
          </a:bodyPr>
          <a:lstStyle/>
          <a:p>
            <a:pPr algn="l">
              <a:lnSpc>
                <a:spcPct val="125000"/>
              </a:lnSpc>
            </a:pPr>
            <a:r>
              <a:rPr sz="2000" b="0" i="0">
                <a:solidFill>
                  <a:srgbClr val="5B625C"/>
                </a:solidFill>
                <a:latin typeface="Georgia"/>
              </a:rPr>
              <a:t>Federated network intrusion detection over real router clients,</a:t>
            </a:r>
          </a:p>
          <a:p>
            <a:pPr algn="l">
              <a:lnSpc>
                <a:spcPct val="125000"/>
              </a:lnSpc>
            </a:pPr>
            <a:r>
              <a:rPr sz="2000" b="0" i="0">
                <a:solidFill>
                  <a:srgbClr val="5B625C"/>
                </a:solidFill>
                <a:latin typeface="Georgia"/>
              </a:rPr>
              <a:t>with a security-fused update protocol</a:t>
            </a:r>
          </a:p>
        </p:txBody>
      </p:sp>
      <p:cxnSp>
        <p:nvCxnSpPr>
          <p:cNvPr id="7" name="Connector 6"/>
          <p:cNvCxnSpPr/>
          <p:nvPr/>
        </p:nvCxnSpPr>
        <p:spPr>
          <a:xfrm>
            <a:off x="731520" y="4846320"/>
            <a:ext cx="10698480" cy="0"/>
          </a:xfrm>
          <a:prstGeom prst="line">
            <a:avLst/>
          </a:prstGeom>
          <a:ln w="9525">
            <a:solidFill>
              <a:srgbClr val="DDDAD2"/>
            </a:solidFill>
          </a:ln>
        </p:spPr>
      </p:cxnSp>
      <p:sp>
        <p:nvSpPr>
          <p:cNvPr id="8" name="TextBox 7"/>
          <p:cNvSpPr txBox="1"/>
          <p:nvPr/>
        </p:nvSpPr>
        <p:spPr>
          <a:xfrm>
            <a:off x="731520" y="5029200"/>
            <a:ext cx="2560320" cy="640080"/>
          </a:xfrm>
          <a:prstGeom prst="rect">
            <a:avLst/>
          </a:prstGeom>
          <a:noFill/>
        </p:spPr>
        <p:txBody>
          <a:bodyPr wrap="square" anchor="t" lIns="0" rIns="0" tIns="0" bIns="0">
            <a:spAutoFit/>
          </a:bodyPr>
          <a:lstStyle/>
          <a:p>
            <a:pPr algn="l">
              <a:lnSpc>
                <a:spcPct val="120000"/>
              </a:lnSpc>
            </a:pPr>
            <a:r>
              <a:rPr sz="1300" b="1" i="0">
                <a:solidFill>
                  <a:srgbClr val="1F2421"/>
                </a:solidFill>
                <a:latin typeface="Segoe UI"/>
              </a:rPr>
              <a:t>Rithika K</a:t>
            </a:r>
          </a:p>
          <a:p>
            <a:pPr algn="l">
              <a:lnSpc>
                <a:spcPct val="120000"/>
              </a:lnSpc>
            </a:pPr>
            <a:r>
              <a:rPr sz="1100" b="0" i="0">
                <a:solidFill>
                  <a:srgbClr val="8C918A"/>
                </a:solidFill>
                <a:latin typeface="Segoe UI"/>
              </a:rPr>
              <a:t>CB.SC.U4AIE25126</a:t>
            </a:r>
          </a:p>
        </p:txBody>
      </p:sp>
      <p:sp>
        <p:nvSpPr>
          <p:cNvPr id="9" name="TextBox 8"/>
          <p:cNvSpPr txBox="1"/>
          <p:nvPr/>
        </p:nvSpPr>
        <p:spPr>
          <a:xfrm>
            <a:off x="3429000" y="5029200"/>
            <a:ext cx="2560320" cy="640080"/>
          </a:xfrm>
          <a:prstGeom prst="rect">
            <a:avLst/>
          </a:prstGeom>
          <a:noFill/>
        </p:spPr>
        <p:txBody>
          <a:bodyPr wrap="square" anchor="t" lIns="0" rIns="0" tIns="0" bIns="0">
            <a:spAutoFit/>
          </a:bodyPr>
          <a:lstStyle/>
          <a:p>
            <a:pPr algn="l">
              <a:lnSpc>
                <a:spcPct val="120000"/>
              </a:lnSpc>
            </a:pPr>
            <a:r>
              <a:rPr sz="1300" b="1" i="0">
                <a:solidFill>
                  <a:srgbClr val="1F2421"/>
                </a:solidFill>
                <a:latin typeface="Segoe UI"/>
              </a:rPr>
              <a:t>Pradhaniya S</a:t>
            </a:r>
          </a:p>
          <a:p>
            <a:pPr algn="l">
              <a:lnSpc>
                <a:spcPct val="120000"/>
              </a:lnSpc>
            </a:pPr>
            <a:r>
              <a:rPr sz="1100" b="0" i="0">
                <a:solidFill>
                  <a:srgbClr val="8C918A"/>
                </a:solidFill>
                <a:latin typeface="Segoe UI"/>
              </a:rPr>
              <a:t>CB.SC.U4AIE25148</a:t>
            </a:r>
          </a:p>
        </p:txBody>
      </p:sp>
      <p:sp>
        <p:nvSpPr>
          <p:cNvPr id="10" name="TextBox 9"/>
          <p:cNvSpPr txBox="1"/>
          <p:nvPr/>
        </p:nvSpPr>
        <p:spPr>
          <a:xfrm>
            <a:off x="6126480" y="5029200"/>
            <a:ext cx="2560320" cy="640080"/>
          </a:xfrm>
          <a:prstGeom prst="rect">
            <a:avLst/>
          </a:prstGeom>
          <a:noFill/>
        </p:spPr>
        <p:txBody>
          <a:bodyPr wrap="square" anchor="t" lIns="0" rIns="0" tIns="0" bIns="0">
            <a:spAutoFit/>
          </a:bodyPr>
          <a:lstStyle/>
          <a:p>
            <a:pPr algn="l">
              <a:lnSpc>
                <a:spcPct val="120000"/>
              </a:lnSpc>
            </a:pPr>
            <a:r>
              <a:rPr sz="1300" b="1" i="0">
                <a:solidFill>
                  <a:srgbClr val="1F2421"/>
                </a:solidFill>
                <a:latin typeface="Segoe UI"/>
              </a:rPr>
              <a:t>Sathya K</a:t>
            </a:r>
          </a:p>
          <a:p>
            <a:pPr algn="l">
              <a:lnSpc>
                <a:spcPct val="120000"/>
              </a:lnSpc>
            </a:pPr>
            <a:r>
              <a:rPr sz="1100" b="0" i="0">
                <a:solidFill>
                  <a:srgbClr val="8C918A"/>
                </a:solidFill>
                <a:latin typeface="Segoe UI"/>
              </a:rPr>
              <a:t>CB.SC.U4AIE25154</a:t>
            </a:r>
          </a:p>
        </p:txBody>
      </p:sp>
      <p:sp>
        <p:nvSpPr>
          <p:cNvPr id="11" name="TextBox 10"/>
          <p:cNvSpPr txBox="1"/>
          <p:nvPr/>
        </p:nvSpPr>
        <p:spPr>
          <a:xfrm>
            <a:off x="8823960" y="5029200"/>
            <a:ext cx="2560320" cy="640080"/>
          </a:xfrm>
          <a:prstGeom prst="rect">
            <a:avLst/>
          </a:prstGeom>
          <a:noFill/>
        </p:spPr>
        <p:txBody>
          <a:bodyPr wrap="square" anchor="t" lIns="0" rIns="0" tIns="0" bIns="0">
            <a:spAutoFit/>
          </a:bodyPr>
          <a:lstStyle/>
          <a:p>
            <a:pPr algn="l">
              <a:lnSpc>
                <a:spcPct val="120000"/>
              </a:lnSpc>
            </a:pPr>
            <a:r>
              <a:rPr sz="1300" b="1" i="0">
                <a:solidFill>
                  <a:srgbClr val="1F2421"/>
                </a:solidFill>
                <a:latin typeface="Segoe UI"/>
              </a:rPr>
              <a:t>Vinudharshini PP</a:t>
            </a:r>
          </a:p>
          <a:p>
            <a:pPr algn="l">
              <a:lnSpc>
                <a:spcPct val="120000"/>
              </a:lnSpc>
            </a:pPr>
            <a:r>
              <a:rPr sz="1100" b="0" i="0">
                <a:solidFill>
                  <a:srgbClr val="8C918A"/>
                </a:solidFill>
                <a:latin typeface="Segoe UI"/>
              </a:rPr>
              <a:t>CB.SC.U4AIE25161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OUTLINE</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What this review covers</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2</a:t>
            </a:r>
          </a:p>
        </p:txBody>
      </p:sp>
      <p:sp>
        <p:nvSpPr>
          <p:cNvPr id="8" name="TextBox 7"/>
          <p:cNvSpPr txBox="1"/>
          <p:nvPr/>
        </p:nvSpPr>
        <p:spPr>
          <a:xfrm>
            <a:off x="731520" y="1965960"/>
            <a:ext cx="914400" cy="640080"/>
          </a:xfrm>
          <a:prstGeom prst="rect">
            <a:avLst/>
          </a:prstGeom>
          <a:noFill/>
        </p:spPr>
        <p:txBody>
          <a:bodyPr wrap="square" anchor="t" lIns="0" rIns="0" tIns="0" bIns="0">
            <a:spAutoFit/>
          </a:bodyPr>
          <a:lstStyle/>
          <a:p>
            <a:pPr algn="l">
              <a:lnSpc>
                <a:spcPct val="120000"/>
              </a:lnSpc>
            </a:pPr>
            <a:r>
              <a:rPr sz="3000" b="0" i="0">
                <a:solidFill>
                  <a:srgbClr val="3E5F5A"/>
                </a:solidFill>
                <a:latin typeface="Georgia"/>
              </a:rPr>
              <a:t>01</a:t>
            </a:r>
          </a:p>
        </p:txBody>
      </p:sp>
      <p:sp>
        <p:nvSpPr>
          <p:cNvPr id="9" name="TextBox 8"/>
          <p:cNvSpPr txBox="1"/>
          <p:nvPr/>
        </p:nvSpPr>
        <p:spPr>
          <a:xfrm>
            <a:off x="1645920" y="2011680"/>
            <a:ext cx="4389120" cy="1005840"/>
          </a:xfrm>
          <a:prstGeom prst="rect">
            <a:avLst/>
          </a:prstGeom>
          <a:noFill/>
        </p:spPr>
        <p:txBody>
          <a:bodyPr wrap="square" anchor="t" lIns="0" rIns="0" tIns="0" bIns="0">
            <a:spAutoFit/>
          </a:bodyPr>
          <a:lstStyle/>
          <a:p>
            <a:pPr algn="l">
              <a:lnSpc>
                <a:spcPct val="125000"/>
              </a:lnSpc>
            </a:pPr>
            <a:r>
              <a:rPr sz="1700" b="0" i="0">
                <a:solidFill>
                  <a:srgbClr val="1F2421"/>
                </a:solidFill>
                <a:latin typeface="Georgia"/>
              </a:rPr>
              <a:t>Introduction</a:t>
            </a:r>
          </a:p>
          <a:p>
            <a:pPr algn="l">
              <a:lnSpc>
                <a:spcPct val="125000"/>
              </a:lnSpc>
            </a:pPr>
            <a:r>
              <a:rPr sz="1200" b="0" i="0">
                <a:solidFill>
                  <a:srgbClr val="5B625C"/>
                </a:solidFill>
                <a:latin typeface="Segoe UI"/>
              </a:rPr>
              <a:t>The privacy problem, federated learning, the security gap</a:t>
            </a:r>
          </a:p>
        </p:txBody>
      </p:sp>
      <p:sp>
        <p:nvSpPr>
          <p:cNvPr id="10" name="TextBox 9"/>
          <p:cNvSpPr txBox="1"/>
          <p:nvPr/>
        </p:nvSpPr>
        <p:spPr>
          <a:xfrm>
            <a:off x="731520" y="3291840"/>
            <a:ext cx="914400" cy="640080"/>
          </a:xfrm>
          <a:prstGeom prst="rect">
            <a:avLst/>
          </a:prstGeom>
          <a:noFill/>
        </p:spPr>
        <p:txBody>
          <a:bodyPr wrap="square" anchor="t" lIns="0" rIns="0" tIns="0" bIns="0">
            <a:spAutoFit/>
          </a:bodyPr>
          <a:lstStyle/>
          <a:p>
            <a:pPr algn="l">
              <a:lnSpc>
                <a:spcPct val="120000"/>
              </a:lnSpc>
            </a:pPr>
            <a:r>
              <a:rPr sz="3000" b="0" i="0">
                <a:solidFill>
                  <a:srgbClr val="3E5F5A"/>
                </a:solidFill>
                <a:latin typeface="Georgia"/>
              </a:rPr>
              <a:t>02</a:t>
            </a:r>
          </a:p>
        </p:txBody>
      </p:sp>
      <p:sp>
        <p:nvSpPr>
          <p:cNvPr id="11" name="TextBox 10"/>
          <p:cNvSpPr txBox="1"/>
          <p:nvPr/>
        </p:nvSpPr>
        <p:spPr>
          <a:xfrm>
            <a:off x="1645920" y="3337560"/>
            <a:ext cx="4389120" cy="1005840"/>
          </a:xfrm>
          <a:prstGeom prst="rect">
            <a:avLst/>
          </a:prstGeom>
          <a:noFill/>
        </p:spPr>
        <p:txBody>
          <a:bodyPr wrap="square" anchor="t" lIns="0" rIns="0" tIns="0" bIns="0">
            <a:spAutoFit/>
          </a:bodyPr>
          <a:lstStyle/>
          <a:p>
            <a:pPr algn="l">
              <a:lnSpc>
                <a:spcPct val="125000"/>
              </a:lnSpc>
            </a:pPr>
            <a:r>
              <a:rPr sz="1700" b="0" i="0">
                <a:solidFill>
                  <a:srgbClr val="1F2421"/>
                </a:solidFill>
                <a:latin typeface="Georgia"/>
              </a:rPr>
              <a:t>Objectives</a:t>
            </a:r>
          </a:p>
          <a:p>
            <a:pPr algn="l">
              <a:lnSpc>
                <a:spcPct val="125000"/>
              </a:lnSpc>
            </a:pPr>
            <a:r>
              <a:rPr sz="1200" b="0" i="0">
                <a:solidFill>
                  <a:srgbClr val="5B625C"/>
                </a:solidFill>
                <a:latin typeface="Segoe UI"/>
              </a:rPr>
              <a:t>Five objectives and how far each was met</a:t>
            </a:r>
          </a:p>
        </p:txBody>
      </p:sp>
      <p:sp>
        <p:nvSpPr>
          <p:cNvPr id="12" name="TextBox 11"/>
          <p:cNvSpPr txBox="1"/>
          <p:nvPr/>
        </p:nvSpPr>
        <p:spPr>
          <a:xfrm>
            <a:off x="731520" y="4617720"/>
            <a:ext cx="914400" cy="640080"/>
          </a:xfrm>
          <a:prstGeom prst="rect">
            <a:avLst/>
          </a:prstGeom>
          <a:noFill/>
        </p:spPr>
        <p:txBody>
          <a:bodyPr wrap="square" anchor="t" lIns="0" rIns="0" tIns="0" bIns="0">
            <a:spAutoFit/>
          </a:bodyPr>
          <a:lstStyle/>
          <a:p>
            <a:pPr algn="l">
              <a:lnSpc>
                <a:spcPct val="120000"/>
              </a:lnSpc>
            </a:pPr>
            <a:r>
              <a:rPr sz="3000" b="0" i="0">
                <a:solidFill>
                  <a:srgbClr val="3E5F5A"/>
                </a:solidFill>
                <a:latin typeface="Georgia"/>
              </a:rPr>
              <a:t>03</a:t>
            </a:r>
          </a:p>
        </p:txBody>
      </p:sp>
      <p:sp>
        <p:nvSpPr>
          <p:cNvPr id="13" name="TextBox 12"/>
          <p:cNvSpPr txBox="1"/>
          <p:nvPr/>
        </p:nvSpPr>
        <p:spPr>
          <a:xfrm>
            <a:off x="1645920" y="4663440"/>
            <a:ext cx="4389120" cy="1005840"/>
          </a:xfrm>
          <a:prstGeom prst="rect">
            <a:avLst/>
          </a:prstGeom>
          <a:noFill/>
        </p:spPr>
        <p:txBody>
          <a:bodyPr wrap="square" anchor="t" lIns="0" rIns="0" tIns="0" bIns="0">
            <a:spAutoFit/>
          </a:bodyPr>
          <a:lstStyle/>
          <a:p>
            <a:pPr algn="l">
              <a:lnSpc>
                <a:spcPct val="125000"/>
              </a:lnSpc>
            </a:pPr>
            <a:r>
              <a:rPr sz="1700" b="0" i="0">
                <a:solidFill>
                  <a:srgbClr val="1F2421"/>
                </a:solidFill>
                <a:latin typeface="Georgia"/>
              </a:rPr>
              <a:t>Methodology</a:t>
            </a:r>
          </a:p>
          <a:p>
            <a:pPr algn="l">
              <a:lnSpc>
                <a:spcPct val="125000"/>
              </a:lnSpc>
            </a:pPr>
            <a:r>
              <a:rPr sz="1200" b="0" i="0">
                <a:solidFill>
                  <a:srgbClr val="5B625C"/>
                </a:solidFill>
                <a:latin typeface="Segoe UI"/>
              </a:rPr>
              <a:t>Data, model, the Krypsis protocol, experiment design</a:t>
            </a:r>
          </a:p>
        </p:txBody>
      </p:sp>
      <p:sp>
        <p:nvSpPr>
          <p:cNvPr id="14" name="TextBox 13"/>
          <p:cNvSpPr txBox="1"/>
          <p:nvPr/>
        </p:nvSpPr>
        <p:spPr>
          <a:xfrm>
            <a:off x="6217920" y="1965960"/>
            <a:ext cx="914400" cy="640080"/>
          </a:xfrm>
          <a:prstGeom prst="rect">
            <a:avLst/>
          </a:prstGeom>
          <a:noFill/>
        </p:spPr>
        <p:txBody>
          <a:bodyPr wrap="square" anchor="t" lIns="0" rIns="0" tIns="0" bIns="0">
            <a:spAutoFit/>
          </a:bodyPr>
          <a:lstStyle/>
          <a:p>
            <a:pPr algn="l">
              <a:lnSpc>
                <a:spcPct val="120000"/>
              </a:lnSpc>
            </a:pPr>
            <a:r>
              <a:rPr sz="3000" b="0" i="0">
                <a:solidFill>
                  <a:srgbClr val="3E5F5A"/>
                </a:solidFill>
                <a:latin typeface="Georgia"/>
              </a:rPr>
              <a:t>04</a:t>
            </a:r>
          </a:p>
        </p:txBody>
      </p:sp>
      <p:sp>
        <p:nvSpPr>
          <p:cNvPr id="15" name="TextBox 14"/>
          <p:cNvSpPr txBox="1"/>
          <p:nvPr/>
        </p:nvSpPr>
        <p:spPr>
          <a:xfrm>
            <a:off x="7132320" y="2011680"/>
            <a:ext cx="4389120" cy="1005840"/>
          </a:xfrm>
          <a:prstGeom prst="rect">
            <a:avLst/>
          </a:prstGeom>
          <a:noFill/>
        </p:spPr>
        <p:txBody>
          <a:bodyPr wrap="square" anchor="t" lIns="0" rIns="0" tIns="0" bIns="0">
            <a:spAutoFit/>
          </a:bodyPr>
          <a:lstStyle/>
          <a:p>
            <a:pPr algn="l">
              <a:lnSpc>
                <a:spcPct val="125000"/>
              </a:lnSpc>
            </a:pPr>
            <a:r>
              <a:rPr sz="1700" b="0" i="0">
                <a:solidFill>
                  <a:srgbClr val="1F2421"/>
                </a:solidFill>
                <a:latin typeface="Georgia"/>
              </a:rPr>
              <a:t>Results</a:t>
            </a:r>
          </a:p>
          <a:p>
            <a:pPr algn="l">
              <a:lnSpc>
                <a:spcPct val="125000"/>
              </a:lnSpc>
            </a:pPr>
            <a:r>
              <a:rPr sz="1200" b="0" i="0">
                <a:solidFill>
                  <a:srgbClr val="5B625C"/>
                </a:solidFill>
                <a:latin typeface="Segoe UI"/>
              </a:rPr>
              <a:t>Detection, attacks, backdoors, robustness</a:t>
            </a:r>
          </a:p>
        </p:txBody>
      </p:sp>
      <p:sp>
        <p:nvSpPr>
          <p:cNvPr id="16" name="TextBox 15"/>
          <p:cNvSpPr txBox="1"/>
          <p:nvPr/>
        </p:nvSpPr>
        <p:spPr>
          <a:xfrm>
            <a:off x="6217920" y="3291840"/>
            <a:ext cx="914400" cy="640080"/>
          </a:xfrm>
          <a:prstGeom prst="rect">
            <a:avLst/>
          </a:prstGeom>
          <a:noFill/>
        </p:spPr>
        <p:txBody>
          <a:bodyPr wrap="square" anchor="t" lIns="0" rIns="0" tIns="0" bIns="0">
            <a:spAutoFit/>
          </a:bodyPr>
          <a:lstStyle/>
          <a:p>
            <a:pPr algn="l">
              <a:lnSpc>
                <a:spcPct val="120000"/>
              </a:lnSpc>
            </a:pPr>
            <a:r>
              <a:rPr sz="3000" b="0" i="0">
                <a:solidFill>
                  <a:srgbClr val="3E5F5A"/>
                </a:solidFill>
                <a:latin typeface="Georgia"/>
              </a:rPr>
              <a:t>05</a:t>
            </a:r>
          </a:p>
        </p:txBody>
      </p:sp>
      <p:sp>
        <p:nvSpPr>
          <p:cNvPr id="17" name="TextBox 16"/>
          <p:cNvSpPr txBox="1"/>
          <p:nvPr/>
        </p:nvSpPr>
        <p:spPr>
          <a:xfrm>
            <a:off x="7132320" y="3337560"/>
            <a:ext cx="4389120" cy="1005840"/>
          </a:xfrm>
          <a:prstGeom prst="rect">
            <a:avLst/>
          </a:prstGeom>
          <a:noFill/>
        </p:spPr>
        <p:txBody>
          <a:bodyPr wrap="square" anchor="t" lIns="0" rIns="0" tIns="0" bIns="0">
            <a:spAutoFit/>
          </a:bodyPr>
          <a:lstStyle/>
          <a:p>
            <a:pPr algn="l">
              <a:lnSpc>
                <a:spcPct val="125000"/>
              </a:lnSpc>
            </a:pPr>
            <a:r>
              <a:rPr sz="1700" b="0" i="0">
                <a:solidFill>
                  <a:srgbClr val="1F2421"/>
                </a:solidFill>
                <a:latin typeface="Georgia"/>
              </a:rPr>
              <a:t>Comparison</a:t>
            </a:r>
          </a:p>
          <a:p>
            <a:pPr algn="l">
              <a:lnSpc>
                <a:spcPct val="125000"/>
              </a:lnSpc>
            </a:pPr>
            <a:r>
              <a:rPr sz="1200" b="0" i="0">
                <a:solidFill>
                  <a:srgbClr val="5B625C"/>
                </a:solidFill>
                <a:latin typeface="Segoe UI"/>
              </a:rPr>
              <a:t>Against existing approaches and between our setups</a:t>
            </a:r>
          </a:p>
        </p:txBody>
      </p:sp>
      <p:sp>
        <p:nvSpPr>
          <p:cNvPr id="18" name="TextBox 17"/>
          <p:cNvSpPr txBox="1"/>
          <p:nvPr/>
        </p:nvSpPr>
        <p:spPr>
          <a:xfrm>
            <a:off x="6217920" y="4617720"/>
            <a:ext cx="914400" cy="640080"/>
          </a:xfrm>
          <a:prstGeom prst="rect">
            <a:avLst/>
          </a:prstGeom>
          <a:noFill/>
        </p:spPr>
        <p:txBody>
          <a:bodyPr wrap="square" anchor="t" lIns="0" rIns="0" tIns="0" bIns="0">
            <a:spAutoFit/>
          </a:bodyPr>
          <a:lstStyle/>
          <a:p>
            <a:pPr algn="l">
              <a:lnSpc>
                <a:spcPct val="120000"/>
              </a:lnSpc>
            </a:pPr>
            <a:r>
              <a:rPr sz="3000" b="0" i="0">
                <a:solidFill>
                  <a:srgbClr val="3E5F5A"/>
                </a:solidFill>
                <a:latin typeface="Georgia"/>
              </a:rPr>
              <a:t>06</a:t>
            </a:r>
          </a:p>
        </p:txBody>
      </p:sp>
      <p:sp>
        <p:nvSpPr>
          <p:cNvPr id="19" name="TextBox 18"/>
          <p:cNvSpPr txBox="1"/>
          <p:nvPr/>
        </p:nvSpPr>
        <p:spPr>
          <a:xfrm>
            <a:off x="7132320" y="4663440"/>
            <a:ext cx="4389120" cy="1005840"/>
          </a:xfrm>
          <a:prstGeom prst="rect">
            <a:avLst/>
          </a:prstGeom>
          <a:noFill/>
        </p:spPr>
        <p:txBody>
          <a:bodyPr wrap="square" anchor="t" lIns="0" rIns="0" tIns="0" bIns="0">
            <a:spAutoFit/>
          </a:bodyPr>
          <a:lstStyle/>
          <a:p>
            <a:pPr algn="l">
              <a:lnSpc>
                <a:spcPct val="125000"/>
              </a:lnSpc>
            </a:pPr>
            <a:r>
              <a:rPr sz="1700" b="0" i="0">
                <a:solidFill>
                  <a:srgbClr val="1F2421"/>
                </a:solidFill>
                <a:latin typeface="Georgia"/>
              </a:rPr>
              <a:t>Conclusion</a:t>
            </a:r>
          </a:p>
          <a:p>
            <a:pPr algn="l">
              <a:lnSpc>
                <a:spcPct val="125000"/>
              </a:lnSpc>
            </a:pPr>
            <a:r>
              <a:rPr sz="1200" b="0" i="0">
                <a:solidFill>
                  <a:srgbClr val="5B625C"/>
                </a:solidFill>
                <a:latin typeface="Segoe UI"/>
              </a:rPr>
              <a:t>Answers, limitations, future work, references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03120"/>
            <a:ext cx="2743200" cy="1097280"/>
          </a:xfrm>
          <a:prstGeom prst="rect">
            <a:avLst/>
          </a:prstGeom>
          <a:noFill/>
        </p:spPr>
        <p:txBody>
          <a:bodyPr wrap="square" anchor="t" lIns="0" rIns="0" tIns="0" bIns="0">
            <a:spAutoFit/>
          </a:bodyPr>
          <a:lstStyle/>
          <a:p>
            <a:pPr algn="l">
              <a:lnSpc>
                <a:spcPct val="120000"/>
              </a:lnSpc>
            </a:pPr>
            <a:r>
              <a:rPr sz="6600" b="0" i="0">
                <a:solidFill>
                  <a:srgbClr val="3E5F5A"/>
                </a:solidFill>
                <a:latin typeface="Georgia"/>
              </a:rPr>
              <a:t>01</a:t>
            </a:r>
          </a:p>
        </p:txBody>
      </p:sp>
      <p:cxnSp>
        <p:nvCxnSpPr>
          <p:cNvPr id="4" name="Connector 3"/>
          <p:cNvCxnSpPr/>
          <p:nvPr/>
        </p:nvCxnSpPr>
        <p:spPr>
          <a:xfrm>
            <a:off x="731520" y="3337560"/>
            <a:ext cx="822960" cy="0"/>
          </a:xfrm>
          <a:prstGeom prst="line">
            <a:avLst/>
          </a:prstGeom>
          <a:ln w="19050">
            <a:solidFill>
              <a:srgbClr val="3E5F5A"/>
            </a:solidFill>
          </a:ln>
        </p:spPr>
      </p:cxnSp>
      <p:sp>
        <p:nvSpPr>
          <p:cNvPr id="5" name="TextBox 4"/>
          <p:cNvSpPr txBox="1"/>
          <p:nvPr/>
        </p:nvSpPr>
        <p:spPr>
          <a:xfrm>
            <a:off x="731520" y="3520440"/>
            <a:ext cx="10058400" cy="822960"/>
          </a:xfrm>
          <a:prstGeom prst="rect">
            <a:avLst/>
          </a:prstGeom>
          <a:noFill/>
        </p:spPr>
        <p:txBody>
          <a:bodyPr wrap="square" anchor="t" lIns="0" rIns="0" tIns="0" bIns="0">
            <a:spAutoFit/>
          </a:bodyPr>
          <a:lstStyle/>
          <a:p>
            <a:pPr algn="l">
              <a:lnSpc>
                <a:spcPct val="120000"/>
              </a:lnSpc>
            </a:pPr>
            <a:r>
              <a:rPr sz="3800" b="0" i="0">
                <a:solidFill>
                  <a:srgbClr val="1F2421"/>
                </a:solidFill>
                <a:latin typeface="Georgia"/>
              </a:rPr>
              <a:t>Introduction</a:t>
            </a:r>
          </a:p>
        </p:txBody>
      </p:sp>
      <p:sp>
        <p:nvSpPr>
          <p:cNvPr id="6" name="TextBox 5"/>
          <p:cNvSpPr txBox="1"/>
          <p:nvPr/>
        </p:nvSpPr>
        <p:spPr>
          <a:xfrm>
            <a:off x="731520" y="4343400"/>
            <a:ext cx="9144000" cy="731520"/>
          </a:xfrm>
          <a:prstGeom prst="rect">
            <a:avLst/>
          </a:prstGeom>
          <a:noFill/>
        </p:spPr>
        <p:txBody>
          <a:bodyPr wrap="square" anchor="t" lIns="0" rIns="0" tIns="0" bIns="0">
            <a:spAutoFit/>
          </a:bodyPr>
          <a:lstStyle/>
          <a:p>
            <a:pPr algn="l">
              <a:lnSpc>
                <a:spcPct val="120000"/>
              </a:lnSpc>
            </a:pPr>
            <a:r>
              <a:rPr sz="1400" b="0" i="0">
                <a:solidFill>
                  <a:srgbClr val="5B625C"/>
                </a:solidFill>
                <a:latin typeface="Segoe UI"/>
              </a:rPr>
              <a:t>Why intrusion detection needs federated learning — and why that is not the end of the problem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01 · INTRODUCTION</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Intrusion detection needs data nobody wants to share</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4</a:t>
            </a:r>
          </a:p>
        </p:txBody>
      </p:sp>
      <p:sp>
        <p:nvSpPr>
          <p:cNvPr id="8" name="TextBox 7"/>
          <p:cNvSpPr txBox="1"/>
          <p:nvPr/>
        </p:nvSpPr>
        <p:spPr>
          <a:xfrm>
            <a:off x="731520" y="1828800"/>
            <a:ext cx="5120640" cy="320040"/>
          </a:xfrm>
          <a:prstGeom prst="rect">
            <a:avLst/>
          </a:prstGeom>
          <a:noFill/>
        </p:spPr>
        <p:txBody>
          <a:bodyPr wrap="square" anchor="t" lIns="0" rIns="0" tIns="0" bIns="0">
            <a:spAutoFit/>
          </a:bodyPr>
          <a:lstStyle/>
          <a:p>
            <a:pPr algn="l">
              <a:lnSpc>
                <a:spcPct val="120000"/>
              </a:lnSpc>
            </a:pPr>
            <a:r>
              <a:rPr sz="1100" b="1" i="0">
                <a:solidFill>
                  <a:srgbClr val="3E5F5A"/>
                </a:solidFill>
                <a:latin typeface="Segoe UI"/>
              </a:rPr>
              <a:t>THE PROBLEM</a:t>
            </a:r>
          </a:p>
        </p:txBody>
      </p:sp>
      <p:sp>
        <p:nvSpPr>
          <p:cNvPr id="9" name="TextBox 8"/>
          <p:cNvSpPr txBox="1"/>
          <p:nvPr/>
        </p:nvSpPr>
        <p:spPr>
          <a:xfrm>
            <a:off x="731520" y="2240280"/>
            <a:ext cx="5120640" cy="3840480"/>
          </a:xfrm>
          <a:prstGeom prst="rect">
            <a:avLst/>
          </a:prstGeom>
          <a:noFill/>
        </p:spPr>
        <p:txBody>
          <a:bodyPr wrap="square" lIns="0" rIns="0" tIns="0" bIns="0">
            <a:spAutoFit/>
          </a:bodyPr>
          <a:lstStyle/>
          <a:p>
            <a:pPr marL="219456" indent="-219456">
              <a:lnSpc>
                <a:spcPct val="120000"/>
              </a:lnSpc>
              <a:spcAft>
                <a:spcPts val="1200"/>
              </a:spcAft>
              <a:buClr>
                <a:srgbClr val="3E5F5A"/>
              </a:buClr>
              <a:buFont typeface="Arial"/>
              <a:buChar char="•"/>
            </a:pPr>
            <a:r>
              <a:rPr sz="1350" b="1">
                <a:solidFill>
                  <a:srgbClr val="1F2421"/>
                </a:solidFill>
                <a:latin typeface="Segoe UI"/>
              </a:rPr>
              <a:t>Detectors learn from traffic. </a:t>
            </a:r>
            <a:r>
              <a:rPr sz="1350">
                <a:solidFill>
                  <a:srgbClr val="1F2421"/>
                </a:solidFill>
                <a:latin typeface="Segoe UI"/>
              </a:rPr>
              <a:t>A network intrusion detection system (NIDS) classifies flows as normal or attack; it is only as good as the variety of traffic it has seen.</a:t>
            </a:r>
          </a:p>
          <a:p>
            <a:pPr marL="219456" indent="-219456">
              <a:lnSpc>
                <a:spcPct val="120000"/>
              </a:lnSpc>
              <a:spcAft>
                <a:spcPts val="1200"/>
              </a:spcAft>
              <a:buClr>
                <a:srgbClr val="3E5F5A"/>
              </a:buClr>
              <a:buFont typeface="Arial"/>
              <a:buChar char="•"/>
            </a:pPr>
            <a:r>
              <a:rPr sz="1350" b="1">
                <a:solidFill>
                  <a:srgbClr val="1F2421"/>
                </a:solidFill>
                <a:latin typeface="Segoe UI"/>
              </a:rPr>
              <a:t>Pooling traffic is risky. </a:t>
            </a:r>
            <a:r>
              <a:rPr sz="1350">
                <a:solidFill>
                  <a:srgbClr val="1F2421"/>
                </a:solidFill>
                <a:latin typeface="Segoe UI"/>
              </a:rPr>
              <a:t>Logs reveal hosts, services and internal structure — central collection creates a privacy and compliance problem.</a:t>
            </a:r>
          </a:p>
          <a:p>
            <a:pPr marL="219456" indent="-219456">
              <a:lnSpc>
                <a:spcPct val="120000"/>
              </a:lnSpc>
              <a:spcAft>
                <a:spcPts val="1200"/>
              </a:spcAft>
              <a:buClr>
                <a:srgbClr val="3E5F5A"/>
              </a:buClr>
              <a:buFont typeface="Arial"/>
              <a:buChar char="•"/>
            </a:pPr>
            <a:r>
              <a:rPr sz="1350" b="1">
                <a:solidFill>
                  <a:srgbClr val="1F2421"/>
                </a:solidFill>
                <a:latin typeface="Segoe UI"/>
              </a:rPr>
              <a:t>One server, one point of failure. </a:t>
            </a:r>
            <a:r>
              <a:rPr sz="1350">
                <a:solidFill>
                  <a:srgbClr val="1F2421"/>
                </a:solidFill>
                <a:latin typeface="Segoe UI"/>
              </a:rPr>
              <a:t>A central data lake is an attractive target and a bandwidth bottleneck.</a:t>
            </a:r>
          </a:p>
        </p:txBody>
      </p:sp>
      <p:sp>
        <p:nvSpPr>
          <p:cNvPr id="10" name="Rounded Rectangle 9"/>
          <p:cNvSpPr/>
          <p:nvPr/>
        </p:nvSpPr>
        <p:spPr>
          <a:xfrm>
            <a:off x="6400800" y="1828800"/>
            <a:ext cx="5029200" cy="3154680"/>
          </a:xfrm>
          <a:prstGeom prst="roundRect">
            <a:avLst>
              <a:gd name="adj" fmla="val 4000"/>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20840" y="2103120"/>
            <a:ext cx="4389120" cy="320040"/>
          </a:xfrm>
          <a:prstGeom prst="rect">
            <a:avLst/>
          </a:prstGeom>
          <a:noFill/>
        </p:spPr>
        <p:txBody>
          <a:bodyPr wrap="square" anchor="t" lIns="0" rIns="0" tIns="0" bIns="0">
            <a:spAutoFit/>
          </a:bodyPr>
          <a:lstStyle/>
          <a:p>
            <a:pPr algn="l">
              <a:lnSpc>
                <a:spcPct val="120000"/>
              </a:lnSpc>
            </a:pPr>
            <a:r>
              <a:rPr sz="1100" b="1" i="0">
                <a:solidFill>
                  <a:srgbClr val="3E5F5A"/>
                </a:solidFill>
                <a:latin typeface="Segoe UI"/>
              </a:rPr>
              <a:t>WHERE IT MATTERS</a:t>
            </a:r>
          </a:p>
        </p:txBody>
      </p:sp>
      <p:sp>
        <p:nvSpPr>
          <p:cNvPr id="12" name="TextBox 11"/>
          <p:cNvSpPr txBox="1"/>
          <p:nvPr/>
        </p:nvSpPr>
        <p:spPr>
          <a:xfrm>
            <a:off x="6720840" y="2514600"/>
            <a:ext cx="4434840" cy="3291840"/>
          </a:xfrm>
          <a:prstGeom prst="rect">
            <a:avLst/>
          </a:prstGeom>
          <a:noFill/>
        </p:spPr>
        <p:txBody>
          <a:bodyPr wrap="square" lIns="0" rIns="0" tIns="0" bIns="0">
            <a:spAutoFit/>
          </a:bodyPr>
          <a:lstStyle/>
          <a:p>
            <a:pPr marL="219456" indent="-219456">
              <a:lnSpc>
                <a:spcPct val="120000"/>
              </a:lnSpc>
              <a:spcAft>
                <a:spcPts val="1200"/>
              </a:spcAft>
              <a:buClr>
                <a:srgbClr val="3E5F5A"/>
              </a:buClr>
              <a:buFont typeface="Arial"/>
              <a:buChar char="•"/>
            </a:pPr>
            <a:r>
              <a:rPr sz="1300" b="1">
                <a:solidFill>
                  <a:srgbClr val="1F2421"/>
                </a:solidFill>
                <a:latin typeface="Segoe UI"/>
              </a:rPr>
              <a:t>Hospitals, banks, universities </a:t>
            </a:r>
            <a:r>
              <a:rPr sz="1300">
                <a:solidFill>
                  <a:srgbClr val="1F2421"/>
                </a:solidFill>
                <a:latin typeface="Segoe UI"/>
              </a:rPr>
              <a:t>training one shared detector without exposing their networks to each other.</a:t>
            </a:r>
          </a:p>
          <a:p>
            <a:pPr marL="219456" indent="-219456">
              <a:lnSpc>
                <a:spcPct val="120000"/>
              </a:lnSpc>
              <a:spcAft>
                <a:spcPts val="1200"/>
              </a:spcAft>
              <a:buClr>
                <a:srgbClr val="3E5F5A"/>
              </a:buClr>
              <a:buFont typeface="Arial"/>
              <a:buChar char="•"/>
            </a:pPr>
            <a:r>
              <a:rPr sz="1300" b="1">
                <a:solidFill>
                  <a:srgbClr val="1F2421"/>
                </a:solidFill>
                <a:latin typeface="Segoe UI"/>
              </a:rPr>
              <a:t>ISPs and edge / IoT networks </a:t>
            </a:r>
            <a:r>
              <a:rPr sz="1300">
                <a:solidFill>
                  <a:srgbClr val="1F2421"/>
                </a:solidFill>
                <a:latin typeface="Segoe UI"/>
              </a:rPr>
              <a:t>where every router or gateway already sees its own slice of traffic.</a:t>
            </a:r>
          </a:p>
          <a:p>
            <a:pPr marL="219456" indent="-219456">
              <a:lnSpc>
                <a:spcPct val="120000"/>
              </a:lnSpc>
              <a:spcAft>
                <a:spcPts val="1200"/>
              </a:spcAft>
              <a:buClr>
                <a:srgbClr val="3E5F5A"/>
              </a:buClr>
              <a:buFont typeface="Arial"/>
              <a:buChar char="•"/>
            </a:pPr>
            <a:r>
              <a:rPr sz="1300" b="1">
                <a:solidFill>
                  <a:srgbClr val="1F2421"/>
                </a:solidFill>
                <a:latin typeface="Segoe UI"/>
              </a:rPr>
              <a:t>Cross-border security teams </a:t>
            </a:r>
            <a:r>
              <a:rPr sz="1300">
                <a:solidFill>
                  <a:srgbClr val="1F2421"/>
                </a:solidFill>
                <a:latin typeface="Segoe UI"/>
              </a:rPr>
              <a:t>bound by different data-protection laws.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01 · INTRODUCTION</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Federated learning: move the model, not the data</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5</a:t>
            </a:r>
          </a:p>
        </p:txBody>
      </p:sp>
      <p:sp>
        <p:nvSpPr>
          <p:cNvPr id="8" name="Rounded Rectangle 7"/>
          <p:cNvSpPr/>
          <p:nvPr/>
        </p:nvSpPr>
        <p:spPr>
          <a:xfrm>
            <a:off x="4632808" y="1783080"/>
            <a:ext cx="2926080" cy="822960"/>
          </a:xfrm>
          <a:prstGeom prst="roundRect">
            <a:avLst>
              <a:gd name="adj" fmla="val 8000"/>
            </a:avLst>
          </a:prstGeom>
          <a:solidFill>
            <a:srgbClr val="E4EBE8"/>
          </a:solidFill>
          <a:ln w="9525">
            <a:solidFill>
              <a:srgbClr val="3E5F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24248" y="1783080"/>
            <a:ext cx="2743200" cy="822960"/>
          </a:xfrm>
          <a:prstGeom prst="rect">
            <a:avLst/>
          </a:prstGeom>
          <a:noFill/>
        </p:spPr>
        <p:txBody>
          <a:bodyPr wrap="square" anchor="ctr" lIns="0" rIns="0" tIns="0" bIns="0">
            <a:spAutoFit/>
          </a:bodyPr>
          <a:lstStyle/>
          <a:p>
            <a:pPr algn="ctr">
              <a:lnSpc>
                <a:spcPct val="110000"/>
              </a:lnSpc>
            </a:pPr>
            <a:r>
              <a:rPr sz="1200" b="1" i="0">
                <a:solidFill>
                  <a:srgbClr val="3E5F5A"/>
                </a:solidFill>
                <a:latin typeface="Segoe UI"/>
              </a:rPr>
              <a:t>Aggregation server</a:t>
            </a:r>
          </a:p>
          <a:p>
            <a:pPr algn="ctr">
              <a:lnSpc>
                <a:spcPct val="110000"/>
              </a:lnSpc>
            </a:pPr>
            <a:r>
              <a:rPr sz="1000" b="0" i="0">
                <a:solidFill>
                  <a:srgbClr val="5B625C"/>
                </a:solidFill>
                <a:latin typeface="Segoe UI"/>
              </a:rPr>
              <a:t>averages updates (FedAvg)</a:t>
            </a:r>
          </a:p>
        </p:txBody>
      </p:sp>
      <p:cxnSp>
        <p:nvCxnSpPr>
          <p:cNvPr id="10" name="Connector 9"/>
          <p:cNvCxnSpPr/>
          <p:nvPr/>
        </p:nvCxnSpPr>
        <p:spPr>
          <a:xfrm>
            <a:off x="1798168" y="3291839"/>
            <a:ext cx="8595360" cy="0"/>
          </a:xfrm>
          <a:prstGeom prst="line">
            <a:avLst/>
          </a:prstGeom>
          <a:ln w="12700">
            <a:solidFill>
              <a:srgbClr val="8C918A"/>
            </a:solidFill>
          </a:ln>
        </p:spPr>
      </p:cxnSp>
      <p:cxnSp>
        <p:nvCxnSpPr>
          <p:cNvPr id="11" name="Connector 10"/>
          <p:cNvCxnSpPr/>
          <p:nvPr/>
        </p:nvCxnSpPr>
        <p:spPr>
          <a:xfrm>
            <a:off x="6095848" y="2606040"/>
            <a:ext cx="0" cy="685799"/>
          </a:xfrm>
          <a:prstGeom prst="line">
            <a:avLst/>
          </a:prstGeom>
          <a:ln w="12700">
            <a:solidFill>
              <a:srgbClr val="8C918A"/>
            </a:solidFill>
          </a:ln>
        </p:spPr>
      </p:cxnSp>
      <p:sp>
        <p:nvSpPr>
          <p:cNvPr id="12" name="Rounded Rectangle 11"/>
          <p:cNvSpPr/>
          <p:nvPr/>
        </p:nvSpPr>
        <p:spPr>
          <a:xfrm>
            <a:off x="929488" y="3977639"/>
            <a:ext cx="1737360" cy="822960"/>
          </a:xfrm>
          <a:prstGeom prst="roundRect">
            <a:avLst>
              <a:gd name="adj" fmla="val 8000"/>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0928" y="3977639"/>
            <a:ext cx="1554480" cy="822960"/>
          </a:xfrm>
          <a:prstGeom prst="rect">
            <a:avLst/>
          </a:prstGeom>
          <a:noFill/>
        </p:spPr>
        <p:txBody>
          <a:bodyPr wrap="square" anchor="ctr" lIns="0" rIns="0" tIns="0" bIns="0">
            <a:spAutoFit/>
          </a:bodyPr>
          <a:lstStyle/>
          <a:p>
            <a:pPr algn="ctr">
              <a:lnSpc>
                <a:spcPct val="110000"/>
              </a:lnSpc>
            </a:pPr>
            <a:r>
              <a:rPr sz="1200" b="1" i="0">
                <a:solidFill>
                  <a:srgbClr val="1F2421"/>
                </a:solidFill>
                <a:latin typeface="Segoe UI"/>
              </a:rPr>
              <a:t>Router 1</a:t>
            </a:r>
          </a:p>
          <a:p>
            <a:pPr algn="ctr">
              <a:lnSpc>
                <a:spcPct val="110000"/>
              </a:lnSpc>
            </a:pPr>
            <a:r>
              <a:rPr sz="1000" b="0" i="0">
                <a:solidFill>
                  <a:srgbClr val="5B625C"/>
                </a:solidFill>
                <a:latin typeface="Segoe UI"/>
              </a:rPr>
              <a:t>local traffic + training</a:t>
            </a:r>
          </a:p>
        </p:txBody>
      </p:sp>
      <p:cxnSp>
        <p:nvCxnSpPr>
          <p:cNvPr id="14" name="Connector 13"/>
          <p:cNvCxnSpPr/>
          <p:nvPr/>
        </p:nvCxnSpPr>
        <p:spPr>
          <a:xfrm>
            <a:off x="1670152" y="3291839"/>
            <a:ext cx="0" cy="685800"/>
          </a:xfrm>
          <a:prstGeom prst="line">
            <a:avLst/>
          </a:prstGeom>
          <a:ln w="15875">
            <a:solidFill>
              <a:srgbClr val="8C918A"/>
            </a:solidFill>
            <a:tailEnd type="triangle" w="med" len="med"/>
          </a:ln>
        </p:spPr>
      </p:cxnSp>
      <p:cxnSp>
        <p:nvCxnSpPr>
          <p:cNvPr id="15" name="Connector 14"/>
          <p:cNvCxnSpPr/>
          <p:nvPr/>
        </p:nvCxnSpPr>
        <p:spPr>
          <a:xfrm flipV="1">
            <a:off x="1926184" y="3291839"/>
            <a:ext cx="0" cy="685800"/>
          </a:xfrm>
          <a:prstGeom prst="line">
            <a:avLst/>
          </a:prstGeom>
          <a:ln w="15875">
            <a:solidFill>
              <a:srgbClr val="3E5F5A"/>
            </a:solidFill>
            <a:tailEnd type="triangle" w="med" len="med"/>
          </a:ln>
        </p:spPr>
      </p:cxnSp>
      <p:sp>
        <p:nvSpPr>
          <p:cNvPr id="16" name="Rounded Rectangle 15"/>
          <p:cNvSpPr/>
          <p:nvPr/>
        </p:nvSpPr>
        <p:spPr>
          <a:xfrm>
            <a:off x="3078328" y="3977639"/>
            <a:ext cx="1737360" cy="822960"/>
          </a:xfrm>
          <a:prstGeom prst="roundRect">
            <a:avLst>
              <a:gd name="adj" fmla="val 8000"/>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169768" y="3977639"/>
            <a:ext cx="1554480" cy="822960"/>
          </a:xfrm>
          <a:prstGeom prst="rect">
            <a:avLst/>
          </a:prstGeom>
          <a:noFill/>
        </p:spPr>
        <p:txBody>
          <a:bodyPr wrap="square" anchor="ctr" lIns="0" rIns="0" tIns="0" bIns="0">
            <a:spAutoFit/>
          </a:bodyPr>
          <a:lstStyle/>
          <a:p>
            <a:pPr algn="ctr">
              <a:lnSpc>
                <a:spcPct val="110000"/>
              </a:lnSpc>
            </a:pPr>
            <a:r>
              <a:rPr sz="1200" b="1" i="0">
                <a:solidFill>
                  <a:srgbClr val="1F2421"/>
                </a:solidFill>
                <a:latin typeface="Segoe UI"/>
              </a:rPr>
              <a:t>Router 2</a:t>
            </a:r>
          </a:p>
          <a:p>
            <a:pPr algn="ctr">
              <a:lnSpc>
                <a:spcPct val="110000"/>
              </a:lnSpc>
            </a:pPr>
            <a:r>
              <a:rPr sz="1000" b="0" i="0">
                <a:solidFill>
                  <a:srgbClr val="5B625C"/>
                </a:solidFill>
                <a:latin typeface="Segoe UI"/>
              </a:rPr>
              <a:t>local traffic + training</a:t>
            </a:r>
          </a:p>
        </p:txBody>
      </p:sp>
      <p:cxnSp>
        <p:nvCxnSpPr>
          <p:cNvPr id="18" name="Connector 17"/>
          <p:cNvCxnSpPr/>
          <p:nvPr/>
        </p:nvCxnSpPr>
        <p:spPr>
          <a:xfrm>
            <a:off x="3818992" y="3291839"/>
            <a:ext cx="0" cy="685800"/>
          </a:xfrm>
          <a:prstGeom prst="line">
            <a:avLst/>
          </a:prstGeom>
          <a:ln w="15875">
            <a:solidFill>
              <a:srgbClr val="8C918A"/>
            </a:solidFill>
            <a:tailEnd type="triangle" w="med" len="med"/>
          </a:ln>
        </p:spPr>
      </p:cxnSp>
      <p:cxnSp>
        <p:nvCxnSpPr>
          <p:cNvPr id="19" name="Connector 18"/>
          <p:cNvCxnSpPr/>
          <p:nvPr/>
        </p:nvCxnSpPr>
        <p:spPr>
          <a:xfrm flipV="1">
            <a:off x="4075024" y="3291839"/>
            <a:ext cx="0" cy="685800"/>
          </a:xfrm>
          <a:prstGeom prst="line">
            <a:avLst/>
          </a:prstGeom>
          <a:ln w="15875">
            <a:solidFill>
              <a:srgbClr val="3E5F5A"/>
            </a:solidFill>
            <a:tailEnd type="triangle" w="med" len="med"/>
          </a:ln>
        </p:spPr>
      </p:cxnSp>
      <p:sp>
        <p:nvSpPr>
          <p:cNvPr id="20" name="Rounded Rectangle 19"/>
          <p:cNvSpPr/>
          <p:nvPr/>
        </p:nvSpPr>
        <p:spPr>
          <a:xfrm>
            <a:off x="5227168" y="3977639"/>
            <a:ext cx="1737360" cy="822960"/>
          </a:xfrm>
          <a:prstGeom prst="roundRect">
            <a:avLst>
              <a:gd name="adj" fmla="val 8000"/>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18608" y="3977639"/>
            <a:ext cx="1554480" cy="822960"/>
          </a:xfrm>
          <a:prstGeom prst="rect">
            <a:avLst/>
          </a:prstGeom>
          <a:noFill/>
        </p:spPr>
        <p:txBody>
          <a:bodyPr wrap="square" anchor="ctr" lIns="0" rIns="0" tIns="0" bIns="0">
            <a:spAutoFit/>
          </a:bodyPr>
          <a:lstStyle/>
          <a:p>
            <a:pPr algn="ctr">
              <a:lnSpc>
                <a:spcPct val="110000"/>
              </a:lnSpc>
            </a:pPr>
            <a:r>
              <a:rPr sz="1200" b="1" i="0">
                <a:solidFill>
                  <a:srgbClr val="1F2421"/>
                </a:solidFill>
                <a:latin typeface="Segoe UI"/>
              </a:rPr>
              <a:t>Router 3</a:t>
            </a:r>
          </a:p>
          <a:p>
            <a:pPr algn="ctr">
              <a:lnSpc>
                <a:spcPct val="110000"/>
              </a:lnSpc>
            </a:pPr>
            <a:r>
              <a:rPr sz="1000" b="0" i="0">
                <a:solidFill>
                  <a:srgbClr val="5B625C"/>
                </a:solidFill>
                <a:latin typeface="Segoe UI"/>
              </a:rPr>
              <a:t>local traffic + training</a:t>
            </a:r>
          </a:p>
        </p:txBody>
      </p:sp>
      <p:cxnSp>
        <p:nvCxnSpPr>
          <p:cNvPr id="22" name="Connector 21"/>
          <p:cNvCxnSpPr/>
          <p:nvPr/>
        </p:nvCxnSpPr>
        <p:spPr>
          <a:xfrm>
            <a:off x="5967832" y="3291839"/>
            <a:ext cx="0" cy="685800"/>
          </a:xfrm>
          <a:prstGeom prst="line">
            <a:avLst/>
          </a:prstGeom>
          <a:ln w="15875">
            <a:solidFill>
              <a:srgbClr val="8C918A"/>
            </a:solidFill>
            <a:tailEnd type="triangle" w="med" len="med"/>
          </a:ln>
        </p:spPr>
      </p:cxnSp>
      <p:cxnSp>
        <p:nvCxnSpPr>
          <p:cNvPr id="23" name="Connector 22"/>
          <p:cNvCxnSpPr/>
          <p:nvPr/>
        </p:nvCxnSpPr>
        <p:spPr>
          <a:xfrm flipV="1">
            <a:off x="6223864" y="3291839"/>
            <a:ext cx="0" cy="685800"/>
          </a:xfrm>
          <a:prstGeom prst="line">
            <a:avLst/>
          </a:prstGeom>
          <a:ln w="15875">
            <a:solidFill>
              <a:srgbClr val="3E5F5A"/>
            </a:solidFill>
            <a:tailEnd type="triangle" w="med" len="med"/>
          </a:ln>
        </p:spPr>
      </p:cxnSp>
      <p:sp>
        <p:nvSpPr>
          <p:cNvPr id="24" name="TextBox 23"/>
          <p:cNvSpPr txBox="1"/>
          <p:nvPr/>
        </p:nvSpPr>
        <p:spPr>
          <a:xfrm>
            <a:off x="7376008" y="4160519"/>
            <a:ext cx="1737360" cy="457200"/>
          </a:xfrm>
          <a:prstGeom prst="rect">
            <a:avLst/>
          </a:prstGeom>
          <a:noFill/>
        </p:spPr>
        <p:txBody>
          <a:bodyPr wrap="square" anchor="t" lIns="0" rIns="0" tIns="0" bIns="0">
            <a:spAutoFit/>
          </a:bodyPr>
          <a:lstStyle/>
          <a:p>
            <a:pPr algn="ctr">
              <a:lnSpc>
                <a:spcPct val="120000"/>
              </a:lnSpc>
            </a:pPr>
            <a:r>
              <a:rPr sz="2000" b="0" i="0">
                <a:solidFill>
                  <a:srgbClr val="8C918A"/>
                </a:solidFill>
                <a:latin typeface="Segoe UI"/>
              </a:rPr>
              <a:t>· · ·</a:t>
            </a:r>
          </a:p>
        </p:txBody>
      </p:sp>
      <p:sp>
        <p:nvSpPr>
          <p:cNvPr id="25" name="Rounded Rectangle 24"/>
          <p:cNvSpPr/>
          <p:nvPr/>
        </p:nvSpPr>
        <p:spPr>
          <a:xfrm>
            <a:off x="9524848" y="3977639"/>
            <a:ext cx="1737360" cy="822960"/>
          </a:xfrm>
          <a:prstGeom prst="roundRect">
            <a:avLst>
              <a:gd name="adj" fmla="val 8000"/>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16288" y="3977639"/>
            <a:ext cx="1554480" cy="822960"/>
          </a:xfrm>
          <a:prstGeom prst="rect">
            <a:avLst/>
          </a:prstGeom>
          <a:noFill/>
        </p:spPr>
        <p:txBody>
          <a:bodyPr wrap="square" anchor="ctr" lIns="0" rIns="0" tIns="0" bIns="0">
            <a:spAutoFit/>
          </a:bodyPr>
          <a:lstStyle/>
          <a:p>
            <a:pPr algn="ctr">
              <a:lnSpc>
                <a:spcPct val="110000"/>
              </a:lnSpc>
            </a:pPr>
            <a:r>
              <a:rPr sz="1200" b="1" i="0">
                <a:solidFill>
                  <a:srgbClr val="1F2421"/>
                </a:solidFill>
                <a:latin typeface="Segoe UI"/>
              </a:rPr>
              <a:t>Router 10</a:t>
            </a:r>
          </a:p>
          <a:p>
            <a:pPr algn="ctr">
              <a:lnSpc>
                <a:spcPct val="110000"/>
              </a:lnSpc>
            </a:pPr>
            <a:r>
              <a:rPr sz="1000" b="0" i="0">
                <a:solidFill>
                  <a:srgbClr val="5B625C"/>
                </a:solidFill>
                <a:latin typeface="Segoe UI"/>
              </a:rPr>
              <a:t>local traffic + training</a:t>
            </a:r>
          </a:p>
        </p:txBody>
      </p:sp>
      <p:cxnSp>
        <p:nvCxnSpPr>
          <p:cNvPr id="27" name="Connector 26"/>
          <p:cNvCxnSpPr/>
          <p:nvPr/>
        </p:nvCxnSpPr>
        <p:spPr>
          <a:xfrm>
            <a:off x="10265512" y="3291839"/>
            <a:ext cx="0" cy="685800"/>
          </a:xfrm>
          <a:prstGeom prst="line">
            <a:avLst/>
          </a:prstGeom>
          <a:ln w="15875">
            <a:solidFill>
              <a:srgbClr val="8C918A"/>
            </a:solidFill>
            <a:tailEnd type="triangle" w="med" len="med"/>
          </a:ln>
        </p:spPr>
      </p:cxnSp>
      <p:cxnSp>
        <p:nvCxnSpPr>
          <p:cNvPr id="28" name="Connector 27"/>
          <p:cNvCxnSpPr/>
          <p:nvPr/>
        </p:nvCxnSpPr>
        <p:spPr>
          <a:xfrm flipV="1">
            <a:off x="10521544" y="3291839"/>
            <a:ext cx="0" cy="685800"/>
          </a:xfrm>
          <a:prstGeom prst="line">
            <a:avLst/>
          </a:prstGeom>
          <a:ln w="15875">
            <a:solidFill>
              <a:srgbClr val="3E5F5A"/>
            </a:solidFill>
            <a:tailEnd type="triangle" w="med" len="med"/>
          </a:ln>
        </p:spPr>
      </p:cxnSp>
      <p:sp>
        <p:nvSpPr>
          <p:cNvPr id="29" name="TextBox 28"/>
          <p:cNvSpPr txBox="1"/>
          <p:nvPr/>
        </p:nvSpPr>
        <p:spPr>
          <a:xfrm>
            <a:off x="7818120" y="1920240"/>
            <a:ext cx="3566160" cy="731520"/>
          </a:xfrm>
          <a:prstGeom prst="rect">
            <a:avLst/>
          </a:prstGeom>
          <a:noFill/>
        </p:spPr>
        <p:txBody>
          <a:bodyPr wrap="square" anchor="t" lIns="0" rIns="0" tIns="0" bIns="0">
            <a:spAutoFit/>
          </a:bodyPr>
          <a:lstStyle/>
          <a:p>
            <a:pPr algn="l">
              <a:lnSpc>
                <a:spcPct val="140000"/>
              </a:lnSpc>
            </a:pPr>
            <a:r>
              <a:rPr sz="1150" b="0" i="0">
                <a:solidFill>
                  <a:srgbClr val="5B625C"/>
                </a:solidFill>
                <a:latin typeface="Segoe UI"/>
              </a:rPr>
              <a:t>↓  global model sent down</a:t>
            </a:r>
          </a:p>
          <a:p>
            <a:pPr algn="l">
              <a:lnSpc>
                <a:spcPct val="140000"/>
              </a:lnSpc>
            </a:pPr>
            <a:r>
              <a:rPr sz="1150" b="0" i="0">
                <a:solidFill>
                  <a:srgbClr val="3E5F5A"/>
                </a:solidFill>
                <a:latin typeface="Segoe UI"/>
              </a:rPr>
              <a:t>↑  update sent up (weights only)</a:t>
            </a:r>
          </a:p>
        </p:txBody>
      </p:sp>
      <p:sp>
        <p:nvSpPr>
          <p:cNvPr id="30" name="TextBox 29"/>
          <p:cNvSpPr txBox="1"/>
          <p:nvPr/>
        </p:nvSpPr>
        <p:spPr>
          <a:xfrm>
            <a:off x="731520" y="5257800"/>
            <a:ext cx="10725912" cy="822960"/>
          </a:xfrm>
          <a:prstGeom prst="rect">
            <a:avLst/>
          </a:prstGeom>
          <a:noFill/>
        </p:spPr>
        <p:txBody>
          <a:bodyPr wrap="square" anchor="t" lIns="0" rIns="0" tIns="0" bIns="0">
            <a:spAutoFit/>
          </a:bodyPr>
          <a:lstStyle/>
          <a:p>
            <a:pPr algn="ctr">
              <a:lnSpc>
                <a:spcPct val="120000"/>
              </a:lnSpc>
            </a:pPr>
            <a:r>
              <a:rPr sz="1350" b="0" i="0">
                <a:solidFill>
                  <a:srgbClr val="5B625C"/>
                </a:solidFill>
                <a:latin typeface="Segoe UI"/>
              </a:rPr>
              <a:t>Each round: the server sends the current model, every router trains it on its own traffic, and only the change in weights travels back. Raw traffic never leaves a router.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01 · INTRODUCTION</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But the updates themselves become the attack surface</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6</a:t>
            </a:r>
          </a:p>
        </p:txBody>
      </p:sp>
      <p:sp>
        <p:nvSpPr>
          <p:cNvPr id="8" name="Rounded Rectangle 7"/>
          <p:cNvSpPr/>
          <p:nvPr/>
        </p:nvSpPr>
        <p:spPr>
          <a:xfrm>
            <a:off x="731520" y="1874519"/>
            <a:ext cx="3429000" cy="2331720"/>
          </a:xfrm>
          <a:prstGeom prst="roundRect">
            <a:avLst>
              <a:gd name="adj" fmla="val 4000"/>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103120"/>
            <a:ext cx="2926080" cy="365760"/>
          </a:xfrm>
          <a:prstGeom prst="rect">
            <a:avLst/>
          </a:prstGeom>
          <a:noFill/>
        </p:spPr>
        <p:txBody>
          <a:bodyPr wrap="square" anchor="t" lIns="0" rIns="0" tIns="0" bIns="0">
            <a:spAutoFit/>
          </a:bodyPr>
          <a:lstStyle/>
          <a:p>
            <a:pPr algn="l">
              <a:lnSpc>
                <a:spcPct val="120000"/>
              </a:lnSpc>
            </a:pPr>
            <a:r>
              <a:rPr sz="2000" b="0" i="0">
                <a:solidFill>
                  <a:srgbClr val="3E5F5A"/>
                </a:solidFill>
                <a:latin typeface="Georgia"/>
              </a:rPr>
              <a:t>01</a:t>
            </a:r>
          </a:p>
        </p:txBody>
      </p:sp>
      <p:sp>
        <p:nvSpPr>
          <p:cNvPr id="10" name="TextBox 9"/>
          <p:cNvSpPr txBox="1"/>
          <p:nvPr/>
        </p:nvSpPr>
        <p:spPr>
          <a:xfrm>
            <a:off x="1005840" y="2560320"/>
            <a:ext cx="2926080" cy="1600200"/>
          </a:xfrm>
          <a:prstGeom prst="rect">
            <a:avLst/>
          </a:prstGeom>
          <a:noFill/>
        </p:spPr>
        <p:txBody>
          <a:bodyPr wrap="square" anchor="t" lIns="0" rIns="0" tIns="0" bIns="0">
            <a:spAutoFit/>
          </a:bodyPr>
          <a:lstStyle/>
          <a:p>
            <a:pPr algn="l">
              <a:lnSpc>
                <a:spcPct val="125000"/>
              </a:lnSpc>
            </a:pPr>
            <a:r>
              <a:rPr sz="1400" b="1" i="0">
                <a:solidFill>
                  <a:srgbClr val="1F2421"/>
                </a:solidFill>
                <a:latin typeface="Segoe UI"/>
              </a:rPr>
              <a:t>Tampering in transit</a:t>
            </a:r>
          </a:p>
          <a:p>
            <a:pPr algn="l">
              <a:lnSpc>
                <a:spcPct val="125000"/>
              </a:lnSpc>
            </a:pPr>
            <a:r>
              <a:rPr sz="1200" b="0" i="0">
                <a:solidFill>
                  <a:srgbClr val="5B625C"/>
                </a:solidFill>
                <a:latin typeface="Segoe UI"/>
              </a:rPr>
              <a:t>An update can be corrupted or modified between router and server. Generic transports (HTTP + JSON) carry no per-client integrity check.</a:t>
            </a:r>
          </a:p>
        </p:txBody>
      </p:sp>
      <p:sp>
        <p:nvSpPr>
          <p:cNvPr id="11" name="Rounded Rectangle 10"/>
          <p:cNvSpPr/>
          <p:nvPr/>
        </p:nvSpPr>
        <p:spPr>
          <a:xfrm>
            <a:off x="4361688" y="1874519"/>
            <a:ext cx="3429000" cy="2331720"/>
          </a:xfrm>
          <a:prstGeom prst="roundRect">
            <a:avLst>
              <a:gd name="adj" fmla="val 4000"/>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36008" y="2103120"/>
            <a:ext cx="2926080" cy="365760"/>
          </a:xfrm>
          <a:prstGeom prst="rect">
            <a:avLst/>
          </a:prstGeom>
          <a:noFill/>
        </p:spPr>
        <p:txBody>
          <a:bodyPr wrap="square" anchor="t" lIns="0" rIns="0" tIns="0" bIns="0">
            <a:spAutoFit/>
          </a:bodyPr>
          <a:lstStyle/>
          <a:p>
            <a:pPr algn="l">
              <a:lnSpc>
                <a:spcPct val="120000"/>
              </a:lnSpc>
            </a:pPr>
            <a:r>
              <a:rPr sz="2000" b="0" i="0">
                <a:solidFill>
                  <a:srgbClr val="3E5F5A"/>
                </a:solidFill>
                <a:latin typeface="Georgia"/>
              </a:rPr>
              <a:t>02</a:t>
            </a:r>
          </a:p>
        </p:txBody>
      </p:sp>
      <p:sp>
        <p:nvSpPr>
          <p:cNvPr id="13" name="TextBox 12"/>
          <p:cNvSpPr txBox="1"/>
          <p:nvPr/>
        </p:nvSpPr>
        <p:spPr>
          <a:xfrm>
            <a:off x="4636008" y="2560320"/>
            <a:ext cx="2926080" cy="1600200"/>
          </a:xfrm>
          <a:prstGeom prst="rect">
            <a:avLst/>
          </a:prstGeom>
          <a:noFill/>
        </p:spPr>
        <p:txBody>
          <a:bodyPr wrap="square" anchor="t" lIns="0" rIns="0" tIns="0" bIns="0">
            <a:spAutoFit/>
          </a:bodyPr>
          <a:lstStyle/>
          <a:p>
            <a:pPr algn="l">
              <a:lnSpc>
                <a:spcPct val="125000"/>
              </a:lnSpc>
            </a:pPr>
            <a:r>
              <a:rPr sz="1400" b="1" i="0">
                <a:solidFill>
                  <a:srgbClr val="1F2421"/>
                </a:solidFill>
                <a:latin typeface="Segoe UI"/>
              </a:rPr>
              <a:t>Poisoned updates</a:t>
            </a:r>
          </a:p>
          <a:p>
            <a:pPr algn="l">
              <a:lnSpc>
                <a:spcPct val="125000"/>
              </a:lnSpc>
            </a:pPr>
            <a:r>
              <a:rPr sz="1200" b="0" i="0">
                <a:solidFill>
                  <a:srgbClr val="5B625C"/>
                </a:solidFill>
                <a:latin typeface="Segoe UI"/>
              </a:rPr>
              <a:t>A compromised router can train on wrong labels (label flipping) or plant a hidden rule (backdoor) and send a valid-looking update.</a:t>
            </a:r>
          </a:p>
        </p:txBody>
      </p:sp>
      <p:sp>
        <p:nvSpPr>
          <p:cNvPr id="14" name="Rounded Rectangle 13"/>
          <p:cNvSpPr/>
          <p:nvPr/>
        </p:nvSpPr>
        <p:spPr>
          <a:xfrm>
            <a:off x="7991856" y="1874519"/>
            <a:ext cx="3429000" cy="2331720"/>
          </a:xfrm>
          <a:prstGeom prst="roundRect">
            <a:avLst>
              <a:gd name="adj" fmla="val 4000"/>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6176" y="2103120"/>
            <a:ext cx="2926080" cy="365760"/>
          </a:xfrm>
          <a:prstGeom prst="rect">
            <a:avLst/>
          </a:prstGeom>
          <a:noFill/>
        </p:spPr>
        <p:txBody>
          <a:bodyPr wrap="square" anchor="t" lIns="0" rIns="0" tIns="0" bIns="0">
            <a:spAutoFit/>
          </a:bodyPr>
          <a:lstStyle/>
          <a:p>
            <a:pPr algn="l">
              <a:lnSpc>
                <a:spcPct val="120000"/>
              </a:lnSpc>
            </a:pPr>
            <a:r>
              <a:rPr sz="2000" b="0" i="0">
                <a:solidFill>
                  <a:srgbClr val="3E5F5A"/>
                </a:solidFill>
                <a:latin typeface="Georgia"/>
              </a:rPr>
              <a:t>03</a:t>
            </a:r>
          </a:p>
        </p:txBody>
      </p:sp>
      <p:sp>
        <p:nvSpPr>
          <p:cNvPr id="16" name="TextBox 15"/>
          <p:cNvSpPr txBox="1"/>
          <p:nvPr/>
        </p:nvSpPr>
        <p:spPr>
          <a:xfrm>
            <a:off x="8266176" y="2560320"/>
            <a:ext cx="2926080" cy="1600200"/>
          </a:xfrm>
          <a:prstGeom prst="rect">
            <a:avLst/>
          </a:prstGeom>
          <a:noFill/>
        </p:spPr>
        <p:txBody>
          <a:bodyPr wrap="square" anchor="t" lIns="0" rIns="0" tIns="0" bIns="0">
            <a:spAutoFit/>
          </a:bodyPr>
          <a:lstStyle/>
          <a:p>
            <a:pPr algn="l">
              <a:lnSpc>
                <a:spcPct val="125000"/>
              </a:lnSpc>
            </a:pPr>
            <a:r>
              <a:rPr sz="1400" b="1" i="0">
                <a:solidFill>
                  <a:srgbClr val="1F2421"/>
                </a:solidFill>
                <a:latin typeface="Segoe UI"/>
              </a:rPr>
              <a:t>Honest but different</a:t>
            </a:r>
          </a:p>
          <a:p>
            <a:pPr algn="l">
              <a:lnSpc>
                <a:spcPct val="125000"/>
              </a:lnSpc>
            </a:pPr>
            <a:r>
              <a:rPr sz="1200" b="0" i="0">
                <a:solidFill>
                  <a:srgbClr val="5B625C"/>
                </a:solidFill>
                <a:latin typeface="Segoe UI"/>
              </a:rPr>
              <a:t>Routers genuinely see different traffic (non-IID). Outlier-based defenses can mistake an honest, unusual router for an attacker.</a:t>
            </a:r>
          </a:p>
        </p:txBody>
      </p:sp>
      <p:sp>
        <p:nvSpPr>
          <p:cNvPr id="17" name="TextBox 16"/>
          <p:cNvSpPr txBox="1"/>
          <p:nvPr/>
        </p:nvSpPr>
        <p:spPr>
          <a:xfrm>
            <a:off x="731520" y="4526280"/>
            <a:ext cx="10725912" cy="320040"/>
          </a:xfrm>
          <a:prstGeom prst="rect">
            <a:avLst/>
          </a:prstGeom>
          <a:noFill/>
        </p:spPr>
        <p:txBody>
          <a:bodyPr wrap="square" anchor="t" lIns="0" rIns="0" tIns="0" bIns="0">
            <a:spAutoFit/>
          </a:bodyPr>
          <a:lstStyle/>
          <a:p>
            <a:pPr algn="l">
              <a:lnSpc>
                <a:spcPct val="120000"/>
              </a:lnSpc>
            </a:pPr>
            <a:r>
              <a:rPr sz="1100" b="1" i="0">
                <a:solidFill>
                  <a:srgbClr val="3E5F5A"/>
                </a:solidFill>
                <a:latin typeface="Segoe UI"/>
              </a:rPr>
              <a:t>HOW IT IS USUALLY HANDLED</a:t>
            </a:r>
          </a:p>
        </p:txBody>
      </p:sp>
      <p:sp>
        <p:nvSpPr>
          <p:cNvPr id="18" name="TextBox 17"/>
          <p:cNvSpPr txBox="1"/>
          <p:nvPr/>
        </p:nvSpPr>
        <p:spPr>
          <a:xfrm>
            <a:off x="731520" y="4892040"/>
            <a:ext cx="10725912" cy="1371600"/>
          </a:xfrm>
          <a:prstGeom prst="rect">
            <a:avLst/>
          </a:prstGeom>
          <a:noFill/>
        </p:spPr>
        <p:txBody>
          <a:bodyPr wrap="square" lIns="0" rIns="0" tIns="0" bIns="0">
            <a:spAutoFit/>
          </a:bodyPr>
          <a:lstStyle/>
          <a:p>
            <a:pPr marL="219456" indent="-219456">
              <a:lnSpc>
                <a:spcPct val="120000"/>
              </a:lnSpc>
              <a:spcAft>
                <a:spcPts val="600"/>
              </a:spcAft>
              <a:buClr>
                <a:srgbClr val="3E5F5A"/>
              </a:buClr>
              <a:buFont typeface="Arial"/>
              <a:buChar char="•"/>
            </a:pPr>
            <a:r>
              <a:rPr sz="1300" b="1">
                <a:solidFill>
                  <a:srgbClr val="1F2421"/>
                </a:solidFill>
                <a:latin typeface="Segoe UI"/>
              </a:rPr>
              <a:t>Efficiency work </a:t>
            </a:r>
            <a:r>
              <a:rPr sz="1300">
                <a:solidFill>
                  <a:srgbClr val="1F2421"/>
                </a:solidFill>
                <a:latin typeface="Segoe UI"/>
              </a:rPr>
              <a:t>(compression, client selection) shrinks updates but ignores security.</a:t>
            </a:r>
          </a:p>
          <a:p>
            <a:pPr marL="219456" indent="-219456">
              <a:lnSpc>
                <a:spcPct val="120000"/>
              </a:lnSpc>
              <a:spcAft>
                <a:spcPts val="600"/>
              </a:spcAft>
              <a:buClr>
                <a:srgbClr val="3E5F5A"/>
              </a:buClr>
              <a:buFont typeface="Arial"/>
              <a:buChar char="•"/>
            </a:pPr>
            <a:r>
              <a:rPr sz="1300" b="1">
                <a:solidFill>
                  <a:srgbClr val="1F2421"/>
                </a:solidFill>
                <a:latin typeface="Segoe UI"/>
              </a:rPr>
              <a:t>Robust aggregation </a:t>
            </a:r>
            <a:r>
              <a:rPr sz="1300">
                <a:solidFill>
                  <a:srgbClr val="1F2421"/>
                </a:solidFill>
                <a:latin typeface="Segoe UI"/>
              </a:rPr>
              <a:t>(Krum, trimmed mean) runs on the server after every update is fully received — on every client, every round.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01 · INTRODUCTION</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Research gap and question</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7</a:t>
            </a:r>
          </a:p>
        </p:txBody>
      </p:sp>
      <p:sp>
        <p:nvSpPr>
          <p:cNvPr id="8" name="Rounded Rectangle 7"/>
          <p:cNvSpPr/>
          <p:nvPr/>
        </p:nvSpPr>
        <p:spPr>
          <a:xfrm>
            <a:off x="731520" y="1828800"/>
            <a:ext cx="5212080" cy="4114800"/>
          </a:xfrm>
          <a:prstGeom prst="roundRect">
            <a:avLst>
              <a:gd name="adj" fmla="val 4000"/>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057400"/>
            <a:ext cx="4572000" cy="320040"/>
          </a:xfrm>
          <a:prstGeom prst="rect">
            <a:avLst/>
          </a:prstGeom>
          <a:noFill/>
        </p:spPr>
        <p:txBody>
          <a:bodyPr wrap="square" anchor="t" lIns="0" rIns="0" tIns="0" bIns="0">
            <a:spAutoFit/>
          </a:bodyPr>
          <a:lstStyle/>
          <a:p>
            <a:pPr algn="l">
              <a:lnSpc>
                <a:spcPct val="120000"/>
              </a:lnSpc>
            </a:pPr>
            <a:r>
              <a:rPr sz="1100" b="1" i="0">
                <a:solidFill>
                  <a:srgbClr val="3E5F5A"/>
                </a:solidFill>
                <a:latin typeface="Segoe UI"/>
              </a:rPr>
              <a:t>THE GAP</a:t>
            </a:r>
          </a:p>
        </p:txBody>
      </p:sp>
      <p:sp>
        <p:nvSpPr>
          <p:cNvPr id="10" name="TextBox 9"/>
          <p:cNvSpPr txBox="1"/>
          <p:nvPr/>
        </p:nvSpPr>
        <p:spPr>
          <a:xfrm>
            <a:off x="1051560" y="2468880"/>
            <a:ext cx="4572000" cy="3383280"/>
          </a:xfrm>
          <a:prstGeom prst="rect">
            <a:avLst/>
          </a:prstGeom>
          <a:noFill/>
        </p:spPr>
        <p:txBody>
          <a:bodyPr wrap="square" anchor="t" lIns="0" rIns="0" tIns="0" bIns="0">
            <a:spAutoFit/>
          </a:bodyPr>
          <a:lstStyle/>
          <a:p>
            <a:pPr algn="l">
              <a:lnSpc>
                <a:spcPct val="130000"/>
              </a:lnSpc>
            </a:pPr>
            <a:r>
              <a:rPr sz="1350" b="0" i="0">
                <a:solidFill>
                  <a:srgbClr val="1F2421"/>
                </a:solidFill>
                <a:latin typeface="Segoe UI"/>
              </a:rPr>
              <a:t>Security and communication are designed separately. We fuse them into the update protocol itself: every update carries an integrity tag and a compact statistical fingerprint, so tampered or suspicious updates can be rejected cheaply — before the expensive aggregation step.</a:t>
            </a:r>
          </a:p>
          <a:p>
            <a:pPr algn="l">
              <a:lnSpc>
                <a:spcPct val="130000"/>
              </a:lnSpc>
            </a:pPr>
            <a:r>
              <a:rPr sz="1350" b="0" i="0">
                <a:solidFill>
                  <a:srgbClr val="1F2421"/>
                </a:solidFill>
                <a:latin typeface="Segoe UI"/>
              </a:rPr>
              <a:t/>
            </a:r>
          </a:p>
          <a:p>
            <a:pPr algn="l">
              <a:lnSpc>
                <a:spcPct val="130000"/>
              </a:lnSpc>
            </a:pPr>
            <a:r>
              <a:rPr sz="1350" b="0" i="0">
                <a:solidFill>
                  <a:srgbClr val="1F2421"/>
                </a:solidFill>
                <a:latin typeface="Segoe UI"/>
              </a:rPr>
              <a:t>Outlier checks of this kind compare each update with the consensus, which raises a fairness question for non-IID routers.</a:t>
            </a:r>
          </a:p>
        </p:txBody>
      </p:sp>
      <p:sp>
        <p:nvSpPr>
          <p:cNvPr id="11" name="Rounded Rectangle 10"/>
          <p:cNvSpPr/>
          <p:nvPr/>
        </p:nvSpPr>
        <p:spPr>
          <a:xfrm>
            <a:off x="6309360" y="1828800"/>
            <a:ext cx="5148072" cy="4114800"/>
          </a:xfrm>
          <a:prstGeom prst="roundRect">
            <a:avLst>
              <a:gd name="adj" fmla="val 4000"/>
            </a:avLst>
          </a:prstGeom>
          <a:solidFill>
            <a:srgbClr val="E4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2057400"/>
            <a:ext cx="4572000" cy="320040"/>
          </a:xfrm>
          <a:prstGeom prst="rect">
            <a:avLst/>
          </a:prstGeom>
          <a:noFill/>
        </p:spPr>
        <p:txBody>
          <a:bodyPr wrap="square" anchor="t" lIns="0" rIns="0" tIns="0" bIns="0">
            <a:spAutoFit/>
          </a:bodyPr>
          <a:lstStyle/>
          <a:p>
            <a:pPr algn="l">
              <a:lnSpc>
                <a:spcPct val="120000"/>
              </a:lnSpc>
            </a:pPr>
            <a:r>
              <a:rPr sz="1100" b="1" i="0">
                <a:solidFill>
                  <a:srgbClr val="3E5F5A"/>
                </a:solidFill>
                <a:latin typeface="Segoe UI"/>
              </a:rPr>
              <a:t>RESEARCH QUESTION</a:t>
            </a:r>
          </a:p>
        </p:txBody>
      </p:sp>
      <p:sp>
        <p:nvSpPr>
          <p:cNvPr id="13" name="TextBox 12"/>
          <p:cNvSpPr txBox="1"/>
          <p:nvPr/>
        </p:nvSpPr>
        <p:spPr>
          <a:xfrm>
            <a:off x="6629400" y="2514600"/>
            <a:ext cx="4572000" cy="2286000"/>
          </a:xfrm>
          <a:prstGeom prst="rect">
            <a:avLst/>
          </a:prstGeom>
          <a:noFill/>
        </p:spPr>
        <p:txBody>
          <a:bodyPr wrap="square" anchor="t" lIns="0" rIns="0" tIns="0" bIns="0">
            <a:spAutoFit/>
          </a:bodyPr>
          <a:lstStyle/>
          <a:p>
            <a:pPr algn="l">
              <a:lnSpc>
                <a:spcPct val="130000"/>
              </a:lnSpc>
            </a:pPr>
            <a:r>
              <a:rPr sz="1700" b="0" i="0">
                <a:solidFill>
                  <a:srgbClr val="1F2421"/>
                </a:solidFill>
                <a:latin typeface="Georgia"/>
              </a:rPr>
              <a:t>Does one global anomaly threshold wrongly flag honest, non-IID routers — and do per-cluster (Mondrian) thresholds reduce those false alarms without missing real attacks?</a:t>
            </a:r>
          </a:p>
        </p:txBody>
      </p:sp>
      <p:sp>
        <p:nvSpPr>
          <p:cNvPr id="14" name="TextBox 13"/>
          <p:cNvSpPr txBox="1"/>
          <p:nvPr/>
        </p:nvSpPr>
        <p:spPr>
          <a:xfrm>
            <a:off x="6629400" y="4892040"/>
            <a:ext cx="4572000" cy="914400"/>
          </a:xfrm>
          <a:prstGeom prst="rect">
            <a:avLst/>
          </a:prstGeom>
          <a:noFill/>
        </p:spPr>
        <p:txBody>
          <a:bodyPr wrap="square" anchor="t" lIns="0" rIns="0" tIns="0" bIns="0">
            <a:spAutoFit/>
          </a:bodyPr>
          <a:lstStyle/>
          <a:p>
            <a:pPr algn="l">
              <a:lnSpc>
                <a:spcPct val="120000"/>
              </a:lnSpc>
            </a:pPr>
            <a:r>
              <a:rPr sz="1150" b="0" i="0">
                <a:solidFill>
                  <a:srgbClr val="5B625C"/>
                </a:solidFill>
                <a:latin typeface="Segoe UI"/>
              </a:rPr>
              <a:t>Mondrian calibration: one threshold per group of similar clients instead of one for everyone — borrowed from conformal prediction.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03120"/>
            <a:ext cx="2743200" cy="1097280"/>
          </a:xfrm>
          <a:prstGeom prst="rect">
            <a:avLst/>
          </a:prstGeom>
          <a:noFill/>
        </p:spPr>
        <p:txBody>
          <a:bodyPr wrap="square" anchor="t" lIns="0" rIns="0" tIns="0" bIns="0">
            <a:spAutoFit/>
          </a:bodyPr>
          <a:lstStyle/>
          <a:p>
            <a:pPr algn="l">
              <a:lnSpc>
                <a:spcPct val="120000"/>
              </a:lnSpc>
            </a:pPr>
            <a:r>
              <a:rPr sz="6600" b="0" i="0">
                <a:solidFill>
                  <a:srgbClr val="3E5F5A"/>
                </a:solidFill>
                <a:latin typeface="Georgia"/>
              </a:rPr>
              <a:t>02</a:t>
            </a:r>
          </a:p>
        </p:txBody>
      </p:sp>
      <p:cxnSp>
        <p:nvCxnSpPr>
          <p:cNvPr id="4" name="Connector 3"/>
          <p:cNvCxnSpPr/>
          <p:nvPr/>
        </p:nvCxnSpPr>
        <p:spPr>
          <a:xfrm>
            <a:off x="731520" y="3337560"/>
            <a:ext cx="822960" cy="0"/>
          </a:xfrm>
          <a:prstGeom prst="line">
            <a:avLst/>
          </a:prstGeom>
          <a:ln w="19050">
            <a:solidFill>
              <a:srgbClr val="3E5F5A"/>
            </a:solidFill>
          </a:ln>
        </p:spPr>
      </p:cxnSp>
      <p:sp>
        <p:nvSpPr>
          <p:cNvPr id="5" name="TextBox 4"/>
          <p:cNvSpPr txBox="1"/>
          <p:nvPr/>
        </p:nvSpPr>
        <p:spPr>
          <a:xfrm>
            <a:off x="731520" y="3520440"/>
            <a:ext cx="10058400" cy="822960"/>
          </a:xfrm>
          <a:prstGeom prst="rect">
            <a:avLst/>
          </a:prstGeom>
          <a:noFill/>
        </p:spPr>
        <p:txBody>
          <a:bodyPr wrap="square" anchor="t" lIns="0" rIns="0" tIns="0" bIns="0">
            <a:spAutoFit/>
          </a:bodyPr>
          <a:lstStyle/>
          <a:p>
            <a:pPr algn="l">
              <a:lnSpc>
                <a:spcPct val="120000"/>
              </a:lnSpc>
            </a:pPr>
            <a:r>
              <a:rPr sz="3800" b="0" i="0">
                <a:solidFill>
                  <a:srgbClr val="1F2421"/>
                </a:solidFill>
                <a:latin typeface="Georgia"/>
              </a:rPr>
              <a:t>Objectives</a:t>
            </a:r>
          </a:p>
        </p:txBody>
      </p:sp>
      <p:sp>
        <p:nvSpPr>
          <p:cNvPr id="6" name="TextBox 5"/>
          <p:cNvSpPr txBox="1"/>
          <p:nvPr/>
        </p:nvSpPr>
        <p:spPr>
          <a:xfrm>
            <a:off x="731520" y="4343400"/>
            <a:ext cx="9144000" cy="731520"/>
          </a:xfrm>
          <a:prstGeom prst="rect">
            <a:avLst/>
          </a:prstGeom>
          <a:noFill/>
        </p:spPr>
        <p:txBody>
          <a:bodyPr wrap="square" anchor="t" lIns="0" rIns="0" tIns="0" bIns="0">
            <a:spAutoFit/>
          </a:bodyPr>
          <a:lstStyle/>
          <a:p>
            <a:pPr algn="l">
              <a:lnSpc>
                <a:spcPct val="120000"/>
              </a:lnSpc>
            </a:pPr>
            <a:r>
              <a:rPr sz="1400" b="0" i="0">
                <a:solidFill>
                  <a:srgbClr val="5B625C"/>
                </a:solidFill>
                <a:latin typeface="Segoe UI"/>
              </a:rPr>
              <a:t>What we set out to do, and the scope we did it 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02 · OBJECTIVES</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Five objectives</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9</a:t>
            </a:r>
          </a:p>
        </p:txBody>
      </p:sp>
      <p:sp>
        <p:nvSpPr>
          <p:cNvPr id="8" name="TextBox 7"/>
          <p:cNvSpPr txBox="1"/>
          <p:nvPr/>
        </p:nvSpPr>
        <p:spPr>
          <a:xfrm>
            <a:off x="731520" y="1783080"/>
            <a:ext cx="548640" cy="548640"/>
          </a:xfrm>
          <a:prstGeom prst="rect">
            <a:avLst/>
          </a:prstGeom>
          <a:noFill/>
        </p:spPr>
        <p:txBody>
          <a:bodyPr wrap="square" anchor="t" lIns="0" rIns="0" tIns="0" bIns="0">
            <a:spAutoFit/>
          </a:bodyPr>
          <a:lstStyle/>
          <a:p>
            <a:pPr algn="l">
              <a:lnSpc>
                <a:spcPct val="120000"/>
              </a:lnSpc>
            </a:pPr>
            <a:r>
              <a:rPr sz="2400" b="0" i="0">
                <a:solidFill>
                  <a:srgbClr val="3E5F5A"/>
                </a:solidFill>
                <a:latin typeface="Georgia"/>
              </a:rPr>
              <a:t>1</a:t>
            </a:r>
          </a:p>
        </p:txBody>
      </p:sp>
      <p:sp>
        <p:nvSpPr>
          <p:cNvPr id="9" name="TextBox 8"/>
          <p:cNvSpPr txBox="1"/>
          <p:nvPr/>
        </p:nvSpPr>
        <p:spPr>
          <a:xfrm>
            <a:off x="1280160" y="1801368"/>
            <a:ext cx="6309360" cy="822960"/>
          </a:xfrm>
          <a:prstGeom prst="rect">
            <a:avLst/>
          </a:prstGeom>
          <a:noFill/>
        </p:spPr>
        <p:txBody>
          <a:bodyPr wrap="square" anchor="t" lIns="0" rIns="0" tIns="0" bIns="0">
            <a:spAutoFit/>
          </a:bodyPr>
          <a:lstStyle/>
          <a:p>
            <a:pPr algn="l">
              <a:lnSpc>
                <a:spcPct val="115000"/>
              </a:lnSpc>
            </a:pPr>
            <a:r>
              <a:rPr sz="1400" b="1" i="0">
                <a:solidFill>
                  <a:srgbClr val="1F2421"/>
                </a:solidFill>
                <a:latin typeface="Segoe UI"/>
              </a:rPr>
              <a:t>Federated detector</a:t>
            </a:r>
          </a:p>
          <a:p>
            <a:pPr algn="l">
              <a:lnSpc>
                <a:spcPct val="115000"/>
              </a:lnSpc>
            </a:pPr>
            <a:r>
              <a:rPr sz="1200" b="0" i="0">
                <a:solidFill>
                  <a:srgbClr val="5B625C"/>
                </a:solidFill>
                <a:latin typeface="Segoe UI"/>
              </a:rPr>
              <a:t>Train one intrusion detector across distributed clients without centralizing raw traffic.</a:t>
            </a:r>
          </a:p>
        </p:txBody>
      </p:sp>
      <p:sp>
        <p:nvSpPr>
          <p:cNvPr id="10" name="Rounded Rectangle 9"/>
          <p:cNvSpPr/>
          <p:nvPr/>
        </p:nvSpPr>
        <p:spPr>
          <a:xfrm>
            <a:off x="7726679" y="1874520"/>
            <a:ext cx="3730752" cy="566928"/>
          </a:xfrm>
          <a:prstGeom prst="roundRect">
            <a:avLst>
              <a:gd name="adj" fmla="val 20000"/>
            </a:avLst>
          </a:prstGeom>
          <a:solidFill>
            <a:srgbClr val="E4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0" y="1874520"/>
            <a:ext cx="3474720" cy="566928"/>
          </a:xfrm>
          <a:prstGeom prst="rect">
            <a:avLst/>
          </a:prstGeom>
          <a:noFill/>
        </p:spPr>
        <p:txBody>
          <a:bodyPr wrap="square" anchor="ctr" lIns="0" rIns="0" tIns="0" bIns="0">
            <a:spAutoFit/>
          </a:bodyPr>
          <a:lstStyle/>
          <a:p>
            <a:pPr algn="l">
              <a:lnSpc>
                <a:spcPct val="120000"/>
              </a:lnSpc>
            </a:pPr>
            <a:r>
              <a:rPr sz="1150" b="0" i="0">
                <a:solidFill>
                  <a:srgbClr val="3E5F5A"/>
                </a:solidFill>
                <a:latin typeface="Segoe UI"/>
              </a:rPr>
              <a:t>Met — FedAvg over 10 routers: 99.93%</a:t>
            </a:r>
          </a:p>
        </p:txBody>
      </p:sp>
      <p:cxnSp>
        <p:nvCxnSpPr>
          <p:cNvPr id="12" name="Connector 11"/>
          <p:cNvCxnSpPr/>
          <p:nvPr/>
        </p:nvCxnSpPr>
        <p:spPr>
          <a:xfrm>
            <a:off x="1280160" y="2587752"/>
            <a:ext cx="10149840" cy="0"/>
          </a:xfrm>
          <a:prstGeom prst="line">
            <a:avLst/>
          </a:prstGeom>
          <a:ln w="6350">
            <a:solidFill>
              <a:srgbClr val="DDDAD2"/>
            </a:solidFill>
          </a:ln>
        </p:spPr>
      </p:cxnSp>
      <p:sp>
        <p:nvSpPr>
          <p:cNvPr id="13" name="TextBox 12"/>
          <p:cNvSpPr txBox="1"/>
          <p:nvPr/>
        </p:nvSpPr>
        <p:spPr>
          <a:xfrm>
            <a:off x="731520" y="2651760"/>
            <a:ext cx="548640" cy="548640"/>
          </a:xfrm>
          <a:prstGeom prst="rect">
            <a:avLst/>
          </a:prstGeom>
          <a:noFill/>
        </p:spPr>
        <p:txBody>
          <a:bodyPr wrap="square" anchor="t" lIns="0" rIns="0" tIns="0" bIns="0">
            <a:spAutoFit/>
          </a:bodyPr>
          <a:lstStyle/>
          <a:p>
            <a:pPr algn="l">
              <a:lnSpc>
                <a:spcPct val="120000"/>
              </a:lnSpc>
            </a:pPr>
            <a:r>
              <a:rPr sz="2400" b="0" i="0">
                <a:solidFill>
                  <a:srgbClr val="3E5F5A"/>
                </a:solidFill>
                <a:latin typeface="Georgia"/>
              </a:rPr>
              <a:t>2</a:t>
            </a:r>
          </a:p>
        </p:txBody>
      </p:sp>
      <p:sp>
        <p:nvSpPr>
          <p:cNvPr id="14" name="TextBox 13"/>
          <p:cNvSpPr txBox="1"/>
          <p:nvPr/>
        </p:nvSpPr>
        <p:spPr>
          <a:xfrm>
            <a:off x="1280160" y="2670048"/>
            <a:ext cx="6309360" cy="822960"/>
          </a:xfrm>
          <a:prstGeom prst="rect">
            <a:avLst/>
          </a:prstGeom>
          <a:noFill/>
        </p:spPr>
        <p:txBody>
          <a:bodyPr wrap="square" anchor="t" lIns="0" rIns="0" tIns="0" bIns="0">
            <a:spAutoFit/>
          </a:bodyPr>
          <a:lstStyle/>
          <a:p>
            <a:pPr algn="l">
              <a:lnSpc>
                <a:spcPct val="115000"/>
              </a:lnSpc>
            </a:pPr>
            <a:r>
              <a:rPr sz="1400" b="1" i="0">
                <a:solidFill>
                  <a:srgbClr val="1F2421"/>
                </a:solidFill>
                <a:latin typeface="Segoe UI"/>
              </a:rPr>
              <a:t>Security-fused protocol</a:t>
            </a:r>
          </a:p>
          <a:p>
            <a:pPr algn="l">
              <a:lnSpc>
                <a:spcPct val="115000"/>
              </a:lnSpc>
            </a:pPr>
            <a:r>
              <a:rPr sz="1200" b="0" i="0">
                <a:solidFill>
                  <a:srgbClr val="5B625C"/>
                </a:solidFill>
                <a:latin typeface="Segoe UI"/>
              </a:rPr>
              <a:t>Design an update protocol with an integrity tag and a fingerprint that filters bad updates before aggregation.</a:t>
            </a:r>
          </a:p>
        </p:txBody>
      </p:sp>
      <p:sp>
        <p:nvSpPr>
          <p:cNvPr id="15" name="Rounded Rectangle 14"/>
          <p:cNvSpPr/>
          <p:nvPr/>
        </p:nvSpPr>
        <p:spPr>
          <a:xfrm>
            <a:off x="7726679" y="2743200"/>
            <a:ext cx="3730752" cy="566928"/>
          </a:xfrm>
          <a:prstGeom prst="roundRect">
            <a:avLst>
              <a:gd name="adj" fmla="val 20000"/>
            </a:avLst>
          </a:prstGeom>
          <a:solidFill>
            <a:srgbClr val="E4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0" y="2743200"/>
            <a:ext cx="3474720" cy="566928"/>
          </a:xfrm>
          <a:prstGeom prst="rect">
            <a:avLst/>
          </a:prstGeom>
          <a:noFill/>
        </p:spPr>
        <p:txBody>
          <a:bodyPr wrap="square" anchor="ctr" lIns="0" rIns="0" tIns="0" bIns="0">
            <a:spAutoFit/>
          </a:bodyPr>
          <a:lstStyle/>
          <a:p>
            <a:pPr algn="l">
              <a:lnSpc>
                <a:spcPct val="120000"/>
              </a:lnSpc>
            </a:pPr>
            <a:r>
              <a:rPr sz="1150" b="0" i="0">
                <a:solidFill>
                  <a:srgbClr val="3E5F5A"/>
                </a:solidFill>
                <a:latin typeface="Segoe UI"/>
              </a:rPr>
              <a:t>Met — HMAC + verifiable fingerprint + 3 anomaly scores</a:t>
            </a:r>
          </a:p>
        </p:txBody>
      </p:sp>
      <p:cxnSp>
        <p:nvCxnSpPr>
          <p:cNvPr id="17" name="Connector 16"/>
          <p:cNvCxnSpPr/>
          <p:nvPr/>
        </p:nvCxnSpPr>
        <p:spPr>
          <a:xfrm>
            <a:off x="1280160" y="3456432"/>
            <a:ext cx="10149840" cy="0"/>
          </a:xfrm>
          <a:prstGeom prst="line">
            <a:avLst/>
          </a:prstGeom>
          <a:ln w="6350">
            <a:solidFill>
              <a:srgbClr val="DDDAD2"/>
            </a:solidFill>
          </a:ln>
        </p:spPr>
      </p:cxnSp>
      <p:sp>
        <p:nvSpPr>
          <p:cNvPr id="18" name="TextBox 17"/>
          <p:cNvSpPr txBox="1"/>
          <p:nvPr/>
        </p:nvSpPr>
        <p:spPr>
          <a:xfrm>
            <a:off x="731520" y="3520440"/>
            <a:ext cx="548640" cy="548640"/>
          </a:xfrm>
          <a:prstGeom prst="rect">
            <a:avLst/>
          </a:prstGeom>
          <a:noFill/>
        </p:spPr>
        <p:txBody>
          <a:bodyPr wrap="square" anchor="t" lIns="0" rIns="0" tIns="0" bIns="0">
            <a:spAutoFit/>
          </a:bodyPr>
          <a:lstStyle/>
          <a:p>
            <a:pPr algn="l">
              <a:lnSpc>
                <a:spcPct val="120000"/>
              </a:lnSpc>
            </a:pPr>
            <a:r>
              <a:rPr sz="2400" b="0" i="0">
                <a:solidFill>
                  <a:srgbClr val="3E5F5A"/>
                </a:solidFill>
                <a:latin typeface="Georgia"/>
              </a:rPr>
              <a:t>3</a:t>
            </a:r>
          </a:p>
        </p:txBody>
      </p:sp>
      <p:sp>
        <p:nvSpPr>
          <p:cNvPr id="19" name="TextBox 18"/>
          <p:cNvSpPr txBox="1"/>
          <p:nvPr/>
        </p:nvSpPr>
        <p:spPr>
          <a:xfrm>
            <a:off x="1280160" y="3538728"/>
            <a:ext cx="6309360" cy="822960"/>
          </a:xfrm>
          <a:prstGeom prst="rect">
            <a:avLst/>
          </a:prstGeom>
          <a:noFill/>
        </p:spPr>
        <p:txBody>
          <a:bodyPr wrap="square" anchor="t" lIns="0" rIns="0" tIns="0" bIns="0">
            <a:spAutoFit/>
          </a:bodyPr>
          <a:lstStyle/>
          <a:p>
            <a:pPr algn="l">
              <a:lnSpc>
                <a:spcPct val="115000"/>
              </a:lnSpc>
            </a:pPr>
            <a:r>
              <a:rPr sz="1400" b="1" i="0">
                <a:solidFill>
                  <a:srgbClr val="1F2421"/>
                </a:solidFill>
                <a:latin typeface="Segoe UI"/>
              </a:rPr>
              <a:t>Detection quality</a:t>
            </a:r>
          </a:p>
          <a:p>
            <a:pPr algn="l">
              <a:lnSpc>
                <a:spcPct val="115000"/>
              </a:lnSpc>
            </a:pPr>
            <a:r>
              <a:rPr sz="1200" b="0" i="0">
                <a:solidFill>
                  <a:srgbClr val="5B625C"/>
                </a:solidFill>
                <a:latin typeface="Segoe UI"/>
              </a:rPr>
              <a:t>Evaluate accuracy, precision, recall and F1 under federated training.</a:t>
            </a:r>
          </a:p>
        </p:txBody>
      </p:sp>
      <p:sp>
        <p:nvSpPr>
          <p:cNvPr id="20" name="Rounded Rectangle 19"/>
          <p:cNvSpPr/>
          <p:nvPr/>
        </p:nvSpPr>
        <p:spPr>
          <a:xfrm>
            <a:off x="7726679" y="3611880"/>
            <a:ext cx="3730752" cy="566928"/>
          </a:xfrm>
          <a:prstGeom prst="roundRect">
            <a:avLst>
              <a:gd name="adj" fmla="val 20000"/>
            </a:avLst>
          </a:prstGeom>
          <a:solidFill>
            <a:srgbClr val="E4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0" y="3611880"/>
            <a:ext cx="3474720" cy="566928"/>
          </a:xfrm>
          <a:prstGeom prst="rect">
            <a:avLst/>
          </a:prstGeom>
          <a:noFill/>
        </p:spPr>
        <p:txBody>
          <a:bodyPr wrap="square" anchor="ctr" lIns="0" rIns="0" tIns="0" bIns="0">
            <a:spAutoFit/>
          </a:bodyPr>
          <a:lstStyle/>
          <a:p>
            <a:pPr algn="l">
              <a:lnSpc>
                <a:spcPct val="120000"/>
              </a:lnSpc>
            </a:pPr>
            <a:r>
              <a:rPr sz="1150" b="0" i="0">
                <a:solidFill>
                  <a:srgbClr val="3E5F5A"/>
                </a:solidFill>
                <a:latin typeface="Segoe UI"/>
              </a:rPr>
              <a:t>Met — binary and 11-class, two datasets</a:t>
            </a:r>
          </a:p>
        </p:txBody>
      </p:sp>
      <p:cxnSp>
        <p:nvCxnSpPr>
          <p:cNvPr id="22" name="Connector 21"/>
          <p:cNvCxnSpPr/>
          <p:nvPr/>
        </p:nvCxnSpPr>
        <p:spPr>
          <a:xfrm>
            <a:off x="1280160" y="4325112"/>
            <a:ext cx="10149840" cy="0"/>
          </a:xfrm>
          <a:prstGeom prst="line">
            <a:avLst/>
          </a:prstGeom>
          <a:ln w="6350">
            <a:solidFill>
              <a:srgbClr val="DDDAD2"/>
            </a:solidFill>
          </a:ln>
        </p:spPr>
      </p:cxnSp>
      <p:sp>
        <p:nvSpPr>
          <p:cNvPr id="23" name="TextBox 22"/>
          <p:cNvSpPr txBox="1"/>
          <p:nvPr/>
        </p:nvSpPr>
        <p:spPr>
          <a:xfrm>
            <a:off x="731520" y="4389120"/>
            <a:ext cx="548640" cy="548640"/>
          </a:xfrm>
          <a:prstGeom prst="rect">
            <a:avLst/>
          </a:prstGeom>
          <a:noFill/>
        </p:spPr>
        <p:txBody>
          <a:bodyPr wrap="square" anchor="t" lIns="0" rIns="0" tIns="0" bIns="0">
            <a:spAutoFit/>
          </a:bodyPr>
          <a:lstStyle/>
          <a:p>
            <a:pPr algn="l">
              <a:lnSpc>
                <a:spcPct val="120000"/>
              </a:lnSpc>
            </a:pPr>
            <a:r>
              <a:rPr sz="2400" b="0" i="0">
                <a:solidFill>
                  <a:srgbClr val="3E5F5A"/>
                </a:solidFill>
                <a:latin typeface="Georgia"/>
              </a:rPr>
              <a:t>4</a:t>
            </a:r>
          </a:p>
        </p:txBody>
      </p:sp>
      <p:sp>
        <p:nvSpPr>
          <p:cNvPr id="24" name="TextBox 23"/>
          <p:cNvSpPr txBox="1"/>
          <p:nvPr/>
        </p:nvSpPr>
        <p:spPr>
          <a:xfrm>
            <a:off x="1280160" y="4407408"/>
            <a:ext cx="6309360" cy="822960"/>
          </a:xfrm>
          <a:prstGeom prst="rect">
            <a:avLst/>
          </a:prstGeom>
          <a:noFill/>
        </p:spPr>
        <p:txBody>
          <a:bodyPr wrap="square" anchor="t" lIns="0" rIns="0" tIns="0" bIns="0">
            <a:spAutoFit/>
          </a:bodyPr>
          <a:lstStyle/>
          <a:p>
            <a:pPr algn="l">
              <a:lnSpc>
                <a:spcPct val="115000"/>
              </a:lnSpc>
            </a:pPr>
            <a:r>
              <a:rPr sz="1400" b="1" i="0">
                <a:solidFill>
                  <a:srgbClr val="1F2421"/>
                </a:solidFill>
                <a:latin typeface="Segoe UI"/>
              </a:rPr>
              <a:t>Communication &amp; cost</a:t>
            </a:r>
          </a:p>
          <a:p>
            <a:pPr algn="l">
              <a:lnSpc>
                <a:spcPct val="115000"/>
              </a:lnSpc>
            </a:pPr>
            <a:r>
              <a:rPr sz="1200" b="0" i="0">
                <a:solidFill>
                  <a:srgbClr val="5B625C"/>
                </a:solidFill>
                <a:latin typeface="Segoe UI"/>
              </a:rPr>
              <a:t>Measure the protocol's overhead and server cost against a generic HTTP/JSON transfer.</a:t>
            </a:r>
          </a:p>
        </p:txBody>
      </p:sp>
      <p:sp>
        <p:nvSpPr>
          <p:cNvPr id="25" name="Rounded Rectangle 24"/>
          <p:cNvSpPr/>
          <p:nvPr/>
        </p:nvSpPr>
        <p:spPr>
          <a:xfrm>
            <a:off x="7726679" y="4480560"/>
            <a:ext cx="3730752" cy="566928"/>
          </a:xfrm>
          <a:prstGeom prst="roundRect">
            <a:avLst>
              <a:gd name="adj" fmla="val 20000"/>
            </a:avLst>
          </a:prstGeom>
          <a:solidFill>
            <a:srgbClr val="E4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63840" y="4480560"/>
            <a:ext cx="3474720" cy="566928"/>
          </a:xfrm>
          <a:prstGeom prst="rect">
            <a:avLst/>
          </a:prstGeom>
          <a:noFill/>
        </p:spPr>
        <p:txBody>
          <a:bodyPr wrap="square" anchor="ctr" lIns="0" rIns="0" tIns="0" bIns="0">
            <a:spAutoFit/>
          </a:bodyPr>
          <a:lstStyle/>
          <a:p>
            <a:pPr algn="l">
              <a:lnSpc>
                <a:spcPct val="120000"/>
              </a:lnSpc>
            </a:pPr>
            <a:r>
              <a:rPr sz="1150" b="0" i="0">
                <a:solidFill>
                  <a:srgbClr val="3E5F5A"/>
                </a:solidFill>
                <a:latin typeface="Segoe UI"/>
              </a:rPr>
              <a:t>Met — +0.67% overhead; JSON is 5.6× larger</a:t>
            </a:r>
          </a:p>
        </p:txBody>
      </p:sp>
      <p:cxnSp>
        <p:nvCxnSpPr>
          <p:cNvPr id="27" name="Connector 26"/>
          <p:cNvCxnSpPr/>
          <p:nvPr/>
        </p:nvCxnSpPr>
        <p:spPr>
          <a:xfrm>
            <a:off x="1280160" y="5193792"/>
            <a:ext cx="10149840" cy="0"/>
          </a:xfrm>
          <a:prstGeom prst="line">
            <a:avLst/>
          </a:prstGeom>
          <a:ln w="6350">
            <a:solidFill>
              <a:srgbClr val="DDDAD2"/>
            </a:solidFill>
          </a:ln>
        </p:spPr>
      </p:cxnSp>
      <p:sp>
        <p:nvSpPr>
          <p:cNvPr id="28" name="TextBox 27"/>
          <p:cNvSpPr txBox="1"/>
          <p:nvPr/>
        </p:nvSpPr>
        <p:spPr>
          <a:xfrm>
            <a:off x="731520" y="5257800"/>
            <a:ext cx="548640" cy="548640"/>
          </a:xfrm>
          <a:prstGeom prst="rect">
            <a:avLst/>
          </a:prstGeom>
          <a:noFill/>
        </p:spPr>
        <p:txBody>
          <a:bodyPr wrap="square" anchor="t" lIns="0" rIns="0" tIns="0" bIns="0">
            <a:spAutoFit/>
          </a:bodyPr>
          <a:lstStyle/>
          <a:p>
            <a:pPr algn="l">
              <a:lnSpc>
                <a:spcPct val="120000"/>
              </a:lnSpc>
            </a:pPr>
            <a:r>
              <a:rPr sz="2400" b="0" i="0">
                <a:solidFill>
                  <a:srgbClr val="3E5F5A"/>
                </a:solidFill>
                <a:latin typeface="Georgia"/>
              </a:rPr>
              <a:t>5</a:t>
            </a:r>
          </a:p>
        </p:txBody>
      </p:sp>
      <p:sp>
        <p:nvSpPr>
          <p:cNvPr id="29" name="TextBox 28"/>
          <p:cNvSpPr txBox="1"/>
          <p:nvPr/>
        </p:nvSpPr>
        <p:spPr>
          <a:xfrm>
            <a:off x="1280160" y="5276088"/>
            <a:ext cx="6309360" cy="822960"/>
          </a:xfrm>
          <a:prstGeom prst="rect">
            <a:avLst/>
          </a:prstGeom>
          <a:noFill/>
        </p:spPr>
        <p:txBody>
          <a:bodyPr wrap="square" anchor="t" lIns="0" rIns="0" tIns="0" bIns="0">
            <a:spAutoFit/>
          </a:bodyPr>
          <a:lstStyle/>
          <a:p>
            <a:pPr algn="l">
              <a:lnSpc>
                <a:spcPct val="115000"/>
              </a:lnSpc>
            </a:pPr>
            <a:r>
              <a:rPr sz="1400" b="1" i="0">
                <a:solidFill>
                  <a:srgbClr val="1F2421"/>
                </a:solidFill>
                <a:latin typeface="Segoe UI"/>
              </a:rPr>
              <a:t>Robustness &amp; the research question</a:t>
            </a:r>
          </a:p>
          <a:p>
            <a:pPr algn="l">
              <a:lnSpc>
                <a:spcPct val="115000"/>
              </a:lnSpc>
            </a:pPr>
            <a:r>
              <a:rPr sz="1200" b="0" i="0">
                <a:solidFill>
                  <a:srgbClr val="5B625C"/>
                </a:solidFill>
                <a:latin typeface="Segoe UI"/>
              </a:rPr>
              <a:t>Test non-IID clients, poisoning, dropout and global vs Mondrian thresholds, with repeated seeds and significance tests.</a:t>
            </a:r>
          </a:p>
        </p:txBody>
      </p:sp>
      <p:sp>
        <p:nvSpPr>
          <p:cNvPr id="30" name="Rounded Rectangle 29"/>
          <p:cNvSpPr/>
          <p:nvPr/>
        </p:nvSpPr>
        <p:spPr>
          <a:xfrm>
            <a:off x="7726679" y="5349240"/>
            <a:ext cx="3730752" cy="566928"/>
          </a:xfrm>
          <a:prstGeom prst="roundRect">
            <a:avLst>
              <a:gd name="adj" fmla="val 20000"/>
            </a:avLst>
          </a:prstGeom>
          <a:solidFill>
            <a:srgbClr val="E4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863840" y="5349240"/>
            <a:ext cx="3474720" cy="566928"/>
          </a:xfrm>
          <a:prstGeom prst="rect">
            <a:avLst/>
          </a:prstGeom>
          <a:noFill/>
        </p:spPr>
        <p:txBody>
          <a:bodyPr wrap="square" anchor="ctr" lIns="0" rIns="0" tIns="0" bIns="0">
            <a:spAutoFit/>
          </a:bodyPr>
          <a:lstStyle/>
          <a:p>
            <a:pPr algn="l">
              <a:lnSpc>
                <a:spcPct val="120000"/>
              </a:lnSpc>
            </a:pPr>
            <a:r>
              <a:rPr sz="1150" b="0" i="0">
                <a:solidFill>
                  <a:srgbClr val="3E5F5A"/>
                </a:solidFill>
                <a:latin typeface="Segoe UI"/>
              </a:rPr>
              <a:t>Met — 235 federated runs; Mondrian not better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02 · OBJECTIVES</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Scope and assumptions</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10</a:t>
            </a:r>
          </a:p>
        </p:txBody>
      </p:sp>
      <p:sp>
        <p:nvSpPr>
          <p:cNvPr id="8" name="TextBox 7"/>
          <p:cNvSpPr txBox="1"/>
          <p:nvPr/>
        </p:nvSpPr>
        <p:spPr>
          <a:xfrm>
            <a:off x="731520" y="1828800"/>
            <a:ext cx="5120640" cy="320040"/>
          </a:xfrm>
          <a:prstGeom prst="rect">
            <a:avLst/>
          </a:prstGeom>
          <a:noFill/>
        </p:spPr>
        <p:txBody>
          <a:bodyPr wrap="square" anchor="t" lIns="0" rIns="0" tIns="0" bIns="0">
            <a:spAutoFit/>
          </a:bodyPr>
          <a:lstStyle/>
          <a:p>
            <a:pPr algn="l">
              <a:lnSpc>
                <a:spcPct val="120000"/>
              </a:lnSpc>
            </a:pPr>
            <a:r>
              <a:rPr sz="1100" b="1" i="0">
                <a:solidFill>
                  <a:srgbClr val="3E5F5A"/>
                </a:solidFill>
                <a:latin typeface="Segoe UI"/>
              </a:rPr>
              <a:t>IN SCOPE</a:t>
            </a:r>
          </a:p>
        </p:txBody>
      </p:sp>
      <p:sp>
        <p:nvSpPr>
          <p:cNvPr id="9" name="TextBox 8"/>
          <p:cNvSpPr txBox="1"/>
          <p:nvPr/>
        </p:nvSpPr>
        <p:spPr>
          <a:xfrm>
            <a:off x="731520" y="2240280"/>
            <a:ext cx="5120640" cy="3840480"/>
          </a:xfrm>
          <a:prstGeom prst="rect">
            <a:avLst/>
          </a:prstGeom>
          <a:noFill/>
        </p:spPr>
        <p:txBody>
          <a:bodyPr wrap="square" lIns="0" rIns="0" tIns="0" bIns="0">
            <a:spAutoFit/>
          </a:bodyPr>
          <a:lstStyle/>
          <a:p>
            <a:pPr marL="219456" indent="-219456">
              <a:lnSpc>
                <a:spcPct val="120000"/>
              </a:lnSpc>
              <a:spcAft>
                <a:spcPts val="1200"/>
              </a:spcAft>
              <a:buClr>
                <a:srgbClr val="3E5F5A"/>
              </a:buClr>
              <a:buFont typeface="Arial"/>
              <a:buChar char="•"/>
            </a:pPr>
            <a:r>
              <a:rPr sz="1400">
                <a:solidFill>
                  <a:srgbClr val="1F2421"/>
                </a:solidFill>
                <a:latin typeface="Segoe UI"/>
              </a:rPr>
              <a:t>Simulated federation on recorded router traffic (FLNET2023), repeated on NSL-KDD</a:t>
            </a:r>
          </a:p>
          <a:p>
            <a:pPr marL="219456" indent="-219456">
              <a:lnSpc>
                <a:spcPct val="120000"/>
              </a:lnSpc>
              <a:spcAft>
                <a:spcPts val="1200"/>
              </a:spcAft>
              <a:buClr>
                <a:srgbClr val="3E5F5A"/>
              </a:buClr>
              <a:buFont typeface="Arial"/>
              <a:buChar char="•"/>
            </a:pPr>
            <a:r>
              <a:rPr sz="1400">
                <a:solidFill>
                  <a:srgbClr val="1F2421"/>
                </a:solidFill>
                <a:latin typeface="Segoe UI"/>
              </a:rPr>
              <a:t>Binary (normal vs attack) and 11-class detection</a:t>
            </a:r>
          </a:p>
          <a:p>
            <a:pPr marL="219456" indent="-219456">
              <a:lnSpc>
                <a:spcPct val="120000"/>
              </a:lnSpc>
              <a:spcAft>
                <a:spcPts val="1200"/>
              </a:spcAft>
              <a:buClr>
                <a:srgbClr val="3E5F5A"/>
              </a:buClr>
              <a:buFont typeface="Arial"/>
              <a:buChar char="•"/>
            </a:pPr>
            <a:r>
              <a:rPr sz="1400">
                <a:solidFill>
                  <a:srgbClr val="1F2421"/>
                </a:solidFill>
                <a:latin typeface="Segoe UI"/>
              </a:rPr>
              <a:t>Integrity tag, fingerprint, anomaly filter, second check, weight cap</a:t>
            </a:r>
          </a:p>
          <a:p>
            <a:pPr marL="219456" indent="-219456">
              <a:lnSpc>
                <a:spcPct val="120000"/>
              </a:lnSpc>
              <a:spcAft>
                <a:spcPts val="1200"/>
              </a:spcAft>
              <a:buClr>
                <a:srgbClr val="3E5F5A"/>
              </a:buClr>
              <a:buFont typeface="Arial"/>
              <a:buChar char="•"/>
            </a:pPr>
            <a:r>
              <a:rPr sz="1400">
                <a:solidFill>
                  <a:srgbClr val="1F2421"/>
                </a:solidFill>
                <a:latin typeface="Segoe UI"/>
              </a:rPr>
              <a:t>Attacks: tampering, label flipping, backdoor; client dropout; traffic shift</a:t>
            </a:r>
          </a:p>
          <a:p>
            <a:pPr marL="219456" indent="-219456">
              <a:lnSpc>
                <a:spcPct val="120000"/>
              </a:lnSpc>
              <a:spcAft>
                <a:spcPts val="1200"/>
              </a:spcAft>
              <a:buClr>
                <a:srgbClr val="3E5F5A"/>
              </a:buClr>
              <a:buFont typeface="Arial"/>
              <a:buChar char="•"/>
            </a:pPr>
            <a:r>
              <a:rPr sz="1400">
                <a:solidFill>
                  <a:srgbClr val="1F2421"/>
                </a:solidFill>
                <a:latin typeface="Segoe UI"/>
              </a:rPr>
              <a:t>Repeated seeds with paired t-tests</a:t>
            </a:r>
          </a:p>
        </p:txBody>
      </p:sp>
      <p:sp>
        <p:nvSpPr>
          <p:cNvPr id="10" name="TextBox 9"/>
          <p:cNvSpPr txBox="1"/>
          <p:nvPr/>
        </p:nvSpPr>
        <p:spPr>
          <a:xfrm>
            <a:off x="6400800" y="1828800"/>
            <a:ext cx="5029200" cy="320040"/>
          </a:xfrm>
          <a:prstGeom prst="rect">
            <a:avLst/>
          </a:prstGeom>
          <a:noFill/>
        </p:spPr>
        <p:txBody>
          <a:bodyPr wrap="square" anchor="t" lIns="0" rIns="0" tIns="0" bIns="0">
            <a:spAutoFit/>
          </a:bodyPr>
          <a:lstStyle/>
          <a:p>
            <a:pPr algn="l">
              <a:lnSpc>
                <a:spcPct val="120000"/>
              </a:lnSpc>
            </a:pPr>
            <a:r>
              <a:rPr sz="1100" b="1" i="0">
                <a:solidFill>
                  <a:srgbClr val="8E673F"/>
                </a:solidFill>
                <a:latin typeface="Segoe UI"/>
              </a:rPr>
              <a:t>ASSUMPTIONS &amp; LIMITS</a:t>
            </a:r>
          </a:p>
        </p:txBody>
      </p:sp>
      <p:sp>
        <p:nvSpPr>
          <p:cNvPr id="11" name="TextBox 10"/>
          <p:cNvSpPr txBox="1"/>
          <p:nvPr/>
        </p:nvSpPr>
        <p:spPr>
          <a:xfrm>
            <a:off x="6400800" y="2240280"/>
            <a:ext cx="5029200" cy="3840480"/>
          </a:xfrm>
          <a:prstGeom prst="rect">
            <a:avLst/>
          </a:prstGeom>
          <a:noFill/>
        </p:spPr>
        <p:txBody>
          <a:bodyPr wrap="square" lIns="0" rIns="0" tIns="0" bIns="0">
            <a:spAutoFit/>
          </a:bodyPr>
          <a:lstStyle/>
          <a:p>
            <a:pPr marL="219456" indent="-219456">
              <a:lnSpc>
                <a:spcPct val="120000"/>
              </a:lnSpc>
              <a:spcAft>
                <a:spcPts val="1200"/>
              </a:spcAft>
              <a:buClr>
                <a:srgbClr val="3E5F5A"/>
              </a:buClr>
              <a:buFont typeface="Arial"/>
              <a:buChar char="•"/>
            </a:pPr>
            <a:r>
              <a:rPr sz="1400">
                <a:solidFill>
                  <a:srgbClr val="1F2421"/>
                </a:solidFill>
                <a:latin typeface="Segoe UI"/>
              </a:rPr>
              <a:t>Clients and server run in one process — no real network deployment</a:t>
            </a:r>
          </a:p>
          <a:p>
            <a:pPr marL="219456" indent="-219456">
              <a:lnSpc>
                <a:spcPct val="120000"/>
              </a:lnSpc>
              <a:spcAft>
                <a:spcPts val="1200"/>
              </a:spcAft>
              <a:buClr>
                <a:srgbClr val="3E5F5A"/>
              </a:buClr>
              <a:buFont typeface="Arial"/>
              <a:buChar char="•"/>
            </a:pPr>
            <a:r>
              <a:rPr sz="1400">
                <a:solidFill>
                  <a:srgbClr val="1F2421"/>
                </a:solidFill>
                <a:latin typeface="Segoe UI"/>
              </a:rPr>
              <a:t>Each client shares a pre-distributed secret key with the server</a:t>
            </a:r>
          </a:p>
          <a:p>
            <a:pPr marL="219456" indent="-219456">
              <a:lnSpc>
                <a:spcPct val="120000"/>
              </a:lnSpc>
              <a:spcAft>
                <a:spcPts val="1200"/>
              </a:spcAft>
              <a:buClr>
                <a:srgbClr val="3E5F5A"/>
              </a:buClr>
              <a:buFont typeface="Arial"/>
              <a:buChar char="•"/>
            </a:pPr>
            <a:r>
              <a:rPr sz="1400">
                <a:solidFill>
                  <a:srgbClr val="1F2421"/>
                </a:solidFill>
                <a:latin typeface="Segoe UI"/>
              </a:rPr>
              <a:t>The first 5 rounds are clean and used to calibrate thresholds</a:t>
            </a:r>
          </a:p>
          <a:p>
            <a:pPr marL="219456" indent="-219456">
              <a:lnSpc>
                <a:spcPct val="120000"/>
              </a:lnSpc>
              <a:spcAft>
                <a:spcPts val="1200"/>
              </a:spcAft>
              <a:buClr>
                <a:srgbClr val="3E5F5A"/>
              </a:buClr>
              <a:buFont typeface="Arial"/>
              <a:buChar char="•"/>
            </a:pPr>
            <a:r>
              <a:rPr sz="1400">
                <a:solidFill>
                  <a:srgbClr val="1F2421"/>
                </a:solidFill>
                <a:latin typeface="Segoe UI"/>
              </a:rPr>
              <a:t>FLNET2023 is emulated (CORE): its binary task is unusually easy</a:t>
            </a:r>
          </a:p>
          <a:p>
            <a:pPr marL="219456" indent="-219456">
              <a:lnSpc>
                <a:spcPct val="120000"/>
              </a:lnSpc>
              <a:spcAft>
                <a:spcPts val="1200"/>
              </a:spcAft>
              <a:buClr>
                <a:srgbClr val="3E5F5A"/>
              </a:buClr>
              <a:buFont typeface="Arial"/>
              <a:buChar char="•"/>
            </a:pPr>
            <a:r>
              <a:rPr sz="1400">
                <a:solidFill>
                  <a:srgbClr val="1F2421"/>
                </a:solidFill>
                <a:latin typeface="Segoe UI"/>
              </a:rPr>
              <a:t>Attackers control at most 20% of clients and do not adapt to the filter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03120"/>
            <a:ext cx="2743200" cy="1097280"/>
          </a:xfrm>
          <a:prstGeom prst="rect">
            <a:avLst/>
          </a:prstGeom>
          <a:noFill/>
        </p:spPr>
        <p:txBody>
          <a:bodyPr wrap="square" anchor="t" lIns="0" rIns="0" tIns="0" bIns="0">
            <a:spAutoFit/>
          </a:bodyPr>
          <a:lstStyle/>
          <a:p>
            <a:pPr algn="l">
              <a:lnSpc>
                <a:spcPct val="120000"/>
              </a:lnSpc>
            </a:pPr>
            <a:r>
              <a:rPr sz="6600" b="0" i="0">
                <a:solidFill>
                  <a:srgbClr val="3E5F5A"/>
                </a:solidFill>
                <a:latin typeface="Georgia"/>
              </a:rPr>
              <a:t>03</a:t>
            </a:r>
          </a:p>
        </p:txBody>
      </p:sp>
      <p:cxnSp>
        <p:nvCxnSpPr>
          <p:cNvPr id="4" name="Connector 3"/>
          <p:cNvCxnSpPr/>
          <p:nvPr/>
        </p:nvCxnSpPr>
        <p:spPr>
          <a:xfrm>
            <a:off x="731520" y="3337560"/>
            <a:ext cx="822960" cy="0"/>
          </a:xfrm>
          <a:prstGeom prst="line">
            <a:avLst/>
          </a:prstGeom>
          <a:ln w="19050">
            <a:solidFill>
              <a:srgbClr val="3E5F5A"/>
            </a:solidFill>
          </a:ln>
        </p:spPr>
      </p:cxnSp>
      <p:sp>
        <p:nvSpPr>
          <p:cNvPr id="5" name="TextBox 4"/>
          <p:cNvSpPr txBox="1"/>
          <p:nvPr/>
        </p:nvSpPr>
        <p:spPr>
          <a:xfrm>
            <a:off x="731520" y="3520440"/>
            <a:ext cx="10058400" cy="822960"/>
          </a:xfrm>
          <a:prstGeom prst="rect">
            <a:avLst/>
          </a:prstGeom>
          <a:noFill/>
        </p:spPr>
        <p:txBody>
          <a:bodyPr wrap="square" anchor="t" lIns="0" rIns="0" tIns="0" bIns="0">
            <a:spAutoFit/>
          </a:bodyPr>
          <a:lstStyle/>
          <a:p>
            <a:pPr algn="l">
              <a:lnSpc>
                <a:spcPct val="120000"/>
              </a:lnSpc>
            </a:pPr>
            <a:r>
              <a:rPr sz="3800" b="0" i="0">
                <a:solidFill>
                  <a:srgbClr val="1F2421"/>
                </a:solidFill>
                <a:latin typeface="Georgia"/>
              </a:rPr>
              <a:t>Methodology</a:t>
            </a:r>
          </a:p>
        </p:txBody>
      </p:sp>
      <p:sp>
        <p:nvSpPr>
          <p:cNvPr id="6" name="TextBox 5"/>
          <p:cNvSpPr txBox="1"/>
          <p:nvPr/>
        </p:nvSpPr>
        <p:spPr>
          <a:xfrm>
            <a:off x="731520" y="4343400"/>
            <a:ext cx="9144000" cy="731520"/>
          </a:xfrm>
          <a:prstGeom prst="rect">
            <a:avLst/>
          </a:prstGeom>
          <a:noFill/>
        </p:spPr>
        <p:txBody>
          <a:bodyPr wrap="square" anchor="t" lIns="0" rIns="0" tIns="0" bIns="0">
            <a:spAutoFit/>
          </a:bodyPr>
          <a:lstStyle/>
          <a:p>
            <a:pPr algn="l">
              <a:lnSpc>
                <a:spcPct val="120000"/>
              </a:lnSpc>
            </a:pPr>
            <a:r>
              <a:rPr sz="1400" b="0" i="0">
                <a:solidFill>
                  <a:srgbClr val="5B625C"/>
                </a:solidFill>
                <a:latin typeface="Segoe UI"/>
              </a:rPr>
              <a:t>Data, model, the Krypsis protocol and how we tested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03 · METHODOLOGY</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System architecture</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12</a:t>
            </a:r>
          </a:p>
        </p:txBody>
      </p:sp>
      <p:sp>
        <p:nvSpPr>
          <p:cNvPr id="8" name="Rounded Rectangle 7"/>
          <p:cNvSpPr/>
          <p:nvPr/>
        </p:nvSpPr>
        <p:spPr>
          <a:xfrm>
            <a:off x="731520" y="2331720"/>
            <a:ext cx="1965960" cy="1234440"/>
          </a:xfrm>
          <a:prstGeom prst="roundRect">
            <a:avLst>
              <a:gd name="adj" fmla="val 8000"/>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31720"/>
            <a:ext cx="1783080" cy="1234440"/>
          </a:xfrm>
          <a:prstGeom prst="rect">
            <a:avLst/>
          </a:prstGeom>
          <a:noFill/>
        </p:spPr>
        <p:txBody>
          <a:bodyPr wrap="square" anchor="ctr" lIns="0" rIns="0" tIns="0" bIns="0">
            <a:spAutoFit/>
          </a:bodyPr>
          <a:lstStyle/>
          <a:p>
            <a:pPr algn="ctr">
              <a:lnSpc>
                <a:spcPct val="110000"/>
              </a:lnSpc>
            </a:pPr>
            <a:r>
              <a:rPr sz="1200" b="1" i="0">
                <a:solidFill>
                  <a:srgbClr val="1F2421"/>
                </a:solidFill>
                <a:latin typeface="Segoe UI"/>
              </a:rPr>
              <a:t>Router client</a:t>
            </a:r>
          </a:p>
          <a:p>
            <a:pPr algn="ctr">
              <a:lnSpc>
                <a:spcPct val="110000"/>
              </a:lnSpc>
            </a:pPr>
            <a:r>
              <a:rPr sz="1000" b="0" i="0">
                <a:solidFill>
                  <a:srgbClr val="5B625C"/>
                </a:solidFill>
                <a:latin typeface="Segoe UI"/>
              </a:rPr>
              <a:t>local flows → local training → update Δw</a:t>
            </a:r>
          </a:p>
        </p:txBody>
      </p:sp>
      <p:cxnSp>
        <p:nvCxnSpPr>
          <p:cNvPr id="10" name="Connector 9"/>
          <p:cNvCxnSpPr/>
          <p:nvPr/>
        </p:nvCxnSpPr>
        <p:spPr>
          <a:xfrm>
            <a:off x="2724912" y="2948940"/>
            <a:ext cx="310896" cy="0"/>
          </a:xfrm>
          <a:prstGeom prst="line">
            <a:avLst/>
          </a:prstGeom>
          <a:ln w="15875">
            <a:solidFill>
              <a:srgbClr val="3E5F5A"/>
            </a:solidFill>
            <a:tailEnd type="triangle" w="med" len="med"/>
          </a:ln>
        </p:spPr>
      </p:cxnSp>
      <p:sp>
        <p:nvSpPr>
          <p:cNvPr id="11" name="Rounded Rectangle 10"/>
          <p:cNvSpPr/>
          <p:nvPr/>
        </p:nvSpPr>
        <p:spPr>
          <a:xfrm>
            <a:off x="3063240" y="2331720"/>
            <a:ext cx="2057400" cy="1234440"/>
          </a:xfrm>
          <a:prstGeom prst="roundRect">
            <a:avLst>
              <a:gd name="adj" fmla="val 8000"/>
            </a:avLst>
          </a:prstGeom>
          <a:solidFill>
            <a:srgbClr val="E4EBE8"/>
          </a:solidFill>
          <a:ln w="9525">
            <a:solidFill>
              <a:srgbClr val="3E5F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154680" y="2331720"/>
            <a:ext cx="1874520" cy="1234440"/>
          </a:xfrm>
          <a:prstGeom prst="rect">
            <a:avLst/>
          </a:prstGeom>
          <a:noFill/>
        </p:spPr>
        <p:txBody>
          <a:bodyPr wrap="square" anchor="ctr" lIns="0" rIns="0" tIns="0" bIns="0">
            <a:spAutoFit/>
          </a:bodyPr>
          <a:lstStyle/>
          <a:p>
            <a:pPr algn="ctr">
              <a:lnSpc>
                <a:spcPct val="110000"/>
              </a:lnSpc>
            </a:pPr>
            <a:r>
              <a:rPr sz="1200" b="1" i="0">
                <a:solidFill>
                  <a:srgbClr val="3E5F5A"/>
                </a:solidFill>
                <a:latin typeface="Segoe UI"/>
              </a:rPr>
              <a:t>Krypsis message</a:t>
            </a:r>
          </a:p>
          <a:p>
            <a:pPr algn="ctr">
              <a:lnSpc>
                <a:spcPct val="110000"/>
              </a:lnSpc>
            </a:pPr>
            <a:r>
              <a:rPr sz="1000" b="0" i="0">
                <a:solidFill>
                  <a:srgbClr val="5B625C"/>
                </a:solidFill>
                <a:latin typeface="Segoe UI"/>
              </a:rPr>
              <a:t>header · fingerprint · payload · HMAC</a:t>
            </a:r>
          </a:p>
        </p:txBody>
      </p:sp>
      <p:cxnSp>
        <p:nvCxnSpPr>
          <p:cNvPr id="13" name="Connector 12"/>
          <p:cNvCxnSpPr/>
          <p:nvPr/>
        </p:nvCxnSpPr>
        <p:spPr>
          <a:xfrm>
            <a:off x="5148072" y="2948940"/>
            <a:ext cx="356616" cy="0"/>
          </a:xfrm>
          <a:prstGeom prst="line">
            <a:avLst/>
          </a:prstGeom>
          <a:ln w="15875">
            <a:solidFill>
              <a:srgbClr val="3E5F5A"/>
            </a:solidFill>
            <a:tailEnd type="triangle" w="med" len="med"/>
          </a:ln>
        </p:spPr>
      </p:cxnSp>
      <p:sp>
        <p:nvSpPr>
          <p:cNvPr id="14" name="Rounded Rectangle 13"/>
          <p:cNvSpPr/>
          <p:nvPr/>
        </p:nvSpPr>
        <p:spPr>
          <a:xfrm>
            <a:off x="5532120" y="2331720"/>
            <a:ext cx="2926080" cy="1234440"/>
          </a:xfrm>
          <a:prstGeom prst="roundRect">
            <a:avLst>
              <a:gd name="adj" fmla="val 8000"/>
            </a:avLst>
          </a:prstGeom>
          <a:solidFill>
            <a:srgbClr val="E4EBE8"/>
          </a:solidFill>
          <a:ln w="9525">
            <a:solidFill>
              <a:srgbClr val="3E5F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23560" y="2331720"/>
            <a:ext cx="2743200" cy="1234440"/>
          </a:xfrm>
          <a:prstGeom prst="rect">
            <a:avLst/>
          </a:prstGeom>
          <a:noFill/>
        </p:spPr>
        <p:txBody>
          <a:bodyPr wrap="square" anchor="ctr" lIns="0" rIns="0" tIns="0" bIns="0">
            <a:spAutoFit/>
          </a:bodyPr>
          <a:lstStyle/>
          <a:p>
            <a:pPr algn="ctr">
              <a:lnSpc>
                <a:spcPct val="110000"/>
              </a:lnSpc>
            </a:pPr>
            <a:r>
              <a:rPr sz="1200" b="1" i="0">
                <a:solidFill>
                  <a:srgbClr val="3E5F5A"/>
                </a:solidFill>
                <a:latin typeface="Segoe UI"/>
              </a:rPr>
              <a:t>Server checks</a:t>
            </a:r>
          </a:p>
          <a:p>
            <a:pPr algn="ctr">
              <a:lnSpc>
                <a:spcPct val="110000"/>
              </a:lnSpc>
            </a:pPr>
            <a:r>
              <a:rPr sz="1000" b="0" i="0">
                <a:solidFill>
                  <a:srgbClr val="5B625C"/>
                </a:solidFill>
                <a:latin typeface="Segoe UI"/>
              </a:rPr>
              <a:t>verify tag → verify fingerprint → score → threshold → second check</a:t>
            </a:r>
          </a:p>
        </p:txBody>
      </p:sp>
      <p:cxnSp>
        <p:nvCxnSpPr>
          <p:cNvPr id="16" name="Connector 15"/>
          <p:cNvCxnSpPr/>
          <p:nvPr/>
        </p:nvCxnSpPr>
        <p:spPr>
          <a:xfrm>
            <a:off x="8485632" y="2948940"/>
            <a:ext cx="356616" cy="0"/>
          </a:xfrm>
          <a:prstGeom prst="line">
            <a:avLst/>
          </a:prstGeom>
          <a:ln w="15875">
            <a:solidFill>
              <a:srgbClr val="3E5F5A"/>
            </a:solidFill>
            <a:tailEnd type="triangle" w="med" len="med"/>
          </a:ln>
        </p:spPr>
      </p:cxnSp>
      <p:sp>
        <p:nvSpPr>
          <p:cNvPr id="17" name="Rounded Rectangle 16"/>
          <p:cNvSpPr/>
          <p:nvPr/>
        </p:nvSpPr>
        <p:spPr>
          <a:xfrm>
            <a:off x="8869680" y="2331720"/>
            <a:ext cx="1828800" cy="1234440"/>
          </a:xfrm>
          <a:prstGeom prst="roundRect">
            <a:avLst>
              <a:gd name="adj" fmla="val 8000"/>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0" y="2331720"/>
            <a:ext cx="1645920" cy="1234440"/>
          </a:xfrm>
          <a:prstGeom prst="rect">
            <a:avLst/>
          </a:prstGeom>
          <a:noFill/>
        </p:spPr>
        <p:txBody>
          <a:bodyPr wrap="square" anchor="ctr" lIns="0" rIns="0" tIns="0" bIns="0">
            <a:spAutoFit/>
          </a:bodyPr>
          <a:lstStyle/>
          <a:p>
            <a:pPr algn="ctr">
              <a:lnSpc>
                <a:spcPct val="110000"/>
              </a:lnSpc>
            </a:pPr>
            <a:r>
              <a:rPr sz="1200" b="1" i="0">
                <a:solidFill>
                  <a:srgbClr val="1F2421"/>
                </a:solidFill>
                <a:latin typeface="Segoe UI"/>
              </a:rPr>
              <a:t>Capped FedAvg</a:t>
            </a:r>
          </a:p>
          <a:p>
            <a:pPr algn="ctr">
              <a:lnSpc>
                <a:spcPct val="110000"/>
              </a:lnSpc>
            </a:pPr>
            <a:r>
              <a:rPr sz="1000" b="0" i="0">
                <a:solidFill>
                  <a:srgbClr val="5B625C"/>
                </a:solidFill>
                <a:latin typeface="Segoe UI"/>
              </a:rPr>
              <a:t>weighted average, ≤ 15% per client</a:t>
            </a:r>
          </a:p>
        </p:txBody>
      </p:sp>
      <p:cxnSp>
        <p:nvCxnSpPr>
          <p:cNvPr id="19" name="Connector 18"/>
          <p:cNvCxnSpPr/>
          <p:nvPr/>
        </p:nvCxnSpPr>
        <p:spPr>
          <a:xfrm flipV="1">
            <a:off x="6172200" y="1947672"/>
            <a:ext cx="0" cy="384048"/>
          </a:xfrm>
          <a:prstGeom prst="line">
            <a:avLst/>
          </a:prstGeom>
          <a:ln w="15875">
            <a:solidFill>
              <a:srgbClr val="8E673F"/>
            </a:solidFill>
            <a:tailEnd type="triangle" w="med" len="med"/>
          </a:ln>
        </p:spPr>
      </p:cxnSp>
      <p:cxnSp>
        <p:nvCxnSpPr>
          <p:cNvPr id="20" name="Connector 19"/>
          <p:cNvCxnSpPr/>
          <p:nvPr/>
        </p:nvCxnSpPr>
        <p:spPr>
          <a:xfrm flipV="1">
            <a:off x="7818120" y="1947672"/>
            <a:ext cx="0" cy="384048"/>
          </a:xfrm>
          <a:prstGeom prst="line">
            <a:avLst/>
          </a:prstGeom>
          <a:ln w="15875">
            <a:solidFill>
              <a:srgbClr val="8E673F"/>
            </a:solidFill>
            <a:tailEnd type="triangle" w="med" len="med"/>
          </a:ln>
        </p:spPr>
      </p:cxnSp>
      <p:sp>
        <p:nvSpPr>
          <p:cNvPr id="21" name="TextBox 20"/>
          <p:cNvSpPr txBox="1"/>
          <p:nvPr/>
        </p:nvSpPr>
        <p:spPr>
          <a:xfrm>
            <a:off x="3520440" y="1764792"/>
            <a:ext cx="2560320" cy="274320"/>
          </a:xfrm>
          <a:prstGeom prst="rect">
            <a:avLst/>
          </a:prstGeom>
          <a:noFill/>
        </p:spPr>
        <p:txBody>
          <a:bodyPr wrap="square" anchor="t" lIns="0" rIns="0" tIns="0" bIns="0">
            <a:spAutoFit/>
          </a:bodyPr>
          <a:lstStyle/>
          <a:p>
            <a:pPr algn="r">
              <a:lnSpc>
                <a:spcPct val="120000"/>
              </a:lnSpc>
            </a:pPr>
            <a:r>
              <a:rPr sz="1000" b="0" i="0">
                <a:solidFill>
                  <a:srgbClr val="8E673F"/>
                </a:solidFill>
                <a:latin typeface="Segoe UI"/>
              </a:rPr>
              <a:t>rejected: tag or fingerprint mismatch</a:t>
            </a:r>
          </a:p>
        </p:txBody>
      </p:sp>
      <p:sp>
        <p:nvSpPr>
          <p:cNvPr id="22" name="TextBox 21"/>
          <p:cNvSpPr txBox="1"/>
          <p:nvPr/>
        </p:nvSpPr>
        <p:spPr>
          <a:xfrm>
            <a:off x="7909560" y="1764792"/>
            <a:ext cx="2560320" cy="274320"/>
          </a:xfrm>
          <a:prstGeom prst="rect">
            <a:avLst/>
          </a:prstGeom>
          <a:noFill/>
        </p:spPr>
        <p:txBody>
          <a:bodyPr wrap="square" anchor="t" lIns="0" rIns="0" tIns="0" bIns="0">
            <a:spAutoFit/>
          </a:bodyPr>
          <a:lstStyle/>
          <a:p>
            <a:pPr algn="l">
              <a:lnSpc>
                <a:spcPct val="120000"/>
              </a:lnSpc>
            </a:pPr>
            <a:r>
              <a:rPr sz="1000" b="0" i="0">
                <a:solidFill>
                  <a:srgbClr val="8E673F"/>
                </a:solidFill>
                <a:latin typeface="Segoe UI"/>
              </a:rPr>
              <a:t>flagged → second check</a:t>
            </a:r>
          </a:p>
        </p:txBody>
      </p:sp>
      <p:cxnSp>
        <p:nvCxnSpPr>
          <p:cNvPr id="23" name="Connector 22"/>
          <p:cNvCxnSpPr/>
          <p:nvPr/>
        </p:nvCxnSpPr>
        <p:spPr>
          <a:xfrm>
            <a:off x="1709928" y="3977640"/>
            <a:ext cx="8074152" cy="0"/>
          </a:xfrm>
          <a:prstGeom prst="line">
            <a:avLst/>
          </a:prstGeom>
          <a:ln w="12700">
            <a:solidFill>
              <a:srgbClr val="8C918A"/>
            </a:solidFill>
          </a:ln>
        </p:spPr>
      </p:cxnSp>
      <p:cxnSp>
        <p:nvCxnSpPr>
          <p:cNvPr id="24" name="Connector 23"/>
          <p:cNvCxnSpPr/>
          <p:nvPr/>
        </p:nvCxnSpPr>
        <p:spPr>
          <a:xfrm>
            <a:off x="9784080" y="3566160"/>
            <a:ext cx="0" cy="411480"/>
          </a:xfrm>
          <a:prstGeom prst="line">
            <a:avLst/>
          </a:prstGeom>
          <a:ln w="15875">
            <a:solidFill>
              <a:srgbClr val="8C918A"/>
            </a:solidFill>
            <a:tailEnd type="triangle" w="med" len="med"/>
          </a:ln>
        </p:spPr>
      </p:cxnSp>
      <p:cxnSp>
        <p:nvCxnSpPr>
          <p:cNvPr id="25" name="Connector 24"/>
          <p:cNvCxnSpPr/>
          <p:nvPr/>
        </p:nvCxnSpPr>
        <p:spPr>
          <a:xfrm flipV="1">
            <a:off x="1709928" y="3566160"/>
            <a:ext cx="0" cy="411480"/>
          </a:xfrm>
          <a:prstGeom prst="line">
            <a:avLst/>
          </a:prstGeom>
          <a:ln w="15875">
            <a:solidFill>
              <a:srgbClr val="8C918A"/>
            </a:solidFill>
            <a:tailEnd type="triangle" w="med" len="med"/>
          </a:ln>
        </p:spPr>
      </p:cxnSp>
      <p:sp>
        <p:nvSpPr>
          <p:cNvPr id="26" name="TextBox 25"/>
          <p:cNvSpPr txBox="1"/>
          <p:nvPr/>
        </p:nvSpPr>
        <p:spPr>
          <a:xfrm>
            <a:off x="4023360" y="4050792"/>
            <a:ext cx="4206240" cy="274320"/>
          </a:xfrm>
          <a:prstGeom prst="rect">
            <a:avLst/>
          </a:prstGeom>
          <a:noFill/>
        </p:spPr>
        <p:txBody>
          <a:bodyPr wrap="square" anchor="t" lIns="0" rIns="0" tIns="0" bIns="0">
            <a:spAutoFit/>
          </a:bodyPr>
          <a:lstStyle/>
          <a:p>
            <a:pPr algn="ctr">
              <a:lnSpc>
                <a:spcPct val="120000"/>
              </a:lnSpc>
            </a:pPr>
            <a:r>
              <a:rPr sz="1050" b="0" i="0">
                <a:solidFill>
                  <a:srgbClr val="5B625C"/>
                </a:solidFill>
                <a:latin typeface="Segoe UI"/>
              </a:rPr>
              <a:t>new global model sent to every router — next round</a:t>
            </a:r>
          </a:p>
        </p:txBody>
      </p:sp>
      <p:cxnSp>
        <p:nvCxnSpPr>
          <p:cNvPr id="27" name="Connector 26"/>
          <p:cNvCxnSpPr/>
          <p:nvPr/>
        </p:nvCxnSpPr>
        <p:spPr>
          <a:xfrm>
            <a:off x="731520" y="4800600"/>
            <a:ext cx="10725912" cy="0"/>
          </a:xfrm>
          <a:prstGeom prst="line">
            <a:avLst/>
          </a:prstGeom>
          <a:ln w="9525">
            <a:solidFill>
              <a:srgbClr val="DDDAD2"/>
            </a:solidFill>
          </a:ln>
        </p:spPr>
      </p:cxnSp>
      <p:sp>
        <p:nvSpPr>
          <p:cNvPr id="28" name="TextBox 27"/>
          <p:cNvSpPr txBox="1"/>
          <p:nvPr/>
        </p:nvSpPr>
        <p:spPr>
          <a:xfrm>
            <a:off x="731520" y="4983480"/>
            <a:ext cx="3383280" cy="1188720"/>
          </a:xfrm>
          <a:prstGeom prst="rect">
            <a:avLst/>
          </a:prstGeom>
          <a:noFill/>
        </p:spPr>
        <p:txBody>
          <a:bodyPr wrap="square" anchor="t" lIns="0" rIns="0" tIns="0" bIns="0">
            <a:spAutoFit/>
          </a:bodyPr>
          <a:lstStyle/>
          <a:p>
            <a:pPr algn="l">
              <a:lnSpc>
                <a:spcPct val="125000"/>
              </a:lnSpc>
            </a:pPr>
            <a:r>
              <a:rPr sz="1050" b="1" i="0">
                <a:solidFill>
                  <a:srgbClr val="3E5F5A"/>
                </a:solidFill>
                <a:latin typeface="Segoe UI"/>
              </a:rPr>
              <a:t>ON THE ROUTER</a:t>
            </a:r>
          </a:p>
          <a:p>
            <a:pPr algn="l">
              <a:lnSpc>
                <a:spcPct val="125000"/>
              </a:lnSpc>
            </a:pPr>
            <a:r>
              <a:rPr sz="1200" b="0" i="0">
                <a:solidFill>
                  <a:srgbClr val="5B625C"/>
                </a:solidFill>
                <a:latin typeface="Segoe UI"/>
              </a:rPr>
              <a:t>Trains on its own flows and wraps the weight change in a Krypsis message. Raw traffic never leaves.</a:t>
            </a:r>
          </a:p>
        </p:txBody>
      </p:sp>
      <p:sp>
        <p:nvSpPr>
          <p:cNvPr id="29" name="TextBox 28"/>
          <p:cNvSpPr txBox="1"/>
          <p:nvPr/>
        </p:nvSpPr>
        <p:spPr>
          <a:xfrm>
            <a:off x="4361688" y="4983480"/>
            <a:ext cx="3383280" cy="1188720"/>
          </a:xfrm>
          <a:prstGeom prst="rect">
            <a:avLst/>
          </a:prstGeom>
          <a:noFill/>
        </p:spPr>
        <p:txBody>
          <a:bodyPr wrap="square" anchor="t" lIns="0" rIns="0" tIns="0" bIns="0">
            <a:spAutoFit/>
          </a:bodyPr>
          <a:lstStyle/>
          <a:p>
            <a:pPr algn="l">
              <a:lnSpc>
                <a:spcPct val="125000"/>
              </a:lnSpc>
            </a:pPr>
            <a:r>
              <a:rPr sz="1050" b="1" i="0">
                <a:solidFill>
                  <a:srgbClr val="3E5F5A"/>
                </a:solidFill>
                <a:latin typeface="Segoe UI"/>
              </a:rPr>
              <a:t>ON THE WIRE</a:t>
            </a:r>
          </a:p>
          <a:p>
            <a:pPr algn="l">
              <a:lnSpc>
                <a:spcPct val="125000"/>
              </a:lnSpc>
            </a:pPr>
            <a:r>
              <a:rPr sz="1200" b="0" i="0">
                <a:solidFill>
                  <a:srgbClr val="5B625C"/>
                </a:solidFill>
                <a:latin typeface="Segoe UI"/>
              </a:rPr>
              <a:t>Header, fingerprint, update and HMAC tag — 0.67% larger than the bare update.</a:t>
            </a:r>
          </a:p>
        </p:txBody>
      </p:sp>
      <p:sp>
        <p:nvSpPr>
          <p:cNvPr id="30" name="TextBox 29"/>
          <p:cNvSpPr txBox="1"/>
          <p:nvPr/>
        </p:nvSpPr>
        <p:spPr>
          <a:xfrm>
            <a:off x="7991856" y="4983480"/>
            <a:ext cx="3383280" cy="1188720"/>
          </a:xfrm>
          <a:prstGeom prst="rect">
            <a:avLst/>
          </a:prstGeom>
          <a:noFill/>
        </p:spPr>
        <p:txBody>
          <a:bodyPr wrap="square" anchor="t" lIns="0" rIns="0" tIns="0" bIns="0">
            <a:spAutoFit/>
          </a:bodyPr>
          <a:lstStyle/>
          <a:p>
            <a:pPr algn="l">
              <a:lnSpc>
                <a:spcPct val="125000"/>
              </a:lnSpc>
            </a:pPr>
            <a:r>
              <a:rPr sz="1050" b="1" i="0">
                <a:solidFill>
                  <a:srgbClr val="3E5F5A"/>
                </a:solidFill>
                <a:latin typeface="Segoe UI"/>
              </a:rPr>
              <a:t>ON THE SERVER</a:t>
            </a:r>
          </a:p>
          <a:p>
            <a:pPr algn="l">
              <a:lnSpc>
                <a:spcPct val="125000"/>
              </a:lnSpc>
            </a:pPr>
            <a:r>
              <a:rPr sz="1200" b="0" i="0">
                <a:solidFill>
                  <a:srgbClr val="5B625C"/>
                </a:solidFill>
                <a:latin typeface="Segoe UI"/>
              </a:rPr>
              <a:t>Checks, scores and filters every update before averaging — it sees updates and fingerprints, never traffic.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03 · METHODOLOGY</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Data: FLNET2023 — ten routers, ten clients</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13</a:t>
            </a:r>
          </a:p>
        </p:txBody>
      </p:sp>
      <p:sp>
        <p:nvSpPr>
          <p:cNvPr id="8" name="TextBox 7"/>
          <p:cNvSpPr txBox="1"/>
          <p:nvPr/>
        </p:nvSpPr>
        <p:spPr>
          <a:xfrm>
            <a:off x="731520" y="1691640"/>
            <a:ext cx="4023360" cy="4389120"/>
          </a:xfrm>
          <a:prstGeom prst="rect">
            <a:avLst/>
          </a:prstGeom>
          <a:noFill/>
        </p:spPr>
        <p:txBody>
          <a:bodyPr wrap="square" anchor="t" lIns="0" rIns="0" tIns="0" bIns="0">
            <a:spAutoFit/>
          </a:bodyPr>
          <a:lstStyle/>
          <a:p>
            <a:pPr algn="l">
              <a:lnSpc>
                <a:spcPct val="120000"/>
              </a:lnSpc>
            </a:pPr>
            <a:r>
              <a:rPr sz="1400" b="1" i="0">
                <a:solidFill>
                  <a:srgbClr val="1F2421"/>
                </a:solidFill>
                <a:latin typeface="Segoe UI"/>
              </a:rPr>
              <a:t>FLNET2023</a:t>
            </a:r>
          </a:p>
          <a:p>
            <a:pPr algn="l">
              <a:lnSpc>
                <a:spcPct val="120000"/>
              </a:lnSpc>
            </a:pPr>
            <a:r>
              <a:rPr sz="1200" b="0" i="0">
                <a:solidFill>
                  <a:srgbClr val="5B625C"/>
                </a:solidFill>
                <a:latin typeface="Segoe UI"/>
              </a:rPr>
              <a:t>Kumar et al., MILCOM 2023. Flows recorded at 10 routers of a 40-node network emulated with CORE; 83 CICFlowMeter features per flow.</a:t>
            </a:r>
          </a:p>
          <a:p>
            <a:pPr algn="l">
              <a:lnSpc>
                <a:spcPct val="120000"/>
              </a:lnSpc>
            </a:pPr>
            <a:r>
              <a:rPr sz="1400" b="0" i="0">
                <a:solidFill>
                  <a:srgbClr val="1F2421"/>
                </a:solidFill>
                <a:latin typeface="Segoe UI"/>
              </a:rPr>
              <a:t/>
            </a:r>
          </a:p>
          <a:p>
            <a:pPr algn="l">
              <a:lnSpc>
                <a:spcPct val="120000"/>
              </a:lnSpc>
            </a:pPr>
            <a:r>
              <a:rPr sz="1400" b="1" i="0">
                <a:solidFill>
                  <a:srgbClr val="1F2421"/>
                </a:solidFill>
                <a:latin typeface="Segoe UI"/>
              </a:rPr>
              <a:t>11 traffic types</a:t>
            </a:r>
          </a:p>
          <a:p>
            <a:pPr algn="l">
              <a:lnSpc>
                <a:spcPct val="120000"/>
              </a:lnSpc>
            </a:pPr>
            <a:r>
              <a:rPr sz="1200" b="0" i="0">
                <a:solidFill>
                  <a:srgbClr val="5B625C"/>
                </a:solidFill>
                <a:latin typeface="Segoe UI"/>
              </a:rPr>
              <a:t>Normal; DDoS bot / dyn / stomp / tcp; DoS hulk / slowhttp; Web SQLi / XSS / command injection; Infiltration MITM.</a:t>
            </a:r>
          </a:p>
          <a:p>
            <a:pPr algn="l">
              <a:lnSpc>
                <a:spcPct val="120000"/>
              </a:lnSpc>
            </a:pPr>
            <a:r>
              <a:rPr sz="1400" b="0" i="0">
                <a:solidFill>
                  <a:srgbClr val="1F2421"/>
                </a:solidFill>
                <a:latin typeface="Segoe UI"/>
              </a:rPr>
              <a:t/>
            </a:r>
          </a:p>
          <a:p>
            <a:pPr algn="l">
              <a:lnSpc>
                <a:spcPct val="120000"/>
              </a:lnSpc>
            </a:pPr>
            <a:r>
              <a:rPr sz="1400" b="1" i="0">
                <a:solidFill>
                  <a:srgbClr val="1F2421"/>
                </a:solidFill>
                <a:latin typeface="Segoe UI"/>
              </a:rPr>
              <a:t>Why this dataset</a:t>
            </a:r>
          </a:p>
          <a:p>
            <a:pPr algn="l">
              <a:lnSpc>
                <a:spcPct val="120000"/>
              </a:lnSpc>
            </a:pPr>
            <a:r>
              <a:rPr sz="1200" b="0" i="0">
                <a:solidFill>
                  <a:srgbClr val="5B625C"/>
                </a:solidFill>
                <a:latin typeface="Segoe UI"/>
              </a:rPr>
              <a:t>Each router is a natural client with its own uneven attack mix — real non-IID data, not a simulated split.</a:t>
            </a:r>
          </a:p>
          <a:p>
            <a:pPr algn="l">
              <a:lnSpc>
                <a:spcPct val="120000"/>
              </a:lnSpc>
            </a:pPr>
            <a:r>
              <a:rPr sz="1400" b="0" i="0">
                <a:solidFill>
                  <a:srgbClr val="1F2421"/>
                </a:solidFill>
                <a:latin typeface="Segoe UI"/>
              </a:rPr>
              <a:t/>
            </a:r>
          </a:p>
          <a:p>
            <a:pPr algn="l">
              <a:lnSpc>
                <a:spcPct val="120000"/>
              </a:lnSpc>
            </a:pPr>
            <a:r>
              <a:rPr sz="1400" b="1" i="0">
                <a:solidFill>
                  <a:srgbClr val="1F2421"/>
                </a:solidFill>
                <a:latin typeface="Segoe UI"/>
              </a:rPr>
              <a:t>Second dataset: NSL-KDD</a:t>
            </a:r>
          </a:p>
          <a:p>
            <a:pPr algn="l">
              <a:lnSpc>
                <a:spcPct val="120000"/>
              </a:lnSpc>
            </a:pPr>
            <a:r>
              <a:rPr sz="1200" b="0" i="0">
                <a:solidFill>
                  <a:srgbClr val="5B625C"/>
                </a:solidFill>
                <a:latin typeface="Segoe UI"/>
              </a:rPr>
              <a:t>Classic benchmark; 10 clients by Dirichlet split. Used to replicate the protocol results on a harder task.</a:t>
            </a:r>
          </a:p>
        </p:txBody>
      </p:sp>
      <p:cxnSp>
        <p:nvCxnSpPr>
          <p:cNvPr id="9" name="Connector 8"/>
          <p:cNvCxnSpPr/>
          <p:nvPr/>
        </p:nvCxnSpPr>
        <p:spPr>
          <a:xfrm>
            <a:off x="5074920" y="1783080"/>
            <a:ext cx="6400799" cy="0"/>
          </a:xfrm>
          <a:prstGeom prst="line">
            <a:avLst/>
          </a:prstGeom>
          <a:ln w="12700">
            <a:solidFill>
              <a:srgbClr val="5B625C"/>
            </a:solidFill>
          </a:ln>
        </p:spPr>
      </p:cxnSp>
      <p:sp>
        <p:nvSpPr>
          <p:cNvPr id="10" name="TextBox 9"/>
          <p:cNvSpPr txBox="1"/>
          <p:nvPr/>
        </p:nvSpPr>
        <p:spPr>
          <a:xfrm>
            <a:off x="5148072" y="1783080"/>
            <a:ext cx="585216" cy="384048"/>
          </a:xfrm>
          <a:prstGeom prst="rect">
            <a:avLst/>
          </a:prstGeom>
          <a:noFill/>
        </p:spPr>
        <p:txBody>
          <a:bodyPr wrap="square" anchor="ctr" lIns="0" rIns="0" tIns="0" bIns="0">
            <a:spAutoFit/>
          </a:bodyPr>
          <a:lstStyle/>
          <a:p>
            <a:pPr algn="l">
              <a:lnSpc>
                <a:spcPct val="105000"/>
              </a:lnSpc>
            </a:pPr>
            <a:r>
              <a:rPr sz="1000" b="1" i="0">
                <a:solidFill>
                  <a:srgbClr val="3E5F5A"/>
                </a:solidFill>
                <a:latin typeface="Segoe UI"/>
              </a:rPr>
              <a:t>Router</a:t>
            </a:r>
          </a:p>
        </p:txBody>
      </p:sp>
      <p:sp>
        <p:nvSpPr>
          <p:cNvPr id="11" name="TextBox 10"/>
          <p:cNvSpPr txBox="1"/>
          <p:nvPr/>
        </p:nvSpPr>
        <p:spPr>
          <a:xfrm>
            <a:off x="5879592" y="1783080"/>
            <a:ext cx="813816" cy="384048"/>
          </a:xfrm>
          <a:prstGeom prst="rect">
            <a:avLst/>
          </a:prstGeom>
          <a:noFill/>
        </p:spPr>
        <p:txBody>
          <a:bodyPr wrap="square" anchor="ctr" lIns="0" rIns="0" tIns="0" bIns="0">
            <a:spAutoFit/>
          </a:bodyPr>
          <a:lstStyle/>
          <a:p>
            <a:pPr algn="l">
              <a:lnSpc>
                <a:spcPct val="105000"/>
              </a:lnSpc>
            </a:pPr>
            <a:r>
              <a:rPr sz="1000" b="1" i="0">
                <a:solidFill>
                  <a:srgbClr val="3E5F5A"/>
                </a:solidFill>
                <a:latin typeface="Segoe UI"/>
              </a:rPr>
              <a:t>Flows</a:t>
            </a:r>
          </a:p>
        </p:txBody>
      </p:sp>
      <p:sp>
        <p:nvSpPr>
          <p:cNvPr id="12" name="TextBox 11"/>
          <p:cNvSpPr txBox="1"/>
          <p:nvPr/>
        </p:nvSpPr>
        <p:spPr>
          <a:xfrm>
            <a:off x="6839712" y="1783080"/>
            <a:ext cx="813816" cy="384048"/>
          </a:xfrm>
          <a:prstGeom prst="rect">
            <a:avLst/>
          </a:prstGeom>
          <a:noFill/>
        </p:spPr>
        <p:txBody>
          <a:bodyPr wrap="square" anchor="ctr" lIns="0" rIns="0" tIns="0" bIns="0">
            <a:spAutoFit/>
          </a:bodyPr>
          <a:lstStyle/>
          <a:p>
            <a:pPr algn="l">
              <a:lnSpc>
                <a:spcPct val="105000"/>
              </a:lnSpc>
            </a:pPr>
            <a:r>
              <a:rPr sz="1000" b="1" i="0">
                <a:solidFill>
                  <a:srgbClr val="3E5F5A"/>
                </a:solidFill>
                <a:latin typeface="Segoe UI"/>
              </a:rPr>
              <a:t>Attack %</a:t>
            </a:r>
          </a:p>
        </p:txBody>
      </p:sp>
      <p:sp>
        <p:nvSpPr>
          <p:cNvPr id="13" name="TextBox 12"/>
          <p:cNvSpPr txBox="1"/>
          <p:nvPr/>
        </p:nvSpPr>
        <p:spPr>
          <a:xfrm>
            <a:off x="7799832" y="1783080"/>
            <a:ext cx="3602735" cy="384048"/>
          </a:xfrm>
          <a:prstGeom prst="rect">
            <a:avLst/>
          </a:prstGeom>
          <a:noFill/>
        </p:spPr>
        <p:txBody>
          <a:bodyPr wrap="square" anchor="ctr" lIns="0" rIns="0" tIns="0" bIns="0">
            <a:spAutoFit/>
          </a:bodyPr>
          <a:lstStyle/>
          <a:p>
            <a:pPr algn="l">
              <a:lnSpc>
                <a:spcPct val="105000"/>
              </a:lnSpc>
            </a:pPr>
            <a:r>
              <a:rPr sz="1000" b="1" i="0">
                <a:solidFill>
                  <a:srgbClr val="3E5F5A"/>
                </a:solidFill>
                <a:latin typeface="Segoe UI"/>
              </a:rPr>
              <a:t>Attack types seen</a:t>
            </a:r>
          </a:p>
        </p:txBody>
      </p:sp>
      <p:cxnSp>
        <p:nvCxnSpPr>
          <p:cNvPr id="14" name="Connector 13"/>
          <p:cNvCxnSpPr/>
          <p:nvPr/>
        </p:nvCxnSpPr>
        <p:spPr>
          <a:xfrm>
            <a:off x="5074920" y="2167128"/>
            <a:ext cx="6400799" cy="0"/>
          </a:xfrm>
          <a:prstGeom prst="line">
            <a:avLst/>
          </a:prstGeom>
          <a:ln w="12700">
            <a:solidFill>
              <a:srgbClr val="5B625C"/>
            </a:solidFill>
          </a:ln>
        </p:spPr>
      </p:cxnSp>
      <p:sp>
        <p:nvSpPr>
          <p:cNvPr id="15" name="TextBox 14"/>
          <p:cNvSpPr txBox="1"/>
          <p:nvPr/>
        </p:nvSpPr>
        <p:spPr>
          <a:xfrm>
            <a:off x="5148072" y="2167128"/>
            <a:ext cx="585216"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1</a:t>
            </a:r>
          </a:p>
        </p:txBody>
      </p:sp>
      <p:sp>
        <p:nvSpPr>
          <p:cNvPr id="16" name="TextBox 15"/>
          <p:cNvSpPr txBox="1"/>
          <p:nvPr/>
        </p:nvSpPr>
        <p:spPr>
          <a:xfrm>
            <a:off x="5879592" y="2167128"/>
            <a:ext cx="813816"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23,526</a:t>
            </a:r>
          </a:p>
        </p:txBody>
      </p:sp>
      <p:sp>
        <p:nvSpPr>
          <p:cNvPr id="17" name="TextBox 16"/>
          <p:cNvSpPr txBox="1"/>
          <p:nvPr/>
        </p:nvSpPr>
        <p:spPr>
          <a:xfrm>
            <a:off x="6839712" y="2167128"/>
            <a:ext cx="813816"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55.7%</a:t>
            </a:r>
          </a:p>
        </p:txBody>
      </p:sp>
      <p:sp>
        <p:nvSpPr>
          <p:cNvPr id="18" name="TextBox 17"/>
          <p:cNvSpPr txBox="1"/>
          <p:nvPr/>
        </p:nvSpPr>
        <p:spPr>
          <a:xfrm>
            <a:off x="7799832" y="2167128"/>
            <a:ext cx="3602735"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DDoS-bot, slowhttp, MITM, cmd-injection</a:t>
            </a:r>
          </a:p>
        </p:txBody>
      </p:sp>
      <p:cxnSp>
        <p:nvCxnSpPr>
          <p:cNvPr id="19" name="Connector 18"/>
          <p:cNvCxnSpPr/>
          <p:nvPr/>
        </p:nvCxnSpPr>
        <p:spPr>
          <a:xfrm>
            <a:off x="5074920" y="2551176"/>
            <a:ext cx="6400799" cy="0"/>
          </a:xfrm>
          <a:prstGeom prst="line">
            <a:avLst/>
          </a:prstGeom>
          <a:ln w="6350">
            <a:solidFill>
              <a:srgbClr val="DDDAD2"/>
            </a:solidFill>
          </a:ln>
        </p:spPr>
      </p:cxnSp>
      <p:sp>
        <p:nvSpPr>
          <p:cNvPr id="20" name="TextBox 19"/>
          <p:cNvSpPr txBox="1"/>
          <p:nvPr/>
        </p:nvSpPr>
        <p:spPr>
          <a:xfrm>
            <a:off x="5148072" y="2551176"/>
            <a:ext cx="585216"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2</a:t>
            </a:r>
          </a:p>
        </p:txBody>
      </p:sp>
      <p:sp>
        <p:nvSpPr>
          <p:cNvPr id="21" name="TextBox 20"/>
          <p:cNvSpPr txBox="1"/>
          <p:nvPr/>
        </p:nvSpPr>
        <p:spPr>
          <a:xfrm>
            <a:off x="5879592" y="2551176"/>
            <a:ext cx="813816"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53,926</a:t>
            </a:r>
          </a:p>
        </p:txBody>
      </p:sp>
      <p:sp>
        <p:nvSpPr>
          <p:cNvPr id="22" name="TextBox 21"/>
          <p:cNvSpPr txBox="1"/>
          <p:nvPr/>
        </p:nvSpPr>
        <p:spPr>
          <a:xfrm>
            <a:off x="6839712" y="2551176"/>
            <a:ext cx="813816"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83.2%</a:t>
            </a:r>
          </a:p>
        </p:txBody>
      </p:sp>
      <p:sp>
        <p:nvSpPr>
          <p:cNvPr id="23" name="TextBox 22"/>
          <p:cNvSpPr txBox="1"/>
          <p:nvPr/>
        </p:nvSpPr>
        <p:spPr>
          <a:xfrm>
            <a:off x="7799832" y="2551176"/>
            <a:ext cx="3602735"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DoS-hulk, slowhttp, MITM, XSS</a:t>
            </a:r>
          </a:p>
        </p:txBody>
      </p:sp>
      <p:cxnSp>
        <p:nvCxnSpPr>
          <p:cNvPr id="24" name="Connector 23"/>
          <p:cNvCxnSpPr/>
          <p:nvPr/>
        </p:nvCxnSpPr>
        <p:spPr>
          <a:xfrm>
            <a:off x="5074920" y="2935224"/>
            <a:ext cx="6400799" cy="0"/>
          </a:xfrm>
          <a:prstGeom prst="line">
            <a:avLst/>
          </a:prstGeom>
          <a:ln w="6350">
            <a:solidFill>
              <a:srgbClr val="DDDAD2"/>
            </a:solidFill>
          </a:ln>
        </p:spPr>
      </p:cxnSp>
      <p:sp>
        <p:nvSpPr>
          <p:cNvPr id="25" name="TextBox 24"/>
          <p:cNvSpPr txBox="1"/>
          <p:nvPr/>
        </p:nvSpPr>
        <p:spPr>
          <a:xfrm>
            <a:off x="5148072" y="2935224"/>
            <a:ext cx="585216"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3</a:t>
            </a:r>
          </a:p>
        </p:txBody>
      </p:sp>
      <p:sp>
        <p:nvSpPr>
          <p:cNvPr id="26" name="TextBox 25"/>
          <p:cNvSpPr txBox="1"/>
          <p:nvPr/>
        </p:nvSpPr>
        <p:spPr>
          <a:xfrm>
            <a:off x="5879592" y="2935224"/>
            <a:ext cx="813816"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24,109</a:t>
            </a:r>
          </a:p>
        </p:txBody>
      </p:sp>
      <p:sp>
        <p:nvSpPr>
          <p:cNvPr id="27" name="TextBox 26"/>
          <p:cNvSpPr txBox="1"/>
          <p:nvPr/>
        </p:nvSpPr>
        <p:spPr>
          <a:xfrm>
            <a:off x="6839712" y="2935224"/>
            <a:ext cx="813816"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19.0%</a:t>
            </a:r>
          </a:p>
        </p:txBody>
      </p:sp>
      <p:sp>
        <p:nvSpPr>
          <p:cNvPr id="28" name="TextBox 27"/>
          <p:cNvSpPr txBox="1"/>
          <p:nvPr/>
        </p:nvSpPr>
        <p:spPr>
          <a:xfrm>
            <a:off x="7799832" y="2935224"/>
            <a:ext cx="3602735"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slowhttp, MITM, SQL-injection</a:t>
            </a:r>
          </a:p>
        </p:txBody>
      </p:sp>
      <p:cxnSp>
        <p:nvCxnSpPr>
          <p:cNvPr id="29" name="Connector 28"/>
          <p:cNvCxnSpPr/>
          <p:nvPr/>
        </p:nvCxnSpPr>
        <p:spPr>
          <a:xfrm>
            <a:off x="5074920" y="3319272"/>
            <a:ext cx="6400799" cy="0"/>
          </a:xfrm>
          <a:prstGeom prst="line">
            <a:avLst/>
          </a:prstGeom>
          <a:ln w="6350">
            <a:solidFill>
              <a:srgbClr val="DDDAD2"/>
            </a:solidFill>
          </a:ln>
        </p:spPr>
      </p:cxnSp>
      <p:sp>
        <p:nvSpPr>
          <p:cNvPr id="30" name="TextBox 29"/>
          <p:cNvSpPr txBox="1"/>
          <p:nvPr/>
        </p:nvSpPr>
        <p:spPr>
          <a:xfrm>
            <a:off x="5148072" y="3319272"/>
            <a:ext cx="585216"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4</a:t>
            </a:r>
          </a:p>
        </p:txBody>
      </p:sp>
      <p:sp>
        <p:nvSpPr>
          <p:cNvPr id="31" name="TextBox 30"/>
          <p:cNvSpPr txBox="1"/>
          <p:nvPr/>
        </p:nvSpPr>
        <p:spPr>
          <a:xfrm>
            <a:off x="5879592" y="3319272"/>
            <a:ext cx="813816"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49,178</a:t>
            </a:r>
          </a:p>
        </p:txBody>
      </p:sp>
      <p:sp>
        <p:nvSpPr>
          <p:cNvPr id="32" name="TextBox 31"/>
          <p:cNvSpPr txBox="1"/>
          <p:nvPr/>
        </p:nvSpPr>
        <p:spPr>
          <a:xfrm>
            <a:off x="6839712" y="3319272"/>
            <a:ext cx="813816"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92.1%</a:t>
            </a:r>
          </a:p>
        </p:txBody>
      </p:sp>
      <p:sp>
        <p:nvSpPr>
          <p:cNvPr id="33" name="TextBox 32"/>
          <p:cNvSpPr txBox="1"/>
          <p:nvPr/>
        </p:nvSpPr>
        <p:spPr>
          <a:xfrm>
            <a:off x="7799832" y="3319272"/>
            <a:ext cx="3602735"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DoS-hulk, slowhttp, MITM, SQLi, XSS</a:t>
            </a:r>
          </a:p>
        </p:txBody>
      </p:sp>
      <p:cxnSp>
        <p:nvCxnSpPr>
          <p:cNvPr id="34" name="Connector 33"/>
          <p:cNvCxnSpPr/>
          <p:nvPr/>
        </p:nvCxnSpPr>
        <p:spPr>
          <a:xfrm>
            <a:off x="5074920" y="3703320"/>
            <a:ext cx="6400799" cy="0"/>
          </a:xfrm>
          <a:prstGeom prst="line">
            <a:avLst/>
          </a:prstGeom>
          <a:ln w="6350">
            <a:solidFill>
              <a:srgbClr val="DDDAD2"/>
            </a:solidFill>
          </a:ln>
        </p:spPr>
      </p:cxnSp>
      <p:sp>
        <p:nvSpPr>
          <p:cNvPr id="35" name="TextBox 34"/>
          <p:cNvSpPr txBox="1"/>
          <p:nvPr/>
        </p:nvSpPr>
        <p:spPr>
          <a:xfrm>
            <a:off x="5148072" y="3703320"/>
            <a:ext cx="585216"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5</a:t>
            </a:r>
          </a:p>
        </p:txBody>
      </p:sp>
      <p:sp>
        <p:nvSpPr>
          <p:cNvPr id="36" name="TextBox 35"/>
          <p:cNvSpPr txBox="1"/>
          <p:nvPr/>
        </p:nvSpPr>
        <p:spPr>
          <a:xfrm>
            <a:off x="5879592" y="3703320"/>
            <a:ext cx="813816"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53,655</a:t>
            </a:r>
          </a:p>
        </p:txBody>
      </p:sp>
      <p:sp>
        <p:nvSpPr>
          <p:cNvPr id="37" name="TextBox 36"/>
          <p:cNvSpPr txBox="1"/>
          <p:nvPr/>
        </p:nvSpPr>
        <p:spPr>
          <a:xfrm>
            <a:off x="6839712" y="3703320"/>
            <a:ext cx="813816"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76.3%</a:t>
            </a:r>
          </a:p>
        </p:txBody>
      </p:sp>
      <p:sp>
        <p:nvSpPr>
          <p:cNvPr id="38" name="TextBox 37"/>
          <p:cNvSpPr txBox="1"/>
          <p:nvPr/>
        </p:nvSpPr>
        <p:spPr>
          <a:xfrm>
            <a:off x="7799832" y="3703320"/>
            <a:ext cx="3602735"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DDoS-stomp, MITM</a:t>
            </a:r>
          </a:p>
        </p:txBody>
      </p:sp>
      <p:cxnSp>
        <p:nvCxnSpPr>
          <p:cNvPr id="39" name="Connector 38"/>
          <p:cNvCxnSpPr/>
          <p:nvPr/>
        </p:nvCxnSpPr>
        <p:spPr>
          <a:xfrm>
            <a:off x="5074920" y="4087368"/>
            <a:ext cx="6400799" cy="0"/>
          </a:xfrm>
          <a:prstGeom prst="line">
            <a:avLst/>
          </a:prstGeom>
          <a:ln w="6350">
            <a:solidFill>
              <a:srgbClr val="DDDAD2"/>
            </a:solidFill>
          </a:ln>
        </p:spPr>
      </p:cxnSp>
      <p:sp>
        <p:nvSpPr>
          <p:cNvPr id="40" name="TextBox 39"/>
          <p:cNvSpPr txBox="1"/>
          <p:nvPr/>
        </p:nvSpPr>
        <p:spPr>
          <a:xfrm>
            <a:off x="5148072" y="4087368"/>
            <a:ext cx="585216"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6</a:t>
            </a:r>
          </a:p>
        </p:txBody>
      </p:sp>
      <p:sp>
        <p:nvSpPr>
          <p:cNvPr id="41" name="TextBox 40"/>
          <p:cNvSpPr txBox="1"/>
          <p:nvPr/>
        </p:nvSpPr>
        <p:spPr>
          <a:xfrm>
            <a:off x="5879592" y="4087368"/>
            <a:ext cx="813816"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61,194</a:t>
            </a:r>
          </a:p>
        </p:txBody>
      </p:sp>
      <p:sp>
        <p:nvSpPr>
          <p:cNvPr id="42" name="TextBox 41"/>
          <p:cNvSpPr txBox="1"/>
          <p:nvPr/>
        </p:nvSpPr>
        <p:spPr>
          <a:xfrm>
            <a:off x="6839712" y="4087368"/>
            <a:ext cx="813816"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66.1%</a:t>
            </a:r>
          </a:p>
        </p:txBody>
      </p:sp>
      <p:sp>
        <p:nvSpPr>
          <p:cNvPr id="43" name="TextBox 42"/>
          <p:cNvSpPr txBox="1"/>
          <p:nvPr/>
        </p:nvSpPr>
        <p:spPr>
          <a:xfrm>
            <a:off x="7799832" y="4087368"/>
            <a:ext cx="3602735"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DoS-hulk</a:t>
            </a:r>
          </a:p>
        </p:txBody>
      </p:sp>
      <p:cxnSp>
        <p:nvCxnSpPr>
          <p:cNvPr id="44" name="Connector 43"/>
          <p:cNvCxnSpPr/>
          <p:nvPr/>
        </p:nvCxnSpPr>
        <p:spPr>
          <a:xfrm>
            <a:off x="5074920" y="4471416"/>
            <a:ext cx="6400799" cy="0"/>
          </a:xfrm>
          <a:prstGeom prst="line">
            <a:avLst/>
          </a:prstGeom>
          <a:ln w="6350">
            <a:solidFill>
              <a:srgbClr val="DDDAD2"/>
            </a:solidFill>
          </a:ln>
        </p:spPr>
      </p:cxnSp>
      <p:sp>
        <p:nvSpPr>
          <p:cNvPr id="45" name="TextBox 44"/>
          <p:cNvSpPr txBox="1"/>
          <p:nvPr/>
        </p:nvSpPr>
        <p:spPr>
          <a:xfrm>
            <a:off x="5148072" y="4471416"/>
            <a:ext cx="585216"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7</a:t>
            </a:r>
          </a:p>
        </p:txBody>
      </p:sp>
      <p:sp>
        <p:nvSpPr>
          <p:cNvPr id="46" name="TextBox 45"/>
          <p:cNvSpPr txBox="1"/>
          <p:nvPr/>
        </p:nvSpPr>
        <p:spPr>
          <a:xfrm>
            <a:off x="5879592" y="4471416"/>
            <a:ext cx="813816"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58,198</a:t>
            </a:r>
          </a:p>
        </p:txBody>
      </p:sp>
      <p:sp>
        <p:nvSpPr>
          <p:cNvPr id="47" name="TextBox 46"/>
          <p:cNvSpPr txBox="1"/>
          <p:nvPr/>
        </p:nvSpPr>
        <p:spPr>
          <a:xfrm>
            <a:off x="6839712" y="4471416"/>
            <a:ext cx="813816"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42.2%</a:t>
            </a:r>
          </a:p>
        </p:txBody>
      </p:sp>
      <p:sp>
        <p:nvSpPr>
          <p:cNvPr id="48" name="TextBox 47"/>
          <p:cNvSpPr txBox="1"/>
          <p:nvPr/>
        </p:nvSpPr>
        <p:spPr>
          <a:xfrm>
            <a:off x="7799832" y="4471416"/>
            <a:ext cx="3602735"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DoS-hulk, MITM</a:t>
            </a:r>
          </a:p>
        </p:txBody>
      </p:sp>
      <p:cxnSp>
        <p:nvCxnSpPr>
          <p:cNvPr id="49" name="Connector 48"/>
          <p:cNvCxnSpPr/>
          <p:nvPr/>
        </p:nvCxnSpPr>
        <p:spPr>
          <a:xfrm>
            <a:off x="5074920" y="4855464"/>
            <a:ext cx="6400799" cy="0"/>
          </a:xfrm>
          <a:prstGeom prst="line">
            <a:avLst/>
          </a:prstGeom>
          <a:ln w="6350">
            <a:solidFill>
              <a:srgbClr val="DDDAD2"/>
            </a:solidFill>
          </a:ln>
        </p:spPr>
      </p:cxnSp>
      <p:sp>
        <p:nvSpPr>
          <p:cNvPr id="50" name="TextBox 49"/>
          <p:cNvSpPr txBox="1"/>
          <p:nvPr/>
        </p:nvSpPr>
        <p:spPr>
          <a:xfrm>
            <a:off x="5148072" y="4855464"/>
            <a:ext cx="585216"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8</a:t>
            </a:r>
          </a:p>
        </p:txBody>
      </p:sp>
      <p:sp>
        <p:nvSpPr>
          <p:cNvPr id="51" name="TextBox 50"/>
          <p:cNvSpPr txBox="1"/>
          <p:nvPr/>
        </p:nvSpPr>
        <p:spPr>
          <a:xfrm>
            <a:off x="5879592" y="4855464"/>
            <a:ext cx="813816"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48,311</a:t>
            </a:r>
          </a:p>
        </p:txBody>
      </p:sp>
      <p:sp>
        <p:nvSpPr>
          <p:cNvPr id="52" name="TextBox 51"/>
          <p:cNvSpPr txBox="1"/>
          <p:nvPr/>
        </p:nvSpPr>
        <p:spPr>
          <a:xfrm>
            <a:off x="6839712" y="4855464"/>
            <a:ext cx="813816"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50.8%</a:t>
            </a:r>
          </a:p>
        </p:txBody>
      </p:sp>
      <p:sp>
        <p:nvSpPr>
          <p:cNvPr id="53" name="TextBox 52"/>
          <p:cNvSpPr txBox="1"/>
          <p:nvPr/>
        </p:nvSpPr>
        <p:spPr>
          <a:xfrm>
            <a:off x="7799832" y="4855464"/>
            <a:ext cx="3602735"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DoS-hulk, slowhttp</a:t>
            </a:r>
          </a:p>
        </p:txBody>
      </p:sp>
      <p:cxnSp>
        <p:nvCxnSpPr>
          <p:cNvPr id="54" name="Connector 53"/>
          <p:cNvCxnSpPr/>
          <p:nvPr/>
        </p:nvCxnSpPr>
        <p:spPr>
          <a:xfrm>
            <a:off x="5074920" y="5239512"/>
            <a:ext cx="6400799" cy="0"/>
          </a:xfrm>
          <a:prstGeom prst="line">
            <a:avLst/>
          </a:prstGeom>
          <a:ln w="6350">
            <a:solidFill>
              <a:srgbClr val="DDDAD2"/>
            </a:solidFill>
          </a:ln>
        </p:spPr>
      </p:cxnSp>
      <p:sp>
        <p:nvSpPr>
          <p:cNvPr id="55" name="TextBox 54"/>
          <p:cNvSpPr txBox="1"/>
          <p:nvPr/>
        </p:nvSpPr>
        <p:spPr>
          <a:xfrm>
            <a:off x="5148072" y="5239512"/>
            <a:ext cx="585216"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9</a:t>
            </a:r>
          </a:p>
        </p:txBody>
      </p:sp>
      <p:sp>
        <p:nvSpPr>
          <p:cNvPr id="56" name="TextBox 55"/>
          <p:cNvSpPr txBox="1"/>
          <p:nvPr/>
        </p:nvSpPr>
        <p:spPr>
          <a:xfrm>
            <a:off x="5879592" y="5239512"/>
            <a:ext cx="813816"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50,183</a:t>
            </a:r>
          </a:p>
        </p:txBody>
      </p:sp>
      <p:sp>
        <p:nvSpPr>
          <p:cNvPr id="57" name="TextBox 56"/>
          <p:cNvSpPr txBox="1"/>
          <p:nvPr/>
        </p:nvSpPr>
        <p:spPr>
          <a:xfrm>
            <a:off x="6839712" y="5239512"/>
            <a:ext cx="813816"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72.3%</a:t>
            </a:r>
          </a:p>
        </p:txBody>
      </p:sp>
      <p:sp>
        <p:nvSpPr>
          <p:cNvPr id="58" name="TextBox 57"/>
          <p:cNvSpPr txBox="1"/>
          <p:nvPr/>
        </p:nvSpPr>
        <p:spPr>
          <a:xfrm>
            <a:off x="7799832" y="5239512"/>
            <a:ext cx="3602735"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DDoS-dyn, slowhttp, MITM</a:t>
            </a:r>
          </a:p>
        </p:txBody>
      </p:sp>
      <p:cxnSp>
        <p:nvCxnSpPr>
          <p:cNvPr id="59" name="Connector 58"/>
          <p:cNvCxnSpPr/>
          <p:nvPr/>
        </p:nvCxnSpPr>
        <p:spPr>
          <a:xfrm>
            <a:off x="5074920" y="5623560"/>
            <a:ext cx="6400799" cy="0"/>
          </a:xfrm>
          <a:prstGeom prst="line">
            <a:avLst/>
          </a:prstGeom>
          <a:ln w="6350">
            <a:solidFill>
              <a:srgbClr val="DDDAD2"/>
            </a:solidFill>
          </a:ln>
        </p:spPr>
      </p:cxnSp>
      <p:sp>
        <p:nvSpPr>
          <p:cNvPr id="60" name="TextBox 59"/>
          <p:cNvSpPr txBox="1"/>
          <p:nvPr/>
        </p:nvSpPr>
        <p:spPr>
          <a:xfrm>
            <a:off x="5148072" y="5623560"/>
            <a:ext cx="585216"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10</a:t>
            </a:r>
          </a:p>
        </p:txBody>
      </p:sp>
      <p:sp>
        <p:nvSpPr>
          <p:cNvPr id="61" name="TextBox 60"/>
          <p:cNvSpPr txBox="1"/>
          <p:nvPr/>
        </p:nvSpPr>
        <p:spPr>
          <a:xfrm>
            <a:off x="5879592" y="5623560"/>
            <a:ext cx="813816"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141,727</a:t>
            </a:r>
          </a:p>
        </p:txBody>
      </p:sp>
      <p:sp>
        <p:nvSpPr>
          <p:cNvPr id="62" name="TextBox 61"/>
          <p:cNvSpPr txBox="1"/>
          <p:nvPr/>
        </p:nvSpPr>
        <p:spPr>
          <a:xfrm>
            <a:off x="6839712" y="5623560"/>
            <a:ext cx="813816"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68.5%</a:t>
            </a:r>
          </a:p>
        </p:txBody>
      </p:sp>
      <p:sp>
        <p:nvSpPr>
          <p:cNvPr id="63" name="TextBox 62"/>
          <p:cNvSpPr txBox="1"/>
          <p:nvPr/>
        </p:nvSpPr>
        <p:spPr>
          <a:xfrm>
            <a:off x="7799832" y="5623560"/>
            <a:ext cx="3602735" cy="384048"/>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DDoS-tcp, slowhttp, MITM</a:t>
            </a:r>
          </a:p>
        </p:txBody>
      </p:sp>
      <p:cxnSp>
        <p:nvCxnSpPr>
          <p:cNvPr id="64" name="Connector 63"/>
          <p:cNvCxnSpPr/>
          <p:nvPr/>
        </p:nvCxnSpPr>
        <p:spPr>
          <a:xfrm>
            <a:off x="5074920" y="6007608"/>
            <a:ext cx="6400799" cy="0"/>
          </a:xfrm>
          <a:prstGeom prst="line">
            <a:avLst/>
          </a:prstGeom>
          <a:ln w="12700">
            <a:solidFill>
              <a:srgbClr val="5B625C"/>
            </a:solidFill>
          </a:ln>
        </p:spPr>
      </p:cxnSp>
      <p:sp>
        <p:nvSpPr>
          <p:cNvPr id="65" name="TextBox 64"/>
          <p:cNvSpPr txBox="1"/>
          <p:nvPr/>
        </p:nvSpPr>
        <p:spPr>
          <a:xfrm>
            <a:off x="5074920" y="6080760"/>
            <a:ext cx="6400800" cy="274320"/>
          </a:xfrm>
          <a:prstGeom prst="rect">
            <a:avLst/>
          </a:prstGeom>
          <a:noFill/>
        </p:spPr>
        <p:txBody>
          <a:bodyPr wrap="square" anchor="t" lIns="0" rIns="0" tIns="0" bIns="0">
            <a:spAutoFit/>
          </a:bodyPr>
          <a:lstStyle/>
          <a:p>
            <a:pPr algn="l">
              <a:lnSpc>
                <a:spcPct val="120000"/>
              </a:lnSpc>
            </a:pPr>
            <a:r>
              <a:rPr sz="1000" b="0" i="0">
                <a:solidFill>
                  <a:srgbClr val="8C918A"/>
                </a:solidFill>
                <a:latin typeface="Segoe UI"/>
              </a:rPr>
              <a:t>Training flows after 10% sampling; all ten routers also carry normal traffic.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03 · METHODOLOGY</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Preprocessing</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14</a:t>
            </a:r>
          </a:p>
        </p:txBody>
      </p:sp>
      <p:sp>
        <p:nvSpPr>
          <p:cNvPr id="8" name="Rounded Rectangle 7"/>
          <p:cNvSpPr/>
          <p:nvPr/>
        </p:nvSpPr>
        <p:spPr>
          <a:xfrm>
            <a:off x="731520" y="1837944"/>
            <a:ext cx="384048" cy="384048"/>
          </a:xfrm>
          <a:prstGeom prst="roundRect">
            <a:avLst>
              <a:gd name="adj" fmla="val 50000"/>
            </a:avLst>
          </a:prstGeom>
          <a:solidFill>
            <a:srgbClr val="E4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37944"/>
            <a:ext cx="384048" cy="384048"/>
          </a:xfrm>
          <a:prstGeom prst="rect">
            <a:avLst/>
          </a:prstGeom>
          <a:noFill/>
        </p:spPr>
        <p:txBody>
          <a:bodyPr wrap="square" anchor="ctr" lIns="0" rIns="0" tIns="0" bIns="0">
            <a:spAutoFit/>
          </a:bodyPr>
          <a:lstStyle/>
          <a:p>
            <a:pPr algn="ctr">
              <a:lnSpc>
                <a:spcPct val="120000"/>
              </a:lnSpc>
            </a:pPr>
            <a:r>
              <a:rPr sz="1200" b="1" i="0">
                <a:solidFill>
                  <a:srgbClr val="3E5F5A"/>
                </a:solidFill>
                <a:latin typeface="Segoe UI"/>
              </a:rPr>
              <a:t>1</a:t>
            </a:r>
          </a:p>
        </p:txBody>
      </p:sp>
      <p:sp>
        <p:nvSpPr>
          <p:cNvPr id="10" name="TextBox 9"/>
          <p:cNvSpPr txBox="1"/>
          <p:nvPr/>
        </p:nvSpPr>
        <p:spPr>
          <a:xfrm>
            <a:off x="1325880" y="1783080"/>
            <a:ext cx="6035040" cy="731520"/>
          </a:xfrm>
          <a:prstGeom prst="rect">
            <a:avLst/>
          </a:prstGeom>
          <a:noFill/>
        </p:spPr>
        <p:txBody>
          <a:bodyPr wrap="square" anchor="t" lIns="0" rIns="0" tIns="0" bIns="0">
            <a:spAutoFit/>
          </a:bodyPr>
          <a:lstStyle/>
          <a:p>
            <a:pPr algn="l">
              <a:lnSpc>
                <a:spcPct val="115000"/>
              </a:lnSpc>
            </a:pPr>
            <a:r>
              <a:rPr sz="1350" b="1" i="0">
                <a:solidFill>
                  <a:srgbClr val="1F2421"/>
                </a:solidFill>
                <a:latin typeface="Segoe UI"/>
              </a:rPr>
              <a:t>Load &amp; tag</a:t>
            </a:r>
          </a:p>
          <a:p>
            <a:pPr algn="l">
              <a:lnSpc>
                <a:spcPct val="115000"/>
              </a:lnSpc>
            </a:pPr>
            <a:r>
              <a:rPr sz="1150" b="0" i="0">
                <a:solidFill>
                  <a:srgbClr val="5B625C"/>
                </a:solidFill>
                <a:latin typeface="Segoe UI"/>
              </a:rPr>
              <a:t>Each CSV is tagged with its router number, read from the file name. The separate TEST capture is the test set.</a:t>
            </a:r>
          </a:p>
        </p:txBody>
      </p:sp>
      <p:sp>
        <p:nvSpPr>
          <p:cNvPr id="11" name="Rounded Rectangle 10"/>
          <p:cNvSpPr/>
          <p:nvPr/>
        </p:nvSpPr>
        <p:spPr>
          <a:xfrm>
            <a:off x="731520" y="2587752"/>
            <a:ext cx="384048" cy="384048"/>
          </a:xfrm>
          <a:prstGeom prst="roundRect">
            <a:avLst>
              <a:gd name="adj" fmla="val 50000"/>
            </a:avLst>
          </a:prstGeom>
          <a:solidFill>
            <a:srgbClr val="E4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587752"/>
            <a:ext cx="384048" cy="384048"/>
          </a:xfrm>
          <a:prstGeom prst="rect">
            <a:avLst/>
          </a:prstGeom>
          <a:noFill/>
        </p:spPr>
        <p:txBody>
          <a:bodyPr wrap="square" anchor="ctr" lIns="0" rIns="0" tIns="0" bIns="0">
            <a:spAutoFit/>
          </a:bodyPr>
          <a:lstStyle/>
          <a:p>
            <a:pPr algn="ctr">
              <a:lnSpc>
                <a:spcPct val="120000"/>
              </a:lnSpc>
            </a:pPr>
            <a:r>
              <a:rPr sz="1200" b="1" i="0">
                <a:solidFill>
                  <a:srgbClr val="3E5F5A"/>
                </a:solidFill>
                <a:latin typeface="Segoe UI"/>
              </a:rPr>
              <a:t>2</a:t>
            </a:r>
          </a:p>
        </p:txBody>
      </p:sp>
      <p:sp>
        <p:nvSpPr>
          <p:cNvPr id="13" name="TextBox 12"/>
          <p:cNvSpPr txBox="1"/>
          <p:nvPr/>
        </p:nvSpPr>
        <p:spPr>
          <a:xfrm>
            <a:off x="1325880" y="2532888"/>
            <a:ext cx="6035040" cy="731520"/>
          </a:xfrm>
          <a:prstGeom prst="rect">
            <a:avLst/>
          </a:prstGeom>
          <a:noFill/>
        </p:spPr>
        <p:txBody>
          <a:bodyPr wrap="square" anchor="t" lIns="0" rIns="0" tIns="0" bIns="0">
            <a:spAutoFit/>
          </a:bodyPr>
          <a:lstStyle/>
          <a:p>
            <a:pPr algn="l">
              <a:lnSpc>
                <a:spcPct val="115000"/>
              </a:lnSpc>
            </a:pPr>
            <a:r>
              <a:rPr sz="1350" b="1" i="0">
                <a:solidFill>
                  <a:srgbClr val="1F2421"/>
                </a:solidFill>
                <a:latin typeface="Segoe UI"/>
              </a:rPr>
              <a:t>Sample</a:t>
            </a:r>
          </a:p>
          <a:p>
            <a:pPr algn="l">
              <a:lnSpc>
                <a:spcPct val="115000"/>
              </a:lnSpc>
            </a:pPr>
            <a:r>
              <a:rPr sz="1150" b="0" i="0">
                <a:solidFill>
                  <a:srgbClr val="5B625C"/>
                </a:solidFill>
                <a:latin typeface="Segoe UI"/>
              </a:rPr>
              <a:t>Each file sampled to 10% (minimum 2,000 rows) — 4.8 M flows is too many for repeated federated runs; router proportions are kept.</a:t>
            </a:r>
          </a:p>
        </p:txBody>
      </p:sp>
      <p:sp>
        <p:nvSpPr>
          <p:cNvPr id="14" name="Rounded Rectangle 13"/>
          <p:cNvSpPr/>
          <p:nvPr/>
        </p:nvSpPr>
        <p:spPr>
          <a:xfrm>
            <a:off x="731520" y="3337560"/>
            <a:ext cx="384048" cy="384048"/>
          </a:xfrm>
          <a:prstGeom prst="roundRect">
            <a:avLst>
              <a:gd name="adj" fmla="val 50000"/>
            </a:avLst>
          </a:prstGeom>
          <a:solidFill>
            <a:srgbClr val="E4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337560"/>
            <a:ext cx="384048" cy="384048"/>
          </a:xfrm>
          <a:prstGeom prst="rect">
            <a:avLst/>
          </a:prstGeom>
          <a:noFill/>
        </p:spPr>
        <p:txBody>
          <a:bodyPr wrap="square" anchor="ctr" lIns="0" rIns="0" tIns="0" bIns="0">
            <a:spAutoFit/>
          </a:bodyPr>
          <a:lstStyle/>
          <a:p>
            <a:pPr algn="ctr">
              <a:lnSpc>
                <a:spcPct val="120000"/>
              </a:lnSpc>
            </a:pPr>
            <a:r>
              <a:rPr sz="1200" b="1" i="0">
                <a:solidFill>
                  <a:srgbClr val="3E5F5A"/>
                </a:solidFill>
                <a:latin typeface="Segoe UI"/>
              </a:rPr>
              <a:t>3</a:t>
            </a:r>
          </a:p>
        </p:txBody>
      </p:sp>
      <p:sp>
        <p:nvSpPr>
          <p:cNvPr id="16" name="TextBox 15"/>
          <p:cNvSpPr txBox="1"/>
          <p:nvPr/>
        </p:nvSpPr>
        <p:spPr>
          <a:xfrm>
            <a:off x="1325880" y="3282696"/>
            <a:ext cx="6035040" cy="731520"/>
          </a:xfrm>
          <a:prstGeom prst="rect">
            <a:avLst/>
          </a:prstGeom>
          <a:noFill/>
        </p:spPr>
        <p:txBody>
          <a:bodyPr wrap="square" anchor="t" lIns="0" rIns="0" tIns="0" bIns="0">
            <a:spAutoFit/>
          </a:bodyPr>
          <a:lstStyle/>
          <a:p>
            <a:pPr algn="l">
              <a:lnSpc>
                <a:spcPct val="115000"/>
              </a:lnSpc>
            </a:pPr>
            <a:r>
              <a:rPr sz="1350" b="1" i="0">
                <a:solidFill>
                  <a:srgbClr val="1F2421"/>
                </a:solidFill>
                <a:latin typeface="Segoe UI"/>
              </a:rPr>
              <a:t>Remove identifiers</a:t>
            </a:r>
          </a:p>
          <a:p>
            <a:pPr algn="l">
              <a:lnSpc>
                <a:spcPct val="115000"/>
              </a:lnSpc>
            </a:pPr>
            <a:r>
              <a:rPr sz="1150" b="0" i="0">
                <a:solidFill>
                  <a:srgbClr val="5B625C"/>
                </a:solidFill>
                <a:latin typeface="Segoe UI"/>
              </a:rPr>
              <a:t>src_ip, dst_ip, src_port, timestamp dropped so the model learns behaviour, not who the attacker is.</a:t>
            </a:r>
          </a:p>
        </p:txBody>
      </p:sp>
      <p:sp>
        <p:nvSpPr>
          <p:cNvPr id="17" name="Rounded Rectangle 16"/>
          <p:cNvSpPr/>
          <p:nvPr/>
        </p:nvSpPr>
        <p:spPr>
          <a:xfrm>
            <a:off x="731520" y="4087368"/>
            <a:ext cx="384048" cy="384048"/>
          </a:xfrm>
          <a:prstGeom prst="roundRect">
            <a:avLst>
              <a:gd name="adj" fmla="val 50000"/>
            </a:avLst>
          </a:prstGeom>
          <a:solidFill>
            <a:srgbClr val="E4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087368"/>
            <a:ext cx="384048" cy="384048"/>
          </a:xfrm>
          <a:prstGeom prst="rect">
            <a:avLst/>
          </a:prstGeom>
          <a:noFill/>
        </p:spPr>
        <p:txBody>
          <a:bodyPr wrap="square" anchor="ctr" lIns="0" rIns="0" tIns="0" bIns="0">
            <a:spAutoFit/>
          </a:bodyPr>
          <a:lstStyle/>
          <a:p>
            <a:pPr algn="ctr">
              <a:lnSpc>
                <a:spcPct val="120000"/>
              </a:lnSpc>
            </a:pPr>
            <a:r>
              <a:rPr sz="1200" b="1" i="0">
                <a:solidFill>
                  <a:srgbClr val="3E5F5A"/>
                </a:solidFill>
                <a:latin typeface="Segoe UI"/>
              </a:rPr>
              <a:t>4</a:t>
            </a:r>
          </a:p>
        </p:txBody>
      </p:sp>
      <p:sp>
        <p:nvSpPr>
          <p:cNvPr id="19" name="TextBox 18"/>
          <p:cNvSpPr txBox="1"/>
          <p:nvPr/>
        </p:nvSpPr>
        <p:spPr>
          <a:xfrm>
            <a:off x="1325880" y="4032504"/>
            <a:ext cx="6035040" cy="731520"/>
          </a:xfrm>
          <a:prstGeom prst="rect">
            <a:avLst/>
          </a:prstGeom>
          <a:noFill/>
        </p:spPr>
        <p:txBody>
          <a:bodyPr wrap="square" anchor="t" lIns="0" rIns="0" tIns="0" bIns="0">
            <a:spAutoFit/>
          </a:bodyPr>
          <a:lstStyle/>
          <a:p>
            <a:pPr algn="l">
              <a:lnSpc>
                <a:spcPct val="115000"/>
              </a:lnSpc>
            </a:pPr>
            <a:r>
              <a:rPr sz="1350" b="1" i="0">
                <a:solidFill>
                  <a:srgbClr val="1F2421"/>
                </a:solidFill>
                <a:latin typeface="Segoe UI"/>
              </a:rPr>
              <a:t>Clean</a:t>
            </a:r>
          </a:p>
          <a:p>
            <a:pPr algn="l">
              <a:lnSpc>
                <a:spcPct val="115000"/>
              </a:lnSpc>
            </a:pPr>
            <a:r>
              <a:rPr sz="1150" b="0" i="0">
                <a:solidFill>
                  <a:srgbClr val="5B625C"/>
                </a:solidFill>
                <a:latin typeface="Segoe UI"/>
              </a:rPr>
              <a:t>Rows with inf / NaN values dropped (none remained after sampling); 12 constant columns removed.</a:t>
            </a:r>
          </a:p>
        </p:txBody>
      </p:sp>
      <p:sp>
        <p:nvSpPr>
          <p:cNvPr id="20" name="Rounded Rectangle 19"/>
          <p:cNvSpPr/>
          <p:nvPr/>
        </p:nvSpPr>
        <p:spPr>
          <a:xfrm>
            <a:off x="731520" y="4837176"/>
            <a:ext cx="384048" cy="384048"/>
          </a:xfrm>
          <a:prstGeom prst="roundRect">
            <a:avLst>
              <a:gd name="adj" fmla="val 50000"/>
            </a:avLst>
          </a:prstGeom>
          <a:solidFill>
            <a:srgbClr val="E4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837176"/>
            <a:ext cx="384048" cy="384048"/>
          </a:xfrm>
          <a:prstGeom prst="rect">
            <a:avLst/>
          </a:prstGeom>
          <a:noFill/>
        </p:spPr>
        <p:txBody>
          <a:bodyPr wrap="square" anchor="ctr" lIns="0" rIns="0" tIns="0" bIns="0">
            <a:spAutoFit/>
          </a:bodyPr>
          <a:lstStyle/>
          <a:p>
            <a:pPr algn="ctr">
              <a:lnSpc>
                <a:spcPct val="120000"/>
              </a:lnSpc>
            </a:pPr>
            <a:r>
              <a:rPr sz="1200" b="1" i="0">
                <a:solidFill>
                  <a:srgbClr val="3E5F5A"/>
                </a:solidFill>
                <a:latin typeface="Segoe UI"/>
              </a:rPr>
              <a:t>5</a:t>
            </a:r>
          </a:p>
        </p:txBody>
      </p:sp>
      <p:sp>
        <p:nvSpPr>
          <p:cNvPr id="22" name="TextBox 21"/>
          <p:cNvSpPr txBox="1"/>
          <p:nvPr/>
        </p:nvSpPr>
        <p:spPr>
          <a:xfrm>
            <a:off x="1325880" y="4782312"/>
            <a:ext cx="6035040" cy="731520"/>
          </a:xfrm>
          <a:prstGeom prst="rect">
            <a:avLst/>
          </a:prstGeom>
          <a:noFill/>
        </p:spPr>
        <p:txBody>
          <a:bodyPr wrap="square" anchor="t" lIns="0" rIns="0" tIns="0" bIns="0">
            <a:spAutoFit/>
          </a:bodyPr>
          <a:lstStyle/>
          <a:p>
            <a:pPr algn="l">
              <a:lnSpc>
                <a:spcPct val="115000"/>
              </a:lnSpc>
            </a:pPr>
            <a:r>
              <a:rPr sz="1350" b="1" i="0">
                <a:solidFill>
                  <a:srgbClr val="1F2421"/>
                </a:solidFill>
                <a:latin typeface="Segoe UI"/>
              </a:rPr>
              <a:t>Scale</a:t>
            </a:r>
          </a:p>
          <a:p>
            <a:pPr algn="l">
              <a:lnSpc>
                <a:spcPct val="115000"/>
              </a:lnSpc>
            </a:pPr>
            <a:r>
              <a:rPr sz="1150" b="0" i="0">
                <a:solidFill>
                  <a:srgbClr val="5B625C"/>
                </a:solidFill>
                <a:latin typeface="Segoe UI"/>
              </a:rPr>
              <a:t>Signed log(1+x), then min-max to [0, 1], fitted on training data only.</a:t>
            </a:r>
          </a:p>
        </p:txBody>
      </p:sp>
      <p:sp>
        <p:nvSpPr>
          <p:cNvPr id="23" name="Rounded Rectangle 22"/>
          <p:cNvSpPr/>
          <p:nvPr/>
        </p:nvSpPr>
        <p:spPr>
          <a:xfrm>
            <a:off x="7680960" y="1783080"/>
            <a:ext cx="3776472" cy="3840480"/>
          </a:xfrm>
          <a:prstGeom prst="roundRect">
            <a:avLst>
              <a:gd name="adj" fmla="val 4000"/>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55279" y="2011680"/>
            <a:ext cx="3291840" cy="320040"/>
          </a:xfrm>
          <a:prstGeom prst="rect">
            <a:avLst/>
          </a:prstGeom>
          <a:noFill/>
        </p:spPr>
        <p:txBody>
          <a:bodyPr wrap="square" anchor="t" lIns="0" rIns="0" tIns="0" bIns="0">
            <a:spAutoFit/>
          </a:bodyPr>
          <a:lstStyle/>
          <a:p>
            <a:pPr algn="l">
              <a:lnSpc>
                <a:spcPct val="120000"/>
              </a:lnSpc>
            </a:pPr>
            <a:r>
              <a:rPr sz="1100" b="1" i="0">
                <a:solidFill>
                  <a:srgbClr val="3E5F5A"/>
                </a:solidFill>
                <a:latin typeface="Segoe UI"/>
              </a:rPr>
              <a:t>RESULT</a:t>
            </a:r>
          </a:p>
        </p:txBody>
      </p:sp>
      <p:sp>
        <p:nvSpPr>
          <p:cNvPr id="25" name="TextBox 24"/>
          <p:cNvSpPr txBox="1"/>
          <p:nvPr/>
        </p:nvSpPr>
        <p:spPr>
          <a:xfrm>
            <a:off x="7955279" y="2423160"/>
            <a:ext cx="3291840" cy="731520"/>
          </a:xfrm>
          <a:prstGeom prst="rect">
            <a:avLst/>
          </a:prstGeom>
          <a:noFill/>
        </p:spPr>
        <p:txBody>
          <a:bodyPr wrap="square" anchor="t" lIns="0" rIns="0" tIns="0" bIns="0">
            <a:spAutoFit/>
          </a:bodyPr>
          <a:lstStyle/>
          <a:p>
            <a:pPr algn="l">
              <a:lnSpc>
                <a:spcPct val="100000"/>
              </a:lnSpc>
            </a:pPr>
            <a:r>
              <a:rPr sz="2200" b="0" i="0">
                <a:solidFill>
                  <a:srgbClr val="1F2421"/>
                </a:solidFill>
                <a:latin typeface="Georgia"/>
              </a:rPr>
              <a:t>66</a:t>
            </a:r>
          </a:p>
          <a:p>
            <a:pPr algn="l">
              <a:lnSpc>
                <a:spcPct val="100000"/>
              </a:lnSpc>
            </a:pPr>
            <a:r>
              <a:rPr sz="1100" b="0" i="0">
                <a:solidFill>
                  <a:srgbClr val="5B625C"/>
                </a:solidFill>
                <a:latin typeface="Segoe UI"/>
              </a:rPr>
              <a:t>features per flow</a:t>
            </a:r>
          </a:p>
        </p:txBody>
      </p:sp>
      <p:sp>
        <p:nvSpPr>
          <p:cNvPr id="26" name="TextBox 25"/>
          <p:cNvSpPr txBox="1"/>
          <p:nvPr/>
        </p:nvSpPr>
        <p:spPr>
          <a:xfrm>
            <a:off x="7955279" y="3200400"/>
            <a:ext cx="3291840" cy="731520"/>
          </a:xfrm>
          <a:prstGeom prst="rect">
            <a:avLst/>
          </a:prstGeom>
          <a:noFill/>
        </p:spPr>
        <p:txBody>
          <a:bodyPr wrap="square" anchor="t" lIns="0" rIns="0" tIns="0" bIns="0">
            <a:spAutoFit/>
          </a:bodyPr>
          <a:lstStyle/>
          <a:p>
            <a:pPr algn="l">
              <a:lnSpc>
                <a:spcPct val="100000"/>
              </a:lnSpc>
            </a:pPr>
            <a:r>
              <a:rPr sz="2200" b="0" i="0">
                <a:solidFill>
                  <a:srgbClr val="1F2421"/>
                </a:solidFill>
                <a:latin typeface="Georgia"/>
              </a:rPr>
              <a:t>564,007</a:t>
            </a:r>
          </a:p>
          <a:p>
            <a:pPr algn="l">
              <a:lnSpc>
                <a:spcPct val="100000"/>
              </a:lnSpc>
            </a:pPr>
            <a:r>
              <a:rPr sz="1100" b="0" i="0">
                <a:solidFill>
                  <a:srgbClr val="5B625C"/>
                </a:solidFill>
                <a:latin typeface="Segoe UI"/>
              </a:rPr>
              <a:t>training flows</a:t>
            </a:r>
          </a:p>
        </p:txBody>
      </p:sp>
      <p:sp>
        <p:nvSpPr>
          <p:cNvPr id="27" name="TextBox 26"/>
          <p:cNvSpPr txBox="1"/>
          <p:nvPr/>
        </p:nvSpPr>
        <p:spPr>
          <a:xfrm>
            <a:off x="7955279" y="3977640"/>
            <a:ext cx="3291840" cy="731520"/>
          </a:xfrm>
          <a:prstGeom prst="rect">
            <a:avLst/>
          </a:prstGeom>
          <a:noFill/>
        </p:spPr>
        <p:txBody>
          <a:bodyPr wrap="square" anchor="t" lIns="0" rIns="0" tIns="0" bIns="0">
            <a:spAutoFit/>
          </a:bodyPr>
          <a:lstStyle/>
          <a:p>
            <a:pPr algn="l">
              <a:lnSpc>
                <a:spcPct val="100000"/>
              </a:lnSpc>
            </a:pPr>
            <a:r>
              <a:rPr sz="2200" b="0" i="0">
                <a:solidFill>
                  <a:srgbClr val="1F2421"/>
                </a:solidFill>
                <a:latin typeface="Georgia"/>
              </a:rPr>
              <a:t>79,491</a:t>
            </a:r>
          </a:p>
          <a:p>
            <a:pPr algn="l">
              <a:lnSpc>
                <a:spcPct val="100000"/>
              </a:lnSpc>
            </a:pPr>
            <a:r>
              <a:rPr sz="1100" b="0" i="0">
                <a:solidFill>
                  <a:srgbClr val="5B625C"/>
                </a:solidFill>
                <a:latin typeface="Segoe UI"/>
              </a:rPr>
              <a:t>test flows</a:t>
            </a:r>
          </a:p>
        </p:txBody>
      </p:sp>
      <p:sp>
        <p:nvSpPr>
          <p:cNvPr id="28" name="TextBox 27"/>
          <p:cNvSpPr txBox="1"/>
          <p:nvPr/>
        </p:nvSpPr>
        <p:spPr>
          <a:xfrm>
            <a:off x="7955279" y="4754880"/>
            <a:ext cx="3291840" cy="731520"/>
          </a:xfrm>
          <a:prstGeom prst="rect">
            <a:avLst/>
          </a:prstGeom>
          <a:noFill/>
        </p:spPr>
        <p:txBody>
          <a:bodyPr wrap="square" anchor="t" lIns="0" rIns="0" tIns="0" bIns="0">
            <a:spAutoFit/>
          </a:bodyPr>
          <a:lstStyle/>
          <a:p>
            <a:pPr algn="l">
              <a:lnSpc>
                <a:spcPct val="100000"/>
              </a:lnSpc>
            </a:pPr>
            <a:r>
              <a:rPr sz="2200" b="0" i="0">
                <a:solidFill>
                  <a:srgbClr val="1F2421"/>
                </a:solidFill>
                <a:latin typeface="Georgia"/>
              </a:rPr>
              <a:t>10</a:t>
            </a:r>
          </a:p>
          <a:p>
            <a:pPr algn="l">
              <a:lnSpc>
                <a:spcPct val="100000"/>
              </a:lnSpc>
            </a:pPr>
            <a:r>
              <a:rPr sz="1100" b="0" i="0">
                <a:solidFill>
                  <a:srgbClr val="5B625C"/>
                </a:solidFill>
                <a:latin typeface="Segoe UI"/>
              </a:rPr>
              <a:t>router clients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03 · METHODOLOGY</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Model and training</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15</a:t>
            </a:r>
          </a:p>
        </p:txBody>
      </p:sp>
      <p:sp>
        <p:nvSpPr>
          <p:cNvPr id="8" name="Rounded Rectangle 7"/>
          <p:cNvSpPr/>
          <p:nvPr/>
        </p:nvSpPr>
        <p:spPr>
          <a:xfrm>
            <a:off x="822960" y="1965960"/>
            <a:ext cx="1554480" cy="868680"/>
          </a:xfrm>
          <a:prstGeom prst="roundRect">
            <a:avLst>
              <a:gd name="adj" fmla="val 8000"/>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965960"/>
            <a:ext cx="1371600" cy="868680"/>
          </a:xfrm>
          <a:prstGeom prst="rect">
            <a:avLst/>
          </a:prstGeom>
          <a:noFill/>
        </p:spPr>
        <p:txBody>
          <a:bodyPr wrap="square" anchor="ctr" lIns="0" rIns="0" tIns="0" bIns="0">
            <a:spAutoFit/>
          </a:bodyPr>
          <a:lstStyle/>
          <a:p>
            <a:pPr algn="ctr">
              <a:lnSpc>
                <a:spcPct val="110000"/>
              </a:lnSpc>
            </a:pPr>
            <a:r>
              <a:rPr sz="1400" b="1" i="0">
                <a:solidFill>
                  <a:srgbClr val="1F2421"/>
                </a:solidFill>
                <a:latin typeface="Segoe UI"/>
              </a:rPr>
              <a:t>66</a:t>
            </a:r>
          </a:p>
          <a:p>
            <a:pPr algn="ctr">
              <a:lnSpc>
                <a:spcPct val="110000"/>
              </a:lnSpc>
            </a:pPr>
            <a:r>
              <a:rPr sz="1200" b="0" i="0">
                <a:solidFill>
                  <a:srgbClr val="5B625C"/>
                </a:solidFill>
                <a:latin typeface="Segoe UI"/>
              </a:rPr>
              <a:t>Input</a:t>
            </a:r>
          </a:p>
        </p:txBody>
      </p:sp>
      <p:cxnSp>
        <p:nvCxnSpPr>
          <p:cNvPr id="10" name="Connector 9"/>
          <p:cNvCxnSpPr/>
          <p:nvPr/>
        </p:nvCxnSpPr>
        <p:spPr>
          <a:xfrm>
            <a:off x="2414016" y="2400300"/>
            <a:ext cx="493776" cy="0"/>
          </a:xfrm>
          <a:prstGeom prst="line">
            <a:avLst/>
          </a:prstGeom>
          <a:ln w="15875">
            <a:solidFill>
              <a:srgbClr val="8C918A"/>
            </a:solidFill>
            <a:tailEnd type="triangle" w="med" len="med"/>
          </a:ln>
        </p:spPr>
      </p:cxnSp>
      <p:sp>
        <p:nvSpPr>
          <p:cNvPr id="11" name="Rounded Rectangle 10"/>
          <p:cNvSpPr/>
          <p:nvPr/>
        </p:nvSpPr>
        <p:spPr>
          <a:xfrm>
            <a:off x="2944368" y="1965960"/>
            <a:ext cx="1554480" cy="868680"/>
          </a:xfrm>
          <a:prstGeom prst="roundRect">
            <a:avLst>
              <a:gd name="adj" fmla="val 8000"/>
            </a:avLst>
          </a:prstGeom>
          <a:solidFill>
            <a:srgbClr val="E4EBE8"/>
          </a:solidFill>
          <a:ln w="9525">
            <a:solidFill>
              <a:srgbClr val="3E5F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35808" y="1965960"/>
            <a:ext cx="1371600" cy="868680"/>
          </a:xfrm>
          <a:prstGeom prst="rect">
            <a:avLst/>
          </a:prstGeom>
          <a:noFill/>
        </p:spPr>
        <p:txBody>
          <a:bodyPr wrap="square" anchor="ctr" lIns="0" rIns="0" tIns="0" bIns="0">
            <a:spAutoFit/>
          </a:bodyPr>
          <a:lstStyle/>
          <a:p>
            <a:pPr algn="ctr">
              <a:lnSpc>
                <a:spcPct val="110000"/>
              </a:lnSpc>
            </a:pPr>
            <a:r>
              <a:rPr sz="1400" b="1" i="0">
                <a:solidFill>
                  <a:srgbClr val="1F2421"/>
                </a:solidFill>
                <a:latin typeface="Segoe UI"/>
              </a:rPr>
              <a:t>256</a:t>
            </a:r>
          </a:p>
          <a:p>
            <a:pPr algn="ctr">
              <a:lnSpc>
                <a:spcPct val="110000"/>
              </a:lnSpc>
            </a:pPr>
            <a:r>
              <a:rPr sz="1200" b="0" i="0">
                <a:solidFill>
                  <a:srgbClr val="5B625C"/>
                </a:solidFill>
                <a:latin typeface="Segoe UI"/>
              </a:rPr>
              <a:t>Dense</a:t>
            </a:r>
          </a:p>
        </p:txBody>
      </p:sp>
      <p:cxnSp>
        <p:nvCxnSpPr>
          <p:cNvPr id="13" name="Connector 12"/>
          <p:cNvCxnSpPr/>
          <p:nvPr/>
        </p:nvCxnSpPr>
        <p:spPr>
          <a:xfrm>
            <a:off x="4535424" y="2400300"/>
            <a:ext cx="493776" cy="0"/>
          </a:xfrm>
          <a:prstGeom prst="line">
            <a:avLst/>
          </a:prstGeom>
          <a:ln w="15875">
            <a:solidFill>
              <a:srgbClr val="8C918A"/>
            </a:solidFill>
            <a:tailEnd type="triangle" w="med" len="med"/>
          </a:ln>
        </p:spPr>
      </p:cxnSp>
      <p:sp>
        <p:nvSpPr>
          <p:cNvPr id="14" name="Rounded Rectangle 13"/>
          <p:cNvSpPr/>
          <p:nvPr/>
        </p:nvSpPr>
        <p:spPr>
          <a:xfrm>
            <a:off x="5065776" y="1965960"/>
            <a:ext cx="1554480" cy="868680"/>
          </a:xfrm>
          <a:prstGeom prst="roundRect">
            <a:avLst>
              <a:gd name="adj" fmla="val 8000"/>
            </a:avLst>
          </a:prstGeom>
          <a:solidFill>
            <a:srgbClr val="E4EBE8"/>
          </a:solidFill>
          <a:ln w="9525">
            <a:solidFill>
              <a:srgbClr val="3E5F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57216" y="1965960"/>
            <a:ext cx="1371600" cy="868680"/>
          </a:xfrm>
          <a:prstGeom prst="rect">
            <a:avLst/>
          </a:prstGeom>
          <a:noFill/>
        </p:spPr>
        <p:txBody>
          <a:bodyPr wrap="square" anchor="ctr" lIns="0" rIns="0" tIns="0" bIns="0">
            <a:spAutoFit/>
          </a:bodyPr>
          <a:lstStyle/>
          <a:p>
            <a:pPr algn="ctr">
              <a:lnSpc>
                <a:spcPct val="110000"/>
              </a:lnSpc>
            </a:pPr>
            <a:r>
              <a:rPr sz="1400" b="1" i="0">
                <a:solidFill>
                  <a:srgbClr val="1F2421"/>
                </a:solidFill>
                <a:latin typeface="Segoe UI"/>
              </a:rPr>
              <a:t>128</a:t>
            </a:r>
          </a:p>
          <a:p>
            <a:pPr algn="ctr">
              <a:lnSpc>
                <a:spcPct val="110000"/>
              </a:lnSpc>
            </a:pPr>
            <a:r>
              <a:rPr sz="1200" b="0" i="0">
                <a:solidFill>
                  <a:srgbClr val="5B625C"/>
                </a:solidFill>
                <a:latin typeface="Segoe UI"/>
              </a:rPr>
              <a:t>Dense</a:t>
            </a:r>
          </a:p>
        </p:txBody>
      </p:sp>
      <p:cxnSp>
        <p:nvCxnSpPr>
          <p:cNvPr id="16" name="Connector 15"/>
          <p:cNvCxnSpPr/>
          <p:nvPr/>
        </p:nvCxnSpPr>
        <p:spPr>
          <a:xfrm>
            <a:off x="6656832" y="2400300"/>
            <a:ext cx="493776" cy="0"/>
          </a:xfrm>
          <a:prstGeom prst="line">
            <a:avLst/>
          </a:prstGeom>
          <a:ln w="15875">
            <a:solidFill>
              <a:srgbClr val="8C918A"/>
            </a:solidFill>
            <a:tailEnd type="triangle" w="med" len="med"/>
          </a:ln>
        </p:spPr>
      </p:cxnSp>
      <p:sp>
        <p:nvSpPr>
          <p:cNvPr id="17" name="Rounded Rectangle 16"/>
          <p:cNvSpPr/>
          <p:nvPr/>
        </p:nvSpPr>
        <p:spPr>
          <a:xfrm>
            <a:off x="7187184" y="1965960"/>
            <a:ext cx="1554480" cy="868680"/>
          </a:xfrm>
          <a:prstGeom prst="roundRect">
            <a:avLst>
              <a:gd name="adj" fmla="val 8000"/>
            </a:avLst>
          </a:prstGeom>
          <a:solidFill>
            <a:srgbClr val="E4EBE8"/>
          </a:solidFill>
          <a:ln w="9525">
            <a:solidFill>
              <a:srgbClr val="3E5F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78624" y="1965960"/>
            <a:ext cx="1371600" cy="868680"/>
          </a:xfrm>
          <a:prstGeom prst="rect">
            <a:avLst/>
          </a:prstGeom>
          <a:noFill/>
        </p:spPr>
        <p:txBody>
          <a:bodyPr wrap="square" anchor="ctr" lIns="0" rIns="0" tIns="0" bIns="0">
            <a:spAutoFit/>
          </a:bodyPr>
          <a:lstStyle/>
          <a:p>
            <a:pPr algn="ctr">
              <a:lnSpc>
                <a:spcPct val="110000"/>
              </a:lnSpc>
            </a:pPr>
            <a:r>
              <a:rPr sz="1400" b="1" i="0">
                <a:solidFill>
                  <a:srgbClr val="1F2421"/>
                </a:solidFill>
                <a:latin typeface="Segoe UI"/>
              </a:rPr>
              <a:t>64</a:t>
            </a:r>
          </a:p>
          <a:p>
            <a:pPr algn="ctr">
              <a:lnSpc>
                <a:spcPct val="110000"/>
              </a:lnSpc>
            </a:pPr>
            <a:r>
              <a:rPr sz="1200" b="0" i="0">
                <a:solidFill>
                  <a:srgbClr val="5B625C"/>
                </a:solidFill>
                <a:latin typeface="Segoe UI"/>
              </a:rPr>
              <a:t>Dense</a:t>
            </a:r>
          </a:p>
        </p:txBody>
      </p:sp>
      <p:cxnSp>
        <p:nvCxnSpPr>
          <p:cNvPr id="19" name="Connector 18"/>
          <p:cNvCxnSpPr/>
          <p:nvPr/>
        </p:nvCxnSpPr>
        <p:spPr>
          <a:xfrm>
            <a:off x="8778240" y="2400300"/>
            <a:ext cx="493776" cy="0"/>
          </a:xfrm>
          <a:prstGeom prst="line">
            <a:avLst/>
          </a:prstGeom>
          <a:ln w="15875">
            <a:solidFill>
              <a:srgbClr val="8C918A"/>
            </a:solidFill>
            <a:tailEnd type="triangle" w="med" len="med"/>
          </a:ln>
        </p:spPr>
      </p:cxnSp>
      <p:sp>
        <p:nvSpPr>
          <p:cNvPr id="20" name="Rounded Rectangle 19"/>
          <p:cNvSpPr/>
          <p:nvPr/>
        </p:nvSpPr>
        <p:spPr>
          <a:xfrm>
            <a:off x="9308592" y="1965960"/>
            <a:ext cx="1554480" cy="868680"/>
          </a:xfrm>
          <a:prstGeom prst="roundRect">
            <a:avLst>
              <a:gd name="adj" fmla="val 8000"/>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00032" y="1965960"/>
            <a:ext cx="1371600" cy="868680"/>
          </a:xfrm>
          <a:prstGeom prst="rect">
            <a:avLst/>
          </a:prstGeom>
          <a:noFill/>
        </p:spPr>
        <p:txBody>
          <a:bodyPr wrap="square" anchor="ctr" lIns="0" rIns="0" tIns="0" bIns="0">
            <a:spAutoFit/>
          </a:bodyPr>
          <a:lstStyle/>
          <a:p>
            <a:pPr algn="ctr">
              <a:lnSpc>
                <a:spcPct val="110000"/>
              </a:lnSpc>
            </a:pPr>
            <a:r>
              <a:rPr sz="1400" b="1" i="0">
                <a:solidFill>
                  <a:srgbClr val="1F2421"/>
                </a:solidFill>
                <a:latin typeface="Segoe UI"/>
              </a:rPr>
              <a:t>1 · sigmoid</a:t>
            </a:r>
          </a:p>
          <a:p>
            <a:pPr algn="ctr">
              <a:lnSpc>
                <a:spcPct val="110000"/>
              </a:lnSpc>
            </a:pPr>
            <a:r>
              <a:rPr sz="1200" b="0" i="0">
                <a:solidFill>
                  <a:srgbClr val="5B625C"/>
                </a:solidFill>
                <a:latin typeface="Segoe UI"/>
              </a:rPr>
              <a:t>Output</a:t>
            </a:r>
          </a:p>
        </p:txBody>
      </p:sp>
      <p:sp>
        <p:nvSpPr>
          <p:cNvPr id="22" name="TextBox 21"/>
          <p:cNvSpPr txBox="1"/>
          <p:nvPr/>
        </p:nvSpPr>
        <p:spPr>
          <a:xfrm>
            <a:off x="822960" y="2926080"/>
            <a:ext cx="10515600" cy="320040"/>
          </a:xfrm>
          <a:prstGeom prst="rect">
            <a:avLst/>
          </a:prstGeom>
          <a:noFill/>
        </p:spPr>
        <p:txBody>
          <a:bodyPr wrap="square" anchor="t" lIns="0" rIns="0" tIns="0" bIns="0">
            <a:spAutoFit/>
          </a:bodyPr>
          <a:lstStyle/>
          <a:p>
            <a:pPr algn="ctr">
              <a:lnSpc>
                <a:spcPct val="120000"/>
              </a:lnSpc>
            </a:pPr>
            <a:r>
              <a:rPr sz="1150" b="0" i="0">
                <a:solidFill>
                  <a:srgbClr val="5B625C"/>
                </a:solidFill>
                <a:latin typeface="Segoe UI"/>
              </a:rPr>
              <a:t>ReLU, dropout 0.3 / 0.3 / 0.2, L2 weight decay · 58,369 parameters · 11-class variant uses a softmax output</a:t>
            </a:r>
          </a:p>
        </p:txBody>
      </p:sp>
      <p:sp>
        <p:nvSpPr>
          <p:cNvPr id="23" name="Rounded Rectangle 22"/>
          <p:cNvSpPr/>
          <p:nvPr/>
        </p:nvSpPr>
        <p:spPr>
          <a:xfrm>
            <a:off x="731520" y="3611880"/>
            <a:ext cx="3429000" cy="2514600"/>
          </a:xfrm>
          <a:prstGeom prst="roundRect">
            <a:avLst>
              <a:gd name="adj" fmla="val 4000"/>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794760"/>
            <a:ext cx="2926080" cy="320040"/>
          </a:xfrm>
          <a:prstGeom prst="rect">
            <a:avLst/>
          </a:prstGeom>
          <a:noFill/>
        </p:spPr>
        <p:txBody>
          <a:bodyPr wrap="square" anchor="t" lIns="0" rIns="0" tIns="0" bIns="0">
            <a:spAutoFit/>
          </a:bodyPr>
          <a:lstStyle/>
          <a:p>
            <a:pPr algn="l">
              <a:lnSpc>
                <a:spcPct val="120000"/>
              </a:lnSpc>
            </a:pPr>
            <a:r>
              <a:rPr sz="1350" b="1" i="0">
                <a:solidFill>
                  <a:srgbClr val="1F2421"/>
                </a:solidFill>
                <a:latin typeface="Segoe UI"/>
              </a:rPr>
              <a:t>Centralized baseline</a:t>
            </a:r>
          </a:p>
        </p:txBody>
      </p:sp>
      <p:sp>
        <p:nvSpPr>
          <p:cNvPr id="25" name="TextBox 24"/>
          <p:cNvSpPr txBox="1"/>
          <p:nvPr/>
        </p:nvSpPr>
        <p:spPr>
          <a:xfrm>
            <a:off x="1005840" y="4206240"/>
            <a:ext cx="2971800" cy="1828800"/>
          </a:xfrm>
          <a:prstGeom prst="rect">
            <a:avLst/>
          </a:prstGeom>
          <a:noFill/>
        </p:spPr>
        <p:txBody>
          <a:bodyPr wrap="square" lIns="0" rIns="0" tIns="0" bIns="0">
            <a:spAutoFit/>
          </a:bodyPr>
          <a:lstStyle/>
          <a:p>
            <a:pPr marL="219456" indent="-219456">
              <a:lnSpc>
                <a:spcPct val="120000"/>
              </a:lnSpc>
              <a:spcAft>
                <a:spcPts val="400"/>
              </a:spcAft>
              <a:buClr>
                <a:srgbClr val="3E5F5A"/>
              </a:buClr>
              <a:buFont typeface="Arial"/>
              <a:buChar char="•"/>
            </a:pPr>
            <a:r>
              <a:rPr sz="1150">
                <a:solidFill>
                  <a:srgbClr val="1F2421"/>
                </a:solidFill>
                <a:latin typeface="Segoe UI"/>
              </a:rPr>
              <a:t>All training data in one place</a:t>
            </a:r>
          </a:p>
          <a:p>
            <a:pPr marL="219456" indent="-219456">
              <a:lnSpc>
                <a:spcPct val="120000"/>
              </a:lnSpc>
              <a:spcAft>
                <a:spcPts val="400"/>
              </a:spcAft>
              <a:buClr>
                <a:srgbClr val="3E5F5A"/>
              </a:buClr>
              <a:buFont typeface="Arial"/>
              <a:buChar char="•"/>
            </a:pPr>
            <a:r>
              <a:rPr sz="1150">
                <a:solidFill>
                  <a:srgbClr val="1F2421"/>
                </a:solidFill>
                <a:latin typeface="Segoe UI"/>
              </a:rPr>
              <a:t>Stratified 90 / 10 validation split</a:t>
            </a:r>
          </a:p>
          <a:p>
            <a:pPr marL="219456" indent="-219456">
              <a:lnSpc>
                <a:spcPct val="120000"/>
              </a:lnSpc>
              <a:spcAft>
                <a:spcPts val="400"/>
              </a:spcAft>
              <a:buClr>
                <a:srgbClr val="3E5F5A"/>
              </a:buClr>
              <a:buFont typeface="Arial"/>
              <a:buChar char="•"/>
            </a:pPr>
            <a:r>
              <a:rPr sz="1150">
                <a:solidFill>
                  <a:srgbClr val="1F2421"/>
                </a:solidFill>
                <a:latin typeface="Segoe UI"/>
              </a:rPr>
              <a:t>Class weights, early stopping</a:t>
            </a:r>
          </a:p>
          <a:p>
            <a:pPr marL="219456" indent="-219456">
              <a:lnSpc>
                <a:spcPct val="120000"/>
              </a:lnSpc>
              <a:spcAft>
                <a:spcPts val="400"/>
              </a:spcAft>
              <a:buClr>
                <a:srgbClr val="3E5F5A"/>
              </a:buClr>
              <a:buFont typeface="Arial"/>
              <a:buChar char="•"/>
            </a:pPr>
            <a:r>
              <a:rPr sz="1150">
                <a:solidFill>
                  <a:srgbClr val="1F2421"/>
                </a:solidFill>
                <a:latin typeface="Segoe UI"/>
              </a:rPr>
              <a:t>Decision threshold tuned on validation</a:t>
            </a:r>
          </a:p>
        </p:txBody>
      </p:sp>
      <p:sp>
        <p:nvSpPr>
          <p:cNvPr id="26" name="Rounded Rectangle 25"/>
          <p:cNvSpPr/>
          <p:nvPr/>
        </p:nvSpPr>
        <p:spPr>
          <a:xfrm>
            <a:off x="4361688" y="3611880"/>
            <a:ext cx="3429000" cy="2514600"/>
          </a:xfrm>
          <a:prstGeom prst="roundRect">
            <a:avLst>
              <a:gd name="adj" fmla="val 4000"/>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36008" y="3794760"/>
            <a:ext cx="2926080" cy="320040"/>
          </a:xfrm>
          <a:prstGeom prst="rect">
            <a:avLst/>
          </a:prstGeom>
          <a:noFill/>
        </p:spPr>
        <p:txBody>
          <a:bodyPr wrap="square" anchor="t" lIns="0" rIns="0" tIns="0" bIns="0">
            <a:spAutoFit/>
          </a:bodyPr>
          <a:lstStyle/>
          <a:p>
            <a:pPr algn="l">
              <a:lnSpc>
                <a:spcPct val="120000"/>
              </a:lnSpc>
            </a:pPr>
            <a:r>
              <a:rPr sz="1350" b="1" i="0">
                <a:solidFill>
                  <a:srgbClr val="1F2421"/>
                </a:solidFill>
                <a:latin typeface="Segoe UI"/>
              </a:rPr>
              <a:t>Federated (FedAvg)</a:t>
            </a:r>
          </a:p>
        </p:txBody>
      </p:sp>
      <p:sp>
        <p:nvSpPr>
          <p:cNvPr id="28" name="TextBox 27"/>
          <p:cNvSpPr txBox="1"/>
          <p:nvPr/>
        </p:nvSpPr>
        <p:spPr>
          <a:xfrm>
            <a:off x="4636008" y="4206240"/>
            <a:ext cx="2971800" cy="1828800"/>
          </a:xfrm>
          <a:prstGeom prst="rect">
            <a:avLst/>
          </a:prstGeom>
          <a:noFill/>
        </p:spPr>
        <p:txBody>
          <a:bodyPr wrap="square" lIns="0" rIns="0" tIns="0" bIns="0">
            <a:spAutoFit/>
          </a:bodyPr>
          <a:lstStyle/>
          <a:p>
            <a:pPr marL="219456" indent="-219456">
              <a:lnSpc>
                <a:spcPct val="120000"/>
              </a:lnSpc>
              <a:spcAft>
                <a:spcPts val="400"/>
              </a:spcAft>
              <a:buClr>
                <a:srgbClr val="3E5F5A"/>
              </a:buClr>
              <a:buFont typeface="Arial"/>
              <a:buChar char="•"/>
            </a:pPr>
            <a:r>
              <a:rPr sz="1150">
                <a:solidFill>
                  <a:srgbClr val="1F2421"/>
                </a:solidFill>
                <a:latin typeface="Segoe UI"/>
              </a:rPr>
              <a:t>10 router clients, one model each round</a:t>
            </a:r>
          </a:p>
          <a:p>
            <a:pPr marL="219456" indent="-219456">
              <a:lnSpc>
                <a:spcPct val="120000"/>
              </a:lnSpc>
              <a:spcAft>
                <a:spcPts val="400"/>
              </a:spcAft>
              <a:buClr>
                <a:srgbClr val="3E5F5A"/>
              </a:buClr>
              <a:buFont typeface="Arial"/>
              <a:buChar char="•"/>
            </a:pPr>
            <a:r>
              <a:rPr sz="1150">
                <a:solidFill>
                  <a:srgbClr val="1F2421"/>
                </a:solidFill>
                <a:latin typeface="Segoe UI"/>
              </a:rPr>
              <a:t>Phase 6: 15 rounds × 2 local epochs</a:t>
            </a:r>
          </a:p>
          <a:p>
            <a:pPr marL="219456" indent="-219456">
              <a:lnSpc>
                <a:spcPct val="120000"/>
              </a:lnSpc>
              <a:spcAft>
                <a:spcPts val="400"/>
              </a:spcAft>
              <a:buClr>
                <a:srgbClr val="3E5F5A"/>
              </a:buClr>
              <a:buFont typeface="Arial"/>
              <a:buChar char="•"/>
            </a:pPr>
            <a:r>
              <a:rPr sz="1150">
                <a:solidFill>
                  <a:srgbClr val="1F2421"/>
                </a:solidFill>
                <a:latin typeface="Segoe UI"/>
              </a:rPr>
              <a:t>Attack runs: 12 rounds × 1 epoch</a:t>
            </a:r>
          </a:p>
          <a:p>
            <a:pPr marL="219456" indent="-219456">
              <a:lnSpc>
                <a:spcPct val="120000"/>
              </a:lnSpc>
              <a:spcAft>
                <a:spcPts val="400"/>
              </a:spcAft>
              <a:buClr>
                <a:srgbClr val="3E5F5A"/>
              </a:buClr>
              <a:buFont typeface="Arial"/>
              <a:buChar char="•"/>
            </a:pPr>
            <a:r>
              <a:rPr sz="1150">
                <a:solidFill>
                  <a:srgbClr val="1F2421"/>
                </a:solidFill>
                <a:latin typeface="Segoe UI"/>
              </a:rPr>
              <a:t>Average weighted by client data size</a:t>
            </a:r>
          </a:p>
        </p:txBody>
      </p:sp>
      <p:sp>
        <p:nvSpPr>
          <p:cNvPr id="29" name="Rounded Rectangle 28"/>
          <p:cNvSpPr/>
          <p:nvPr/>
        </p:nvSpPr>
        <p:spPr>
          <a:xfrm>
            <a:off x="7991856" y="3611880"/>
            <a:ext cx="3429000" cy="2514600"/>
          </a:xfrm>
          <a:prstGeom prst="roundRect">
            <a:avLst>
              <a:gd name="adj" fmla="val 4000"/>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66176" y="3794760"/>
            <a:ext cx="2926080" cy="320040"/>
          </a:xfrm>
          <a:prstGeom prst="rect">
            <a:avLst/>
          </a:prstGeom>
          <a:noFill/>
        </p:spPr>
        <p:txBody>
          <a:bodyPr wrap="square" anchor="t" lIns="0" rIns="0" tIns="0" bIns="0">
            <a:spAutoFit/>
          </a:bodyPr>
          <a:lstStyle/>
          <a:p>
            <a:pPr algn="l">
              <a:lnSpc>
                <a:spcPct val="120000"/>
              </a:lnSpc>
            </a:pPr>
            <a:r>
              <a:rPr sz="1350" b="1" i="0">
                <a:solidFill>
                  <a:srgbClr val="1F2421"/>
                </a:solidFill>
                <a:latin typeface="Segoe UI"/>
              </a:rPr>
              <a:t>Reproducibility</a:t>
            </a:r>
          </a:p>
        </p:txBody>
      </p:sp>
      <p:sp>
        <p:nvSpPr>
          <p:cNvPr id="31" name="TextBox 30"/>
          <p:cNvSpPr txBox="1"/>
          <p:nvPr/>
        </p:nvSpPr>
        <p:spPr>
          <a:xfrm>
            <a:off x="8266176" y="4206240"/>
            <a:ext cx="2971800" cy="1828800"/>
          </a:xfrm>
          <a:prstGeom prst="rect">
            <a:avLst/>
          </a:prstGeom>
          <a:noFill/>
        </p:spPr>
        <p:txBody>
          <a:bodyPr wrap="square" lIns="0" rIns="0" tIns="0" bIns="0">
            <a:spAutoFit/>
          </a:bodyPr>
          <a:lstStyle/>
          <a:p>
            <a:pPr marL="219456" indent="-219456">
              <a:lnSpc>
                <a:spcPct val="120000"/>
              </a:lnSpc>
              <a:spcAft>
                <a:spcPts val="400"/>
              </a:spcAft>
              <a:buClr>
                <a:srgbClr val="3E5F5A"/>
              </a:buClr>
              <a:buFont typeface="Arial"/>
              <a:buChar char="•"/>
            </a:pPr>
            <a:r>
              <a:rPr sz="1150">
                <a:solidFill>
                  <a:srgbClr val="1F2421"/>
                </a:solidFill>
                <a:latin typeface="Segoe UI"/>
              </a:rPr>
              <a:t>Fixed seeds for NumPy, Python, TensorFlow</a:t>
            </a:r>
          </a:p>
          <a:p>
            <a:pPr marL="219456" indent="-219456">
              <a:lnSpc>
                <a:spcPct val="120000"/>
              </a:lnSpc>
              <a:spcAft>
                <a:spcPts val="400"/>
              </a:spcAft>
              <a:buClr>
                <a:srgbClr val="3E5F5A"/>
              </a:buClr>
              <a:buFont typeface="Arial"/>
              <a:buChar char="•"/>
            </a:pPr>
            <a:r>
              <a:rPr sz="1150">
                <a:solidFill>
                  <a:srgbClr val="1F2421"/>
                </a:solidFill>
                <a:latin typeface="Segoe UI"/>
              </a:rPr>
              <a:t>Single-threaded ops (deterministic)</a:t>
            </a:r>
          </a:p>
          <a:p>
            <a:pPr marL="219456" indent="-219456">
              <a:lnSpc>
                <a:spcPct val="120000"/>
              </a:lnSpc>
              <a:spcAft>
                <a:spcPts val="400"/>
              </a:spcAft>
              <a:buClr>
                <a:srgbClr val="3E5F5A"/>
              </a:buClr>
              <a:buFont typeface="Arial"/>
              <a:buChar char="•"/>
            </a:pPr>
            <a:r>
              <a:rPr sz="1150">
                <a:solidFill>
                  <a:srgbClr val="1F2421"/>
                </a:solidFill>
                <a:latin typeface="Segoe UI"/>
              </a:rPr>
              <a:t>Same seed = same attackers and init</a:t>
            </a:r>
          </a:p>
          <a:p>
            <a:pPr marL="219456" indent="-219456">
              <a:lnSpc>
                <a:spcPct val="120000"/>
              </a:lnSpc>
              <a:spcAft>
                <a:spcPts val="400"/>
              </a:spcAft>
              <a:buClr>
                <a:srgbClr val="3E5F5A"/>
              </a:buClr>
              <a:buFont typeface="Arial"/>
              <a:buChar char="•"/>
            </a:pPr>
            <a:r>
              <a:rPr sz="1150">
                <a:solidFill>
                  <a:srgbClr val="1F2421"/>
                </a:solidFill>
                <a:latin typeface="Segoe UI"/>
              </a:rPr>
              <a:t>Every number from results/*.json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03 · METHODOLOGY</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The Krypsis update message</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16</a:t>
            </a:r>
          </a:p>
        </p:txBody>
      </p:sp>
      <p:sp>
        <p:nvSpPr>
          <p:cNvPr id="8" name="Rectangle 7"/>
          <p:cNvSpPr/>
          <p:nvPr/>
        </p:nvSpPr>
        <p:spPr>
          <a:xfrm>
            <a:off x="731520" y="1874519"/>
            <a:ext cx="1143000" cy="1051560"/>
          </a:xfrm>
          <a:prstGeom prst="rect">
            <a:avLst/>
          </a:prstGeom>
          <a:solidFill>
            <a:srgbClr val="EEECE6"/>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65960"/>
            <a:ext cx="868680" cy="91440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LENGTH</a:t>
            </a:r>
          </a:p>
          <a:p>
            <a:pPr algn="l">
              <a:lnSpc>
                <a:spcPct val="120000"/>
              </a:lnSpc>
            </a:pPr>
            <a:r>
              <a:rPr sz="1150" b="0" i="0">
                <a:solidFill>
                  <a:srgbClr val="1F2421"/>
                </a:solidFill>
                <a:latin typeface="Segoe UI"/>
              </a:rPr>
              <a:t>4 B</a:t>
            </a:r>
          </a:p>
        </p:txBody>
      </p:sp>
      <p:sp>
        <p:nvSpPr>
          <p:cNvPr id="10" name="Rectangle 9"/>
          <p:cNvSpPr/>
          <p:nvPr/>
        </p:nvSpPr>
        <p:spPr>
          <a:xfrm>
            <a:off x="1874520" y="1874519"/>
            <a:ext cx="3657600" cy="1051560"/>
          </a:xfrm>
          <a:prstGeom prst="rect">
            <a:avLst/>
          </a:prstGeom>
          <a:solidFill>
            <a:srgbClr val="E4EBE8"/>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11680" y="1965960"/>
            <a:ext cx="3383280" cy="91440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HEADER + FINGERPRINT</a:t>
            </a:r>
          </a:p>
          <a:p>
            <a:pPr algn="l">
              <a:lnSpc>
                <a:spcPct val="120000"/>
              </a:lnSpc>
            </a:pPr>
            <a:r>
              <a:rPr sz="1150" b="0" i="0">
                <a:solidFill>
                  <a:srgbClr val="1F2421"/>
                </a:solidFill>
                <a:latin typeface="Segoe UI"/>
              </a:rPr>
              <a:t>client · round · sample count · L2 norm · 4 layer norms · 64-number sketch</a:t>
            </a:r>
          </a:p>
        </p:txBody>
      </p:sp>
      <p:sp>
        <p:nvSpPr>
          <p:cNvPr id="12" name="Rectangle 11"/>
          <p:cNvSpPr/>
          <p:nvPr/>
        </p:nvSpPr>
        <p:spPr>
          <a:xfrm>
            <a:off x="5532120" y="1874519"/>
            <a:ext cx="4069080" cy="1051560"/>
          </a:xfrm>
          <a:prstGeom prst="rect">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0" y="1965960"/>
            <a:ext cx="3794760" cy="91440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PAYLOAD</a:t>
            </a:r>
          </a:p>
          <a:p>
            <a:pPr algn="l">
              <a:lnSpc>
                <a:spcPct val="120000"/>
              </a:lnSpc>
            </a:pPr>
            <a:r>
              <a:rPr sz="1150" b="0" i="0">
                <a:solidFill>
                  <a:srgbClr val="1F2421"/>
                </a:solidFill>
                <a:latin typeface="Segoe UI"/>
              </a:rPr>
              <a:t>model update Δw · 233,476 B (float32)</a:t>
            </a:r>
          </a:p>
        </p:txBody>
      </p:sp>
      <p:sp>
        <p:nvSpPr>
          <p:cNvPr id="14" name="Rectangle 13"/>
          <p:cNvSpPr/>
          <p:nvPr/>
        </p:nvSpPr>
        <p:spPr>
          <a:xfrm>
            <a:off x="9601200" y="1874519"/>
            <a:ext cx="1856231" cy="1051560"/>
          </a:xfrm>
          <a:prstGeom prst="rect">
            <a:avLst/>
          </a:prstGeom>
          <a:solidFill>
            <a:srgbClr val="F2EBE2"/>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38360" y="1965960"/>
            <a:ext cx="1581911" cy="91440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TAG</a:t>
            </a:r>
          </a:p>
          <a:p>
            <a:pPr algn="l">
              <a:lnSpc>
                <a:spcPct val="120000"/>
              </a:lnSpc>
            </a:pPr>
            <a:r>
              <a:rPr sz="1150" b="0" i="0">
                <a:solidFill>
                  <a:srgbClr val="1F2421"/>
                </a:solidFill>
                <a:latin typeface="Segoe UI"/>
              </a:rPr>
              <a:t>HMAC-SHA256 · 32 B</a:t>
            </a:r>
          </a:p>
        </p:txBody>
      </p:sp>
      <p:sp>
        <p:nvSpPr>
          <p:cNvPr id="16" name="TextBox 15"/>
          <p:cNvSpPr txBox="1"/>
          <p:nvPr/>
        </p:nvSpPr>
        <p:spPr>
          <a:xfrm>
            <a:off x="731520" y="3291840"/>
            <a:ext cx="3383280" cy="1463040"/>
          </a:xfrm>
          <a:prstGeom prst="rect">
            <a:avLst/>
          </a:prstGeom>
          <a:noFill/>
        </p:spPr>
        <p:txBody>
          <a:bodyPr wrap="square" anchor="t" lIns="0" rIns="0" tIns="0" bIns="0">
            <a:spAutoFit/>
          </a:bodyPr>
          <a:lstStyle/>
          <a:p>
            <a:pPr algn="l">
              <a:lnSpc>
                <a:spcPct val="125000"/>
              </a:lnSpc>
            </a:pPr>
            <a:r>
              <a:rPr sz="1400" b="1" i="0">
                <a:solidFill>
                  <a:srgbClr val="1F2421"/>
                </a:solidFill>
                <a:latin typeface="Segoe UI"/>
              </a:rPr>
              <a:t>Integrity tag</a:t>
            </a:r>
          </a:p>
          <a:p>
            <a:pPr algn="l">
              <a:lnSpc>
                <a:spcPct val="125000"/>
              </a:lnSpc>
            </a:pPr>
            <a:r>
              <a:rPr sz="1200" b="0" i="0">
                <a:solidFill>
                  <a:srgbClr val="5B625C"/>
                </a:solidFill>
                <a:latin typeface="Segoe UI"/>
              </a:rPr>
              <a:t>HMAC over header and payload with a key shared only by that router and the server. One changed byte → rejected.</a:t>
            </a:r>
          </a:p>
        </p:txBody>
      </p:sp>
      <p:sp>
        <p:nvSpPr>
          <p:cNvPr id="17" name="TextBox 16"/>
          <p:cNvSpPr txBox="1"/>
          <p:nvPr/>
        </p:nvSpPr>
        <p:spPr>
          <a:xfrm>
            <a:off x="4361688" y="3291840"/>
            <a:ext cx="3383280" cy="1463040"/>
          </a:xfrm>
          <a:prstGeom prst="rect">
            <a:avLst/>
          </a:prstGeom>
          <a:noFill/>
        </p:spPr>
        <p:txBody>
          <a:bodyPr wrap="square" anchor="t" lIns="0" rIns="0" tIns="0" bIns="0">
            <a:spAutoFit/>
          </a:bodyPr>
          <a:lstStyle/>
          <a:p>
            <a:pPr algn="l">
              <a:lnSpc>
                <a:spcPct val="125000"/>
              </a:lnSpc>
            </a:pPr>
            <a:r>
              <a:rPr sz="1400" b="1" i="0">
                <a:solidFill>
                  <a:srgbClr val="1F2421"/>
                </a:solidFill>
                <a:latin typeface="Segoe UI"/>
              </a:rPr>
              <a:t>Fingerprint</a:t>
            </a:r>
          </a:p>
          <a:p>
            <a:pPr algn="l">
              <a:lnSpc>
                <a:spcPct val="125000"/>
              </a:lnSpc>
            </a:pPr>
            <a:r>
              <a:rPr sz="1200" b="0" i="0">
                <a:solidFill>
                  <a:srgbClr val="5B625C"/>
                </a:solidFill>
                <a:latin typeface="Segoe UI"/>
              </a:rPr>
              <a:t>A compact summary: the update's size overall and per layer, plus a random projection (sketch) that preserves its direction.</a:t>
            </a:r>
          </a:p>
        </p:txBody>
      </p:sp>
      <p:sp>
        <p:nvSpPr>
          <p:cNvPr id="18" name="TextBox 17"/>
          <p:cNvSpPr txBox="1"/>
          <p:nvPr/>
        </p:nvSpPr>
        <p:spPr>
          <a:xfrm>
            <a:off x="7991856" y="3291840"/>
            <a:ext cx="3383280" cy="1463040"/>
          </a:xfrm>
          <a:prstGeom prst="rect">
            <a:avLst/>
          </a:prstGeom>
          <a:noFill/>
        </p:spPr>
        <p:txBody>
          <a:bodyPr wrap="square" anchor="t" lIns="0" rIns="0" tIns="0" bIns="0">
            <a:spAutoFit/>
          </a:bodyPr>
          <a:lstStyle/>
          <a:p>
            <a:pPr algn="l">
              <a:lnSpc>
                <a:spcPct val="125000"/>
              </a:lnSpc>
            </a:pPr>
            <a:r>
              <a:rPr sz="1400" b="1" i="0">
                <a:solidFill>
                  <a:srgbClr val="1F2421"/>
                </a:solidFill>
                <a:latin typeface="Segoe UI"/>
              </a:rPr>
              <a:t>Verifiable</a:t>
            </a:r>
          </a:p>
          <a:p>
            <a:pPr algn="l">
              <a:lnSpc>
                <a:spcPct val="125000"/>
              </a:lnSpc>
            </a:pPr>
            <a:r>
              <a:rPr sz="1200" b="0" i="0">
                <a:solidFill>
                  <a:srgbClr val="5B625C"/>
                </a:solidFill>
                <a:latin typeface="Segoe UI"/>
              </a:rPr>
              <a:t>The server recomputes the fingerprint from the payload — a client cannot send an innocent-looking fake.</a:t>
            </a:r>
          </a:p>
        </p:txBody>
      </p:sp>
      <p:cxnSp>
        <p:nvCxnSpPr>
          <p:cNvPr id="19" name="Connector 18"/>
          <p:cNvCxnSpPr/>
          <p:nvPr/>
        </p:nvCxnSpPr>
        <p:spPr>
          <a:xfrm>
            <a:off x="731520" y="4892040"/>
            <a:ext cx="10725912" cy="0"/>
          </a:xfrm>
          <a:prstGeom prst="line">
            <a:avLst/>
          </a:prstGeom>
          <a:ln w="9525">
            <a:solidFill>
              <a:srgbClr val="DDDAD2"/>
            </a:solidFill>
          </a:ln>
        </p:spPr>
      </p:cxnSp>
      <p:sp>
        <p:nvSpPr>
          <p:cNvPr id="20" name="TextBox 19"/>
          <p:cNvSpPr txBox="1"/>
          <p:nvPr/>
        </p:nvSpPr>
        <p:spPr>
          <a:xfrm>
            <a:off x="731520" y="5074920"/>
            <a:ext cx="3383280" cy="914400"/>
          </a:xfrm>
          <a:prstGeom prst="rect">
            <a:avLst/>
          </a:prstGeom>
          <a:noFill/>
        </p:spPr>
        <p:txBody>
          <a:bodyPr wrap="square" anchor="t" lIns="0" rIns="0" tIns="0" bIns="0">
            <a:spAutoFit/>
          </a:bodyPr>
          <a:lstStyle/>
          <a:p>
            <a:pPr algn="l">
              <a:lnSpc>
                <a:spcPct val="105000"/>
              </a:lnSpc>
            </a:pPr>
            <a:r>
              <a:rPr sz="2200" b="0" i="0">
                <a:solidFill>
                  <a:srgbClr val="1F2421"/>
                </a:solidFill>
                <a:latin typeface="Georgia"/>
              </a:rPr>
              <a:t>+1,559 B</a:t>
            </a:r>
          </a:p>
          <a:p>
            <a:pPr algn="l">
              <a:lnSpc>
                <a:spcPct val="105000"/>
              </a:lnSpc>
            </a:pPr>
            <a:r>
              <a:rPr sz="1100" b="0" i="0">
                <a:solidFill>
                  <a:srgbClr val="5B625C"/>
                </a:solidFill>
                <a:latin typeface="Segoe UI"/>
              </a:rPr>
              <a:t>overhead per update (0.67%)</a:t>
            </a:r>
          </a:p>
        </p:txBody>
      </p:sp>
      <p:sp>
        <p:nvSpPr>
          <p:cNvPr id="21" name="TextBox 20"/>
          <p:cNvSpPr txBox="1"/>
          <p:nvPr/>
        </p:nvSpPr>
        <p:spPr>
          <a:xfrm>
            <a:off x="4361688" y="5074920"/>
            <a:ext cx="3383280" cy="914400"/>
          </a:xfrm>
          <a:prstGeom prst="rect">
            <a:avLst/>
          </a:prstGeom>
          <a:noFill/>
        </p:spPr>
        <p:txBody>
          <a:bodyPr wrap="square" anchor="t" lIns="0" rIns="0" tIns="0" bIns="0">
            <a:spAutoFit/>
          </a:bodyPr>
          <a:lstStyle/>
          <a:p>
            <a:pPr algn="l">
              <a:lnSpc>
                <a:spcPct val="105000"/>
              </a:lnSpc>
            </a:pPr>
            <a:r>
              <a:rPr sz="2200" b="0" i="0">
                <a:solidFill>
                  <a:srgbClr val="1F2421"/>
                </a:solidFill>
                <a:latin typeface="Georgia"/>
              </a:rPr>
              <a:t>1,316 KB</a:t>
            </a:r>
          </a:p>
          <a:p>
            <a:pPr algn="l">
              <a:lnSpc>
                <a:spcPct val="105000"/>
              </a:lnSpc>
            </a:pPr>
            <a:r>
              <a:rPr sz="1100" b="0" i="0">
                <a:solidFill>
                  <a:srgbClr val="5B625C"/>
                </a:solidFill>
                <a:latin typeface="Segoe UI"/>
              </a:rPr>
              <a:t>same update as HTTP/JSON (5.6×)</a:t>
            </a:r>
          </a:p>
        </p:txBody>
      </p:sp>
      <p:sp>
        <p:nvSpPr>
          <p:cNvPr id="22" name="TextBox 21"/>
          <p:cNvSpPr txBox="1"/>
          <p:nvPr/>
        </p:nvSpPr>
        <p:spPr>
          <a:xfrm>
            <a:off x="7991856" y="5074920"/>
            <a:ext cx="3383280" cy="914400"/>
          </a:xfrm>
          <a:prstGeom prst="rect">
            <a:avLst/>
          </a:prstGeom>
          <a:noFill/>
        </p:spPr>
        <p:txBody>
          <a:bodyPr wrap="square" anchor="t" lIns="0" rIns="0" tIns="0" bIns="0">
            <a:spAutoFit/>
          </a:bodyPr>
          <a:lstStyle/>
          <a:p>
            <a:pPr algn="l">
              <a:lnSpc>
                <a:spcPct val="105000"/>
              </a:lnSpc>
            </a:pPr>
            <a:r>
              <a:rPr sz="2200" b="0" i="0">
                <a:solidFill>
                  <a:srgbClr val="1F2421"/>
                </a:solidFill>
                <a:latin typeface="Georgia"/>
              </a:rPr>
              <a:t>~2 ms</a:t>
            </a:r>
          </a:p>
          <a:p>
            <a:pPr algn="l">
              <a:lnSpc>
                <a:spcPct val="105000"/>
              </a:lnSpc>
            </a:pPr>
            <a:r>
              <a:rPr sz="1100" b="0" i="0">
                <a:solidFill>
                  <a:srgbClr val="5B625C"/>
                </a:solidFill>
                <a:latin typeface="Segoe UI"/>
              </a:rPr>
              <a:t>verification per message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03 · METHODOLOGY</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Server decision pipeline</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17</a:t>
            </a:r>
          </a:p>
        </p:txBody>
      </p:sp>
      <p:sp>
        <p:nvSpPr>
          <p:cNvPr id="8" name="Rectangle 7"/>
          <p:cNvSpPr/>
          <p:nvPr/>
        </p:nvSpPr>
        <p:spPr>
          <a:xfrm>
            <a:off x="731520" y="1783080"/>
            <a:ext cx="73152" cy="457200"/>
          </a:xfrm>
          <a:prstGeom prst="rect">
            <a:avLst/>
          </a:prstGeom>
          <a:solidFill>
            <a:srgbClr val="8E67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783080"/>
            <a:ext cx="2194560" cy="457200"/>
          </a:xfrm>
          <a:prstGeom prst="rect">
            <a:avLst/>
          </a:prstGeom>
          <a:noFill/>
        </p:spPr>
        <p:txBody>
          <a:bodyPr wrap="square" anchor="ctr" lIns="0" rIns="0" tIns="0" bIns="0">
            <a:spAutoFit/>
          </a:bodyPr>
          <a:lstStyle/>
          <a:p>
            <a:pPr algn="l">
              <a:lnSpc>
                <a:spcPct val="120000"/>
              </a:lnSpc>
            </a:pPr>
            <a:r>
              <a:rPr sz="1350" b="1" i="0">
                <a:solidFill>
                  <a:srgbClr val="1F2421"/>
                </a:solidFill>
                <a:latin typeface="Segoe UI"/>
              </a:rPr>
              <a:t>Verify tag</a:t>
            </a:r>
          </a:p>
        </p:txBody>
      </p:sp>
      <p:sp>
        <p:nvSpPr>
          <p:cNvPr id="10" name="TextBox 9"/>
          <p:cNvSpPr txBox="1"/>
          <p:nvPr/>
        </p:nvSpPr>
        <p:spPr>
          <a:xfrm>
            <a:off x="3200400" y="1783080"/>
            <a:ext cx="4114800" cy="457200"/>
          </a:xfrm>
          <a:prstGeom prst="rect">
            <a:avLst/>
          </a:prstGeom>
          <a:noFill/>
        </p:spPr>
        <p:txBody>
          <a:bodyPr wrap="square" anchor="ctr" lIns="0" rIns="0" tIns="0" bIns="0">
            <a:spAutoFit/>
          </a:bodyPr>
          <a:lstStyle/>
          <a:p>
            <a:pPr algn="l">
              <a:lnSpc>
                <a:spcPct val="120000"/>
              </a:lnSpc>
            </a:pPr>
            <a:r>
              <a:rPr sz="1200" b="0" i="0">
                <a:solidFill>
                  <a:srgbClr val="5B625C"/>
                </a:solidFill>
                <a:latin typeface="Segoe UI"/>
              </a:rPr>
              <a:t>HMAC mismatch → reject</a:t>
            </a:r>
          </a:p>
        </p:txBody>
      </p:sp>
      <p:sp>
        <p:nvSpPr>
          <p:cNvPr id="11" name="Rectangle 10"/>
          <p:cNvSpPr/>
          <p:nvPr/>
        </p:nvSpPr>
        <p:spPr>
          <a:xfrm>
            <a:off x="731520" y="2386584"/>
            <a:ext cx="73152" cy="457200"/>
          </a:xfrm>
          <a:prstGeom prst="rect">
            <a:avLst/>
          </a:prstGeom>
          <a:solidFill>
            <a:srgbClr val="8E67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2386584"/>
            <a:ext cx="2194560" cy="457200"/>
          </a:xfrm>
          <a:prstGeom prst="rect">
            <a:avLst/>
          </a:prstGeom>
          <a:noFill/>
        </p:spPr>
        <p:txBody>
          <a:bodyPr wrap="square" anchor="ctr" lIns="0" rIns="0" tIns="0" bIns="0">
            <a:spAutoFit/>
          </a:bodyPr>
          <a:lstStyle/>
          <a:p>
            <a:pPr algn="l">
              <a:lnSpc>
                <a:spcPct val="120000"/>
              </a:lnSpc>
            </a:pPr>
            <a:r>
              <a:rPr sz="1350" b="1" i="0">
                <a:solidFill>
                  <a:srgbClr val="1F2421"/>
                </a:solidFill>
                <a:latin typeface="Segoe UI"/>
              </a:rPr>
              <a:t>Verify fingerprint</a:t>
            </a:r>
          </a:p>
        </p:txBody>
      </p:sp>
      <p:sp>
        <p:nvSpPr>
          <p:cNvPr id="13" name="TextBox 12"/>
          <p:cNvSpPr txBox="1"/>
          <p:nvPr/>
        </p:nvSpPr>
        <p:spPr>
          <a:xfrm>
            <a:off x="3200400" y="2386584"/>
            <a:ext cx="4114800" cy="457200"/>
          </a:xfrm>
          <a:prstGeom prst="rect">
            <a:avLst/>
          </a:prstGeom>
          <a:noFill/>
        </p:spPr>
        <p:txBody>
          <a:bodyPr wrap="square" anchor="ctr" lIns="0" rIns="0" tIns="0" bIns="0">
            <a:spAutoFit/>
          </a:bodyPr>
          <a:lstStyle/>
          <a:p>
            <a:pPr algn="l">
              <a:lnSpc>
                <a:spcPct val="120000"/>
              </a:lnSpc>
            </a:pPr>
            <a:r>
              <a:rPr sz="1200" b="0" i="0">
                <a:solidFill>
                  <a:srgbClr val="5B625C"/>
                </a:solidFill>
                <a:latin typeface="Segoe UI"/>
              </a:rPr>
              <a:t>Recomputed ≠ claimed → reject</a:t>
            </a:r>
          </a:p>
        </p:txBody>
      </p:sp>
      <p:sp>
        <p:nvSpPr>
          <p:cNvPr id="14" name="Rectangle 13"/>
          <p:cNvSpPr/>
          <p:nvPr/>
        </p:nvSpPr>
        <p:spPr>
          <a:xfrm>
            <a:off x="731520" y="2990088"/>
            <a:ext cx="73152" cy="457200"/>
          </a:xfrm>
          <a:prstGeom prst="rect">
            <a:avLst/>
          </a:prstGeom>
          <a:solidFill>
            <a:srgbClr val="3E5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990088"/>
            <a:ext cx="2194560" cy="457200"/>
          </a:xfrm>
          <a:prstGeom prst="rect">
            <a:avLst/>
          </a:prstGeom>
          <a:noFill/>
        </p:spPr>
        <p:txBody>
          <a:bodyPr wrap="square" anchor="ctr" lIns="0" rIns="0" tIns="0" bIns="0">
            <a:spAutoFit/>
          </a:bodyPr>
          <a:lstStyle/>
          <a:p>
            <a:pPr algn="l">
              <a:lnSpc>
                <a:spcPct val="120000"/>
              </a:lnSpc>
            </a:pPr>
            <a:r>
              <a:rPr sz="1350" b="1" i="0">
                <a:solidFill>
                  <a:srgbClr val="1F2421"/>
                </a:solidFill>
                <a:latin typeface="Segoe UI"/>
              </a:rPr>
              <a:t>Score</a:t>
            </a:r>
          </a:p>
        </p:txBody>
      </p:sp>
      <p:sp>
        <p:nvSpPr>
          <p:cNvPr id="16" name="TextBox 15"/>
          <p:cNvSpPr txBox="1"/>
          <p:nvPr/>
        </p:nvSpPr>
        <p:spPr>
          <a:xfrm>
            <a:off x="3200400" y="2990088"/>
            <a:ext cx="4114800" cy="457200"/>
          </a:xfrm>
          <a:prstGeom prst="rect">
            <a:avLst/>
          </a:prstGeom>
          <a:noFill/>
        </p:spPr>
        <p:txBody>
          <a:bodyPr wrap="square" anchor="ctr" lIns="0" rIns="0" tIns="0" bIns="0">
            <a:spAutoFit/>
          </a:bodyPr>
          <a:lstStyle/>
          <a:p>
            <a:pPr algn="l">
              <a:lnSpc>
                <a:spcPct val="120000"/>
              </a:lnSpc>
            </a:pPr>
            <a:r>
              <a:rPr sz="1200" b="0" i="0">
                <a:solidFill>
                  <a:srgbClr val="5B625C"/>
                </a:solidFill>
                <a:latin typeface="Segoe UI"/>
              </a:rPr>
              <a:t>Size, direction vs. consensus, change vs. own last update</a:t>
            </a:r>
          </a:p>
        </p:txBody>
      </p:sp>
      <p:sp>
        <p:nvSpPr>
          <p:cNvPr id="17" name="Rectangle 16"/>
          <p:cNvSpPr/>
          <p:nvPr/>
        </p:nvSpPr>
        <p:spPr>
          <a:xfrm>
            <a:off x="731520" y="3593592"/>
            <a:ext cx="73152" cy="457200"/>
          </a:xfrm>
          <a:prstGeom prst="rect">
            <a:avLst/>
          </a:prstGeom>
          <a:solidFill>
            <a:srgbClr val="3E5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3593592"/>
            <a:ext cx="2194560" cy="457200"/>
          </a:xfrm>
          <a:prstGeom prst="rect">
            <a:avLst/>
          </a:prstGeom>
          <a:noFill/>
        </p:spPr>
        <p:txBody>
          <a:bodyPr wrap="square" anchor="ctr" lIns="0" rIns="0" tIns="0" bIns="0">
            <a:spAutoFit/>
          </a:bodyPr>
          <a:lstStyle/>
          <a:p>
            <a:pPr algn="l">
              <a:lnSpc>
                <a:spcPct val="120000"/>
              </a:lnSpc>
            </a:pPr>
            <a:r>
              <a:rPr sz="1350" b="1" i="0">
                <a:solidFill>
                  <a:srgbClr val="1F2421"/>
                </a:solidFill>
                <a:latin typeface="Segoe UI"/>
              </a:rPr>
              <a:t>Standardize</a:t>
            </a:r>
          </a:p>
        </p:txBody>
      </p:sp>
      <p:sp>
        <p:nvSpPr>
          <p:cNvPr id="19" name="TextBox 18"/>
          <p:cNvSpPr txBox="1"/>
          <p:nvPr/>
        </p:nvSpPr>
        <p:spPr>
          <a:xfrm>
            <a:off x="3200400" y="3593592"/>
            <a:ext cx="4114800" cy="457200"/>
          </a:xfrm>
          <a:prstGeom prst="rect">
            <a:avLst/>
          </a:prstGeom>
          <a:noFill/>
        </p:spPr>
        <p:txBody>
          <a:bodyPr wrap="square" anchor="ctr" lIns="0" rIns="0" tIns="0" bIns="0">
            <a:spAutoFit/>
          </a:bodyPr>
          <a:lstStyle/>
          <a:p>
            <a:pPr algn="l">
              <a:lnSpc>
                <a:spcPct val="120000"/>
              </a:lnSpc>
            </a:pPr>
            <a:r>
              <a:rPr sz="1200" b="0" i="0">
                <a:solidFill>
                  <a:srgbClr val="5B625C"/>
                </a:solidFill>
                <a:latin typeface="Segoe UI"/>
              </a:rPr>
              <a:t>Robust z-score within the round (median / MAD)</a:t>
            </a:r>
          </a:p>
        </p:txBody>
      </p:sp>
      <p:sp>
        <p:nvSpPr>
          <p:cNvPr id="20" name="Rectangle 19"/>
          <p:cNvSpPr/>
          <p:nvPr/>
        </p:nvSpPr>
        <p:spPr>
          <a:xfrm>
            <a:off x="731520" y="4197096"/>
            <a:ext cx="73152" cy="457200"/>
          </a:xfrm>
          <a:prstGeom prst="rect">
            <a:avLst/>
          </a:prstGeom>
          <a:solidFill>
            <a:srgbClr val="3E5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4197096"/>
            <a:ext cx="2194560" cy="457200"/>
          </a:xfrm>
          <a:prstGeom prst="rect">
            <a:avLst/>
          </a:prstGeom>
          <a:noFill/>
        </p:spPr>
        <p:txBody>
          <a:bodyPr wrap="square" anchor="ctr" lIns="0" rIns="0" tIns="0" bIns="0">
            <a:spAutoFit/>
          </a:bodyPr>
          <a:lstStyle/>
          <a:p>
            <a:pPr algn="l">
              <a:lnSpc>
                <a:spcPct val="120000"/>
              </a:lnSpc>
            </a:pPr>
            <a:r>
              <a:rPr sz="1350" b="1" i="0">
                <a:solidFill>
                  <a:srgbClr val="1F2421"/>
                </a:solidFill>
                <a:latin typeface="Segoe UI"/>
              </a:rPr>
              <a:t>Threshold</a:t>
            </a:r>
          </a:p>
        </p:txBody>
      </p:sp>
      <p:sp>
        <p:nvSpPr>
          <p:cNvPr id="22" name="TextBox 21"/>
          <p:cNvSpPr txBox="1"/>
          <p:nvPr/>
        </p:nvSpPr>
        <p:spPr>
          <a:xfrm>
            <a:off x="3200400" y="4197096"/>
            <a:ext cx="4114800" cy="457200"/>
          </a:xfrm>
          <a:prstGeom prst="rect">
            <a:avLst/>
          </a:prstGeom>
          <a:noFill/>
        </p:spPr>
        <p:txBody>
          <a:bodyPr wrap="square" anchor="ctr" lIns="0" rIns="0" tIns="0" bIns="0">
            <a:spAutoFit/>
          </a:bodyPr>
          <a:lstStyle/>
          <a:p>
            <a:pPr algn="l">
              <a:lnSpc>
                <a:spcPct val="120000"/>
              </a:lnSpc>
            </a:pPr>
            <a:r>
              <a:rPr sz="1200" b="0" i="0">
                <a:solidFill>
                  <a:srgbClr val="5B625C"/>
                </a:solidFill>
                <a:latin typeface="Segoe UI"/>
              </a:rPr>
              <a:t>Conformal quantile from 5 clean rounds — global or Mondrian</a:t>
            </a:r>
          </a:p>
        </p:txBody>
      </p:sp>
      <p:sp>
        <p:nvSpPr>
          <p:cNvPr id="23" name="Rectangle 22"/>
          <p:cNvSpPr/>
          <p:nvPr/>
        </p:nvSpPr>
        <p:spPr>
          <a:xfrm>
            <a:off x="731520" y="4800600"/>
            <a:ext cx="73152" cy="457200"/>
          </a:xfrm>
          <a:prstGeom prst="rect">
            <a:avLst/>
          </a:prstGeom>
          <a:solidFill>
            <a:srgbClr val="3E5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4800600"/>
            <a:ext cx="2194560" cy="457200"/>
          </a:xfrm>
          <a:prstGeom prst="rect">
            <a:avLst/>
          </a:prstGeom>
          <a:noFill/>
        </p:spPr>
        <p:txBody>
          <a:bodyPr wrap="square" anchor="ctr" lIns="0" rIns="0" tIns="0" bIns="0">
            <a:spAutoFit/>
          </a:bodyPr>
          <a:lstStyle/>
          <a:p>
            <a:pPr algn="l">
              <a:lnSpc>
                <a:spcPct val="120000"/>
              </a:lnSpc>
            </a:pPr>
            <a:r>
              <a:rPr sz="1350" b="1" i="0">
                <a:solidFill>
                  <a:srgbClr val="1F2421"/>
                </a:solidFill>
                <a:latin typeface="Segoe UI"/>
              </a:rPr>
              <a:t>Second check</a:t>
            </a:r>
          </a:p>
        </p:txBody>
      </p:sp>
      <p:sp>
        <p:nvSpPr>
          <p:cNvPr id="25" name="TextBox 24"/>
          <p:cNvSpPr txBox="1"/>
          <p:nvPr/>
        </p:nvSpPr>
        <p:spPr>
          <a:xfrm>
            <a:off x="3200400" y="4800600"/>
            <a:ext cx="4114800" cy="457200"/>
          </a:xfrm>
          <a:prstGeom prst="rect">
            <a:avLst/>
          </a:prstGeom>
          <a:noFill/>
        </p:spPr>
        <p:txBody>
          <a:bodyPr wrap="square" anchor="ctr" lIns="0" rIns="0" tIns="0" bIns="0">
            <a:spAutoFit/>
          </a:bodyPr>
          <a:lstStyle/>
          <a:p>
            <a:pPr algn="l">
              <a:lnSpc>
                <a:spcPct val="120000"/>
              </a:lnSpc>
            </a:pPr>
            <a:r>
              <a:rPr sz="1200" b="0" i="0">
                <a:solidFill>
                  <a:srgbClr val="5B625C"/>
                </a:solidFill>
                <a:latin typeface="Segoe UI"/>
              </a:rPr>
              <a:t>Flagged update rescued if close to a trimmed-mean reference</a:t>
            </a:r>
          </a:p>
        </p:txBody>
      </p:sp>
      <p:sp>
        <p:nvSpPr>
          <p:cNvPr id="26" name="Rectangle 25"/>
          <p:cNvSpPr/>
          <p:nvPr/>
        </p:nvSpPr>
        <p:spPr>
          <a:xfrm>
            <a:off x="731520" y="5404104"/>
            <a:ext cx="73152" cy="457200"/>
          </a:xfrm>
          <a:prstGeom prst="rect">
            <a:avLst/>
          </a:prstGeom>
          <a:solidFill>
            <a:srgbClr val="1F24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5840" y="5404104"/>
            <a:ext cx="2194560" cy="457200"/>
          </a:xfrm>
          <a:prstGeom prst="rect">
            <a:avLst/>
          </a:prstGeom>
          <a:noFill/>
        </p:spPr>
        <p:txBody>
          <a:bodyPr wrap="square" anchor="ctr" lIns="0" rIns="0" tIns="0" bIns="0">
            <a:spAutoFit/>
          </a:bodyPr>
          <a:lstStyle/>
          <a:p>
            <a:pPr algn="l">
              <a:lnSpc>
                <a:spcPct val="120000"/>
              </a:lnSpc>
            </a:pPr>
            <a:r>
              <a:rPr sz="1350" b="1" i="0">
                <a:solidFill>
                  <a:srgbClr val="1F2421"/>
                </a:solidFill>
                <a:latin typeface="Segoe UI"/>
              </a:rPr>
              <a:t>Aggregate</a:t>
            </a:r>
          </a:p>
        </p:txBody>
      </p:sp>
      <p:sp>
        <p:nvSpPr>
          <p:cNvPr id="28" name="TextBox 27"/>
          <p:cNvSpPr txBox="1"/>
          <p:nvPr/>
        </p:nvSpPr>
        <p:spPr>
          <a:xfrm>
            <a:off x="3200400" y="5404104"/>
            <a:ext cx="4114800" cy="457200"/>
          </a:xfrm>
          <a:prstGeom prst="rect">
            <a:avLst/>
          </a:prstGeom>
          <a:noFill/>
        </p:spPr>
        <p:txBody>
          <a:bodyPr wrap="square" anchor="ctr" lIns="0" rIns="0" tIns="0" bIns="0">
            <a:spAutoFit/>
          </a:bodyPr>
          <a:lstStyle/>
          <a:p>
            <a:pPr algn="l">
              <a:lnSpc>
                <a:spcPct val="120000"/>
              </a:lnSpc>
            </a:pPr>
            <a:r>
              <a:rPr sz="1200" b="0" i="0">
                <a:solidFill>
                  <a:srgbClr val="5B625C"/>
                </a:solidFill>
                <a:latin typeface="Segoe UI"/>
              </a:rPr>
              <a:t>FedAvg on accepted updates, ≤ 15% weight per client</a:t>
            </a:r>
          </a:p>
        </p:txBody>
      </p:sp>
      <p:sp>
        <p:nvSpPr>
          <p:cNvPr id="29" name="Rounded Rectangle 28"/>
          <p:cNvSpPr/>
          <p:nvPr/>
        </p:nvSpPr>
        <p:spPr>
          <a:xfrm>
            <a:off x="7589520" y="1783080"/>
            <a:ext cx="3867912" cy="4160520"/>
          </a:xfrm>
          <a:prstGeom prst="roundRect">
            <a:avLst>
              <a:gd name="adj" fmla="val 4000"/>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63840" y="2011680"/>
            <a:ext cx="3383280" cy="3840480"/>
          </a:xfrm>
          <a:prstGeom prst="rect">
            <a:avLst/>
          </a:prstGeom>
          <a:noFill/>
        </p:spPr>
        <p:txBody>
          <a:bodyPr wrap="square" anchor="t" lIns="0" rIns="0" tIns="0" bIns="0">
            <a:spAutoFit/>
          </a:bodyPr>
          <a:lstStyle/>
          <a:p>
            <a:pPr algn="l">
              <a:lnSpc>
                <a:spcPct val="120000"/>
              </a:lnSpc>
            </a:pPr>
            <a:r>
              <a:rPr sz="1100" b="1" i="0">
                <a:solidFill>
                  <a:srgbClr val="3E5F5A"/>
                </a:solidFill>
                <a:latin typeface="Segoe UI"/>
              </a:rPr>
              <a:t>WHY STANDARDIZE PER ROUND</a:t>
            </a:r>
          </a:p>
          <a:p>
            <a:pPr algn="l">
              <a:lnSpc>
                <a:spcPct val="120000"/>
              </a:lnSpc>
            </a:pPr>
            <a:r>
              <a:rPr sz="1200" b="0" i="0">
                <a:solidFill>
                  <a:srgbClr val="1F2421"/>
                </a:solidFill>
                <a:latin typeface="Segoe UI"/>
              </a:rPr>
              <a:t>Our first design used fixed thresholds. Once training converged every honest update became small and noisy, and 65–96% of honest updates were flagged.</a:t>
            </a:r>
          </a:p>
          <a:p>
            <a:pPr algn="l">
              <a:lnSpc>
                <a:spcPct val="120000"/>
              </a:lnSpc>
            </a:pPr>
            <a:r>
              <a:rPr sz="1400" b="0" i="0">
                <a:solidFill>
                  <a:srgbClr val="1F2421"/>
                </a:solidFill>
                <a:latin typeface="Segoe UI"/>
              </a:rPr>
              <a:t/>
            </a:r>
          </a:p>
          <a:p>
            <a:pPr algn="l">
              <a:lnSpc>
                <a:spcPct val="120000"/>
              </a:lnSpc>
            </a:pPr>
            <a:r>
              <a:rPr sz="1200" b="0" i="0">
                <a:solidFill>
                  <a:srgbClr val="5B625C"/>
                </a:solidFill>
                <a:latin typeface="Segoe UI"/>
              </a:rPr>
              <a:t>Scoring each update relative to the other clients in the same round fixed it — kept as a documented negative result.</a:t>
            </a:r>
          </a:p>
          <a:p>
            <a:pPr algn="l">
              <a:lnSpc>
                <a:spcPct val="120000"/>
              </a:lnSpc>
            </a:pPr>
            <a:r>
              <a:rPr sz="1400" b="0" i="0">
                <a:solidFill>
                  <a:srgbClr val="1F2421"/>
                </a:solidFill>
                <a:latin typeface="Segoe UI"/>
              </a:rPr>
              <a:t/>
            </a:r>
          </a:p>
          <a:p>
            <a:pPr algn="l">
              <a:lnSpc>
                <a:spcPct val="120000"/>
              </a:lnSpc>
            </a:pPr>
            <a:r>
              <a:rPr sz="1100" b="1" i="0">
                <a:solidFill>
                  <a:srgbClr val="3E5F5A"/>
                </a:solidFill>
                <a:latin typeface="Segoe UI"/>
              </a:rPr>
              <a:t>GLOBAL vs MONDRIAN</a:t>
            </a:r>
          </a:p>
          <a:p>
            <a:pPr algn="l">
              <a:lnSpc>
                <a:spcPct val="120000"/>
              </a:lnSpc>
            </a:pPr>
            <a:r>
              <a:rPr sz="1200" b="0" i="0">
                <a:solidFill>
                  <a:srgbClr val="1F2421"/>
                </a:solidFill>
                <a:latin typeface="Segoe UI"/>
              </a:rPr>
              <a:t>Global: one threshold for all clients. Mondrian: clients clustered by their calibration sketches (k-means, k = 3), one threshold per cluster.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03 · METHODOLOGY</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Threat model and experiment design</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18</a:t>
            </a:r>
          </a:p>
        </p:txBody>
      </p:sp>
      <p:sp>
        <p:nvSpPr>
          <p:cNvPr id="8" name="TextBox 7"/>
          <p:cNvSpPr txBox="1"/>
          <p:nvPr/>
        </p:nvSpPr>
        <p:spPr>
          <a:xfrm>
            <a:off x="731520" y="1783080"/>
            <a:ext cx="5120640" cy="320040"/>
          </a:xfrm>
          <a:prstGeom prst="rect">
            <a:avLst/>
          </a:prstGeom>
          <a:noFill/>
        </p:spPr>
        <p:txBody>
          <a:bodyPr wrap="square" anchor="t" lIns="0" rIns="0" tIns="0" bIns="0">
            <a:spAutoFit/>
          </a:bodyPr>
          <a:lstStyle/>
          <a:p>
            <a:pPr algn="l">
              <a:lnSpc>
                <a:spcPct val="120000"/>
              </a:lnSpc>
            </a:pPr>
            <a:r>
              <a:rPr sz="1100" b="1" i="0">
                <a:solidFill>
                  <a:srgbClr val="3E5F5A"/>
                </a:solidFill>
                <a:latin typeface="Segoe UI"/>
              </a:rPr>
              <a:t>ATTACKS</a:t>
            </a:r>
          </a:p>
        </p:txBody>
      </p:sp>
      <p:sp>
        <p:nvSpPr>
          <p:cNvPr id="9" name="TextBox 8"/>
          <p:cNvSpPr txBox="1"/>
          <p:nvPr/>
        </p:nvSpPr>
        <p:spPr>
          <a:xfrm>
            <a:off x="731520" y="2194560"/>
            <a:ext cx="5120640" cy="2377440"/>
          </a:xfrm>
          <a:prstGeom prst="rect">
            <a:avLst/>
          </a:prstGeom>
          <a:noFill/>
        </p:spPr>
        <p:txBody>
          <a:bodyPr wrap="square" lIns="0" rIns="0" tIns="0" bIns="0">
            <a:spAutoFit/>
          </a:bodyPr>
          <a:lstStyle/>
          <a:p>
            <a:pPr marL="219456" indent="-219456">
              <a:lnSpc>
                <a:spcPct val="120000"/>
              </a:lnSpc>
              <a:spcAft>
                <a:spcPts val="700"/>
              </a:spcAft>
              <a:buClr>
                <a:srgbClr val="3E5F5A"/>
              </a:buClr>
              <a:buFont typeface="Arial"/>
              <a:buChar char="•"/>
            </a:pPr>
            <a:r>
              <a:rPr sz="1250" b="1">
                <a:solidFill>
                  <a:srgbClr val="1F2421"/>
                </a:solidFill>
                <a:latin typeface="Segoe UI"/>
              </a:rPr>
              <a:t>Tampering — </a:t>
            </a:r>
            <a:r>
              <a:rPr sz="1250">
                <a:solidFill>
                  <a:srgbClr val="1F2421"/>
                </a:solidFill>
                <a:latin typeface="Segoe UI"/>
              </a:rPr>
              <a:t>one byte of an honest message flipped in transit.</a:t>
            </a:r>
          </a:p>
          <a:p>
            <a:pPr marL="219456" indent="-219456">
              <a:lnSpc>
                <a:spcPct val="120000"/>
              </a:lnSpc>
              <a:spcAft>
                <a:spcPts val="700"/>
              </a:spcAft>
              <a:buClr>
                <a:srgbClr val="3E5F5A"/>
              </a:buClr>
              <a:buFont typeface="Arial"/>
              <a:buChar char="•"/>
            </a:pPr>
            <a:r>
              <a:rPr sz="1250" b="1">
                <a:solidFill>
                  <a:srgbClr val="1F2421"/>
                </a:solidFill>
                <a:latin typeface="Segoe UI"/>
              </a:rPr>
              <a:t>Label flipping — </a:t>
            </a:r>
            <a:r>
              <a:rPr sz="1250">
                <a:solidFill>
                  <a:srgbClr val="1F2421"/>
                </a:solidFill>
                <a:latin typeface="Segoe UI"/>
              </a:rPr>
              <a:t>2 of 10 clients train on inverted labels.</a:t>
            </a:r>
          </a:p>
          <a:p>
            <a:pPr marL="219456" indent="-219456">
              <a:lnSpc>
                <a:spcPct val="120000"/>
              </a:lnSpc>
              <a:spcAft>
                <a:spcPts val="700"/>
              </a:spcAft>
              <a:buClr>
                <a:srgbClr val="3E5F5A"/>
              </a:buClr>
              <a:buFont typeface="Arial"/>
              <a:buChar char="•"/>
            </a:pPr>
            <a:r>
              <a:rPr sz="1250" b="1">
                <a:solidFill>
                  <a:srgbClr val="1F2421"/>
                </a:solidFill>
                <a:latin typeface="Segoe UI"/>
              </a:rPr>
              <a:t>Backdoor — </a:t>
            </a:r>
            <a:r>
              <a:rPr sz="1250">
                <a:solidFill>
                  <a:srgbClr val="1F2421"/>
                </a:solidFill>
                <a:latin typeface="Segoe UI"/>
              </a:rPr>
              <a:t>2 clients add one attack type labelled normal.</a:t>
            </a:r>
          </a:p>
          <a:p>
            <a:pPr marL="219456" indent="-219456">
              <a:lnSpc>
                <a:spcPct val="120000"/>
              </a:lnSpc>
              <a:spcAft>
                <a:spcPts val="700"/>
              </a:spcAft>
              <a:buClr>
                <a:srgbClr val="3E5F5A"/>
              </a:buClr>
              <a:buFont typeface="Arial"/>
              <a:buChar char="•"/>
            </a:pPr>
            <a:r>
              <a:rPr sz="1250" b="1">
                <a:solidFill>
                  <a:srgbClr val="1F2421"/>
                </a:solidFill>
                <a:latin typeface="Segoe UI"/>
              </a:rPr>
              <a:t>Stress — </a:t>
            </a:r>
            <a:r>
              <a:rPr sz="1250">
                <a:solidFill>
                  <a:srgbClr val="1F2421"/>
                </a:solidFill>
                <a:latin typeface="Segoe UI"/>
              </a:rPr>
              <a:t>client dropout (0–40%), traffic shift, 10–40 clients.</a:t>
            </a:r>
          </a:p>
        </p:txBody>
      </p:sp>
      <p:sp>
        <p:nvSpPr>
          <p:cNvPr id="10" name="TextBox 9"/>
          <p:cNvSpPr txBox="1"/>
          <p:nvPr/>
        </p:nvSpPr>
        <p:spPr>
          <a:xfrm>
            <a:off x="731520" y="4343400"/>
            <a:ext cx="5120640" cy="320040"/>
          </a:xfrm>
          <a:prstGeom prst="rect">
            <a:avLst/>
          </a:prstGeom>
          <a:noFill/>
        </p:spPr>
        <p:txBody>
          <a:bodyPr wrap="square" anchor="t" lIns="0" rIns="0" tIns="0" bIns="0">
            <a:spAutoFit/>
          </a:bodyPr>
          <a:lstStyle/>
          <a:p>
            <a:pPr algn="l">
              <a:lnSpc>
                <a:spcPct val="120000"/>
              </a:lnSpc>
            </a:pPr>
            <a:r>
              <a:rPr sz="1100" b="1" i="0">
                <a:solidFill>
                  <a:srgbClr val="3E5F5A"/>
                </a:solidFill>
                <a:latin typeface="Segoe UI"/>
              </a:rPr>
              <a:t>METRICS</a:t>
            </a:r>
          </a:p>
        </p:txBody>
      </p:sp>
      <p:sp>
        <p:nvSpPr>
          <p:cNvPr id="11" name="TextBox 10"/>
          <p:cNvSpPr txBox="1"/>
          <p:nvPr/>
        </p:nvSpPr>
        <p:spPr>
          <a:xfrm>
            <a:off x="731520" y="4754880"/>
            <a:ext cx="5120640" cy="1463040"/>
          </a:xfrm>
          <a:prstGeom prst="rect">
            <a:avLst/>
          </a:prstGeom>
          <a:noFill/>
        </p:spPr>
        <p:txBody>
          <a:bodyPr wrap="square" lIns="0" rIns="0" tIns="0" bIns="0">
            <a:spAutoFit/>
          </a:bodyPr>
          <a:lstStyle/>
          <a:p>
            <a:pPr marL="219456" indent="-219456">
              <a:lnSpc>
                <a:spcPct val="120000"/>
              </a:lnSpc>
              <a:spcAft>
                <a:spcPts val="500"/>
              </a:spcAft>
              <a:buClr>
                <a:srgbClr val="3E5F5A"/>
              </a:buClr>
              <a:buFont typeface="Arial"/>
              <a:buChar char="•"/>
            </a:pPr>
            <a:r>
              <a:rPr sz="1250">
                <a:solidFill>
                  <a:srgbClr val="1F2421"/>
                </a:solidFill>
                <a:latin typeface="Segoe UI"/>
              </a:rPr>
              <a:t>Accuracy, precision, recall, F1, macro-F1</a:t>
            </a:r>
          </a:p>
          <a:p>
            <a:pPr marL="219456" indent="-219456">
              <a:lnSpc>
                <a:spcPct val="120000"/>
              </a:lnSpc>
              <a:spcAft>
                <a:spcPts val="500"/>
              </a:spcAft>
              <a:buClr>
                <a:srgbClr val="3E5F5A"/>
              </a:buClr>
              <a:buFont typeface="Arial"/>
              <a:buChar char="•"/>
            </a:pPr>
            <a:r>
              <a:rPr sz="1250">
                <a:solidFill>
                  <a:srgbClr val="1F2421"/>
                </a:solidFill>
                <a:latin typeface="Segoe UI"/>
              </a:rPr>
              <a:t>Poisoned updates caught · honest updates wrongly excluded</a:t>
            </a:r>
          </a:p>
          <a:p>
            <a:pPr marL="219456" indent="-219456">
              <a:lnSpc>
                <a:spcPct val="120000"/>
              </a:lnSpc>
              <a:spcAft>
                <a:spcPts val="500"/>
              </a:spcAft>
              <a:buClr>
                <a:srgbClr val="3E5F5A"/>
              </a:buClr>
              <a:buFont typeface="Arial"/>
              <a:buChar char="•"/>
            </a:pPr>
            <a:r>
              <a:rPr sz="1250">
                <a:solidFill>
                  <a:srgbClr val="1F2421"/>
                </a:solidFill>
                <a:latin typeface="Segoe UI"/>
              </a:rPr>
              <a:t>Backdoor success rate · bytes per message · server ms per round</a:t>
            </a:r>
          </a:p>
        </p:txBody>
      </p:sp>
      <p:cxnSp>
        <p:nvCxnSpPr>
          <p:cNvPr id="12" name="Connector 11"/>
          <p:cNvCxnSpPr/>
          <p:nvPr/>
        </p:nvCxnSpPr>
        <p:spPr>
          <a:xfrm>
            <a:off x="6355080" y="1828800"/>
            <a:ext cx="5102352" cy="0"/>
          </a:xfrm>
          <a:prstGeom prst="line">
            <a:avLst/>
          </a:prstGeom>
          <a:ln w="12700">
            <a:solidFill>
              <a:srgbClr val="5B625C"/>
            </a:solidFill>
          </a:ln>
        </p:spPr>
      </p:cxnSp>
      <p:sp>
        <p:nvSpPr>
          <p:cNvPr id="13" name="TextBox 12"/>
          <p:cNvSpPr txBox="1"/>
          <p:nvPr/>
        </p:nvSpPr>
        <p:spPr>
          <a:xfrm>
            <a:off x="6428232" y="1828800"/>
            <a:ext cx="1819656" cy="457200"/>
          </a:xfrm>
          <a:prstGeom prst="rect">
            <a:avLst/>
          </a:prstGeom>
          <a:noFill/>
        </p:spPr>
        <p:txBody>
          <a:bodyPr wrap="square" anchor="ctr" lIns="0" rIns="0" tIns="0" bIns="0">
            <a:spAutoFit/>
          </a:bodyPr>
          <a:lstStyle/>
          <a:p>
            <a:pPr algn="l">
              <a:lnSpc>
                <a:spcPct val="105000"/>
              </a:lnSpc>
            </a:pPr>
            <a:r>
              <a:rPr sz="1100" b="1" i="0">
                <a:solidFill>
                  <a:srgbClr val="3E5F5A"/>
                </a:solidFill>
                <a:latin typeface="Segoe UI"/>
              </a:rPr>
              <a:t>Experiment</a:t>
            </a:r>
          </a:p>
        </p:txBody>
      </p:sp>
      <p:sp>
        <p:nvSpPr>
          <p:cNvPr id="14" name="TextBox 13"/>
          <p:cNvSpPr txBox="1"/>
          <p:nvPr/>
        </p:nvSpPr>
        <p:spPr>
          <a:xfrm>
            <a:off x="8394192" y="1828800"/>
            <a:ext cx="2368296" cy="457200"/>
          </a:xfrm>
          <a:prstGeom prst="rect">
            <a:avLst/>
          </a:prstGeom>
          <a:noFill/>
        </p:spPr>
        <p:txBody>
          <a:bodyPr wrap="square" anchor="ctr" lIns="0" rIns="0" tIns="0" bIns="0">
            <a:spAutoFit/>
          </a:bodyPr>
          <a:lstStyle/>
          <a:p>
            <a:pPr algn="l">
              <a:lnSpc>
                <a:spcPct val="105000"/>
              </a:lnSpc>
            </a:pPr>
            <a:r>
              <a:rPr sz="1100" b="1" i="0">
                <a:solidFill>
                  <a:srgbClr val="3E5F5A"/>
                </a:solidFill>
                <a:latin typeface="Segoe UI"/>
              </a:rPr>
              <a:t>Compared</a:t>
            </a:r>
          </a:p>
        </p:txBody>
      </p:sp>
      <p:sp>
        <p:nvSpPr>
          <p:cNvPr id="15" name="TextBox 14"/>
          <p:cNvSpPr txBox="1"/>
          <p:nvPr/>
        </p:nvSpPr>
        <p:spPr>
          <a:xfrm>
            <a:off x="10908792" y="1828800"/>
            <a:ext cx="475488" cy="457200"/>
          </a:xfrm>
          <a:prstGeom prst="rect">
            <a:avLst/>
          </a:prstGeom>
          <a:noFill/>
        </p:spPr>
        <p:txBody>
          <a:bodyPr wrap="square" anchor="ctr" lIns="0" rIns="0" tIns="0" bIns="0">
            <a:spAutoFit/>
          </a:bodyPr>
          <a:lstStyle/>
          <a:p>
            <a:pPr algn="l">
              <a:lnSpc>
                <a:spcPct val="105000"/>
              </a:lnSpc>
            </a:pPr>
            <a:r>
              <a:rPr sz="1100" b="1" i="0">
                <a:solidFill>
                  <a:srgbClr val="3E5F5A"/>
                </a:solidFill>
                <a:latin typeface="Segoe UI"/>
              </a:rPr>
              <a:t>Runs</a:t>
            </a:r>
          </a:p>
        </p:txBody>
      </p:sp>
      <p:cxnSp>
        <p:nvCxnSpPr>
          <p:cNvPr id="16" name="Connector 15"/>
          <p:cNvCxnSpPr/>
          <p:nvPr/>
        </p:nvCxnSpPr>
        <p:spPr>
          <a:xfrm>
            <a:off x="6355080" y="2286000"/>
            <a:ext cx="5102352" cy="0"/>
          </a:xfrm>
          <a:prstGeom prst="line">
            <a:avLst/>
          </a:prstGeom>
          <a:ln w="12700">
            <a:solidFill>
              <a:srgbClr val="5B625C"/>
            </a:solidFill>
          </a:ln>
        </p:spPr>
      </p:cxnSp>
      <p:sp>
        <p:nvSpPr>
          <p:cNvPr id="17" name="TextBox 16"/>
          <p:cNvSpPr txBox="1"/>
          <p:nvPr/>
        </p:nvSpPr>
        <p:spPr>
          <a:xfrm>
            <a:off x="6428232" y="2286000"/>
            <a:ext cx="1819656" cy="45720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Protocol (Ph. 8)</a:t>
            </a:r>
          </a:p>
        </p:txBody>
      </p:sp>
      <p:sp>
        <p:nvSpPr>
          <p:cNvPr id="18" name="TextBox 17"/>
          <p:cNvSpPr txBox="1"/>
          <p:nvPr/>
        </p:nvSpPr>
        <p:spPr>
          <a:xfrm>
            <a:off x="8394192" y="2286000"/>
            <a:ext cx="2368296" cy="45720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none · global · Mondrian</a:t>
            </a:r>
          </a:p>
        </p:txBody>
      </p:sp>
      <p:sp>
        <p:nvSpPr>
          <p:cNvPr id="19" name="TextBox 18"/>
          <p:cNvSpPr txBox="1"/>
          <p:nvPr/>
        </p:nvSpPr>
        <p:spPr>
          <a:xfrm>
            <a:off x="10908792" y="2286000"/>
            <a:ext cx="475488" cy="45720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45</a:t>
            </a:r>
          </a:p>
        </p:txBody>
      </p:sp>
      <p:cxnSp>
        <p:nvCxnSpPr>
          <p:cNvPr id="20" name="Connector 19"/>
          <p:cNvCxnSpPr/>
          <p:nvPr/>
        </p:nvCxnSpPr>
        <p:spPr>
          <a:xfrm>
            <a:off x="6355080" y="2743200"/>
            <a:ext cx="5102352" cy="0"/>
          </a:xfrm>
          <a:prstGeom prst="line">
            <a:avLst/>
          </a:prstGeom>
          <a:ln w="6350">
            <a:solidFill>
              <a:srgbClr val="DDDAD2"/>
            </a:solidFill>
          </a:ln>
        </p:spPr>
      </p:cxnSp>
      <p:sp>
        <p:nvSpPr>
          <p:cNvPr id="21" name="TextBox 20"/>
          <p:cNvSpPr txBox="1"/>
          <p:nvPr/>
        </p:nvSpPr>
        <p:spPr>
          <a:xfrm>
            <a:off x="6428232" y="2743200"/>
            <a:ext cx="1819656" cy="45720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Defenses (Ph. 9)</a:t>
            </a:r>
          </a:p>
        </p:txBody>
      </p:sp>
      <p:sp>
        <p:nvSpPr>
          <p:cNvPr id="22" name="TextBox 21"/>
          <p:cNvSpPr txBox="1"/>
          <p:nvPr/>
        </p:nvSpPr>
        <p:spPr>
          <a:xfrm>
            <a:off x="8394192" y="2743200"/>
            <a:ext cx="2368296" cy="45720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none · v1 · v2 · v2-Mondrian</a:t>
            </a:r>
          </a:p>
        </p:txBody>
      </p:sp>
      <p:sp>
        <p:nvSpPr>
          <p:cNvPr id="23" name="TextBox 22"/>
          <p:cNvSpPr txBox="1"/>
          <p:nvPr/>
        </p:nvSpPr>
        <p:spPr>
          <a:xfrm>
            <a:off x="10908792" y="2743200"/>
            <a:ext cx="475488" cy="45720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120</a:t>
            </a:r>
          </a:p>
        </p:txBody>
      </p:sp>
      <p:cxnSp>
        <p:nvCxnSpPr>
          <p:cNvPr id="24" name="Connector 23"/>
          <p:cNvCxnSpPr/>
          <p:nvPr/>
        </p:nvCxnSpPr>
        <p:spPr>
          <a:xfrm>
            <a:off x="6355080" y="3200400"/>
            <a:ext cx="5102352" cy="0"/>
          </a:xfrm>
          <a:prstGeom prst="line">
            <a:avLst/>
          </a:prstGeom>
          <a:ln w="6350">
            <a:solidFill>
              <a:srgbClr val="DDDAD2"/>
            </a:solidFill>
          </a:ln>
        </p:spPr>
      </p:cxnSp>
      <p:sp>
        <p:nvSpPr>
          <p:cNvPr id="25" name="TextBox 24"/>
          <p:cNvSpPr txBox="1"/>
          <p:nvPr/>
        </p:nvSpPr>
        <p:spPr>
          <a:xfrm>
            <a:off x="6428232" y="3200400"/>
            <a:ext cx="1819656" cy="45720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Robustness (Ph. 11)</a:t>
            </a:r>
          </a:p>
        </p:txBody>
      </p:sp>
      <p:sp>
        <p:nvSpPr>
          <p:cNvPr id="26" name="TextBox 25"/>
          <p:cNvSpPr txBox="1"/>
          <p:nvPr/>
        </p:nvSpPr>
        <p:spPr>
          <a:xfrm>
            <a:off x="8394192" y="3200400"/>
            <a:ext cx="2368296" cy="45720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dropout · shift · scale</a:t>
            </a:r>
          </a:p>
        </p:txBody>
      </p:sp>
      <p:sp>
        <p:nvSpPr>
          <p:cNvPr id="27" name="TextBox 26"/>
          <p:cNvSpPr txBox="1"/>
          <p:nvPr/>
        </p:nvSpPr>
        <p:spPr>
          <a:xfrm>
            <a:off x="10908792" y="3200400"/>
            <a:ext cx="475488" cy="45720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70</a:t>
            </a:r>
          </a:p>
        </p:txBody>
      </p:sp>
      <p:cxnSp>
        <p:nvCxnSpPr>
          <p:cNvPr id="28" name="Connector 27"/>
          <p:cNvCxnSpPr/>
          <p:nvPr/>
        </p:nvCxnSpPr>
        <p:spPr>
          <a:xfrm>
            <a:off x="6355080" y="3657600"/>
            <a:ext cx="5102352" cy="0"/>
          </a:xfrm>
          <a:prstGeom prst="line">
            <a:avLst/>
          </a:prstGeom>
          <a:ln w="6350">
            <a:solidFill>
              <a:srgbClr val="DDDAD2"/>
            </a:solidFill>
          </a:ln>
        </p:spPr>
      </p:cxnSp>
      <p:sp>
        <p:nvSpPr>
          <p:cNvPr id="29" name="TextBox 28"/>
          <p:cNvSpPr txBox="1"/>
          <p:nvPr/>
        </p:nvSpPr>
        <p:spPr>
          <a:xfrm>
            <a:off x="6428232" y="3657600"/>
            <a:ext cx="1819656" cy="45720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Multi-class (Ph. 10)</a:t>
            </a:r>
          </a:p>
        </p:txBody>
      </p:sp>
      <p:sp>
        <p:nvSpPr>
          <p:cNvPr id="30" name="TextBox 29"/>
          <p:cNvSpPr txBox="1"/>
          <p:nvPr/>
        </p:nvSpPr>
        <p:spPr>
          <a:xfrm>
            <a:off x="8394192" y="3657600"/>
            <a:ext cx="2368296" cy="45720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central · IID · routers</a:t>
            </a:r>
          </a:p>
        </p:txBody>
      </p:sp>
      <p:sp>
        <p:nvSpPr>
          <p:cNvPr id="31" name="TextBox 30"/>
          <p:cNvSpPr txBox="1"/>
          <p:nvPr/>
        </p:nvSpPr>
        <p:spPr>
          <a:xfrm>
            <a:off x="10908792" y="3657600"/>
            <a:ext cx="475488" cy="45720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3</a:t>
            </a:r>
          </a:p>
        </p:txBody>
      </p:sp>
      <p:cxnSp>
        <p:nvCxnSpPr>
          <p:cNvPr id="32" name="Connector 31"/>
          <p:cNvCxnSpPr/>
          <p:nvPr/>
        </p:nvCxnSpPr>
        <p:spPr>
          <a:xfrm>
            <a:off x="6355080" y="4114800"/>
            <a:ext cx="5102352" cy="0"/>
          </a:xfrm>
          <a:prstGeom prst="line">
            <a:avLst/>
          </a:prstGeom>
          <a:ln w="12700">
            <a:solidFill>
              <a:srgbClr val="5B625C"/>
            </a:solidFill>
          </a:ln>
        </p:spPr>
      </p:cxnSp>
      <p:sp>
        <p:nvSpPr>
          <p:cNvPr id="33" name="TextBox 32"/>
          <p:cNvSpPr txBox="1"/>
          <p:nvPr/>
        </p:nvSpPr>
        <p:spPr>
          <a:xfrm>
            <a:off x="6355080" y="4343400"/>
            <a:ext cx="5120640" cy="1645920"/>
          </a:xfrm>
          <a:prstGeom prst="rect">
            <a:avLst/>
          </a:prstGeom>
          <a:noFill/>
        </p:spPr>
        <p:txBody>
          <a:bodyPr wrap="square" anchor="t" lIns="0" rIns="0" tIns="0" bIns="0">
            <a:spAutoFit/>
          </a:bodyPr>
          <a:lstStyle/>
          <a:p>
            <a:pPr algn="l">
              <a:lnSpc>
                <a:spcPct val="125000"/>
              </a:lnSpc>
            </a:pPr>
            <a:r>
              <a:rPr sz="1100" b="1" i="0">
                <a:solidFill>
                  <a:srgbClr val="3E5F5A"/>
                </a:solidFill>
                <a:latin typeface="Segoe UI"/>
              </a:rPr>
              <a:t>STATISTICS</a:t>
            </a:r>
          </a:p>
          <a:p>
            <a:pPr algn="l">
              <a:lnSpc>
                <a:spcPct val="125000"/>
              </a:lnSpc>
            </a:pPr>
            <a:r>
              <a:rPr sz="1250" b="0" i="0">
                <a:solidFill>
                  <a:srgbClr val="1F2421"/>
                </a:solidFill>
                <a:latin typeface="Segoe UI"/>
              </a:rPr>
              <a:t>Every setting repeated over random seeds (5–15). Policies compared on the same seeds — same attackers, same initial model — with paired t-tests; p &lt; 0.05 counts as significant.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03120"/>
            <a:ext cx="2743200" cy="1097280"/>
          </a:xfrm>
          <a:prstGeom prst="rect">
            <a:avLst/>
          </a:prstGeom>
          <a:noFill/>
        </p:spPr>
        <p:txBody>
          <a:bodyPr wrap="square" anchor="t" lIns="0" rIns="0" tIns="0" bIns="0">
            <a:spAutoFit/>
          </a:bodyPr>
          <a:lstStyle/>
          <a:p>
            <a:pPr algn="l">
              <a:lnSpc>
                <a:spcPct val="120000"/>
              </a:lnSpc>
            </a:pPr>
            <a:r>
              <a:rPr sz="6600" b="0" i="0">
                <a:solidFill>
                  <a:srgbClr val="3E5F5A"/>
                </a:solidFill>
                <a:latin typeface="Georgia"/>
              </a:rPr>
              <a:t>04</a:t>
            </a:r>
          </a:p>
        </p:txBody>
      </p:sp>
      <p:cxnSp>
        <p:nvCxnSpPr>
          <p:cNvPr id="4" name="Connector 3"/>
          <p:cNvCxnSpPr/>
          <p:nvPr/>
        </p:nvCxnSpPr>
        <p:spPr>
          <a:xfrm>
            <a:off x="731520" y="3337560"/>
            <a:ext cx="822960" cy="0"/>
          </a:xfrm>
          <a:prstGeom prst="line">
            <a:avLst/>
          </a:prstGeom>
          <a:ln w="19050">
            <a:solidFill>
              <a:srgbClr val="3E5F5A"/>
            </a:solidFill>
          </a:ln>
        </p:spPr>
      </p:cxnSp>
      <p:sp>
        <p:nvSpPr>
          <p:cNvPr id="5" name="TextBox 4"/>
          <p:cNvSpPr txBox="1"/>
          <p:nvPr/>
        </p:nvSpPr>
        <p:spPr>
          <a:xfrm>
            <a:off x="731520" y="3520440"/>
            <a:ext cx="10058400" cy="822960"/>
          </a:xfrm>
          <a:prstGeom prst="rect">
            <a:avLst/>
          </a:prstGeom>
          <a:noFill/>
        </p:spPr>
        <p:txBody>
          <a:bodyPr wrap="square" anchor="t" lIns="0" rIns="0" tIns="0" bIns="0">
            <a:spAutoFit/>
          </a:bodyPr>
          <a:lstStyle/>
          <a:p>
            <a:pPr algn="l">
              <a:lnSpc>
                <a:spcPct val="120000"/>
              </a:lnSpc>
            </a:pPr>
            <a:r>
              <a:rPr sz="3800" b="0" i="0">
                <a:solidFill>
                  <a:srgbClr val="1F2421"/>
                </a:solidFill>
                <a:latin typeface="Georgia"/>
              </a:rPr>
              <a:t>Results</a:t>
            </a:r>
          </a:p>
        </p:txBody>
      </p:sp>
      <p:sp>
        <p:nvSpPr>
          <p:cNvPr id="6" name="TextBox 5"/>
          <p:cNvSpPr txBox="1"/>
          <p:nvPr/>
        </p:nvSpPr>
        <p:spPr>
          <a:xfrm>
            <a:off x="731520" y="4343400"/>
            <a:ext cx="9144000" cy="731520"/>
          </a:xfrm>
          <a:prstGeom prst="rect">
            <a:avLst/>
          </a:prstGeom>
          <a:noFill/>
        </p:spPr>
        <p:txBody>
          <a:bodyPr wrap="square" anchor="t" lIns="0" rIns="0" tIns="0" bIns="0">
            <a:spAutoFit/>
          </a:bodyPr>
          <a:lstStyle/>
          <a:p>
            <a:pPr algn="l">
              <a:lnSpc>
                <a:spcPct val="120000"/>
              </a:lnSpc>
            </a:pPr>
            <a:r>
              <a:rPr sz="1400" b="0" i="0">
                <a:solidFill>
                  <a:srgbClr val="5B625C"/>
                </a:solidFill>
                <a:latin typeface="Segoe UI"/>
              </a:rPr>
              <a:t>Detection, attacks, backdoors and robustness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04 · RESULTS</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Baseline detection — and why we did not stop there</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20</a:t>
            </a:r>
          </a:p>
        </p:txBody>
      </p:sp>
      <p:sp>
        <p:nvSpPr>
          <p:cNvPr id="8" name="TextBox 7"/>
          <p:cNvSpPr txBox="1"/>
          <p:nvPr/>
        </p:nvSpPr>
        <p:spPr>
          <a:xfrm>
            <a:off x="731520" y="1828800"/>
            <a:ext cx="2651760" cy="1005840"/>
          </a:xfrm>
          <a:prstGeom prst="rect">
            <a:avLst/>
          </a:prstGeom>
          <a:noFill/>
        </p:spPr>
        <p:txBody>
          <a:bodyPr wrap="square" anchor="t" lIns="0" rIns="0" tIns="0" bIns="0">
            <a:spAutoFit/>
          </a:bodyPr>
          <a:lstStyle/>
          <a:p>
            <a:pPr algn="l">
              <a:lnSpc>
                <a:spcPct val="105000"/>
              </a:lnSpc>
            </a:pPr>
            <a:r>
              <a:rPr sz="3000" b="0" i="0">
                <a:solidFill>
                  <a:srgbClr val="1F2421"/>
                </a:solidFill>
                <a:latin typeface="Georgia"/>
              </a:rPr>
              <a:t>100.0%</a:t>
            </a:r>
          </a:p>
          <a:p>
            <a:pPr algn="l">
              <a:lnSpc>
                <a:spcPct val="105000"/>
              </a:lnSpc>
            </a:pPr>
            <a:r>
              <a:rPr sz="1150" b="0" i="0">
                <a:solidFill>
                  <a:srgbClr val="5B625C"/>
                </a:solidFill>
                <a:latin typeface="Segoe UI"/>
              </a:rPr>
              <a:t>centralized</a:t>
            </a:r>
          </a:p>
        </p:txBody>
      </p:sp>
      <p:sp>
        <p:nvSpPr>
          <p:cNvPr id="9" name="TextBox 8"/>
          <p:cNvSpPr txBox="1"/>
          <p:nvPr/>
        </p:nvSpPr>
        <p:spPr>
          <a:xfrm>
            <a:off x="3474720" y="1828800"/>
            <a:ext cx="2651760" cy="1005840"/>
          </a:xfrm>
          <a:prstGeom prst="rect">
            <a:avLst/>
          </a:prstGeom>
          <a:noFill/>
        </p:spPr>
        <p:txBody>
          <a:bodyPr wrap="square" anchor="t" lIns="0" rIns="0" tIns="0" bIns="0">
            <a:spAutoFit/>
          </a:bodyPr>
          <a:lstStyle/>
          <a:p>
            <a:pPr algn="l">
              <a:lnSpc>
                <a:spcPct val="105000"/>
              </a:lnSpc>
            </a:pPr>
            <a:r>
              <a:rPr sz="3000" b="0" i="0">
                <a:solidFill>
                  <a:srgbClr val="1F2421"/>
                </a:solidFill>
                <a:latin typeface="Georgia"/>
              </a:rPr>
              <a:t>99.93%</a:t>
            </a:r>
          </a:p>
          <a:p>
            <a:pPr algn="l">
              <a:lnSpc>
                <a:spcPct val="105000"/>
              </a:lnSpc>
            </a:pPr>
            <a:r>
              <a:rPr sz="1150" b="0" i="0">
                <a:solidFill>
                  <a:srgbClr val="5B625C"/>
                </a:solidFill>
                <a:latin typeface="Segoe UI"/>
              </a:rPr>
              <a:t>FedAvg · 10 real routers</a:t>
            </a:r>
          </a:p>
        </p:txBody>
      </p:sp>
      <p:sp>
        <p:nvSpPr>
          <p:cNvPr id="10" name="TextBox 9"/>
          <p:cNvSpPr txBox="1"/>
          <p:nvPr/>
        </p:nvSpPr>
        <p:spPr>
          <a:xfrm>
            <a:off x="6217920" y="1828800"/>
            <a:ext cx="2651760" cy="1005840"/>
          </a:xfrm>
          <a:prstGeom prst="rect">
            <a:avLst/>
          </a:prstGeom>
          <a:noFill/>
        </p:spPr>
        <p:txBody>
          <a:bodyPr wrap="square" anchor="t" lIns="0" rIns="0" tIns="0" bIns="0">
            <a:spAutoFit/>
          </a:bodyPr>
          <a:lstStyle/>
          <a:p>
            <a:pPr algn="l">
              <a:lnSpc>
                <a:spcPct val="105000"/>
              </a:lnSpc>
            </a:pPr>
            <a:r>
              <a:rPr sz="3000" b="0" i="0">
                <a:solidFill>
                  <a:srgbClr val="1F2421"/>
                </a:solidFill>
                <a:latin typeface="Georgia"/>
              </a:rPr>
              <a:t>99.999%</a:t>
            </a:r>
          </a:p>
          <a:p>
            <a:pPr algn="l">
              <a:lnSpc>
                <a:spcPct val="105000"/>
              </a:lnSpc>
            </a:pPr>
            <a:r>
              <a:rPr sz="1150" b="0" i="0">
                <a:solidFill>
                  <a:srgbClr val="5B625C"/>
                </a:solidFill>
                <a:latin typeface="Segoe UI"/>
              </a:rPr>
              <a:t>FedAvg · IID split</a:t>
            </a:r>
          </a:p>
        </p:txBody>
      </p:sp>
      <p:sp>
        <p:nvSpPr>
          <p:cNvPr id="11" name="TextBox 10"/>
          <p:cNvSpPr txBox="1"/>
          <p:nvPr/>
        </p:nvSpPr>
        <p:spPr>
          <a:xfrm>
            <a:off x="731520" y="3063240"/>
            <a:ext cx="8046720" cy="548640"/>
          </a:xfrm>
          <a:prstGeom prst="rect">
            <a:avLst/>
          </a:prstGeom>
          <a:noFill/>
        </p:spPr>
        <p:txBody>
          <a:bodyPr wrap="square" anchor="t" lIns="0" rIns="0" tIns="0" bIns="0">
            <a:spAutoFit/>
          </a:bodyPr>
          <a:lstStyle/>
          <a:p>
            <a:pPr algn="l">
              <a:lnSpc>
                <a:spcPct val="120000"/>
              </a:lnSpc>
            </a:pPr>
            <a:r>
              <a:rPr sz="1250" b="0" i="0">
                <a:solidFill>
                  <a:srgbClr val="5B625C"/>
                </a:solidFill>
                <a:latin typeface="Segoe UI"/>
              </a:rPr>
              <a:t>Binary normal-vs-attack accuracy on FLNET2023's separate TEST capture (79,491 flows).</a:t>
            </a:r>
          </a:p>
        </p:txBody>
      </p:sp>
      <p:sp>
        <p:nvSpPr>
          <p:cNvPr id="12" name="Rounded Rectangle 11"/>
          <p:cNvSpPr/>
          <p:nvPr/>
        </p:nvSpPr>
        <p:spPr>
          <a:xfrm>
            <a:off x="731520" y="3794760"/>
            <a:ext cx="10725912" cy="2240280"/>
          </a:xfrm>
          <a:prstGeom prst="roundRect">
            <a:avLst>
              <a:gd name="adj" fmla="val 4000"/>
            </a:avLst>
          </a:prstGeom>
          <a:solidFill>
            <a:srgbClr val="F2E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977639"/>
            <a:ext cx="10058400" cy="2011680"/>
          </a:xfrm>
          <a:prstGeom prst="rect">
            <a:avLst/>
          </a:prstGeom>
          <a:noFill/>
        </p:spPr>
        <p:txBody>
          <a:bodyPr wrap="square" anchor="t" lIns="0" rIns="0" tIns="0" bIns="0">
            <a:spAutoFit/>
          </a:bodyPr>
          <a:lstStyle/>
          <a:p>
            <a:pPr algn="l">
              <a:lnSpc>
                <a:spcPct val="130000"/>
              </a:lnSpc>
            </a:pPr>
            <a:r>
              <a:rPr sz="1100" b="1" i="0">
                <a:solidFill>
                  <a:srgbClr val="8E673F"/>
                </a:solidFill>
                <a:latin typeface="Segoe UI"/>
              </a:rPr>
              <a:t>WE CHECKED THE 100% INSTEAD OF TRUSTING IT</a:t>
            </a:r>
          </a:p>
          <a:p>
            <a:pPr algn="l">
              <a:lnSpc>
                <a:spcPct val="130000"/>
              </a:lnSpc>
            </a:pPr>
            <a:r>
              <a:rPr sz="1350" b="0" i="0">
                <a:solidFill>
                  <a:srgbClr val="1F2421"/>
                </a:solidFill>
                <a:latin typeface="Segoe UI"/>
              </a:rPr>
              <a:t>Identifiers were already removed. Yet a single threshold on one feature (forward packet count) scores 97.5%, a depth-2 decision tree 99.2%, and a depth-3 tree 99.99%.</a:t>
            </a:r>
          </a:p>
          <a:p>
            <a:pPr algn="l">
              <a:lnSpc>
                <a:spcPct val="130000"/>
              </a:lnSpc>
            </a:pPr>
            <a:r>
              <a:rPr sz="1350" b="0" i="0">
                <a:solidFill>
                  <a:srgbClr val="5B625C"/>
                </a:solidFill>
                <a:latin typeface="Segoe UI"/>
              </a:rPr>
              <a:t>The emulated traffic is simply very easy to separate. So binary accuracy cannot show differences between setups — we added 11-class detection, and judged the protocol by how attacks change accuracy.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04 · RESULTS</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Multi-class detection reveals the non-IID problem</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21</a:t>
            </a:r>
          </a:p>
        </p:txBody>
      </p:sp>
      <p:pic>
        <p:nvPicPr>
          <p:cNvPr id="8" name="Picture 7" descr="multiclass_recall.png"/>
          <p:cNvPicPr>
            <a:picLocks noChangeAspect="1"/>
          </p:cNvPicPr>
          <p:nvPr/>
        </p:nvPicPr>
        <p:blipFill>
          <a:blip r:embed="rId2"/>
          <a:stretch>
            <a:fillRect/>
          </a:stretch>
        </p:blipFill>
        <p:spPr>
          <a:xfrm>
            <a:off x="731520" y="1691640"/>
            <a:ext cx="6980287" cy="4526280"/>
          </a:xfrm>
          <a:prstGeom prst="rect">
            <a:avLst/>
          </a:prstGeom>
        </p:spPr>
      </p:pic>
      <p:sp>
        <p:nvSpPr>
          <p:cNvPr id="9" name="TextBox 8"/>
          <p:cNvSpPr txBox="1"/>
          <p:nvPr/>
        </p:nvSpPr>
        <p:spPr>
          <a:xfrm>
            <a:off x="7635240" y="1783080"/>
            <a:ext cx="3840480" cy="320040"/>
          </a:xfrm>
          <a:prstGeom prst="rect">
            <a:avLst/>
          </a:prstGeom>
          <a:noFill/>
        </p:spPr>
        <p:txBody>
          <a:bodyPr wrap="square" anchor="t" lIns="0" rIns="0" tIns="0" bIns="0">
            <a:spAutoFit/>
          </a:bodyPr>
          <a:lstStyle/>
          <a:p>
            <a:pPr algn="l">
              <a:lnSpc>
                <a:spcPct val="120000"/>
              </a:lnSpc>
            </a:pPr>
            <a:r>
              <a:rPr sz="1100" b="1" i="0">
                <a:solidFill>
                  <a:srgbClr val="3E5F5A"/>
                </a:solidFill>
                <a:latin typeface="Segoe UI"/>
              </a:rPr>
              <a:t>MACRO-F1</a:t>
            </a:r>
          </a:p>
        </p:txBody>
      </p:sp>
      <p:sp>
        <p:nvSpPr>
          <p:cNvPr id="10" name="TextBox 9"/>
          <p:cNvSpPr txBox="1"/>
          <p:nvPr/>
        </p:nvSpPr>
        <p:spPr>
          <a:xfrm>
            <a:off x="7635240" y="2194560"/>
            <a:ext cx="3840480" cy="685800"/>
          </a:xfrm>
          <a:prstGeom prst="rect">
            <a:avLst/>
          </a:prstGeom>
          <a:noFill/>
        </p:spPr>
        <p:txBody>
          <a:bodyPr wrap="square" anchor="t" lIns="0" rIns="0" tIns="0" bIns="0">
            <a:spAutoFit/>
          </a:bodyPr>
          <a:lstStyle/>
          <a:p>
            <a:pPr algn="l">
              <a:lnSpc>
                <a:spcPct val="100000"/>
              </a:lnSpc>
            </a:pPr>
            <a:r>
              <a:rPr sz="2200" b="0" i="0">
                <a:solidFill>
                  <a:srgbClr val="1F2421"/>
                </a:solidFill>
                <a:latin typeface="Georgia"/>
              </a:rPr>
              <a:t>0.79</a:t>
            </a:r>
          </a:p>
          <a:p>
            <a:pPr algn="l">
              <a:lnSpc>
                <a:spcPct val="100000"/>
              </a:lnSpc>
            </a:pPr>
            <a:r>
              <a:rPr sz="1100" b="0" i="0">
                <a:solidFill>
                  <a:srgbClr val="5B625C"/>
                </a:solidFill>
                <a:latin typeface="Segoe UI"/>
              </a:rPr>
              <a:t>Centralized</a:t>
            </a:r>
          </a:p>
        </p:txBody>
      </p:sp>
      <p:sp>
        <p:nvSpPr>
          <p:cNvPr id="11" name="TextBox 10"/>
          <p:cNvSpPr txBox="1"/>
          <p:nvPr/>
        </p:nvSpPr>
        <p:spPr>
          <a:xfrm>
            <a:off x="7635240" y="2907792"/>
            <a:ext cx="3840480" cy="685800"/>
          </a:xfrm>
          <a:prstGeom prst="rect">
            <a:avLst/>
          </a:prstGeom>
          <a:noFill/>
        </p:spPr>
        <p:txBody>
          <a:bodyPr wrap="square" anchor="t" lIns="0" rIns="0" tIns="0" bIns="0">
            <a:spAutoFit/>
          </a:bodyPr>
          <a:lstStyle/>
          <a:p>
            <a:pPr algn="l">
              <a:lnSpc>
                <a:spcPct val="100000"/>
              </a:lnSpc>
            </a:pPr>
            <a:r>
              <a:rPr sz="2200" b="0" i="0">
                <a:solidFill>
                  <a:srgbClr val="1F2421"/>
                </a:solidFill>
                <a:latin typeface="Georgia"/>
              </a:rPr>
              <a:t>0.76</a:t>
            </a:r>
          </a:p>
          <a:p>
            <a:pPr algn="l">
              <a:lnSpc>
                <a:spcPct val="100000"/>
              </a:lnSpc>
            </a:pPr>
            <a:r>
              <a:rPr sz="1100" b="0" i="0">
                <a:solidFill>
                  <a:srgbClr val="5B625C"/>
                </a:solidFill>
                <a:latin typeface="Segoe UI"/>
              </a:rPr>
              <a:t>FedAvg · IID</a:t>
            </a:r>
          </a:p>
        </p:txBody>
      </p:sp>
      <p:sp>
        <p:nvSpPr>
          <p:cNvPr id="12" name="TextBox 11"/>
          <p:cNvSpPr txBox="1"/>
          <p:nvPr/>
        </p:nvSpPr>
        <p:spPr>
          <a:xfrm>
            <a:off x="7635240" y="3621024"/>
            <a:ext cx="3840480" cy="685800"/>
          </a:xfrm>
          <a:prstGeom prst="rect">
            <a:avLst/>
          </a:prstGeom>
          <a:noFill/>
        </p:spPr>
        <p:txBody>
          <a:bodyPr wrap="square" anchor="t" lIns="0" rIns="0" tIns="0" bIns="0">
            <a:spAutoFit/>
          </a:bodyPr>
          <a:lstStyle/>
          <a:p>
            <a:pPr algn="l">
              <a:lnSpc>
                <a:spcPct val="100000"/>
              </a:lnSpc>
            </a:pPr>
            <a:r>
              <a:rPr sz="2200" b="0" i="0">
                <a:solidFill>
                  <a:srgbClr val="8E673F"/>
                </a:solidFill>
                <a:latin typeface="Georgia"/>
              </a:rPr>
              <a:t>0.39</a:t>
            </a:r>
          </a:p>
          <a:p>
            <a:pPr algn="l">
              <a:lnSpc>
                <a:spcPct val="100000"/>
              </a:lnSpc>
            </a:pPr>
            <a:r>
              <a:rPr sz="1100" b="0" i="0">
                <a:solidFill>
                  <a:srgbClr val="5B625C"/>
                </a:solidFill>
                <a:latin typeface="Segoe UI"/>
              </a:rPr>
              <a:t>FedAvg · real routers</a:t>
            </a:r>
          </a:p>
        </p:txBody>
      </p:sp>
      <p:sp>
        <p:nvSpPr>
          <p:cNvPr id="13" name="TextBox 12"/>
          <p:cNvSpPr txBox="1"/>
          <p:nvPr/>
        </p:nvSpPr>
        <p:spPr>
          <a:xfrm>
            <a:off x="7635240" y="4434840"/>
            <a:ext cx="3840480" cy="1737360"/>
          </a:xfrm>
          <a:prstGeom prst="rect">
            <a:avLst/>
          </a:prstGeom>
          <a:noFill/>
        </p:spPr>
        <p:txBody>
          <a:bodyPr wrap="square" anchor="t" lIns="0" rIns="0" tIns="0" bIns="0">
            <a:spAutoFit/>
          </a:bodyPr>
          <a:lstStyle/>
          <a:p>
            <a:pPr algn="l">
              <a:lnSpc>
                <a:spcPct val="125000"/>
              </a:lnSpc>
            </a:pPr>
            <a:r>
              <a:rPr sz="1200" b="0" i="0">
                <a:solidFill>
                  <a:srgbClr val="1F2421"/>
                </a:solidFill>
                <a:latin typeface="Segoe UI"/>
              </a:rPr>
              <a:t>Every attack type held by only one or two routers is never learned over the real routers — the other clients' updates average it away. DDoS-tcp survives (70%) because its router carries 25% of the weight.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04 · RESULTS</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The protocol under label-flipping attack</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22</a:t>
            </a:r>
          </a:p>
        </p:txBody>
      </p:sp>
      <p:pic>
        <p:nvPicPr>
          <p:cNvPr id="8" name="Picture 7" descr="attack_accuracy_by_round.png"/>
          <p:cNvPicPr>
            <a:picLocks noChangeAspect="1"/>
          </p:cNvPicPr>
          <p:nvPr/>
        </p:nvPicPr>
        <p:blipFill>
          <a:blip r:embed="rId2"/>
          <a:stretch>
            <a:fillRect/>
          </a:stretch>
        </p:blipFill>
        <p:spPr>
          <a:xfrm>
            <a:off x="731520" y="1645920"/>
            <a:ext cx="7589520" cy="3281835"/>
          </a:xfrm>
          <a:prstGeom prst="rect">
            <a:avLst/>
          </a:prstGeom>
        </p:spPr>
      </p:pic>
      <p:sp>
        <p:nvSpPr>
          <p:cNvPr id="9" name="TextBox 8"/>
          <p:cNvSpPr txBox="1"/>
          <p:nvPr/>
        </p:nvSpPr>
        <p:spPr>
          <a:xfrm>
            <a:off x="8595360" y="1783080"/>
            <a:ext cx="2926080" cy="320040"/>
          </a:xfrm>
          <a:prstGeom prst="rect">
            <a:avLst/>
          </a:prstGeom>
          <a:noFill/>
        </p:spPr>
        <p:txBody>
          <a:bodyPr wrap="square" anchor="t" lIns="0" rIns="0" tIns="0" bIns="0">
            <a:spAutoFit/>
          </a:bodyPr>
          <a:lstStyle/>
          <a:p>
            <a:pPr algn="l">
              <a:lnSpc>
                <a:spcPct val="120000"/>
              </a:lnSpc>
            </a:pPr>
            <a:r>
              <a:rPr sz="1100" b="1" i="0">
                <a:solidFill>
                  <a:srgbClr val="3E5F5A"/>
                </a:solidFill>
                <a:latin typeface="Segoe UI"/>
              </a:rPr>
              <a:t>ACCURACY UNDER ATTACK</a:t>
            </a:r>
          </a:p>
        </p:txBody>
      </p:sp>
      <p:sp>
        <p:nvSpPr>
          <p:cNvPr id="10" name="TextBox 9"/>
          <p:cNvSpPr txBox="1"/>
          <p:nvPr/>
        </p:nvSpPr>
        <p:spPr>
          <a:xfrm>
            <a:off x="8595360" y="2194560"/>
            <a:ext cx="2926080" cy="1005840"/>
          </a:xfrm>
          <a:prstGeom prst="rect">
            <a:avLst/>
          </a:prstGeom>
          <a:noFill/>
        </p:spPr>
        <p:txBody>
          <a:bodyPr wrap="square" anchor="t" lIns="0" rIns="0" tIns="0" bIns="0">
            <a:spAutoFit/>
          </a:bodyPr>
          <a:lstStyle/>
          <a:p>
            <a:pPr algn="l">
              <a:lnSpc>
                <a:spcPct val="110000"/>
              </a:lnSpc>
            </a:pPr>
            <a:r>
              <a:rPr sz="1250" b="1" i="0">
                <a:solidFill>
                  <a:srgbClr val="1F2421"/>
                </a:solidFill>
                <a:latin typeface="Segoe UI"/>
              </a:rPr>
              <a:t>FLNET2023</a:t>
            </a:r>
          </a:p>
          <a:p>
            <a:pPr algn="l">
              <a:lnSpc>
                <a:spcPct val="110000"/>
              </a:lnSpc>
            </a:pPr>
            <a:r>
              <a:rPr sz="2000" b="0" i="0">
                <a:solidFill>
                  <a:srgbClr val="1F2421"/>
                </a:solidFill>
                <a:latin typeface="Georgia"/>
              </a:rPr>
              <a:t>92.4%  →  99.4%</a:t>
            </a:r>
          </a:p>
          <a:p>
            <a:pPr algn="l">
              <a:lnSpc>
                <a:spcPct val="110000"/>
              </a:lnSpc>
            </a:pPr>
            <a:r>
              <a:rPr sz="1050" b="0" i="0">
                <a:solidFill>
                  <a:srgbClr val="5B625C"/>
                </a:solidFill>
                <a:latin typeface="Segoe UI"/>
              </a:rPr>
              <a:t>no defense → protocol v1</a:t>
            </a:r>
          </a:p>
        </p:txBody>
      </p:sp>
      <p:sp>
        <p:nvSpPr>
          <p:cNvPr id="11" name="TextBox 10"/>
          <p:cNvSpPr txBox="1"/>
          <p:nvPr/>
        </p:nvSpPr>
        <p:spPr>
          <a:xfrm>
            <a:off x="8595360" y="3291840"/>
            <a:ext cx="2926080" cy="1005840"/>
          </a:xfrm>
          <a:prstGeom prst="rect">
            <a:avLst/>
          </a:prstGeom>
          <a:noFill/>
        </p:spPr>
        <p:txBody>
          <a:bodyPr wrap="square" anchor="t" lIns="0" rIns="0" tIns="0" bIns="0">
            <a:spAutoFit/>
          </a:bodyPr>
          <a:lstStyle/>
          <a:p>
            <a:pPr algn="l">
              <a:lnSpc>
                <a:spcPct val="110000"/>
              </a:lnSpc>
            </a:pPr>
            <a:r>
              <a:rPr sz="1250" b="1" i="0">
                <a:solidFill>
                  <a:srgbClr val="1F2421"/>
                </a:solidFill>
                <a:latin typeface="Segoe UI"/>
              </a:rPr>
              <a:t>NSL-KDD</a:t>
            </a:r>
          </a:p>
          <a:p>
            <a:pPr algn="l">
              <a:lnSpc>
                <a:spcPct val="110000"/>
              </a:lnSpc>
            </a:pPr>
            <a:r>
              <a:rPr sz="2000" b="0" i="0">
                <a:solidFill>
                  <a:srgbClr val="1F2421"/>
                </a:solidFill>
                <a:latin typeface="Georgia"/>
              </a:rPr>
              <a:t>68.8%  →  79.2%</a:t>
            </a:r>
          </a:p>
          <a:p>
            <a:pPr algn="l">
              <a:lnSpc>
                <a:spcPct val="110000"/>
              </a:lnSpc>
            </a:pPr>
            <a:r>
              <a:rPr sz="1050" b="0" i="0">
                <a:solidFill>
                  <a:srgbClr val="5B625C"/>
                </a:solidFill>
                <a:latin typeface="Segoe UI"/>
              </a:rPr>
              <a:t>no defense → protocol v2</a:t>
            </a:r>
          </a:p>
        </p:txBody>
      </p:sp>
      <p:sp>
        <p:nvSpPr>
          <p:cNvPr id="12" name="TextBox 11"/>
          <p:cNvSpPr txBox="1"/>
          <p:nvPr/>
        </p:nvSpPr>
        <p:spPr>
          <a:xfrm>
            <a:off x="8595360" y="4526280"/>
            <a:ext cx="2926080" cy="1645920"/>
          </a:xfrm>
          <a:prstGeom prst="rect">
            <a:avLst/>
          </a:prstGeom>
          <a:noFill/>
        </p:spPr>
        <p:txBody>
          <a:bodyPr wrap="square" anchor="t" lIns="0" rIns="0" tIns="0" bIns="0">
            <a:spAutoFit/>
          </a:bodyPr>
          <a:lstStyle/>
          <a:p>
            <a:pPr algn="l">
              <a:lnSpc>
                <a:spcPct val="125000"/>
              </a:lnSpc>
            </a:pPr>
            <a:r>
              <a:rPr sz="1150" b="0" i="0">
                <a:solidFill>
                  <a:srgbClr val="5B625C"/>
                </a:solidFill>
                <a:latin typeface="Segoe UI"/>
              </a:rPr>
              <a:t>NSL-KDD: significant (p = 0.009, 10 seeds). FLNET2023: same direction, not significant with 5 seeds. 105 / 105 tampered messages rejected.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04 · RESULTS</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Backdoors and communication cost</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23</a:t>
            </a:r>
          </a:p>
        </p:txBody>
      </p:sp>
      <p:pic>
        <p:nvPicPr>
          <p:cNvPr id="8" name="Picture 7" descr="backdoor_success.png"/>
          <p:cNvPicPr>
            <a:picLocks noChangeAspect="1"/>
          </p:cNvPicPr>
          <p:nvPr/>
        </p:nvPicPr>
        <p:blipFill>
          <a:blip r:embed="rId2"/>
          <a:stretch>
            <a:fillRect/>
          </a:stretch>
        </p:blipFill>
        <p:spPr>
          <a:xfrm>
            <a:off x="731520" y="1691640"/>
            <a:ext cx="4330392" cy="3291840"/>
          </a:xfrm>
          <a:prstGeom prst="rect">
            <a:avLst/>
          </a:prstGeom>
        </p:spPr>
      </p:pic>
      <p:pic>
        <p:nvPicPr>
          <p:cNvPr id="9" name="Picture 8" descr="message_size.png"/>
          <p:cNvPicPr>
            <a:picLocks noChangeAspect="1"/>
          </p:cNvPicPr>
          <p:nvPr/>
        </p:nvPicPr>
        <p:blipFill>
          <a:blip r:embed="rId3"/>
          <a:stretch>
            <a:fillRect/>
          </a:stretch>
        </p:blipFill>
        <p:spPr>
          <a:xfrm>
            <a:off x="6263640" y="1783080"/>
            <a:ext cx="5120640" cy="3097085"/>
          </a:xfrm>
          <a:prstGeom prst="rect">
            <a:avLst/>
          </a:prstGeom>
        </p:spPr>
      </p:pic>
      <p:sp>
        <p:nvSpPr>
          <p:cNvPr id="10" name="TextBox 9"/>
          <p:cNvSpPr txBox="1"/>
          <p:nvPr/>
        </p:nvSpPr>
        <p:spPr>
          <a:xfrm>
            <a:off x="731520" y="5120640"/>
            <a:ext cx="5120640" cy="1097280"/>
          </a:xfrm>
          <a:prstGeom prst="rect">
            <a:avLst/>
          </a:prstGeom>
          <a:noFill/>
        </p:spPr>
        <p:txBody>
          <a:bodyPr wrap="square" anchor="t" lIns="0" rIns="0" tIns="0" bIns="0">
            <a:spAutoFit/>
          </a:bodyPr>
          <a:lstStyle/>
          <a:p>
            <a:pPr algn="l">
              <a:lnSpc>
                <a:spcPct val="125000"/>
              </a:lnSpc>
            </a:pPr>
            <a:r>
              <a:rPr sz="1200" b="0" i="0">
                <a:solidFill>
                  <a:srgbClr val="5B625C"/>
                </a:solidFill>
                <a:latin typeface="Segoe UI"/>
              </a:rPr>
              <a:t>NSL-KDD backdoor success 34.1% → 8.7% (p &lt; 0.001). On FLNET2023 the backdoor failed even without a defense — honest routers outvote it.</a:t>
            </a:r>
          </a:p>
        </p:txBody>
      </p:sp>
      <p:sp>
        <p:nvSpPr>
          <p:cNvPr id="11" name="TextBox 10"/>
          <p:cNvSpPr txBox="1"/>
          <p:nvPr/>
        </p:nvSpPr>
        <p:spPr>
          <a:xfrm>
            <a:off x="6263640" y="5120640"/>
            <a:ext cx="5120640" cy="1097280"/>
          </a:xfrm>
          <a:prstGeom prst="rect">
            <a:avLst/>
          </a:prstGeom>
          <a:noFill/>
        </p:spPr>
        <p:txBody>
          <a:bodyPr wrap="square" anchor="t" lIns="0" rIns="0" tIns="0" bIns="0">
            <a:spAutoFit/>
          </a:bodyPr>
          <a:lstStyle/>
          <a:p>
            <a:pPr algn="l">
              <a:lnSpc>
                <a:spcPct val="125000"/>
              </a:lnSpc>
            </a:pPr>
            <a:r>
              <a:rPr sz="1200" b="0" i="0">
                <a:solidFill>
                  <a:srgbClr val="5B625C"/>
                </a:solidFill>
                <a:latin typeface="Segoe UI"/>
              </a:rPr>
              <a:t>The header, fingerprint and tag add 0.67%; plain HTTP/JSON would be 5.6× the size of the raw update.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04 · RESULTS</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Robustness I — routers dropping out</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24</a:t>
            </a:r>
          </a:p>
        </p:txBody>
      </p:sp>
      <p:pic>
        <p:nvPicPr>
          <p:cNvPr id="8" name="Picture 7" descr="dropout_accuracy.png"/>
          <p:cNvPicPr>
            <a:picLocks noChangeAspect="1"/>
          </p:cNvPicPr>
          <p:nvPr/>
        </p:nvPicPr>
        <p:blipFill>
          <a:blip r:embed="rId2"/>
          <a:stretch>
            <a:fillRect/>
          </a:stretch>
        </p:blipFill>
        <p:spPr>
          <a:xfrm>
            <a:off x="731520" y="1645920"/>
            <a:ext cx="7680960" cy="3313172"/>
          </a:xfrm>
          <a:prstGeom prst="rect">
            <a:avLst/>
          </a:prstGeom>
        </p:spPr>
      </p:pic>
      <p:cxnSp>
        <p:nvCxnSpPr>
          <p:cNvPr id="9" name="Connector 8"/>
          <p:cNvCxnSpPr/>
          <p:nvPr/>
        </p:nvCxnSpPr>
        <p:spPr>
          <a:xfrm>
            <a:off x="8549640" y="1783080"/>
            <a:ext cx="2907792" cy="0"/>
          </a:xfrm>
          <a:prstGeom prst="line">
            <a:avLst/>
          </a:prstGeom>
          <a:ln w="12700">
            <a:solidFill>
              <a:srgbClr val="5B625C"/>
            </a:solidFill>
          </a:ln>
        </p:spPr>
      </p:cxnSp>
      <p:sp>
        <p:nvSpPr>
          <p:cNvPr id="10" name="TextBox 9"/>
          <p:cNvSpPr txBox="1"/>
          <p:nvPr/>
        </p:nvSpPr>
        <p:spPr>
          <a:xfrm>
            <a:off x="8622792" y="1783080"/>
            <a:ext cx="512064" cy="438912"/>
          </a:xfrm>
          <a:prstGeom prst="rect">
            <a:avLst/>
          </a:prstGeom>
          <a:noFill/>
        </p:spPr>
        <p:txBody>
          <a:bodyPr wrap="square" anchor="ctr" lIns="0" rIns="0" tIns="0" bIns="0">
            <a:spAutoFit/>
          </a:bodyPr>
          <a:lstStyle/>
          <a:p>
            <a:pPr algn="l">
              <a:lnSpc>
                <a:spcPct val="105000"/>
              </a:lnSpc>
            </a:pPr>
            <a:r>
              <a:rPr sz="1000" b="1" i="0">
                <a:solidFill>
                  <a:srgbClr val="3E5F5A"/>
                </a:solidFill>
                <a:latin typeface="Segoe UI"/>
              </a:rPr>
              <a:t>Offline</a:t>
            </a:r>
          </a:p>
        </p:txBody>
      </p:sp>
      <p:sp>
        <p:nvSpPr>
          <p:cNvPr id="11" name="TextBox 10"/>
          <p:cNvSpPr txBox="1"/>
          <p:nvPr/>
        </p:nvSpPr>
        <p:spPr>
          <a:xfrm>
            <a:off x="9281160" y="1783080"/>
            <a:ext cx="749808" cy="438912"/>
          </a:xfrm>
          <a:prstGeom prst="rect">
            <a:avLst/>
          </a:prstGeom>
          <a:noFill/>
        </p:spPr>
        <p:txBody>
          <a:bodyPr wrap="square" anchor="ctr" lIns="0" rIns="0" tIns="0" bIns="0">
            <a:spAutoFit/>
          </a:bodyPr>
          <a:lstStyle/>
          <a:p>
            <a:pPr algn="l">
              <a:lnSpc>
                <a:spcPct val="105000"/>
              </a:lnSpc>
            </a:pPr>
            <a:r>
              <a:rPr sz="1000" b="1" i="0">
                <a:solidFill>
                  <a:srgbClr val="3E5F5A"/>
                </a:solidFill>
                <a:latin typeface="Segoe UI"/>
              </a:rPr>
              <a:t>No defense</a:t>
            </a:r>
          </a:p>
        </p:txBody>
      </p:sp>
      <p:sp>
        <p:nvSpPr>
          <p:cNvPr id="12" name="TextBox 11"/>
          <p:cNvSpPr txBox="1"/>
          <p:nvPr/>
        </p:nvSpPr>
        <p:spPr>
          <a:xfrm>
            <a:off x="10177272" y="1783080"/>
            <a:ext cx="630936" cy="438912"/>
          </a:xfrm>
          <a:prstGeom prst="rect">
            <a:avLst/>
          </a:prstGeom>
          <a:noFill/>
        </p:spPr>
        <p:txBody>
          <a:bodyPr wrap="square" anchor="ctr" lIns="0" rIns="0" tIns="0" bIns="0">
            <a:spAutoFit/>
          </a:bodyPr>
          <a:lstStyle/>
          <a:p>
            <a:pPr algn="l">
              <a:lnSpc>
                <a:spcPct val="105000"/>
              </a:lnSpc>
            </a:pPr>
            <a:r>
              <a:rPr sz="1000" b="1" i="0">
                <a:solidFill>
                  <a:srgbClr val="3E5F5A"/>
                </a:solidFill>
                <a:latin typeface="Segoe UI"/>
              </a:rPr>
              <a:t>Protocol</a:t>
            </a:r>
          </a:p>
        </p:txBody>
      </p:sp>
      <p:sp>
        <p:nvSpPr>
          <p:cNvPr id="13" name="TextBox 12"/>
          <p:cNvSpPr txBox="1"/>
          <p:nvPr/>
        </p:nvSpPr>
        <p:spPr>
          <a:xfrm>
            <a:off x="10954512" y="1783080"/>
            <a:ext cx="429768" cy="438912"/>
          </a:xfrm>
          <a:prstGeom prst="rect">
            <a:avLst/>
          </a:prstGeom>
          <a:noFill/>
        </p:spPr>
        <p:txBody>
          <a:bodyPr wrap="square" anchor="ctr" lIns="0" rIns="0" tIns="0" bIns="0">
            <a:spAutoFit/>
          </a:bodyPr>
          <a:lstStyle/>
          <a:p>
            <a:pPr algn="l">
              <a:lnSpc>
                <a:spcPct val="105000"/>
              </a:lnSpc>
            </a:pPr>
            <a:r>
              <a:rPr sz="1000" b="1" i="0">
                <a:solidFill>
                  <a:srgbClr val="3E5F5A"/>
                </a:solidFill>
                <a:latin typeface="Segoe UI"/>
              </a:rPr>
              <a:t>Caught</a:t>
            </a:r>
          </a:p>
        </p:txBody>
      </p:sp>
      <p:cxnSp>
        <p:nvCxnSpPr>
          <p:cNvPr id="14" name="Connector 13"/>
          <p:cNvCxnSpPr/>
          <p:nvPr/>
        </p:nvCxnSpPr>
        <p:spPr>
          <a:xfrm>
            <a:off x="8549640" y="2221992"/>
            <a:ext cx="2907792" cy="0"/>
          </a:xfrm>
          <a:prstGeom prst="line">
            <a:avLst/>
          </a:prstGeom>
          <a:ln w="12700">
            <a:solidFill>
              <a:srgbClr val="5B625C"/>
            </a:solidFill>
          </a:ln>
        </p:spPr>
      </p:cxnSp>
      <p:sp>
        <p:nvSpPr>
          <p:cNvPr id="15" name="TextBox 14"/>
          <p:cNvSpPr txBox="1"/>
          <p:nvPr/>
        </p:nvSpPr>
        <p:spPr>
          <a:xfrm>
            <a:off x="8622792" y="2221992"/>
            <a:ext cx="512064" cy="438912"/>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0%</a:t>
            </a:r>
          </a:p>
        </p:txBody>
      </p:sp>
      <p:sp>
        <p:nvSpPr>
          <p:cNvPr id="16" name="TextBox 15"/>
          <p:cNvSpPr txBox="1"/>
          <p:nvPr/>
        </p:nvSpPr>
        <p:spPr>
          <a:xfrm>
            <a:off x="9281160" y="2221992"/>
            <a:ext cx="749808" cy="438912"/>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92.6%</a:t>
            </a:r>
          </a:p>
        </p:txBody>
      </p:sp>
      <p:sp>
        <p:nvSpPr>
          <p:cNvPr id="17" name="TextBox 16"/>
          <p:cNvSpPr txBox="1"/>
          <p:nvPr/>
        </p:nvSpPr>
        <p:spPr>
          <a:xfrm>
            <a:off x="10177272" y="2221992"/>
            <a:ext cx="630936" cy="438912"/>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97.1%</a:t>
            </a:r>
          </a:p>
        </p:txBody>
      </p:sp>
      <p:sp>
        <p:nvSpPr>
          <p:cNvPr id="18" name="TextBox 17"/>
          <p:cNvSpPr txBox="1"/>
          <p:nvPr/>
        </p:nvSpPr>
        <p:spPr>
          <a:xfrm>
            <a:off x="10954512" y="2221992"/>
            <a:ext cx="429768" cy="438912"/>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71%</a:t>
            </a:r>
          </a:p>
        </p:txBody>
      </p:sp>
      <p:cxnSp>
        <p:nvCxnSpPr>
          <p:cNvPr id="19" name="Connector 18"/>
          <p:cNvCxnSpPr/>
          <p:nvPr/>
        </p:nvCxnSpPr>
        <p:spPr>
          <a:xfrm>
            <a:off x="8549640" y="2660904"/>
            <a:ext cx="2907792" cy="0"/>
          </a:xfrm>
          <a:prstGeom prst="line">
            <a:avLst/>
          </a:prstGeom>
          <a:ln w="6350">
            <a:solidFill>
              <a:srgbClr val="DDDAD2"/>
            </a:solidFill>
          </a:ln>
        </p:spPr>
      </p:cxnSp>
      <p:sp>
        <p:nvSpPr>
          <p:cNvPr id="20" name="TextBox 19"/>
          <p:cNvSpPr txBox="1"/>
          <p:nvPr/>
        </p:nvSpPr>
        <p:spPr>
          <a:xfrm>
            <a:off x="8622792" y="2660904"/>
            <a:ext cx="512064" cy="438912"/>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20%</a:t>
            </a:r>
          </a:p>
        </p:txBody>
      </p:sp>
      <p:sp>
        <p:nvSpPr>
          <p:cNvPr id="21" name="TextBox 20"/>
          <p:cNvSpPr txBox="1"/>
          <p:nvPr/>
        </p:nvSpPr>
        <p:spPr>
          <a:xfrm>
            <a:off x="9281160" y="2660904"/>
            <a:ext cx="749808" cy="438912"/>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89.7%</a:t>
            </a:r>
          </a:p>
        </p:txBody>
      </p:sp>
      <p:sp>
        <p:nvSpPr>
          <p:cNvPr id="22" name="TextBox 21"/>
          <p:cNvSpPr txBox="1"/>
          <p:nvPr/>
        </p:nvSpPr>
        <p:spPr>
          <a:xfrm>
            <a:off x="10177272" y="2660904"/>
            <a:ext cx="630936" cy="438912"/>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90.8%</a:t>
            </a:r>
          </a:p>
        </p:txBody>
      </p:sp>
      <p:sp>
        <p:nvSpPr>
          <p:cNvPr id="23" name="TextBox 22"/>
          <p:cNvSpPr txBox="1"/>
          <p:nvPr/>
        </p:nvSpPr>
        <p:spPr>
          <a:xfrm>
            <a:off x="10954512" y="2660904"/>
            <a:ext cx="429768" cy="438912"/>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64%</a:t>
            </a:r>
          </a:p>
        </p:txBody>
      </p:sp>
      <p:cxnSp>
        <p:nvCxnSpPr>
          <p:cNvPr id="24" name="Connector 23"/>
          <p:cNvCxnSpPr/>
          <p:nvPr/>
        </p:nvCxnSpPr>
        <p:spPr>
          <a:xfrm>
            <a:off x="8549640" y="3099816"/>
            <a:ext cx="2907792" cy="0"/>
          </a:xfrm>
          <a:prstGeom prst="line">
            <a:avLst/>
          </a:prstGeom>
          <a:ln w="6350">
            <a:solidFill>
              <a:srgbClr val="DDDAD2"/>
            </a:solidFill>
          </a:ln>
        </p:spPr>
      </p:cxnSp>
      <p:sp>
        <p:nvSpPr>
          <p:cNvPr id="25" name="TextBox 24"/>
          <p:cNvSpPr txBox="1"/>
          <p:nvPr/>
        </p:nvSpPr>
        <p:spPr>
          <a:xfrm>
            <a:off x="8622792" y="3099816"/>
            <a:ext cx="512064" cy="438912"/>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40%</a:t>
            </a:r>
          </a:p>
        </p:txBody>
      </p:sp>
      <p:sp>
        <p:nvSpPr>
          <p:cNvPr id="26" name="TextBox 25"/>
          <p:cNvSpPr txBox="1"/>
          <p:nvPr/>
        </p:nvSpPr>
        <p:spPr>
          <a:xfrm>
            <a:off x="9281160" y="3099816"/>
            <a:ext cx="749808" cy="438912"/>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78.6%</a:t>
            </a:r>
          </a:p>
        </p:txBody>
      </p:sp>
      <p:sp>
        <p:nvSpPr>
          <p:cNvPr id="27" name="TextBox 26"/>
          <p:cNvSpPr txBox="1"/>
          <p:nvPr/>
        </p:nvSpPr>
        <p:spPr>
          <a:xfrm>
            <a:off x="10177272" y="3099816"/>
            <a:ext cx="630936" cy="438912"/>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81.9%</a:t>
            </a:r>
          </a:p>
        </p:txBody>
      </p:sp>
      <p:sp>
        <p:nvSpPr>
          <p:cNvPr id="28" name="TextBox 27"/>
          <p:cNvSpPr txBox="1"/>
          <p:nvPr/>
        </p:nvSpPr>
        <p:spPr>
          <a:xfrm>
            <a:off x="10954512" y="3099816"/>
            <a:ext cx="429768" cy="438912"/>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36%</a:t>
            </a:r>
          </a:p>
        </p:txBody>
      </p:sp>
      <p:cxnSp>
        <p:nvCxnSpPr>
          <p:cNvPr id="29" name="Connector 28"/>
          <p:cNvCxnSpPr/>
          <p:nvPr/>
        </p:nvCxnSpPr>
        <p:spPr>
          <a:xfrm>
            <a:off x="8549640" y="3538728"/>
            <a:ext cx="2907792" cy="0"/>
          </a:xfrm>
          <a:prstGeom prst="line">
            <a:avLst/>
          </a:prstGeom>
          <a:ln w="12700">
            <a:solidFill>
              <a:srgbClr val="5B625C"/>
            </a:solidFill>
          </a:ln>
        </p:spPr>
      </p:cxnSp>
      <p:sp>
        <p:nvSpPr>
          <p:cNvPr id="30" name="TextBox 29"/>
          <p:cNvSpPr txBox="1"/>
          <p:nvPr/>
        </p:nvSpPr>
        <p:spPr>
          <a:xfrm>
            <a:off x="8549640" y="3703320"/>
            <a:ext cx="2907792" cy="2377440"/>
          </a:xfrm>
          <a:prstGeom prst="rect">
            <a:avLst/>
          </a:prstGeom>
          <a:noFill/>
        </p:spPr>
        <p:txBody>
          <a:bodyPr wrap="square" anchor="t" lIns="0" rIns="0" tIns="0" bIns="0">
            <a:spAutoFit/>
          </a:bodyPr>
          <a:lstStyle/>
          <a:p>
            <a:pPr algn="l">
              <a:lnSpc>
                <a:spcPct val="125000"/>
              </a:lnSpc>
            </a:pPr>
            <a:r>
              <a:rPr sz="1150" b="0" i="0">
                <a:solidFill>
                  <a:srgbClr val="5B625C"/>
                </a:solidFill>
                <a:latin typeface="Segoe UI"/>
              </a:rPr>
              <a:t>Accuracy is the mean over all attack rounds. The protocol helps at every level and keeps wrongly excluded honest updates under 1%, but its advantage shrinks as more routers drop out — with ~6 online, 2 attackers pull the round's median.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04 · RESULTS</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Robustness II — more clients, and a traffic shift</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25</a:t>
            </a:r>
          </a:p>
        </p:txBody>
      </p:sp>
      <p:pic>
        <p:nvPicPr>
          <p:cNvPr id="8" name="Picture 7" descr="scale_global_vs_mondrian.png"/>
          <p:cNvPicPr>
            <a:picLocks noChangeAspect="1"/>
          </p:cNvPicPr>
          <p:nvPr/>
        </p:nvPicPr>
        <p:blipFill>
          <a:blip r:embed="rId2"/>
          <a:stretch>
            <a:fillRect/>
          </a:stretch>
        </p:blipFill>
        <p:spPr>
          <a:xfrm>
            <a:off x="731520" y="1645920"/>
            <a:ext cx="7680960" cy="3313172"/>
          </a:xfrm>
          <a:prstGeom prst="rect">
            <a:avLst/>
          </a:prstGeom>
        </p:spPr>
      </p:pic>
      <p:cxnSp>
        <p:nvCxnSpPr>
          <p:cNvPr id="9" name="Connector 8"/>
          <p:cNvCxnSpPr/>
          <p:nvPr/>
        </p:nvCxnSpPr>
        <p:spPr>
          <a:xfrm>
            <a:off x="8549640" y="1783080"/>
            <a:ext cx="2907792" cy="0"/>
          </a:xfrm>
          <a:prstGeom prst="line">
            <a:avLst/>
          </a:prstGeom>
          <a:ln w="12700">
            <a:solidFill>
              <a:srgbClr val="5B625C"/>
            </a:solidFill>
          </a:ln>
        </p:spPr>
      </p:cxnSp>
      <p:sp>
        <p:nvSpPr>
          <p:cNvPr id="10" name="TextBox 9"/>
          <p:cNvSpPr txBox="1"/>
          <p:nvPr/>
        </p:nvSpPr>
        <p:spPr>
          <a:xfrm>
            <a:off x="8622792" y="1783080"/>
            <a:ext cx="512064" cy="438912"/>
          </a:xfrm>
          <a:prstGeom prst="rect">
            <a:avLst/>
          </a:prstGeom>
          <a:noFill/>
        </p:spPr>
        <p:txBody>
          <a:bodyPr wrap="square" anchor="ctr" lIns="0" rIns="0" tIns="0" bIns="0">
            <a:spAutoFit/>
          </a:bodyPr>
          <a:lstStyle/>
          <a:p>
            <a:pPr algn="l">
              <a:lnSpc>
                <a:spcPct val="105000"/>
              </a:lnSpc>
            </a:pPr>
            <a:r>
              <a:rPr sz="1000" b="1" i="0">
                <a:solidFill>
                  <a:srgbClr val="3E5F5A"/>
                </a:solidFill>
                <a:latin typeface="Segoe UI"/>
              </a:rPr>
              <a:t>Clients</a:t>
            </a:r>
          </a:p>
        </p:txBody>
      </p:sp>
      <p:sp>
        <p:nvSpPr>
          <p:cNvPr id="11" name="TextBox 10"/>
          <p:cNvSpPr txBox="1"/>
          <p:nvPr/>
        </p:nvSpPr>
        <p:spPr>
          <a:xfrm>
            <a:off x="9281160" y="1783080"/>
            <a:ext cx="493776" cy="438912"/>
          </a:xfrm>
          <a:prstGeom prst="rect">
            <a:avLst/>
          </a:prstGeom>
          <a:noFill/>
        </p:spPr>
        <p:txBody>
          <a:bodyPr wrap="square" anchor="ctr" lIns="0" rIns="0" tIns="0" bIns="0">
            <a:spAutoFit/>
          </a:bodyPr>
          <a:lstStyle/>
          <a:p>
            <a:pPr algn="l">
              <a:lnSpc>
                <a:spcPct val="105000"/>
              </a:lnSpc>
            </a:pPr>
            <a:r>
              <a:rPr sz="1000" b="1" i="0">
                <a:solidFill>
                  <a:srgbClr val="3E5F5A"/>
                </a:solidFill>
                <a:latin typeface="Segoe UI"/>
              </a:rPr>
              <a:t>Caught</a:t>
            </a:r>
          </a:p>
        </p:txBody>
      </p:sp>
      <p:sp>
        <p:nvSpPr>
          <p:cNvPr id="12" name="TextBox 11"/>
          <p:cNvSpPr txBox="1"/>
          <p:nvPr/>
        </p:nvSpPr>
        <p:spPr>
          <a:xfrm>
            <a:off x="9921240" y="1783080"/>
            <a:ext cx="822960" cy="438912"/>
          </a:xfrm>
          <a:prstGeom prst="rect">
            <a:avLst/>
          </a:prstGeom>
          <a:noFill/>
        </p:spPr>
        <p:txBody>
          <a:bodyPr wrap="square" anchor="ctr" lIns="0" rIns="0" tIns="0" bIns="0">
            <a:spAutoFit/>
          </a:bodyPr>
          <a:lstStyle/>
          <a:p>
            <a:pPr algn="l">
              <a:lnSpc>
                <a:spcPct val="105000"/>
              </a:lnSpc>
            </a:pPr>
            <a:r>
              <a:rPr sz="1000" b="1" i="0">
                <a:solidFill>
                  <a:srgbClr val="3E5F5A"/>
                </a:solidFill>
                <a:latin typeface="Segoe UI"/>
              </a:rPr>
              <a:t>Honest excl.</a:t>
            </a:r>
          </a:p>
        </p:txBody>
      </p:sp>
      <p:sp>
        <p:nvSpPr>
          <p:cNvPr id="13" name="TextBox 12"/>
          <p:cNvSpPr txBox="1"/>
          <p:nvPr/>
        </p:nvSpPr>
        <p:spPr>
          <a:xfrm>
            <a:off x="10890504" y="1783080"/>
            <a:ext cx="493776" cy="438912"/>
          </a:xfrm>
          <a:prstGeom prst="rect">
            <a:avLst/>
          </a:prstGeom>
          <a:noFill/>
        </p:spPr>
        <p:txBody>
          <a:bodyPr wrap="square" anchor="ctr" lIns="0" rIns="0" tIns="0" bIns="0">
            <a:spAutoFit/>
          </a:bodyPr>
          <a:lstStyle/>
          <a:p>
            <a:pPr algn="l">
              <a:lnSpc>
                <a:spcPct val="105000"/>
              </a:lnSpc>
            </a:pPr>
            <a:r>
              <a:rPr sz="1000" b="1" i="0">
                <a:solidFill>
                  <a:srgbClr val="3E5F5A"/>
                </a:solidFill>
                <a:latin typeface="Segoe UI"/>
              </a:rPr>
              <a:t>Server</a:t>
            </a:r>
          </a:p>
        </p:txBody>
      </p:sp>
      <p:cxnSp>
        <p:nvCxnSpPr>
          <p:cNvPr id="14" name="Connector 13"/>
          <p:cNvCxnSpPr/>
          <p:nvPr/>
        </p:nvCxnSpPr>
        <p:spPr>
          <a:xfrm>
            <a:off x="8549640" y="2221992"/>
            <a:ext cx="2907792" cy="0"/>
          </a:xfrm>
          <a:prstGeom prst="line">
            <a:avLst/>
          </a:prstGeom>
          <a:ln w="12700">
            <a:solidFill>
              <a:srgbClr val="5B625C"/>
            </a:solidFill>
          </a:ln>
        </p:spPr>
      </p:cxnSp>
      <p:sp>
        <p:nvSpPr>
          <p:cNvPr id="15" name="TextBox 14"/>
          <p:cNvSpPr txBox="1"/>
          <p:nvPr/>
        </p:nvSpPr>
        <p:spPr>
          <a:xfrm>
            <a:off x="8622792" y="2221992"/>
            <a:ext cx="512064" cy="438912"/>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10</a:t>
            </a:r>
          </a:p>
        </p:txBody>
      </p:sp>
      <p:sp>
        <p:nvSpPr>
          <p:cNvPr id="16" name="TextBox 15"/>
          <p:cNvSpPr txBox="1"/>
          <p:nvPr/>
        </p:nvSpPr>
        <p:spPr>
          <a:xfrm>
            <a:off x="9281160" y="2221992"/>
            <a:ext cx="493776" cy="438912"/>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71%</a:t>
            </a:r>
          </a:p>
        </p:txBody>
      </p:sp>
      <p:sp>
        <p:nvSpPr>
          <p:cNvPr id="17" name="TextBox 16"/>
          <p:cNvSpPr txBox="1"/>
          <p:nvPr/>
        </p:nvSpPr>
        <p:spPr>
          <a:xfrm>
            <a:off x="9921240" y="2221992"/>
            <a:ext cx="822960" cy="438912"/>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0.4%</a:t>
            </a:r>
          </a:p>
        </p:txBody>
      </p:sp>
      <p:sp>
        <p:nvSpPr>
          <p:cNvPr id="18" name="TextBox 17"/>
          <p:cNvSpPr txBox="1"/>
          <p:nvPr/>
        </p:nvSpPr>
        <p:spPr>
          <a:xfrm>
            <a:off x="10890504" y="2221992"/>
            <a:ext cx="493776" cy="438912"/>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24 ms</a:t>
            </a:r>
          </a:p>
        </p:txBody>
      </p:sp>
      <p:cxnSp>
        <p:nvCxnSpPr>
          <p:cNvPr id="19" name="Connector 18"/>
          <p:cNvCxnSpPr/>
          <p:nvPr/>
        </p:nvCxnSpPr>
        <p:spPr>
          <a:xfrm>
            <a:off x="8549640" y="2660904"/>
            <a:ext cx="2907792" cy="0"/>
          </a:xfrm>
          <a:prstGeom prst="line">
            <a:avLst/>
          </a:prstGeom>
          <a:ln w="6350">
            <a:solidFill>
              <a:srgbClr val="DDDAD2"/>
            </a:solidFill>
          </a:ln>
        </p:spPr>
      </p:cxnSp>
      <p:sp>
        <p:nvSpPr>
          <p:cNvPr id="20" name="TextBox 19"/>
          <p:cNvSpPr txBox="1"/>
          <p:nvPr/>
        </p:nvSpPr>
        <p:spPr>
          <a:xfrm>
            <a:off x="8622792" y="2660904"/>
            <a:ext cx="512064" cy="438912"/>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20</a:t>
            </a:r>
          </a:p>
        </p:txBody>
      </p:sp>
      <p:sp>
        <p:nvSpPr>
          <p:cNvPr id="21" name="TextBox 20"/>
          <p:cNvSpPr txBox="1"/>
          <p:nvPr/>
        </p:nvSpPr>
        <p:spPr>
          <a:xfrm>
            <a:off x="9281160" y="2660904"/>
            <a:ext cx="493776" cy="438912"/>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89%</a:t>
            </a:r>
          </a:p>
        </p:txBody>
      </p:sp>
      <p:sp>
        <p:nvSpPr>
          <p:cNvPr id="22" name="TextBox 21"/>
          <p:cNvSpPr txBox="1"/>
          <p:nvPr/>
        </p:nvSpPr>
        <p:spPr>
          <a:xfrm>
            <a:off x="9921240" y="2660904"/>
            <a:ext cx="822960" cy="438912"/>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1.2%</a:t>
            </a:r>
          </a:p>
        </p:txBody>
      </p:sp>
      <p:sp>
        <p:nvSpPr>
          <p:cNvPr id="23" name="TextBox 22"/>
          <p:cNvSpPr txBox="1"/>
          <p:nvPr/>
        </p:nvSpPr>
        <p:spPr>
          <a:xfrm>
            <a:off x="10890504" y="2660904"/>
            <a:ext cx="493776" cy="438912"/>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37 ms</a:t>
            </a:r>
          </a:p>
        </p:txBody>
      </p:sp>
      <p:cxnSp>
        <p:nvCxnSpPr>
          <p:cNvPr id="24" name="Connector 23"/>
          <p:cNvCxnSpPr/>
          <p:nvPr/>
        </p:nvCxnSpPr>
        <p:spPr>
          <a:xfrm>
            <a:off x="8549640" y="3099816"/>
            <a:ext cx="2907792" cy="0"/>
          </a:xfrm>
          <a:prstGeom prst="line">
            <a:avLst/>
          </a:prstGeom>
          <a:ln w="6350">
            <a:solidFill>
              <a:srgbClr val="DDDAD2"/>
            </a:solidFill>
          </a:ln>
        </p:spPr>
      </p:cxnSp>
      <p:sp>
        <p:nvSpPr>
          <p:cNvPr id="25" name="TextBox 24"/>
          <p:cNvSpPr txBox="1"/>
          <p:nvPr/>
        </p:nvSpPr>
        <p:spPr>
          <a:xfrm>
            <a:off x="8622792" y="3099816"/>
            <a:ext cx="512064" cy="438912"/>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40</a:t>
            </a:r>
          </a:p>
        </p:txBody>
      </p:sp>
      <p:sp>
        <p:nvSpPr>
          <p:cNvPr id="26" name="TextBox 25"/>
          <p:cNvSpPr txBox="1"/>
          <p:nvPr/>
        </p:nvSpPr>
        <p:spPr>
          <a:xfrm>
            <a:off x="9281160" y="3099816"/>
            <a:ext cx="493776" cy="438912"/>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84%</a:t>
            </a:r>
          </a:p>
        </p:txBody>
      </p:sp>
      <p:sp>
        <p:nvSpPr>
          <p:cNvPr id="27" name="TextBox 26"/>
          <p:cNvSpPr txBox="1"/>
          <p:nvPr/>
        </p:nvSpPr>
        <p:spPr>
          <a:xfrm>
            <a:off x="9921240" y="3099816"/>
            <a:ext cx="822960" cy="438912"/>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0.4%</a:t>
            </a:r>
          </a:p>
        </p:txBody>
      </p:sp>
      <p:sp>
        <p:nvSpPr>
          <p:cNvPr id="28" name="TextBox 27"/>
          <p:cNvSpPr txBox="1"/>
          <p:nvPr/>
        </p:nvSpPr>
        <p:spPr>
          <a:xfrm>
            <a:off x="10890504" y="3099816"/>
            <a:ext cx="493776" cy="438912"/>
          </a:xfrm>
          <a:prstGeom prst="rect">
            <a:avLst/>
          </a:prstGeom>
          <a:noFill/>
        </p:spPr>
        <p:txBody>
          <a:bodyPr wrap="square" anchor="ctr" lIns="0" rIns="0" tIns="0" bIns="0">
            <a:spAutoFit/>
          </a:bodyPr>
          <a:lstStyle/>
          <a:p>
            <a:pPr algn="l">
              <a:lnSpc>
                <a:spcPct val="105000"/>
              </a:lnSpc>
            </a:pPr>
            <a:r>
              <a:rPr sz="1100" b="0" i="0">
                <a:solidFill>
                  <a:srgbClr val="1F2421"/>
                </a:solidFill>
                <a:latin typeface="Segoe UI"/>
              </a:rPr>
              <a:t>73 ms</a:t>
            </a:r>
          </a:p>
        </p:txBody>
      </p:sp>
      <p:cxnSp>
        <p:nvCxnSpPr>
          <p:cNvPr id="29" name="Connector 28"/>
          <p:cNvCxnSpPr/>
          <p:nvPr/>
        </p:nvCxnSpPr>
        <p:spPr>
          <a:xfrm>
            <a:off x="8549640" y="3538728"/>
            <a:ext cx="2907792" cy="0"/>
          </a:xfrm>
          <a:prstGeom prst="line">
            <a:avLst/>
          </a:prstGeom>
          <a:ln w="12700">
            <a:solidFill>
              <a:srgbClr val="5B625C"/>
            </a:solidFill>
          </a:ln>
        </p:spPr>
      </p:cxnSp>
      <p:sp>
        <p:nvSpPr>
          <p:cNvPr id="30" name="TextBox 29"/>
          <p:cNvSpPr txBox="1"/>
          <p:nvPr/>
        </p:nvSpPr>
        <p:spPr>
          <a:xfrm>
            <a:off x="8549640" y="3703320"/>
            <a:ext cx="2907792" cy="2377440"/>
          </a:xfrm>
          <a:prstGeom prst="rect">
            <a:avLst/>
          </a:prstGeom>
          <a:noFill/>
        </p:spPr>
        <p:txBody>
          <a:bodyPr wrap="square" anchor="t" lIns="0" rIns="0" tIns="0" bIns="0">
            <a:spAutoFit/>
          </a:bodyPr>
          <a:lstStyle/>
          <a:p>
            <a:pPr algn="l">
              <a:lnSpc>
                <a:spcPct val="125000"/>
              </a:lnSpc>
            </a:pPr>
            <a:r>
              <a:rPr sz="1150" b="0" i="0">
                <a:solidFill>
                  <a:srgbClr val="5B625C"/>
                </a:solidFill>
                <a:latin typeface="Segoe UI"/>
              </a:rPr>
              <a:t>Global threshold shown. More clients give a steadier median and smaller attackers; server time grows about linearly.</a:t>
            </a:r>
          </a:p>
          <a:p>
            <a:pPr algn="l">
              <a:lnSpc>
                <a:spcPct val="125000"/>
              </a:lnSpc>
            </a:pPr>
            <a:r>
              <a:rPr sz="600" b="0" i="0">
                <a:solidFill>
                  <a:srgbClr val="1F2421"/>
                </a:solidFill>
                <a:latin typeface="Segoe UI"/>
              </a:rPr>
              <a:t/>
            </a:r>
          </a:p>
          <a:p>
            <a:pPr algn="l">
              <a:lnSpc>
                <a:spcPct val="125000"/>
              </a:lnSpc>
            </a:pPr>
            <a:r>
              <a:rPr sz="1150" b="1" i="0">
                <a:solidFill>
                  <a:srgbClr val="1F2421"/>
                </a:solidFill>
                <a:latin typeface="Segoe UI"/>
              </a:rPr>
              <a:t>Traffic shift: </a:t>
            </a:r>
            <a:r>
              <a:rPr sz="1150" b="0" i="0">
                <a:solidFill>
                  <a:srgbClr val="5B625C"/>
                </a:solidFill>
                <a:latin typeface="Segoe UI"/>
              </a:rPr>
              <a:t>router 3 suddenly seeing DDoS traffic was wrongly excluded 0% of the time.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03120"/>
            <a:ext cx="2743200" cy="1097280"/>
          </a:xfrm>
          <a:prstGeom prst="rect">
            <a:avLst/>
          </a:prstGeom>
          <a:noFill/>
        </p:spPr>
        <p:txBody>
          <a:bodyPr wrap="square" anchor="t" lIns="0" rIns="0" tIns="0" bIns="0">
            <a:spAutoFit/>
          </a:bodyPr>
          <a:lstStyle/>
          <a:p>
            <a:pPr algn="l">
              <a:lnSpc>
                <a:spcPct val="120000"/>
              </a:lnSpc>
            </a:pPr>
            <a:r>
              <a:rPr sz="6600" b="0" i="0">
                <a:solidFill>
                  <a:srgbClr val="3E5F5A"/>
                </a:solidFill>
                <a:latin typeface="Georgia"/>
              </a:rPr>
              <a:t>05</a:t>
            </a:r>
          </a:p>
        </p:txBody>
      </p:sp>
      <p:cxnSp>
        <p:nvCxnSpPr>
          <p:cNvPr id="4" name="Connector 3"/>
          <p:cNvCxnSpPr/>
          <p:nvPr/>
        </p:nvCxnSpPr>
        <p:spPr>
          <a:xfrm>
            <a:off x="731520" y="3337560"/>
            <a:ext cx="822960" cy="0"/>
          </a:xfrm>
          <a:prstGeom prst="line">
            <a:avLst/>
          </a:prstGeom>
          <a:ln w="19050">
            <a:solidFill>
              <a:srgbClr val="3E5F5A"/>
            </a:solidFill>
          </a:ln>
        </p:spPr>
      </p:cxnSp>
      <p:sp>
        <p:nvSpPr>
          <p:cNvPr id="5" name="TextBox 4"/>
          <p:cNvSpPr txBox="1"/>
          <p:nvPr/>
        </p:nvSpPr>
        <p:spPr>
          <a:xfrm>
            <a:off x="731520" y="3520440"/>
            <a:ext cx="10058400" cy="822960"/>
          </a:xfrm>
          <a:prstGeom prst="rect">
            <a:avLst/>
          </a:prstGeom>
          <a:noFill/>
        </p:spPr>
        <p:txBody>
          <a:bodyPr wrap="square" anchor="t" lIns="0" rIns="0" tIns="0" bIns="0">
            <a:spAutoFit/>
          </a:bodyPr>
          <a:lstStyle/>
          <a:p>
            <a:pPr algn="l">
              <a:lnSpc>
                <a:spcPct val="120000"/>
              </a:lnSpc>
            </a:pPr>
            <a:r>
              <a:rPr sz="3800" b="0" i="0">
                <a:solidFill>
                  <a:srgbClr val="1F2421"/>
                </a:solidFill>
                <a:latin typeface="Georgia"/>
              </a:rPr>
              <a:t>Comparison</a:t>
            </a:r>
          </a:p>
        </p:txBody>
      </p:sp>
      <p:sp>
        <p:nvSpPr>
          <p:cNvPr id="6" name="TextBox 5"/>
          <p:cNvSpPr txBox="1"/>
          <p:nvPr/>
        </p:nvSpPr>
        <p:spPr>
          <a:xfrm>
            <a:off x="731520" y="4343400"/>
            <a:ext cx="9144000" cy="731520"/>
          </a:xfrm>
          <a:prstGeom prst="rect">
            <a:avLst/>
          </a:prstGeom>
          <a:noFill/>
        </p:spPr>
        <p:txBody>
          <a:bodyPr wrap="square" anchor="t" lIns="0" rIns="0" tIns="0" bIns="0">
            <a:spAutoFit/>
          </a:bodyPr>
          <a:lstStyle/>
          <a:p>
            <a:pPr algn="l">
              <a:lnSpc>
                <a:spcPct val="120000"/>
              </a:lnSpc>
            </a:pPr>
            <a:r>
              <a:rPr sz="1400" b="0" i="0">
                <a:solidFill>
                  <a:srgbClr val="5B625C"/>
                </a:solidFill>
                <a:latin typeface="Segoe UI"/>
              </a:rPr>
              <a:t>Against existing approaches, and between our own setups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05 · COMPARISON</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Compared with existing approaches</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27</a:t>
            </a:r>
          </a:p>
        </p:txBody>
      </p:sp>
      <p:cxnSp>
        <p:nvCxnSpPr>
          <p:cNvPr id="8" name="Connector 7"/>
          <p:cNvCxnSpPr/>
          <p:nvPr/>
        </p:nvCxnSpPr>
        <p:spPr>
          <a:xfrm>
            <a:off x="731520" y="1783080"/>
            <a:ext cx="10725912" cy="0"/>
          </a:xfrm>
          <a:prstGeom prst="line">
            <a:avLst/>
          </a:prstGeom>
          <a:ln w="12700">
            <a:solidFill>
              <a:srgbClr val="5B625C"/>
            </a:solidFill>
          </a:ln>
        </p:spPr>
      </p:cxnSp>
      <p:sp>
        <p:nvSpPr>
          <p:cNvPr id="9" name="TextBox 8"/>
          <p:cNvSpPr txBox="1"/>
          <p:nvPr/>
        </p:nvSpPr>
        <p:spPr>
          <a:xfrm>
            <a:off x="804672" y="1783080"/>
            <a:ext cx="2002536" cy="658368"/>
          </a:xfrm>
          <a:prstGeom prst="rect">
            <a:avLst/>
          </a:prstGeom>
          <a:noFill/>
        </p:spPr>
        <p:txBody>
          <a:bodyPr wrap="square" anchor="ctr" lIns="0" rIns="0" tIns="0" bIns="0">
            <a:spAutoFit/>
          </a:bodyPr>
          <a:lstStyle/>
          <a:p>
            <a:pPr algn="l">
              <a:lnSpc>
                <a:spcPct val="105000"/>
              </a:lnSpc>
            </a:pPr>
            <a:r>
              <a:rPr sz="1050" b="1" i="0">
                <a:solidFill>
                  <a:srgbClr val="3E5F5A"/>
                </a:solidFill>
                <a:latin typeface="Segoe UI"/>
              </a:rPr>
              <a:t>Approach</a:t>
            </a:r>
          </a:p>
        </p:txBody>
      </p:sp>
      <p:sp>
        <p:nvSpPr>
          <p:cNvPr id="10" name="TextBox 9"/>
          <p:cNvSpPr txBox="1"/>
          <p:nvPr/>
        </p:nvSpPr>
        <p:spPr>
          <a:xfrm>
            <a:off x="2953512" y="1783080"/>
            <a:ext cx="1453896" cy="658368"/>
          </a:xfrm>
          <a:prstGeom prst="rect">
            <a:avLst/>
          </a:prstGeom>
          <a:noFill/>
        </p:spPr>
        <p:txBody>
          <a:bodyPr wrap="square" anchor="ctr" lIns="0" rIns="0" tIns="0" bIns="0">
            <a:spAutoFit/>
          </a:bodyPr>
          <a:lstStyle/>
          <a:p>
            <a:pPr algn="l">
              <a:lnSpc>
                <a:spcPct val="105000"/>
              </a:lnSpc>
            </a:pPr>
            <a:r>
              <a:rPr sz="1050" b="1" i="0">
                <a:solidFill>
                  <a:srgbClr val="3E5F5A"/>
                </a:solidFill>
                <a:latin typeface="Segoe UI"/>
              </a:rPr>
              <a:t>Tamper check</a:t>
            </a:r>
          </a:p>
        </p:txBody>
      </p:sp>
      <p:sp>
        <p:nvSpPr>
          <p:cNvPr id="11" name="TextBox 10"/>
          <p:cNvSpPr txBox="1"/>
          <p:nvPr/>
        </p:nvSpPr>
        <p:spPr>
          <a:xfrm>
            <a:off x="4553712" y="1783080"/>
            <a:ext cx="1956816" cy="658368"/>
          </a:xfrm>
          <a:prstGeom prst="rect">
            <a:avLst/>
          </a:prstGeom>
          <a:noFill/>
        </p:spPr>
        <p:txBody>
          <a:bodyPr wrap="square" anchor="ctr" lIns="0" rIns="0" tIns="0" bIns="0">
            <a:spAutoFit/>
          </a:bodyPr>
          <a:lstStyle/>
          <a:p>
            <a:pPr algn="l">
              <a:lnSpc>
                <a:spcPct val="105000"/>
              </a:lnSpc>
            </a:pPr>
            <a:r>
              <a:rPr sz="1050" b="1" i="0">
                <a:solidFill>
                  <a:srgbClr val="3E5F5A"/>
                </a:solidFill>
                <a:latin typeface="Segoe UI"/>
              </a:rPr>
              <a:t>Filters poisoned updates</a:t>
            </a:r>
          </a:p>
        </p:txBody>
      </p:sp>
      <p:sp>
        <p:nvSpPr>
          <p:cNvPr id="12" name="TextBox 11"/>
          <p:cNvSpPr txBox="1"/>
          <p:nvPr/>
        </p:nvSpPr>
        <p:spPr>
          <a:xfrm>
            <a:off x="6656832" y="1783080"/>
            <a:ext cx="2459736" cy="658368"/>
          </a:xfrm>
          <a:prstGeom prst="rect">
            <a:avLst/>
          </a:prstGeom>
          <a:noFill/>
        </p:spPr>
        <p:txBody>
          <a:bodyPr wrap="square" anchor="ctr" lIns="0" rIns="0" tIns="0" bIns="0">
            <a:spAutoFit/>
          </a:bodyPr>
          <a:lstStyle/>
          <a:p>
            <a:pPr algn="l">
              <a:lnSpc>
                <a:spcPct val="105000"/>
              </a:lnSpc>
            </a:pPr>
            <a:r>
              <a:rPr sz="1050" b="1" i="0">
                <a:solidFill>
                  <a:srgbClr val="3E5F5A"/>
                </a:solidFill>
                <a:latin typeface="Segoe UI"/>
              </a:rPr>
              <a:t>When / cost</a:t>
            </a:r>
          </a:p>
        </p:txBody>
      </p:sp>
      <p:sp>
        <p:nvSpPr>
          <p:cNvPr id="13" name="TextBox 12"/>
          <p:cNvSpPr txBox="1"/>
          <p:nvPr/>
        </p:nvSpPr>
        <p:spPr>
          <a:xfrm>
            <a:off x="9262872" y="1783080"/>
            <a:ext cx="2121408" cy="658368"/>
          </a:xfrm>
          <a:prstGeom prst="rect">
            <a:avLst/>
          </a:prstGeom>
          <a:noFill/>
        </p:spPr>
        <p:txBody>
          <a:bodyPr wrap="square" anchor="ctr" lIns="0" rIns="0" tIns="0" bIns="0">
            <a:spAutoFit/>
          </a:bodyPr>
          <a:lstStyle/>
          <a:p>
            <a:pPr algn="l">
              <a:lnSpc>
                <a:spcPct val="105000"/>
              </a:lnSpc>
            </a:pPr>
            <a:r>
              <a:rPr sz="1050" b="1" i="0">
                <a:solidFill>
                  <a:srgbClr val="3E5F5A"/>
                </a:solidFill>
                <a:latin typeface="Segoe UI"/>
              </a:rPr>
              <a:t>Evidence here</a:t>
            </a:r>
          </a:p>
        </p:txBody>
      </p:sp>
      <p:cxnSp>
        <p:nvCxnSpPr>
          <p:cNvPr id="14" name="Connector 13"/>
          <p:cNvCxnSpPr/>
          <p:nvPr/>
        </p:nvCxnSpPr>
        <p:spPr>
          <a:xfrm>
            <a:off x="731520" y="2441448"/>
            <a:ext cx="10725912" cy="0"/>
          </a:xfrm>
          <a:prstGeom prst="line">
            <a:avLst/>
          </a:prstGeom>
          <a:ln w="12700">
            <a:solidFill>
              <a:srgbClr val="5B625C"/>
            </a:solidFill>
          </a:ln>
        </p:spPr>
      </p:cxnSp>
      <p:sp>
        <p:nvSpPr>
          <p:cNvPr id="15" name="TextBox 14"/>
          <p:cNvSpPr txBox="1"/>
          <p:nvPr/>
        </p:nvSpPr>
        <p:spPr>
          <a:xfrm>
            <a:off x="804672" y="2441448"/>
            <a:ext cx="2002536" cy="658368"/>
          </a:xfrm>
          <a:prstGeom prst="rect">
            <a:avLst/>
          </a:prstGeom>
          <a:noFill/>
        </p:spPr>
        <p:txBody>
          <a:bodyPr wrap="square" anchor="ctr" lIns="0" rIns="0" tIns="0" bIns="0">
            <a:spAutoFit/>
          </a:bodyPr>
          <a:lstStyle/>
          <a:p>
            <a:pPr algn="l">
              <a:lnSpc>
                <a:spcPct val="105000"/>
              </a:lnSpc>
            </a:pPr>
            <a:r>
              <a:rPr sz="1150" b="1" i="0">
                <a:solidFill>
                  <a:srgbClr val="1F2421"/>
                </a:solidFill>
                <a:latin typeface="Segoe UI"/>
              </a:rPr>
              <a:t>Plain FedAvg</a:t>
            </a:r>
          </a:p>
          <a:p>
            <a:pPr algn="l">
              <a:lnSpc>
                <a:spcPct val="105000"/>
              </a:lnSpc>
            </a:pPr>
            <a:r>
              <a:rPr sz="1150" b="1" i="0">
                <a:solidFill>
                  <a:srgbClr val="1F2421"/>
                </a:solidFill>
                <a:latin typeface="Segoe UI"/>
              </a:rPr>
              <a:t>(McMahan 2017)</a:t>
            </a:r>
          </a:p>
        </p:txBody>
      </p:sp>
      <p:sp>
        <p:nvSpPr>
          <p:cNvPr id="16" name="TextBox 15"/>
          <p:cNvSpPr txBox="1"/>
          <p:nvPr/>
        </p:nvSpPr>
        <p:spPr>
          <a:xfrm>
            <a:off x="2953512" y="2441448"/>
            <a:ext cx="1453896" cy="658368"/>
          </a:xfrm>
          <a:prstGeom prst="rect">
            <a:avLst/>
          </a:prstGeom>
          <a:noFill/>
        </p:spPr>
        <p:txBody>
          <a:bodyPr wrap="square" anchor="ctr" lIns="0" rIns="0" tIns="0" bIns="0">
            <a:spAutoFit/>
          </a:bodyPr>
          <a:lstStyle/>
          <a:p>
            <a:pPr algn="l">
              <a:lnSpc>
                <a:spcPct val="105000"/>
              </a:lnSpc>
            </a:pPr>
            <a:r>
              <a:rPr sz="1150" b="0" i="0">
                <a:solidFill>
                  <a:srgbClr val="1F2421"/>
                </a:solidFill>
                <a:latin typeface="Segoe UI"/>
              </a:rPr>
              <a:t>No</a:t>
            </a:r>
          </a:p>
        </p:txBody>
      </p:sp>
      <p:sp>
        <p:nvSpPr>
          <p:cNvPr id="17" name="TextBox 16"/>
          <p:cNvSpPr txBox="1"/>
          <p:nvPr/>
        </p:nvSpPr>
        <p:spPr>
          <a:xfrm>
            <a:off x="4553712" y="2441448"/>
            <a:ext cx="1956816" cy="658368"/>
          </a:xfrm>
          <a:prstGeom prst="rect">
            <a:avLst/>
          </a:prstGeom>
          <a:noFill/>
        </p:spPr>
        <p:txBody>
          <a:bodyPr wrap="square" anchor="ctr" lIns="0" rIns="0" tIns="0" bIns="0">
            <a:spAutoFit/>
          </a:bodyPr>
          <a:lstStyle/>
          <a:p>
            <a:pPr algn="l">
              <a:lnSpc>
                <a:spcPct val="105000"/>
              </a:lnSpc>
            </a:pPr>
            <a:r>
              <a:rPr sz="1150" b="0" i="0">
                <a:solidFill>
                  <a:srgbClr val="1F2421"/>
                </a:solidFill>
                <a:latin typeface="Segoe UI"/>
              </a:rPr>
              <a:t>No</a:t>
            </a:r>
          </a:p>
        </p:txBody>
      </p:sp>
      <p:sp>
        <p:nvSpPr>
          <p:cNvPr id="18" name="TextBox 17"/>
          <p:cNvSpPr txBox="1"/>
          <p:nvPr/>
        </p:nvSpPr>
        <p:spPr>
          <a:xfrm>
            <a:off x="6656832" y="2441448"/>
            <a:ext cx="2459736" cy="658368"/>
          </a:xfrm>
          <a:prstGeom prst="rect">
            <a:avLst/>
          </a:prstGeom>
          <a:noFill/>
        </p:spPr>
        <p:txBody>
          <a:bodyPr wrap="square" anchor="ctr" lIns="0" rIns="0" tIns="0" bIns="0">
            <a:spAutoFit/>
          </a:bodyPr>
          <a:lstStyle/>
          <a:p>
            <a:pPr algn="l">
              <a:lnSpc>
                <a:spcPct val="105000"/>
              </a:lnSpc>
            </a:pPr>
            <a:r>
              <a:rPr sz="1150" b="0" i="0">
                <a:solidFill>
                  <a:srgbClr val="1F2421"/>
                </a:solidFill>
                <a:latin typeface="Segoe UI"/>
              </a:rPr>
              <a:t>—</a:t>
            </a:r>
          </a:p>
        </p:txBody>
      </p:sp>
      <p:sp>
        <p:nvSpPr>
          <p:cNvPr id="19" name="TextBox 18"/>
          <p:cNvSpPr txBox="1"/>
          <p:nvPr/>
        </p:nvSpPr>
        <p:spPr>
          <a:xfrm>
            <a:off x="9262872" y="2441448"/>
            <a:ext cx="2121408" cy="658368"/>
          </a:xfrm>
          <a:prstGeom prst="rect">
            <a:avLst/>
          </a:prstGeom>
          <a:noFill/>
        </p:spPr>
        <p:txBody>
          <a:bodyPr wrap="square" anchor="ctr" lIns="0" rIns="0" tIns="0" bIns="0">
            <a:spAutoFit/>
          </a:bodyPr>
          <a:lstStyle/>
          <a:p>
            <a:pPr algn="l">
              <a:lnSpc>
                <a:spcPct val="105000"/>
              </a:lnSpc>
            </a:pPr>
            <a:r>
              <a:rPr sz="1150" b="0" i="0">
                <a:solidFill>
                  <a:srgbClr val="1F2421"/>
                </a:solidFill>
                <a:latin typeface="Segoe UI"/>
              </a:rPr>
              <a:t>Label flip: 92.4% FLNET, 68.8% NSL</a:t>
            </a:r>
          </a:p>
        </p:txBody>
      </p:sp>
      <p:cxnSp>
        <p:nvCxnSpPr>
          <p:cNvPr id="20" name="Connector 19"/>
          <p:cNvCxnSpPr/>
          <p:nvPr/>
        </p:nvCxnSpPr>
        <p:spPr>
          <a:xfrm>
            <a:off x="731520" y="3099816"/>
            <a:ext cx="10725912" cy="0"/>
          </a:xfrm>
          <a:prstGeom prst="line">
            <a:avLst/>
          </a:prstGeom>
          <a:ln w="6350">
            <a:solidFill>
              <a:srgbClr val="DDDAD2"/>
            </a:solidFill>
          </a:ln>
        </p:spPr>
      </p:cxnSp>
      <p:sp>
        <p:nvSpPr>
          <p:cNvPr id="21" name="TextBox 20"/>
          <p:cNvSpPr txBox="1"/>
          <p:nvPr/>
        </p:nvSpPr>
        <p:spPr>
          <a:xfrm>
            <a:off x="804672" y="3099816"/>
            <a:ext cx="2002536" cy="658368"/>
          </a:xfrm>
          <a:prstGeom prst="rect">
            <a:avLst/>
          </a:prstGeom>
          <a:noFill/>
        </p:spPr>
        <p:txBody>
          <a:bodyPr wrap="square" anchor="ctr" lIns="0" rIns="0" tIns="0" bIns="0">
            <a:spAutoFit/>
          </a:bodyPr>
          <a:lstStyle/>
          <a:p>
            <a:pPr algn="l">
              <a:lnSpc>
                <a:spcPct val="105000"/>
              </a:lnSpc>
            </a:pPr>
            <a:r>
              <a:rPr sz="1150" b="1" i="0">
                <a:solidFill>
                  <a:srgbClr val="1F2421"/>
                </a:solidFill>
                <a:latin typeface="Segoe UI"/>
              </a:rPr>
              <a:t>HTTP + JSON transfer</a:t>
            </a:r>
          </a:p>
        </p:txBody>
      </p:sp>
      <p:sp>
        <p:nvSpPr>
          <p:cNvPr id="22" name="TextBox 21"/>
          <p:cNvSpPr txBox="1"/>
          <p:nvPr/>
        </p:nvSpPr>
        <p:spPr>
          <a:xfrm>
            <a:off x="2953512" y="3099816"/>
            <a:ext cx="1453896" cy="658368"/>
          </a:xfrm>
          <a:prstGeom prst="rect">
            <a:avLst/>
          </a:prstGeom>
          <a:noFill/>
        </p:spPr>
        <p:txBody>
          <a:bodyPr wrap="square" anchor="ctr" lIns="0" rIns="0" tIns="0" bIns="0">
            <a:spAutoFit/>
          </a:bodyPr>
          <a:lstStyle/>
          <a:p>
            <a:pPr algn="l">
              <a:lnSpc>
                <a:spcPct val="105000"/>
              </a:lnSpc>
            </a:pPr>
            <a:r>
              <a:rPr sz="1150" b="0" i="0">
                <a:solidFill>
                  <a:srgbClr val="1F2421"/>
                </a:solidFill>
                <a:latin typeface="Segoe UI"/>
              </a:rPr>
              <a:t>Channel only (TLS)</a:t>
            </a:r>
          </a:p>
        </p:txBody>
      </p:sp>
      <p:sp>
        <p:nvSpPr>
          <p:cNvPr id="23" name="TextBox 22"/>
          <p:cNvSpPr txBox="1"/>
          <p:nvPr/>
        </p:nvSpPr>
        <p:spPr>
          <a:xfrm>
            <a:off x="4553712" y="3099816"/>
            <a:ext cx="1956816" cy="658368"/>
          </a:xfrm>
          <a:prstGeom prst="rect">
            <a:avLst/>
          </a:prstGeom>
          <a:noFill/>
        </p:spPr>
        <p:txBody>
          <a:bodyPr wrap="square" anchor="ctr" lIns="0" rIns="0" tIns="0" bIns="0">
            <a:spAutoFit/>
          </a:bodyPr>
          <a:lstStyle/>
          <a:p>
            <a:pPr algn="l">
              <a:lnSpc>
                <a:spcPct val="105000"/>
              </a:lnSpc>
            </a:pPr>
            <a:r>
              <a:rPr sz="1150" b="0" i="0">
                <a:solidFill>
                  <a:srgbClr val="1F2421"/>
                </a:solidFill>
                <a:latin typeface="Segoe UI"/>
              </a:rPr>
              <a:t>No</a:t>
            </a:r>
          </a:p>
        </p:txBody>
      </p:sp>
      <p:sp>
        <p:nvSpPr>
          <p:cNvPr id="24" name="TextBox 23"/>
          <p:cNvSpPr txBox="1"/>
          <p:nvPr/>
        </p:nvSpPr>
        <p:spPr>
          <a:xfrm>
            <a:off x="6656832" y="3099816"/>
            <a:ext cx="2459736" cy="658368"/>
          </a:xfrm>
          <a:prstGeom prst="rect">
            <a:avLst/>
          </a:prstGeom>
          <a:noFill/>
        </p:spPr>
        <p:txBody>
          <a:bodyPr wrap="square" anchor="ctr" lIns="0" rIns="0" tIns="0" bIns="0">
            <a:spAutoFit/>
          </a:bodyPr>
          <a:lstStyle/>
          <a:p>
            <a:pPr algn="l">
              <a:lnSpc>
                <a:spcPct val="105000"/>
              </a:lnSpc>
            </a:pPr>
            <a:r>
              <a:rPr sz="1150" b="0" i="0">
                <a:solidFill>
                  <a:srgbClr val="1F2421"/>
                </a:solidFill>
                <a:latin typeface="Segoe UI"/>
              </a:rPr>
              <a:t>5.6× message size</a:t>
            </a:r>
          </a:p>
        </p:txBody>
      </p:sp>
      <p:sp>
        <p:nvSpPr>
          <p:cNvPr id="25" name="TextBox 24"/>
          <p:cNvSpPr txBox="1"/>
          <p:nvPr/>
        </p:nvSpPr>
        <p:spPr>
          <a:xfrm>
            <a:off x="9262872" y="3099816"/>
            <a:ext cx="2121408" cy="658368"/>
          </a:xfrm>
          <a:prstGeom prst="rect">
            <a:avLst/>
          </a:prstGeom>
          <a:noFill/>
        </p:spPr>
        <p:txBody>
          <a:bodyPr wrap="square" anchor="ctr" lIns="0" rIns="0" tIns="0" bIns="0">
            <a:spAutoFit/>
          </a:bodyPr>
          <a:lstStyle/>
          <a:p>
            <a:pPr algn="l">
              <a:lnSpc>
                <a:spcPct val="105000"/>
              </a:lnSpc>
            </a:pPr>
            <a:r>
              <a:rPr sz="1150" b="0" i="0">
                <a:solidFill>
                  <a:srgbClr val="1F2421"/>
                </a:solidFill>
                <a:latin typeface="Segoe UI"/>
              </a:rPr>
              <a:t>Measured: 1,316 KB / update</a:t>
            </a:r>
          </a:p>
        </p:txBody>
      </p:sp>
      <p:cxnSp>
        <p:nvCxnSpPr>
          <p:cNvPr id="26" name="Connector 25"/>
          <p:cNvCxnSpPr/>
          <p:nvPr/>
        </p:nvCxnSpPr>
        <p:spPr>
          <a:xfrm>
            <a:off x="731520" y="3758184"/>
            <a:ext cx="10725912" cy="0"/>
          </a:xfrm>
          <a:prstGeom prst="line">
            <a:avLst/>
          </a:prstGeom>
          <a:ln w="6350">
            <a:solidFill>
              <a:srgbClr val="DDDAD2"/>
            </a:solidFill>
          </a:ln>
        </p:spPr>
      </p:cxnSp>
      <p:sp>
        <p:nvSpPr>
          <p:cNvPr id="27" name="TextBox 26"/>
          <p:cNvSpPr txBox="1"/>
          <p:nvPr/>
        </p:nvSpPr>
        <p:spPr>
          <a:xfrm>
            <a:off x="804672" y="3758184"/>
            <a:ext cx="2002536" cy="658368"/>
          </a:xfrm>
          <a:prstGeom prst="rect">
            <a:avLst/>
          </a:prstGeom>
          <a:noFill/>
        </p:spPr>
        <p:txBody>
          <a:bodyPr wrap="square" anchor="ctr" lIns="0" rIns="0" tIns="0" bIns="0">
            <a:spAutoFit/>
          </a:bodyPr>
          <a:lstStyle/>
          <a:p>
            <a:pPr algn="l">
              <a:lnSpc>
                <a:spcPct val="105000"/>
              </a:lnSpc>
            </a:pPr>
            <a:r>
              <a:rPr sz="1150" b="1" i="0">
                <a:solidFill>
                  <a:srgbClr val="1F2421"/>
                </a:solidFill>
                <a:latin typeface="Segoe UI"/>
              </a:rPr>
              <a:t>Krum</a:t>
            </a:r>
          </a:p>
          <a:p>
            <a:pPr algn="l">
              <a:lnSpc>
                <a:spcPct val="105000"/>
              </a:lnSpc>
            </a:pPr>
            <a:r>
              <a:rPr sz="1150" b="1" i="0">
                <a:solidFill>
                  <a:srgbClr val="1F2421"/>
                </a:solidFill>
                <a:latin typeface="Segoe UI"/>
              </a:rPr>
              <a:t>(Blanchard 2017)</a:t>
            </a:r>
          </a:p>
        </p:txBody>
      </p:sp>
      <p:sp>
        <p:nvSpPr>
          <p:cNvPr id="28" name="TextBox 27"/>
          <p:cNvSpPr txBox="1"/>
          <p:nvPr/>
        </p:nvSpPr>
        <p:spPr>
          <a:xfrm>
            <a:off x="2953512" y="3758184"/>
            <a:ext cx="1453896" cy="658368"/>
          </a:xfrm>
          <a:prstGeom prst="rect">
            <a:avLst/>
          </a:prstGeom>
          <a:noFill/>
        </p:spPr>
        <p:txBody>
          <a:bodyPr wrap="square" anchor="ctr" lIns="0" rIns="0" tIns="0" bIns="0">
            <a:spAutoFit/>
          </a:bodyPr>
          <a:lstStyle/>
          <a:p>
            <a:pPr algn="l">
              <a:lnSpc>
                <a:spcPct val="105000"/>
              </a:lnSpc>
            </a:pPr>
            <a:r>
              <a:rPr sz="1150" b="0" i="0">
                <a:solidFill>
                  <a:srgbClr val="1F2421"/>
                </a:solidFill>
                <a:latin typeface="Segoe UI"/>
              </a:rPr>
              <a:t>No</a:t>
            </a:r>
          </a:p>
        </p:txBody>
      </p:sp>
      <p:sp>
        <p:nvSpPr>
          <p:cNvPr id="29" name="TextBox 28"/>
          <p:cNvSpPr txBox="1"/>
          <p:nvPr/>
        </p:nvSpPr>
        <p:spPr>
          <a:xfrm>
            <a:off x="4553712" y="3758184"/>
            <a:ext cx="1956816" cy="658368"/>
          </a:xfrm>
          <a:prstGeom prst="rect">
            <a:avLst/>
          </a:prstGeom>
          <a:noFill/>
        </p:spPr>
        <p:txBody>
          <a:bodyPr wrap="square" anchor="ctr" lIns="0" rIns="0" tIns="0" bIns="0">
            <a:spAutoFit/>
          </a:bodyPr>
          <a:lstStyle/>
          <a:p>
            <a:pPr algn="l">
              <a:lnSpc>
                <a:spcPct val="105000"/>
              </a:lnSpc>
            </a:pPr>
            <a:r>
              <a:rPr sz="1150" b="0" i="0">
                <a:solidFill>
                  <a:srgbClr val="1F2421"/>
                </a:solidFill>
                <a:latin typeface="Segoe UI"/>
              </a:rPr>
              <a:t>Yes, every round</a:t>
            </a:r>
          </a:p>
        </p:txBody>
      </p:sp>
      <p:sp>
        <p:nvSpPr>
          <p:cNvPr id="30" name="TextBox 29"/>
          <p:cNvSpPr txBox="1"/>
          <p:nvPr/>
        </p:nvSpPr>
        <p:spPr>
          <a:xfrm>
            <a:off x="6656832" y="3758184"/>
            <a:ext cx="2459736" cy="658368"/>
          </a:xfrm>
          <a:prstGeom prst="rect">
            <a:avLst/>
          </a:prstGeom>
          <a:noFill/>
        </p:spPr>
        <p:txBody>
          <a:bodyPr wrap="square" anchor="ctr" lIns="0" rIns="0" tIns="0" bIns="0">
            <a:spAutoFit/>
          </a:bodyPr>
          <a:lstStyle/>
          <a:p>
            <a:pPr algn="l">
              <a:lnSpc>
                <a:spcPct val="105000"/>
              </a:lnSpc>
            </a:pPr>
            <a:r>
              <a:rPr sz="1150" b="0" i="0">
                <a:solidFill>
                  <a:srgbClr val="1F2421"/>
                </a:solidFill>
                <a:latin typeface="Segoe UI"/>
              </a:rPr>
              <a:t>After full receipt · pairwise O(n²·d)</a:t>
            </a:r>
          </a:p>
        </p:txBody>
      </p:sp>
      <p:sp>
        <p:nvSpPr>
          <p:cNvPr id="31" name="TextBox 30"/>
          <p:cNvSpPr txBox="1"/>
          <p:nvPr/>
        </p:nvSpPr>
        <p:spPr>
          <a:xfrm>
            <a:off x="9262872" y="3758184"/>
            <a:ext cx="2121408" cy="658368"/>
          </a:xfrm>
          <a:prstGeom prst="rect">
            <a:avLst/>
          </a:prstGeom>
          <a:noFill/>
        </p:spPr>
        <p:txBody>
          <a:bodyPr wrap="square" anchor="ctr" lIns="0" rIns="0" tIns="0" bIns="0">
            <a:spAutoFit/>
          </a:bodyPr>
          <a:lstStyle/>
          <a:p>
            <a:pPr algn="l">
              <a:lnSpc>
                <a:spcPct val="105000"/>
              </a:lnSpc>
            </a:pPr>
            <a:r>
              <a:rPr sz="1150" b="0" i="0">
                <a:solidFill>
                  <a:srgbClr val="1F2421"/>
                </a:solidFill>
                <a:latin typeface="Segoe UI"/>
              </a:rPr>
              <a:t>Not implemented (literature)</a:t>
            </a:r>
          </a:p>
        </p:txBody>
      </p:sp>
      <p:cxnSp>
        <p:nvCxnSpPr>
          <p:cNvPr id="32" name="Connector 31"/>
          <p:cNvCxnSpPr/>
          <p:nvPr/>
        </p:nvCxnSpPr>
        <p:spPr>
          <a:xfrm>
            <a:off x="731520" y="4416552"/>
            <a:ext cx="10725912" cy="0"/>
          </a:xfrm>
          <a:prstGeom prst="line">
            <a:avLst/>
          </a:prstGeom>
          <a:ln w="6350">
            <a:solidFill>
              <a:srgbClr val="DDDAD2"/>
            </a:solidFill>
          </a:ln>
        </p:spPr>
      </p:cxnSp>
      <p:sp>
        <p:nvSpPr>
          <p:cNvPr id="33" name="TextBox 32"/>
          <p:cNvSpPr txBox="1"/>
          <p:nvPr/>
        </p:nvSpPr>
        <p:spPr>
          <a:xfrm>
            <a:off x="804672" y="4416552"/>
            <a:ext cx="2002536" cy="658368"/>
          </a:xfrm>
          <a:prstGeom prst="rect">
            <a:avLst/>
          </a:prstGeom>
          <a:noFill/>
        </p:spPr>
        <p:txBody>
          <a:bodyPr wrap="square" anchor="ctr" lIns="0" rIns="0" tIns="0" bIns="0">
            <a:spAutoFit/>
          </a:bodyPr>
          <a:lstStyle/>
          <a:p>
            <a:pPr algn="l">
              <a:lnSpc>
                <a:spcPct val="105000"/>
              </a:lnSpc>
            </a:pPr>
            <a:r>
              <a:rPr sz="1150" b="1" i="0">
                <a:solidFill>
                  <a:srgbClr val="1F2421"/>
                </a:solidFill>
                <a:latin typeface="Segoe UI"/>
              </a:rPr>
              <a:t>Trimmed mean</a:t>
            </a:r>
          </a:p>
          <a:p>
            <a:pPr algn="l">
              <a:lnSpc>
                <a:spcPct val="105000"/>
              </a:lnSpc>
            </a:pPr>
            <a:r>
              <a:rPr sz="1150" b="1" i="0">
                <a:solidFill>
                  <a:srgbClr val="1F2421"/>
                </a:solidFill>
                <a:latin typeface="Segoe UI"/>
              </a:rPr>
              <a:t>(Yin 2018)</a:t>
            </a:r>
          </a:p>
        </p:txBody>
      </p:sp>
      <p:sp>
        <p:nvSpPr>
          <p:cNvPr id="34" name="TextBox 33"/>
          <p:cNvSpPr txBox="1"/>
          <p:nvPr/>
        </p:nvSpPr>
        <p:spPr>
          <a:xfrm>
            <a:off x="2953512" y="4416552"/>
            <a:ext cx="1453896" cy="658368"/>
          </a:xfrm>
          <a:prstGeom prst="rect">
            <a:avLst/>
          </a:prstGeom>
          <a:noFill/>
        </p:spPr>
        <p:txBody>
          <a:bodyPr wrap="square" anchor="ctr" lIns="0" rIns="0" tIns="0" bIns="0">
            <a:spAutoFit/>
          </a:bodyPr>
          <a:lstStyle/>
          <a:p>
            <a:pPr algn="l">
              <a:lnSpc>
                <a:spcPct val="105000"/>
              </a:lnSpc>
            </a:pPr>
            <a:r>
              <a:rPr sz="1150" b="0" i="0">
                <a:solidFill>
                  <a:srgbClr val="1F2421"/>
                </a:solidFill>
                <a:latin typeface="Segoe UI"/>
              </a:rPr>
              <a:t>No</a:t>
            </a:r>
          </a:p>
        </p:txBody>
      </p:sp>
      <p:sp>
        <p:nvSpPr>
          <p:cNvPr id="35" name="TextBox 34"/>
          <p:cNvSpPr txBox="1"/>
          <p:nvPr/>
        </p:nvSpPr>
        <p:spPr>
          <a:xfrm>
            <a:off x="4553712" y="4416552"/>
            <a:ext cx="1956816" cy="658368"/>
          </a:xfrm>
          <a:prstGeom prst="rect">
            <a:avLst/>
          </a:prstGeom>
          <a:noFill/>
        </p:spPr>
        <p:txBody>
          <a:bodyPr wrap="square" anchor="ctr" lIns="0" rIns="0" tIns="0" bIns="0">
            <a:spAutoFit/>
          </a:bodyPr>
          <a:lstStyle/>
          <a:p>
            <a:pPr algn="l">
              <a:lnSpc>
                <a:spcPct val="105000"/>
              </a:lnSpc>
            </a:pPr>
            <a:r>
              <a:rPr sz="1150" b="0" i="0">
                <a:solidFill>
                  <a:srgbClr val="1F2421"/>
                </a:solidFill>
                <a:latin typeface="Segoe UI"/>
              </a:rPr>
              <a:t>Yes, every round</a:t>
            </a:r>
          </a:p>
        </p:txBody>
      </p:sp>
      <p:sp>
        <p:nvSpPr>
          <p:cNvPr id="36" name="TextBox 35"/>
          <p:cNvSpPr txBox="1"/>
          <p:nvPr/>
        </p:nvSpPr>
        <p:spPr>
          <a:xfrm>
            <a:off x="6656832" y="4416552"/>
            <a:ext cx="2459736" cy="658368"/>
          </a:xfrm>
          <a:prstGeom prst="rect">
            <a:avLst/>
          </a:prstGeom>
          <a:noFill/>
        </p:spPr>
        <p:txBody>
          <a:bodyPr wrap="square" anchor="ctr" lIns="0" rIns="0" tIns="0" bIns="0">
            <a:spAutoFit/>
          </a:bodyPr>
          <a:lstStyle/>
          <a:p>
            <a:pPr algn="l">
              <a:lnSpc>
                <a:spcPct val="105000"/>
              </a:lnSpc>
            </a:pPr>
            <a:r>
              <a:rPr sz="1150" b="0" i="0">
                <a:solidFill>
                  <a:srgbClr val="1F2421"/>
                </a:solidFill>
                <a:latin typeface="Segoe UI"/>
              </a:rPr>
              <a:t>After full receipt · O(n·d·log n)</a:t>
            </a:r>
          </a:p>
        </p:txBody>
      </p:sp>
      <p:sp>
        <p:nvSpPr>
          <p:cNvPr id="37" name="TextBox 36"/>
          <p:cNvSpPr txBox="1"/>
          <p:nvPr/>
        </p:nvSpPr>
        <p:spPr>
          <a:xfrm>
            <a:off x="9262872" y="4416552"/>
            <a:ext cx="2121408" cy="658368"/>
          </a:xfrm>
          <a:prstGeom prst="rect">
            <a:avLst/>
          </a:prstGeom>
          <a:noFill/>
        </p:spPr>
        <p:txBody>
          <a:bodyPr wrap="square" anchor="ctr" lIns="0" rIns="0" tIns="0" bIns="0">
            <a:spAutoFit/>
          </a:bodyPr>
          <a:lstStyle/>
          <a:p>
            <a:pPr algn="l">
              <a:lnSpc>
                <a:spcPct val="105000"/>
              </a:lnSpc>
            </a:pPr>
            <a:r>
              <a:rPr sz="1150" b="0" i="0">
                <a:solidFill>
                  <a:srgbClr val="1F2421"/>
                </a:solidFill>
                <a:latin typeface="Segoe UI"/>
              </a:rPr>
              <a:t>Used inside our second check</a:t>
            </a:r>
          </a:p>
        </p:txBody>
      </p:sp>
      <p:cxnSp>
        <p:nvCxnSpPr>
          <p:cNvPr id="38" name="Connector 37"/>
          <p:cNvCxnSpPr/>
          <p:nvPr/>
        </p:nvCxnSpPr>
        <p:spPr>
          <a:xfrm>
            <a:off x="731520" y="5074920"/>
            <a:ext cx="10725912" cy="0"/>
          </a:xfrm>
          <a:prstGeom prst="line">
            <a:avLst/>
          </a:prstGeom>
          <a:ln w="6350">
            <a:solidFill>
              <a:srgbClr val="DDDAD2"/>
            </a:solidFill>
          </a:ln>
        </p:spPr>
      </p:cxnSp>
      <p:sp>
        <p:nvSpPr>
          <p:cNvPr id="39" name="Rectangle 38"/>
          <p:cNvSpPr/>
          <p:nvPr/>
        </p:nvSpPr>
        <p:spPr>
          <a:xfrm>
            <a:off x="731520" y="5074920"/>
            <a:ext cx="10725912" cy="658368"/>
          </a:xfrm>
          <a:prstGeom prst="rect">
            <a:avLst/>
          </a:prstGeom>
          <a:solidFill>
            <a:srgbClr val="E4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4672" y="5074920"/>
            <a:ext cx="2002536" cy="658368"/>
          </a:xfrm>
          <a:prstGeom prst="rect">
            <a:avLst/>
          </a:prstGeom>
          <a:noFill/>
        </p:spPr>
        <p:txBody>
          <a:bodyPr wrap="square" anchor="ctr" lIns="0" rIns="0" tIns="0" bIns="0">
            <a:spAutoFit/>
          </a:bodyPr>
          <a:lstStyle/>
          <a:p>
            <a:pPr algn="l">
              <a:lnSpc>
                <a:spcPct val="105000"/>
              </a:lnSpc>
            </a:pPr>
            <a:r>
              <a:rPr sz="1150" b="1" i="0">
                <a:solidFill>
                  <a:srgbClr val="1F2421"/>
                </a:solidFill>
                <a:latin typeface="Segoe UI"/>
              </a:rPr>
              <a:t>Krypsis (ours)</a:t>
            </a:r>
          </a:p>
        </p:txBody>
      </p:sp>
      <p:sp>
        <p:nvSpPr>
          <p:cNvPr id="41" name="TextBox 40"/>
          <p:cNvSpPr txBox="1"/>
          <p:nvPr/>
        </p:nvSpPr>
        <p:spPr>
          <a:xfrm>
            <a:off x="2953512" y="5074920"/>
            <a:ext cx="1453896" cy="658368"/>
          </a:xfrm>
          <a:prstGeom prst="rect">
            <a:avLst/>
          </a:prstGeom>
          <a:noFill/>
        </p:spPr>
        <p:txBody>
          <a:bodyPr wrap="square" anchor="ctr" lIns="0" rIns="0" tIns="0" bIns="0">
            <a:spAutoFit/>
          </a:bodyPr>
          <a:lstStyle/>
          <a:p>
            <a:pPr algn="l">
              <a:lnSpc>
                <a:spcPct val="105000"/>
              </a:lnSpc>
            </a:pPr>
            <a:r>
              <a:rPr sz="1150" b="0" i="0">
                <a:solidFill>
                  <a:srgbClr val="1F2421"/>
                </a:solidFill>
                <a:latin typeface="Segoe UI"/>
              </a:rPr>
              <a:t>Per-client HMAC</a:t>
            </a:r>
          </a:p>
        </p:txBody>
      </p:sp>
      <p:sp>
        <p:nvSpPr>
          <p:cNvPr id="42" name="TextBox 41"/>
          <p:cNvSpPr txBox="1"/>
          <p:nvPr/>
        </p:nvSpPr>
        <p:spPr>
          <a:xfrm>
            <a:off x="4553712" y="5074920"/>
            <a:ext cx="1956816" cy="658368"/>
          </a:xfrm>
          <a:prstGeom prst="rect">
            <a:avLst/>
          </a:prstGeom>
          <a:noFill/>
        </p:spPr>
        <p:txBody>
          <a:bodyPr wrap="square" anchor="ctr" lIns="0" rIns="0" tIns="0" bIns="0">
            <a:spAutoFit/>
          </a:bodyPr>
          <a:lstStyle/>
          <a:p>
            <a:pPr algn="l">
              <a:lnSpc>
                <a:spcPct val="105000"/>
              </a:lnSpc>
            </a:pPr>
            <a:r>
              <a:rPr sz="1150" b="0" i="0">
                <a:solidFill>
                  <a:srgbClr val="1F2421"/>
                </a:solidFill>
                <a:latin typeface="Segoe UI"/>
              </a:rPr>
              <a:t>Yes — cheap filter first</a:t>
            </a:r>
          </a:p>
        </p:txBody>
      </p:sp>
      <p:sp>
        <p:nvSpPr>
          <p:cNvPr id="43" name="TextBox 42"/>
          <p:cNvSpPr txBox="1"/>
          <p:nvPr/>
        </p:nvSpPr>
        <p:spPr>
          <a:xfrm>
            <a:off x="6656832" y="5074920"/>
            <a:ext cx="2459736" cy="658368"/>
          </a:xfrm>
          <a:prstGeom prst="rect">
            <a:avLst/>
          </a:prstGeom>
          <a:noFill/>
        </p:spPr>
        <p:txBody>
          <a:bodyPr wrap="square" anchor="ctr" lIns="0" rIns="0" tIns="0" bIns="0">
            <a:spAutoFit/>
          </a:bodyPr>
          <a:lstStyle/>
          <a:p>
            <a:pPr algn="l">
              <a:lnSpc>
                <a:spcPct val="105000"/>
              </a:lnSpc>
            </a:pPr>
            <a:r>
              <a:rPr sz="1150" b="0" i="0">
                <a:solidFill>
                  <a:srgbClr val="1F2421"/>
                </a:solidFill>
                <a:latin typeface="Segoe UI"/>
              </a:rPr>
              <a:t>Before aggregation · +0.67% · ~2 ms / msg</a:t>
            </a:r>
          </a:p>
        </p:txBody>
      </p:sp>
      <p:sp>
        <p:nvSpPr>
          <p:cNvPr id="44" name="TextBox 43"/>
          <p:cNvSpPr txBox="1"/>
          <p:nvPr/>
        </p:nvSpPr>
        <p:spPr>
          <a:xfrm>
            <a:off x="9262872" y="5074920"/>
            <a:ext cx="2121408" cy="658368"/>
          </a:xfrm>
          <a:prstGeom prst="rect">
            <a:avLst/>
          </a:prstGeom>
          <a:noFill/>
        </p:spPr>
        <p:txBody>
          <a:bodyPr wrap="square" anchor="ctr" lIns="0" rIns="0" tIns="0" bIns="0">
            <a:spAutoFit/>
          </a:bodyPr>
          <a:lstStyle/>
          <a:p>
            <a:pPr algn="l">
              <a:lnSpc>
                <a:spcPct val="105000"/>
              </a:lnSpc>
            </a:pPr>
            <a:r>
              <a:rPr sz="1150" b="0" i="0">
                <a:solidFill>
                  <a:srgbClr val="1F2421"/>
                </a:solidFill>
                <a:latin typeface="Segoe UI"/>
              </a:rPr>
              <a:t>Label flip: 99.4% FLNET, 79.2% NSL</a:t>
            </a:r>
          </a:p>
        </p:txBody>
      </p:sp>
      <p:cxnSp>
        <p:nvCxnSpPr>
          <p:cNvPr id="45" name="Connector 44"/>
          <p:cNvCxnSpPr/>
          <p:nvPr/>
        </p:nvCxnSpPr>
        <p:spPr>
          <a:xfrm>
            <a:off x="731520" y="5733288"/>
            <a:ext cx="10725912" cy="0"/>
          </a:xfrm>
          <a:prstGeom prst="line">
            <a:avLst/>
          </a:prstGeom>
          <a:ln w="12700">
            <a:solidFill>
              <a:srgbClr val="5B625C"/>
            </a:solidFill>
          </a:ln>
        </p:spPr>
      </p:cxnSp>
      <p:sp>
        <p:nvSpPr>
          <p:cNvPr id="46" name="TextBox 45"/>
          <p:cNvSpPr txBox="1"/>
          <p:nvPr/>
        </p:nvSpPr>
        <p:spPr>
          <a:xfrm>
            <a:off x="731520" y="5852160"/>
            <a:ext cx="10725912" cy="457200"/>
          </a:xfrm>
          <a:prstGeom prst="rect">
            <a:avLst/>
          </a:prstGeom>
          <a:noFill/>
        </p:spPr>
        <p:txBody>
          <a:bodyPr wrap="square" anchor="t" lIns="0" rIns="0" tIns="0" bIns="0">
            <a:spAutoFit/>
          </a:bodyPr>
          <a:lstStyle/>
          <a:p>
            <a:pPr algn="l">
              <a:lnSpc>
                <a:spcPct val="120000"/>
              </a:lnSpc>
            </a:pPr>
            <a:r>
              <a:rPr sz="1050" b="0" i="0">
                <a:solidFill>
                  <a:srgbClr val="8C918A"/>
                </a:solidFill>
                <a:latin typeface="Segoe UI"/>
              </a:rPr>
              <a:t>Rows without measurements are characterised from the cited papers; Krypsis adds a per-client integrity tag and moves filtering before aggregation, and keeps robust aggregation as a second step only for flagged rounds.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05 · COMPARISON</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Comparison between our own setups</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28</a:t>
            </a:r>
          </a:p>
        </p:txBody>
      </p:sp>
      <p:cxnSp>
        <p:nvCxnSpPr>
          <p:cNvPr id="8" name="Connector 7"/>
          <p:cNvCxnSpPr/>
          <p:nvPr/>
        </p:nvCxnSpPr>
        <p:spPr>
          <a:xfrm>
            <a:off x="731520" y="1783080"/>
            <a:ext cx="10725912" cy="0"/>
          </a:xfrm>
          <a:prstGeom prst="line">
            <a:avLst/>
          </a:prstGeom>
          <a:ln w="12700">
            <a:solidFill>
              <a:srgbClr val="5B625C"/>
            </a:solidFill>
          </a:ln>
        </p:spPr>
      </p:cxnSp>
      <p:sp>
        <p:nvSpPr>
          <p:cNvPr id="9" name="TextBox 8"/>
          <p:cNvSpPr txBox="1"/>
          <p:nvPr/>
        </p:nvSpPr>
        <p:spPr>
          <a:xfrm>
            <a:off x="804672" y="1783080"/>
            <a:ext cx="2368296" cy="502920"/>
          </a:xfrm>
          <a:prstGeom prst="rect">
            <a:avLst/>
          </a:prstGeom>
          <a:noFill/>
        </p:spPr>
        <p:txBody>
          <a:bodyPr wrap="square" anchor="ctr" lIns="0" rIns="0" tIns="0" bIns="0">
            <a:spAutoFit/>
          </a:bodyPr>
          <a:lstStyle/>
          <a:p>
            <a:pPr algn="l">
              <a:lnSpc>
                <a:spcPct val="105000"/>
              </a:lnSpc>
            </a:pPr>
            <a:r>
              <a:rPr sz="1100" b="1" i="0">
                <a:solidFill>
                  <a:srgbClr val="3E5F5A"/>
                </a:solidFill>
                <a:latin typeface="Segoe UI"/>
              </a:rPr>
              <a:t>Dataset · attack</a:t>
            </a:r>
          </a:p>
        </p:txBody>
      </p:sp>
      <p:sp>
        <p:nvSpPr>
          <p:cNvPr id="10" name="TextBox 9"/>
          <p:cNvSpPr txBox="1"/>
          <p:nvPr/>
        </p:nvSpPr>
        <p:spPr>
          <a:xfrm>
            <a:off x="3319272" y="1783080"/>
            <a:ext cx="1682496" cy="502920"/>
          </a:xfrm>
          <a:prstGeom prst="rect">
            <a:avLst/>
          </a:prstGeom>
          <a:noFill/>
        </p:spPr>
        <p:txBody>
          <a:bodyPr wrap="square" anchor="ctr" lIns="0" rIns="0" tIns="0" bIns="0">
            <a:spAutoFit/>
          </a:bodyPr>
          <a:lstStyle/>
          <a:p>
            <a:pPr algn="l">
              <a:lnSpc>
                <a:spcPct val="105000"/>
              </a:lnSpc>
            </a:pPr>
            <a:r>
              <a:rPr sz="1100" b="1" i="0">
                <a:solidFill>
                  <a:srgbClr val="3E5F5A"/>
                </a:solidFill>
                <a:latin typeface="Segoe UI"/>
              </a:rPr>
              <a:t>Metric</a:t>
            </a:r>
          </a:p>
        </p:txBody>
      </p:sp>
      <p:sp>
        <p:nvSpPr>
          <p:cNvPr id="11" name="TextBox 10"/>
          <p:cNvSpPr txBox="1"/>
          <p:nvPr/>
        </p:nvSpPr>
        <p:spPr>
          <a:xfrm>
            <a:off x="5148072" y="1783080"/>
            <a:ext cx="1453896" cy="502920"/>
          </a:xfrm>
          <a:prstGeom prst="rect">
            <a:avLst/>
          </a:prstGeom>
          <a:noFill/>
        </p:spPr>
        <p:txBody>
          <a:bodyPr wrap="square" anchor="ctr" lIns="0" rIns="0" tIns="0" bIns="0">
            <a:spAutoFit/>
          </a:bodyPr>
          <a:lstStyle/>
          <a:p>
            <a:pPr algn="l">
              <a:lnSpc>
                <a:spcPct val="105000"/>
              </a:lnSpc>
            </a:pPr>
            <a:r>
              <a:rPr sz="1100" b="1" i="0">
                <a:solidFill>
                  <a:srgbClr val="3E5F5A"/>
                </a:solidFill>
                <a:latin typeface="Segoe UI"/>
              </a:rPr>
              <a:t>No defense</a:t>
            </a:r>
          </a:p>
        </p:txBody>
      </p:sp>
      <p:sp>
        <p:nvSpPr>
          <p:cNvPr id="12" name="TextBox 11"/>
          <p:cNvSpPr txBox="1"/>
          <p:nvPr/>
        </p:nvSpPr>
        <p:spPr>
          <a:xfrm>
            <a:off x="6748272" y="1783080"/>
            <a:ext cx="1453896" cy="502920"/>
          </a:xfrm>
          <a:prstGeom prst="rect">
            <a:avLst/>
          </a:prstGeom>
          <a:noFill/>
        </p:spPr>
        <p:txBody>
          <a:bodyPr wrap="square" anchor="ctr" lIns="0" rIns="0" tIns="0" bIns="0">
            <a:spAutoFit/>
          </a:bodyPr>
          <a:lstStyle/>
          <a:p>
            <a:pPr algn="l">
              <a:lnSpc>
                <a:spcPct val="105000"/>
              </a:lnSpc>
            </a:pPr>
            <a:r>
              <a:rPr sz="1100" b="1" i="0">
                <a:solidFill>
                  <a:srgbClr val="3E5F5A"/>
                </a:solidFill>
                <a:latin typeface="Segoe UI"/>
              </a:rPr>
              <a:t>Protocol v1</a:t>
            </a:r>
          </a:p>
        </p:txBody>
      </p:sp>
      <p:sp>
        <p:nvSpPr>
          <p:cNvPr id="13" name="TextBox 12"/>
          <p:cNvSpPr txBox="1"/>
          <p:nvPr/>
        </p:nvSpPr>
        <p:spPr>
          <a:xfrm>
            <a:off x="8348472" y="1783080"/>
            <a:ext cx="1453896" cy="502920"/>
          </a:xfrm>
          <a:prstGeom prst="rect">
            <a:avLst/>
          </a:prstGeom>
          <a:noFill/>
        </p:spPr>
        <p:txBody>
          <a:bodyPr wrap="square" anchor="ctr" lIns="0" rIns="0" tIns="0" bIns="0">
            <a:spAutoFit/>
          </a:bodyPr>
          <a:lstStyle/>
          <a:p>
            <a:pPr algn="l">
              <a:lnSpc>
                <a:spcPct val="105000"/>
              </a:lnSpc>
            </a:pPr>
            <a:r>
              <a:rPr sz="1100" b="1" i="0">
                <a:solidFill>
                  <a:srgbClr val="3E5F5A"/>
                </a:solidFill>
                <a:latin typeface="Segoe UI"/>
              </a:rPr>
              <a:t>Protocol v2</a:t>
            </a:r>
          </a:p>
        </p:txBody>
      </p:sp>
      <p:sp>
        <p:nvSpPr>
          <p:cNvPr id="14" name="TextBox 13"/>
          <p:cNvSpPr txBox="1"/>
          <p:nvPr/>
        </p:nvSpPr>
        <p:spPr>
          <a:xfrm>
            <a:off x="9948672" y="1783080"/>
            <a:ext cx="1435608" cy="502920"/>
          </a:xfrm>
          <a:prstGeom prst="rect">
            <a:avLst/>
          </a:prstGeom>
          <a:noFill/>
        </p:spPr>
        <p:txBody>
          <a:bodyPr wrap="square" anchor="ctr" lIns="0" rIns="0" tIns="0" bIns="0">
            <a:spAutoFit/>
          </a:bodyPr>
          <a:lstStyle/>
          <a:p>
            <a:pPr algn="l">
              <a:lnSpc>
                <a:spcPct val="105000"/>
              </a:lnSpc>
            </a:pPr>
            <a:r>
              <a:rPr sz="1100" b="1" i="0">
                <a:solidFill>
                  <a:srgbClr val="3E5F5A"/>
                </a:solidFill>
                <a:latin typeface="Segoe UI"/>
              </a:rPr>
              <a:t>v2 Mondrian</a:t>
            </a:r>
          </a:p>
        </p:txBody>
      </p:sp>
      <p:cxnSp>
        <p:nvCxnSpPr>
          <p:cNvPr id="15" name="Connector 14"/>
          <p:cNvCxnSpPr/>
          <p:nvPr/>
        </p:nvCxnSpPr>
        <p:spPr>
          <a:xfrm>
            <a:off x="731520" y="2286000"/>
            <a:ext cx="10725912" cy="0"/>
          </a:xfrm>
          <a:prstGeom prst="line">
            <a:avLst/>
          </a:prstGeom>
          <a:ln w="12700">
            <a:solidFill>
              <a:srgbClr val="5B625C"/>
            </a:solidFill>
          </a:ln>
        </p:spPr>
      </p:cxnSp>
      <p:sp>
        <p:nvSpPr>
          <p:cNvPr id="16" name="TextBox 15"/>
          <p:cNvSpPr txBox="1"/>
          <p:nvPr/>
        </p:nvSpPr>
        <p:spPr>
          <a:xfrm>
            <a:off x="804672" y="2286000"/>
            <a:ext cx="2368296" cy="50292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FLNET2023 · label flip</a:t>
            </a:r>
          </a:p>
        </p:txBody>
      </p:sp>
      <p:sp>
        <p:nvSpPr>
          <p:cNvPr id="17" name="TextBox 16"/>
          <p:cNvSpPr txBox="1"/>
          <p:nvPr/>
        </p:nvSpPr>
        <p:spPr>
          <a:xfrm>
            <a:off x="3319272" y="2286000"/>
            <a:ext cx="1682496" cy="50292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Accuracy ↑</a:t>
            </a:r>
          </a:p>
        </p:txBody>
      </p:sp>
      <p:sp>
        <p:nvSpPr>
          <p:cNvPr id="18" name="TextBox 17"/>
          <p:cNvSpPr txBox="1"/>
          <p:nvPr/>
        </p:nvSpPr>
        <p:spPr>
          <a:xfrm>
            <a:off x="5148072" y="2286000"/>
            <a:ext cx="1453896" cy="50292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92.4%</a:t>
            </a:r>
          </a:p>
        </p:txBody>
      </p:sp>
      <p:sp>
        <p:nvSpPr>
          <p:cNvPr id="19" name="TextBox 18"/>
          <p:cNvSpPr txBox="1"/>
          <p:nvPr/>
        </p:nvSpPr>
        <p:spPr>
          <a:xfrm>
            <a:off x="6748272" y="2286000"/>
            <a:ext cx="1453896" cy="50292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99.4%</a:t>
            </a:r>
          </a:p>
        </p:txBody>
      </p:sp>
      <p:sp>
        <p:nvSpPr>
          <p:cNvPr id="20" name="TextBox 19"/>
          <p:cNvSpPr txBox="1"/>
          <p:nvPr/>
        </p:nvSpPr>
        <p:spPr>
          <a:xfrm>
            <a:off x="8348472" y="2286000"/>
            <a:ext cx="1453896" cy="50292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96.7%</a:t>
            </a:r>
          </a:p>
        </p:txBody>
      </p:sp>
      <p:sp>
        <p:nvSpPr>
          <p:cNvPr id="21" name="TextBox 20"/>
          <p:cNvSpPr txBox="1"/>
          <p:nvPr/>
        </p:nvSpPr>
        <p:spPr>
          <a:xfrm>
            <a:off x="9948672" y="2286000"/>
            <a:ext cx="1435608" cy="50292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96.7%</a:t>
            </a:r>
          </a:p>
        </p:txBody>
      </p:sp>
      <p:cxnSp>
        <p:nvCxnSpPr>
          <p:cNvPr id="22" name="Connector 21"/>
          <p:cNvCxnSpPr/>
          <p:nvPr/>
        </p:nvCxnSpPr>
        <p:spPr>
          <a:xfrm>
            <a:off x="731520" y="2788920"/>
            <a:ext cx="10725912" cy="0"/>
          </a:xfrm>
          <a:prstGeom prst="line">
            <a:avLst/>
          </a:prstGeom>
          <a:ln w="6350">
            <a:solidFill>
              <a:srgbClr val="DDDAD2"/>
            </a:solidFill>
          </a:ln>
        </p:spPr>
      </p:cxnSp>
      <p:sp>
        <p:nvSpPr>
          <p:cNvPr id="23" name="TextBox 22"/>
          <p:cNvSpPr txBox="1"/>
          <p:nvPr/>
        </p:nvSpPr>
        <p:spPr>
          <a:xfrm>
            <a:off x="804672" y="2788920"/>
            <a:ext cx="2368296" cy="50292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FLNET2023 · label flip</a:t>
            </a:r>
          </a:p>
        </p:txBody>
      </p:sp>
      <p:sp>
        <p:nvSpPr>
          <p:cNvPr id="24" name="TextBox 23"/>
          <p:cNvSpPr txBox="1"/>
          <p:nvPr/>
        </p:nvSpPr>
        <p:spPr>
          <a:xfrm>
            <a:off x="3319272" y="2788920"/>
            <a:ext cx="1682496" cy="50292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Honest excluded ↓</a:t>
            </a:r>
          </a:p>
        </p:txBody>
      </p:sp>
      <p:sp>
        <p:nvSpPr>
          <p:cNvPr id="25" name="TextBox 24"/>
          <p:cNvSpPr txBox="1"/>
          <p:nvPr/>
        </p:nvSpPr>
        <p:spPr>
          <a:xfrm>
            <a:off x="5148072" y="2788920"/>
            <a:ext cx="1453896" cy="50292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a:t>
            </a:r>
          </a:p>
        </p:txBody>
      </p:sp>
      <p:sp>
        <p:nvSpPr>
          <p:cNvPr id="26" name="TextBox 25"/>
          <p:cNvSpPr txBox="1"/>
          <p:nvPr/>
        </p:nvSpPr>
        <p:spPr>
          <a:xfrm>
            <a:off x="6748272" y="2788920"/>
            <a:ext cx="1453896" cy="50292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1.8%</a:t>
            </a:r>
          </a:p>
        </p:txBody>
      </p:sp>
      <p:sp>
        <p:nvSpPr>
          <p:cNvPr id="27" name="TextBox 26"/>
          <p:cNvSpPr txBox="1"/>
          <p:nvPr/>
        </p:nvSpPr>
        <p:spPr>
          <a:xfrm>
            <a:off x="8348472" y="2788920"/>
            <a:ext cx="1453896" cy="50292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0.4%</a:t>
            </a:r>
          </a:p>
        </p:txBody>
      </p:sp>
      <p:sp>
        <p:nvSpPr>
          <p:cNvPr id="28" name="TextBox 27"/>
          <p:cNvSpPr txBox="1"/>
          <p:nvPr/>
        </p:nvSpPr>
        <p:spPr>
          <a:xfrm>
            <a:off x="9948672" y="2788920"/>
            <a:ext cx="1435608" cy="50292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1.1%</a:t>
            </a:r>
          </a:p>
        </p:txBody>
      </p:sp>
      <p:cxnSp>
        <p:nvCxnSpPr>
          <p:cNvPr id="29" name="Connector 28"/>
          <p:cNvCxnSpPr/>
          <p:nvPr/>
        </p:nvCxnSpPr>
        <p:spPr>
          <a:xfrm>
            <a:off x="731520" y="3291840"/>
            <a:ext cx="10725912" cy="0"/>
          </a:xfrm>
          <a:prstGeom prst="line">
            <a:avLst/>
          </a:prstGeom>
          <a:ln w="6350">
            <a:solidFill>
              <a:srgbClr val="DDDAD2"/>
            </a:solidFill>
          </a:ln>
        </p:spPr>
      </p:cxnSp>
      <p:sp>
        <p:nvSpPr>
          <p:cNvPr id="30" name="TextBox 29"/>
          <p:cNvSpPr txBox="1"/>
          <p:nvPr/>
        </p:nvSpPr>
        <p:spPr>
          <a:xfrm>
            <a:off x="804672" y="3291840"/>
            <a:ext cx="2368296" cy="50292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NSL-KDD · label flip</a:t>
            </a:r>
          </a:p>
        </p:txBody>
      </p:sp>
      <p:sp>
        <p:nvSpPr>
          <p:cNvPr id="31" name="TextBox 30"/>
          <p:cNvSpPr txBox="1"/>
          <p:nvPr/>
        </p:nvSpPr>
        <p:spPr>
          <a:xfrm>
            <a:off x="3319272" y="3291840"/>
            <a:ext cx="1682496" cy="50292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Accuracy ↑</a:t>
            </a:r>
          </a:p>
        </p:txBody>
      </p:sp>
      <p:sp>
        <p:nvSpPr>
          <p:cNvPr id="32" name="TextBox 31"/>
          <p:cNvSpPr txBox="1"/>
          <p:nvPr/>
        </p:nvSpPr>
        <p:spPr>
          <a:xfrm>
            <a:off x="5148072" y="3291840"/>
            <a:ext cx="1453896" cy="50292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68.8%</a:t>
            </a:r>
          </a:p>
        </p:txBody>
      </p:sp>
      <p:sp>
        <p:nvSpPr>
          <p:cNvPr id="33" name="TextBox 32"/>
          <p:cNvSpPr txBox="1"/>
          <p:nvPr/>
        </p:nvSpPr>
        <p:spPr>
          <a:xfrm>
            <a:off x="6748272" y="3291840"/>
            <a:ext cx="1453896" cy="50292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78.6%</a:t>
            </a:r>
          </a:p>
        </p:txBody>
      </p:sp>
      <p:sp>
        <p:nvSpPr>
          <p:cNvPr id="34" name="TextBox 33"/>
          <p:cNvSpPr txBox="1"/>
          <p:nvPr/>
        </p:nvSpPr>
        <p:spPr>
          <a:xfrm>
            <a:off x="8348472" y="3291840"/>
            <a:ext cx="1453896" cy="50292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79.2%</a:t>
            </a:r>
          </a:p>
        </p:txBody>
      </p:sp>
      <p:sp>
        <p:nvSpPr>
          <p:cNvPr id="35" name="TextBox 34"/>
          <p:cNvSpPr txBox="1"/>
          <p:nvPr/>
        </p:nvSpPr>
        <p:spPr>
          <a:xfrm>
            <a:off x="9948672" y="3291840"/>
            <a:ext cx="1435608" cy="50292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78.7%</a:t>
            </a:r>
          </a:p>
        </p:txBody>
      </p:sp>
      <p:cxnSp>
        <p:nvCxnSpPr>
          <p:cNvPr id="36" name="Connector 35"/>
          <p:cNvCxnSpPr/>
          <p:nvPr/>
        </p:nvCxnSpPr>
        <p:spPr>
          <a:xfrm>
            <a:off x="731520" y="3794760"/>
            <a:ext cx="10725912" cy="0"/>
          </a:xfrm>
          <a:prstGeom prst="line">
            <a:avLst/>
          </a:prstGeom>
          <a:ln w="6350">
            <a:solidFill>
              <a:srgbClr val="DDDAD2"/>
            </a:solidFill>
          </a:ln>
        </p:spPr>
      </p:cxnSp>
      <p:sp>
        <p:nvSpPr>
          <p:cNvPr id="37" name="TextBox 36"/>
          <p:cNvSpPr txBox="1"/>
          <p:nvPr/>
        </p:nvSpPr>
        <p:spPr>
          <a:xfrm>
            <a:off x="804672" y="3794760"/>
            <a:ext cx="2368296" cy="50292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NSL-KDD · label flip</a:t>
            </a:r>
          </a:p>
        </p:txBody>
      </p:sp>
      <p:sp>
        <p:nvSpPr>
          <p:cNvPr id="38" name="TextBox 37"/>
          <p:cNvSpPr txBox="1"/>
          <p:nvPr/>
        </p:nvSpPr>
        <p:spPr>
          <a:xfrm>
            <a:off x="3319272" y="3794760"/>
            <a:ext cx="1682496" cy="50292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Honest excluded ↓</a:t>
            </a:r>
          </a:p>
        </p:txBody>
      </p:sp>
      <p:sp>
        <p:nvSpPr>
          <p:cNvPr id="39" name="TextBox 38"/>
          <p:cNvSpPr txBox="1"/>
          <p:nvPr/>
        </p:nvSpPr>
        <p:spPr>
          <a:xfrm>
            <a:off x="5148072" y="3794760"/>
            <a:ext cx="1453896" cy="50292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a:t>
            </a:r>
          </a:p>
        </p:txBody>
      </p:sp>
      <p:sp>
        <p:nvSpPr>
          <p:cNvPr id="40" name="TextBox 39"/>
          <p:cNvSpPr txBox="1"/>
          <p:nvPr/>
        </p:nvSpPr>
        <p:spPr>
          <a:xfrm>
            <a:off x="6748272" y="3794760"/>
            <a:ext cx="1453896" cy="50292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5.4%</a:t>
            </a:r>
          </a:p>
        </p:txBody>
      </p:sp>
      <p:sp>
        <p:nvSpPr>
          <p:cNvPr id="41" name="TextBox 40"/>
          <p:cNvSpPr txBox="1"/>
          <p:nvPr/>
        </p:nvSpPr>
        <p:spPr>
          <a:xfrm>
            <a:off x="8348472" y="3794760"/>
            <a:ext cx="1453896" cy="50292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1.1%</a:t>
            </a:r>
          </a:p>
        </p:txBody>
      </p:sp>
      <p:sp>
        <p:nvSpPr>
          <p:cNvPr id="42" name="TextBox 41"/>
          <p:cNvSpPr txBox="1"/>
          <p:nvPr/>
        </p:nvSpPr>
        <p:spPr>
          <a:xfrm>
            <a:off x="9948672" y="3794760"/>
            <a:ext cx="1435608" cy="50292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1.8%</a:t>
            </a:r>
          </a:p>
        </p:txBody>
      </p:sp>
      <p:cxnSp>
        <p:nvCxnSpPr>
          <p:cNvPr id="43" name="Connector 42"/>
          <p:cNvCxnSpPr/>
          <p:nvPr/>
        </p:nvCxnSpPr>
        <p:spPr>
          <a:xfrm>
            <a:off x="731520" y="4297680"/>
            <a:ext cx="10725912" cy="0"/>
          </a:xfrm>
          <a:prstGeom prst="line">
            <a:avLst/>
          </a:prstGeom>
          <a:ln w="6350">
            <a:solidFill>
              <a:srgbClr val="DDDAD2"/>
            </a:solidFill>
          </a:ln>
        </p:spPr>
      </p:cxnSp>
      <p:sp>
        <p:nvSpPr>
          <p:cNvPr id="44" name="TextBox 43"/>
          <p:cNvSpPr txBox="1"/>
          <p:nvPr/>
        </p:nvSpPr>
        <p:spPr>
          <a:xfrm>
            <a:off x="804672" y="4297680"/>
            <a:ext cx="2368296" cy="50292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NSL-KDD · backdoor</a:t>
            </a:r>
          </a:p>
        </p:txBody>
      </p:sp>
      <p:sp>
        <p:nvSpPr>
          <p:cNvPr id="45" name="TextBox 44"/>
          <p:cNvSpPr txBox="1"/>
          <p:nvPr/>
        </p:nvSpPr>
        <p:spPr>
          <a:xfrm>
            <a:off x="3319272" y="4297680"/>
            <a:ext cx="1682496" cy="50292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Backdoor success ↓</a:t>
            </a:r>
          </a:p>
        </p:txBody>
      </p:sp>
      <p:sp>
        <p:nvSpPr>
          <p:cNvPr id="46" name="TextBox 45"/>
          <p:cNvSpPr txBox="1"/>
          <p:nvPr/>
        </p:nvSpPr>
        <p:spPr>
          <a:xfrm>
            <a:off x="5148072" y="4297680"/>
            <a:ext cx="1453896" cy="50292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34.1%</a:t>
            </a:r>
          </a:p>
        </p:txBody>
      </p:sp>
      <p:sp>
        <p:nvSpPr>
          <p:cNvPr id="47" name="TextBox 46"/>
          <p:cNvSpPr txBox="1"/>
          <p:nvPr/>
        </p:nvSpPr>
        <p:spPr>
          <a:xfrm>
            <a:off x="6748272" y="4297680"/>
            <a:ext cx="1453896" cy="50292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10.8%</a:t>
            </a:r>
          </a:p>
        </p:txBody>
      </p:sp>
      <p:sp>
        <p:nvSpPr>
          <p:cNvPr id="48" name="TextBox 47"/>
          <p:cNvSpPr txBox="1"/>
          <p:nvPr/>
        </p:nvSpPr>
        <p:spPr>
          <a:xfrm>
            <a:off x="8348472" y="4297680"/>
            <a:ext cx="1453896" cy="50292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8.7%</a:t>
            </a:r>
          </a:p>
        </p:txBody>
      </p:sp>
      <p:sp>
        <p:nvSpPr>
          <p:cNvPr id="49" name="TextBox 48"/>
          <p:cNvSpPr txBox="1"/>
          <p:nvPr/>
        </p:nvSpPr>
        <p:spPr>
          <a:xfrm>
            <a:off x="9948672" y="4297680"/>
            <a:ext cx="1435608" cy="502920"/>
          </a:xfrm>
          <a:prstGeom prst="rect">
            <a:avLst/>
          </a:prstGeom>
          <a:noFill/>
        </p:spPr>
        <p:txBody>
          <a:bodyPr wrap="square" anchor="ctr" lIns="0" rIns="0" tIns="0" bIns="0">
            <a:spAutoFit/>
          </a:bodyPr>
          <a:lstStyle/>
          <a:p>
            <a:pPr algn="l">
              <a:lnSpc>
                <a:spcPct val="105000"/>
              </a:lnSpc>
            </a:pPr>
            <a:r>
              <a:rPr sz="1200" b="0" i="0">
                <a:solidFill>
                  <a:srgbClr val="1F2421"/>
                </a:solidFill>
                <a:latin typeface="Segoe UI"/>
              </a:rPr>
              <a:t>8.7%</a:t>
            </a:r>
          </a:p>
        </p:txBody>
      </p:sp>
      <p:cxnSp>
        <p:nvCxnSpPr>
          <p:cNvPr id="50" name="Connector 49"/>
          <p:cNvCxnSpPr/>
          <p:nvPr/>
        </p:nvCxnSpPr>
        <p:spPr>
          <a:xfrm>
            <a:off x="731520" y="4800600"/>
            <a:ext cx="10725912" cy="0"/>
          </a:xfrm>
          <a:prstGeom prst="line">
            <a:avLst/>
          </a:prstGeom>
          <a:ln w="12700">
            <a:solidFill>
              <a:srgbClr val="5B625C"/>
            </a:solidFill>
          </a:ln>
        </p:spPr>
      </p:cxnSp>
      <p:sp>
        <p:nvSpPr>
          <p:cNvPr id="51" name="TextBox 50"/>
          <p:cNvSpPr txBox="1"/>
          <p:nvPr/>
        </p:nvSpPr>
        <p:spPr>
          <a:xfrm>
            <a:off x="731520" y="4983480"/>
            <a:ext cx="10725912" cy="1280160"/>
          </a:xfrm>
          <a:prstGeom prst="rect">
            <a:avLst/>
          </a:prstGeom>
          <a:noFill/>
        </p:spPr>
        <p:txBody>
          <a:bodyPr wrap="square" anchor="t" lIns="0" rIns="0" tIns="0" bIns="0">
            <a:spAutoFit/>
          </a:bodyPr>
          <a:lstStyle/>
          <a:p>
            <a:pPr algn="l">
              <a:lnSpc>
                <a:spcPct val="130000"/>
              </a:lnSpc>
            </a:pPr>
            <a:r>
              <a:rPr sz="1200" b="1" i="0">
                <a:solidFill>
                  <a:srgbClr val="1F2421"/>
                </a:solidFill>
                <a:latin typeface="Segoe UI"/>
              </a:rPr>
              <a:t>v1</a:t>
            </a:r>
            <a:r>
              <a:rPr sz="1200" b="0" i="0">
                <a:solidFill>
                  <a:srgbClr val="5B625C"/>
                </a:solidFill>
                <a:latin typeface="Segoe UI"/>
              </a:rPr>
              <a:t> drops every flagged update.   </a:t>
            </a:r>
            <a:r>
              <a:rPr sz="1200" b="1" i="0">
                <a:solidFill>
                  <a:srgbClr val="1F2421"/>
                </a:solidFill>
                <a:latin typeface="Segoe UI"/>
              </a:rPr>
              <a:t>v2</a:t>
            </a:r>
            <a:r>
              <a:rPr sz="1200" b="0" i="0">
                <a:solidFill>
                  <a:srgbClr val="5B625C"/>
                </a:solidFill>
                <a:latin typeface="Segoe UI"/>
              </a:rPr>
              <a:t> adds the second check and a 15% weight cap — fewer honest routers excluded, but on FLNET2023 the cap can shift weight from an honest large router to the attackers (one seed: 97.3% → 83.8%).</a:t>
            </a:r>
          </a:p>
          <a:p>
            <a:pPr algn="l">
              <a:lnSpc>
                <a:spcPct val="130000"/>
              </a:lnSpc>
            </a:pPr>
            <a:r>
              <a:rPr sz="1050" b="0" i="0">
                <a:solidFill>
                  <a:srgbClr val="8C918A"/>
                </a:solidFill>
                <a:latin typeface="Segoe UI"/>
              </a:rPr>
              <a:t>FLNET2023: 5 seeds · NSL-KDD: 10 seeds · means shown.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03120"/>
            <a:ext cx="2743200" cy="1097280"/>
          </a:xfrm>
          <a:prstGeom prst="rect">
            <a:avLst/>
          </a:prstGeom>
          <a:noFill/>
        </p:spPr>
        <p:txBody>
          <a:bodyPr wrap="square" anchor="t" lIns="0" rIns="0" tIns="0" bIns="0">
            <a:spAutoFit/>
          </a:bodyPr>
          <a:lstStyle/>
          <a:p>
            <a:pPr algn="l">
              <a:lnSpc>
                <a:spcPct val="120000"/>
              </a:lnSpc>
            </a:pPr>
            <a:r>
              <a:rPr sz="6600" b="0" i="0">
                <a:solidFill>
                  <a:srgbClr val="3E5F5A"/>
                </a:solidFill>
                <a:latin typeface="Georgia"/>
              </a:rPr>
              <a:t>06</a:t>
            </a:r>
          </a:p>
        </p:txBody>
      </p:sp>
      <p:cxnSp>
        <p:nvCxnSpPr>
          <p:cNvPr id="4" name="Connector 3"/>
          <p:cNvCxnSpPr/>
          <p:nvPr/>
        </p:nvCxnSpPr>
        <p:spPr>
          <a:xfrm>
            <a:off x="731520" y="3337560"/>
            <a:ext cx="822960" cy="0"/>
          </a:xfrm>
          <a:prstGeom prst="line">
            <a:avLst/>
          </a:prstGeom>
          <a:ln w="19050">
            <a:solidFill>
              <a:srgbClr val="3E5F5A"/>
            </a:solidFill>
          </a:ln>
        </p:spPr>
      </p:cxnSp>
      <p:sp>
        <p:nvSpPr>
          <p:cNvPr id="5" name="TextBox 4"/>
          <p:cNvSpPr txBox="1"/>
          <p:nvPr/>
        </p:nvSpPr>
        <p:spPr>
          <a:xfrm>
            <a:off x="731520" y="3520440"/>
            <a:ext cx="10058400" cy="822960"/>
          </a:xfrm>
          <a:prstGeom prst="rect">
            <a:avLst/>
          </a:prstGeom>
          <a:noFill/>
        </p:spPr>
        <p:txBody>
          <a:bodyPr wrap="square" anchor="t" lIns="0" rIns="0" tIns="0" bIns="0">
            <a:spAutoFit/>
          </a:bodyPr>
          <a:lstStyle/>
          <a:p>
            <a:pPr algn="l">
              <a:lnSpc>
                <a:spcPct val="120000"/>
              </a:lnSpc>
            </a:pPr>
            <a:r>
              <a:rPr sz="3800" b="0" i="0">
                <a:solidFill>
                  <a:srgbClr val="1F2421"/>
                </a:solidFill>
                <a:latin typeface="Georgia"/>
              </a:rPr>
              <a:t>Conclusion</a:t>
            </a:r>
          </a:p>
        </p:txBody>
      </p:sp>
      <p:sp>
        <p:nvSpPr>
          <p:cNvPr id="6" name="TextBox 5"/>
          <p:cNvSpPr txBox="1"/>
          <p:nvPr/>
        </p:nvSpPr>
        <p:spPr>
          <a:xfrm>
            <a:off x="731520" y="4343400"/>
            <a:ext cx="9144000" cy="731520"/>
          </a:xfrm>
          <a:prstGeom prst="rect">
            <a:avLst/>
          </a:prstGeom>
          <a:noFill/>
        </p:spPr>
        <p:txBody>
          <a:bodyPr wrap="square" anchor="t" lIns="0" rIns="0" tIns="0" bIns="0">
            <a:spAutoFit/>
          </a:bodyPr>
          <a:lstStyle/>
          <a:p>
            <a:pPr algn="l">
              <a:lnSpc>
                <a:spcPct val="120000"/>
              </a:lnSpc>
            </a:pPr>
            <a:r>
              <a:rPr sz="1400" b="0" i="0">
                <a:solidFill>
                  <a:srgbClr val="5B625C"/>
                </a:solidFill>
                <a:latin typeface="Segoe UI"/>
              </a:rPr>
              <a:t>The answer to our question, limitations and what comes next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06 · CONCLUSION</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Answering the research question</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30</a:t>
            </a:r>
          </a:p>
        </p:txBody>
      </p:sp>
      <p:sp>
        <p:nvSpPr>
          <p:cNvPr id="8" name="TextBox 7"/>
          <p:cNvSpPr txBox="1"/>
          <p:nvPr/>
        </p:nvSpPr>
        <p:spPr>
          <a:xfrm>
            <a:off x="731520" y="1783080"/>
            <a:ext cx="10725912" cy="822960"/>
          </a:xfrm>
          <a:prstGeom prst="rect">
            <a:avLst/>
          </a:prstGeom>
          <a:noFill/>
        </p:spPr>
        <p:txBody>
          <a:bodyPr wrap="square" anchor="t" lIns="0" rIns="0" tIns="0" bIns="0">
            <a:spAutoFit/>
          </a:bodyPr>
          <a:lstStyle/>
          <a:p>
            <a:pPr algn="l">
              <a:lnSpc>
                <a:spcPct val="120000"/>
              </a:lnSpc>
            </a:pPr>
            <a:r>
              <a:rPr sz="1600" b="0" i="1">
                <a:solidFill>
                  <a:srgbClr val="5B625C"/>
                </a:solidFill>
                <a:latin typeface="Georgia"/>
              </a:rPr>
              <a:t>Do per-cluster (Mondrian) thresholds reduce false alarms on honest non-IID routers without missing attacks?</a:t>
            </a:r>
          </a:p>
        </p:txBody>
      </p:sp>
      <p:sp>
        <p:nvSpPr>
          <p:cNvPr id="9" name="TextBox 8"/>
          <p:cNvSpPr txBox="1"/>
          <p:nvPr/>
        </p:nvSpPr>
        <p:spPr>
          <a:xfrm>
            <a:off x="731520" y="2743200"/>
            <a:ext cx="4114800" cy="548640"/>
          </a:xfrm>
          <a:prstGeom prst="rect">
            <a:avLst/>
          </a:prstGeom>
          <a:noFill/>
        </p:spPr>
        <p:txBody>
          <a:bodyPr wrap="square" anchor="ctr" lIns="0" rIns="0" tIns="0" bIns="0">
            <a:spAutoFit/>
          </a:bodyPr>
          <a:lstStyle/>
          <a:p>
            <a:pPr algn="l">
              <a:lnSpc>
                <a:spcPct val="120000"/>
              </a:lnSpc>
            </a:pPr>
            <a:r>
              <a:rPr sz="1350" b="1" i="0">
                <a:solidFill>
                  <a:srgbClr val="1F2421"/>
                </a:solidFill>
                <a:latin typeface="Segoe UI"/>
              </a:rPr>
              <a:t>Protocol experiment · 15 seeds</a:t>
            </a:r>
          </a:p>
        </p:txBody>
      </p:sp>
      <p:sp>
        <p:nvSpPr>
          <p:cNvPr id="10" name="TextBox 9"/>
          <p:cNvSpPr txBox="1"/>
          <p:nvPr/>
        </p:nvSpPr>
        <p:spPr>
          <a:xfrm>
            <a:off x="4937760" y="2743200"/>
            <a:ext cx="6492240" cy="548640"/>
          </a:xfrm>
          <a:prstGeom prst="rect">
            <a:avLst/>
          </a:prstGeom>
          <a:noFill/>
        </p:spPr>
        <p:txBody>
          <a:bodyPr wrap="square" anchor="ctr" lIns="0" rIns="0" tIns="0" bIns="0">
            <a:spAutoFit/>
          </a:bodyPr>
          <a:lstStyle/>
          <a:p>
            <a:pPr algn="l">
              <a:lnSpc>
                <a:spcPct val="120000"/>
              </a:lnSpc>
            </a:pPr>
            <a:r>
              <a:rPr sz="1350" b="0" i="0">
                <a:solidFill>
                  <a:srgbClr val="5B625C"/>
                </a:solidFill>
                <a:latin typeface="Segoe UI"/>
              </a:rPr>
              <a:t>Mondrian caught 57.6%, global 53.3% · p = 0.21</a:t>
            </a:r>
          </a:p>
        </p:txBody>
      </p:sp>
      <p:cxnSp>
        <p:nvCxnSpPr>
          <p:cNvPr id="11" name="Connector 10"/>
          <p:cNvCxnSpPr/>
          <p:nvPr/>
        </p:nvCxnSpPr>
        <p:spPr>
          <a:xfrm>
            <a:off x="731520" y="3346704"/>
            <a:ext cx="10725912" cy="0"/>
          </a:xfrm>
          <a:prstGeom prst="line">
            <a:avLst/>
          </a:prstGeom>
          <a:ln w="6350">
            <a:solidFill>
              <a:srgbClr val="DDDAD2"/>
            </a:solidFill>
          </a:ln>
        </p:spPr>
      </p:cxnSp>
      <p:sp>
        <p:nvSpPr>
          <p:cNvPr id="12" name="TextBox 11"/>
          <p:cNvSpPr txBox="1"/>
          <p:nvPr/>
        </p:nvSpPr>
        <p:spPr>
          <a:xfrm>
            <a:off x="731520" y="3429000"/>
            <a:ext cx="4114800" cy="548640"/>
          </a:xfrm>
          <a:prstGeom prst="rect">
            <a:avLst/>
          </a:prstGeom>
          <a:noFill/>
        </p:spPr>
        <p:txBody>
          <a:bodyPr wrap="square" anchor="ctr" lIns="0" rIns="0" tIns="0" bIns="0">
            <a:spAutoFit/>
          </a:bodyPr>
          <a:lstStyle/>
          <a:p>
            <a:pPr algn="l">
              <a:lnSpc>
                <a:spcPct val="120000"/>
              </a:lnSpc>
            </a:pPr>
            <a:r>
              <a:rPr sz="1350" b="1" i="0">
                <a:solidFill>
                  <a:srgbClr val="1F2421"/>
                </a:solidFill>
                <a:latin typeface="Segoe UI"/>
              </a:rPr>
              <a:t>Defense experiment · both datasets</a:t>
            </a:r>
          </a:p>
        </p:txBody>
      </p:sp>
      <p:sp>
        <p:nvSpPr>
          <p:cNvPr id="13" name="TextBox 12"/>
          <p:cNvSpPr txBox="1"/>
          <p:nvPr/>
        </p:nvSpPr>
        <p:spPr>
          <a:xfrm>
            <a:off x="4937760" y="3429000"/>
            <a:ext cx="6492240" cy="548640"/>
          </a:xfrm>
          <a:prstGeom prst="rect">
            <a:avLst/>
          </a:prstGeom>
          <a:noFill/>
        </p:spPr>
        <p:txBody>
          <a:bodyPr wrap="square" anchor="ctr" lIns="0" rIns="0" tIns="0" bIns="0">
            <a:spAutoFit/>
          </a:bodyPr>
          <a:lstStyle/>
          <a:p>
            <a:pPr algn="l">
              <a:lnSpc>
                <a:spcPct val="120000"/>
              </a:lnSpc>
            </a:pPr>
            <a:r>
              <a:rPr sz="1350" b="0" i="0">
                <a:solidFill>
                  <a:srgbClr val="5B625C"/>
                </a:solidFill>
                <a:latin typeface="Segoe UI"/>
              </a:rPr>
              <a:t>no significant difference · all p &gt; 0.17</a:t>
            </a:r>
          </a:p>
        </p:txBody>
      </p:sp>
      <p:cxnSp>
        <p:nvCxnSpPr>
          <p:cNvPr id="14" name="Connector 13"/>
          <p:cNvCxnSpPr/>
          <p:nvPr/>
        </p:nvCxnSpPr>
        <p:spPr>
          <a:xfrm>
            <a:off x="731520" y="4032504"/>
            <a:ext cx="10725912" cy="0"/>
          </a:xfrm>
          <a:prstGeom prst="line">
            <a:avLst/>
          </a:prstGeom>
          <a:ln w="6350">
            <a:solidFill>
              <a:srgbClr val="DDDAD2"/>
            </a:solidFill>
          </a:ln>
        </p:spPr>
      </p:cxnSp>
      <p:sp>
        <p:nvSpPr>
          <p:cNvPr id="15" name="TextBox 14"/>
          <p:cNvSpPr txBox="1"/>
          <p:nvPr/>
        </p:nvSpPr>
        <p:spPr>
          <a:xfrm>
            <a:off x="731520" y="4114800"/>
            <a:ext cx="4114800" cy="548640"/>
          </a:xfrm>
          <a:prstGeom prst="rect">
            <a:avLst/>
          </a:prstGeom>
          <a:noFill/>
        </p:spPr>
        <p:txBody>
          <a:bodyPr wrap="square" anchor="ctr" lIns="0" rIns="0" tIns="0" bIns="0">
            <a:spAutoFit/>
          </a:bodyPr>
          <a:lstStyle/>
          <a:p>
            <a:pPr algn="l">
              <a:lnSpc>
                <a:spcPct val="120000"/>
              </a:lnSpc>
            </a:pPr>
            <a:r>
              <a:rPr sz="1350" b="1" i="0">
                <a:solidFill>
                  <a:srgbClr val="1F2421"/>
                </a:solidFill>
                <a:latin typeface="Segoe UI"/>
              </a:rPr>
              <a:t>Scalability · 10, 20, 40 clients</a:t>
            </a:r>
          </a:p>
        </p:txBody>
      </p:sp>
      <p:sp>
        <p:nvSpPr>
          <p:cNvPr id="16" name="TextBox 15"/>
          <p:cNvSpPr txBox="1"/>
          <p:nvPr/>
        </p:nvSpPr>
        <p:spPr>
          <a:xfrm>
            <a:off x="4937760" y="4114800"/>
            <a:ext cx="6492240" cy="548640"/>
          </a:xfrm>
          <a:prstGeom prst="rect">
            <a:avLst/>
          </a:prstGeom>
          <a:noFill/>
        </p:spPr>
        <p:txBody>
          <a:bodyPr wrap="square" anchor="ctr" lIns="0" rIns="0" tIns="0" bIns="0">
            <a:spAutoFit/>
          </a:bodyPr>
          <a:lstStyle/>
          <a:p>
            <a:pPr algn="l">
              <a:lnSpc>
                <a:spcPct val="120000"/>
              </a:lnSpc>
            </a:pPr>
            <a:r>
              <a:rPr sz="1350" b="0" i="0">
                <a:solidFill>
                  <a:srgbClr val="5B625C"/>
                </a:solidFill>
                <a:latin typeface="Segoe UI"/>
              </a:rPr>
              <a:t>no significant difference · all p ≥ 0.11</a:t>
            </a:r>
          </a:p>
        </p:txBody>
      </p:sp>
      <p:cxnSp>
        <p:nvCxnSpPr>
          <p:cNvPr id="17" name="Connector 16"/>
          <p:cNvCxnSpPr/>
          <p:nvPr/>
        </p:nvCxnSpPr>
        <p:spPr>
          <a:xfrm>
            <a:off x="731520" y="4718304"/>
            <a:ext cx="10725912" cy="0"/>
          </a:xfrm>
          <a:prstGeom prst="line">
            <a:avLst/>
          </a:prstGeom>
          <a:ln w="6350">
            <a:solidFill>
              <a:srgbClr val="DDDAD2"/>
            </a:solidFill>
          </a:ln>
        </p:spPr>
      </p:cxnSp>
      <p:sp>
        <p:nvSpPr>
          <p:cNvPr id="18" name="Rounded Rectangle 17"/>
          <p:cNvSpPr/>
          <p:nvPr/>
        </p:nvSpPr>
        <p:spPr>
          <a:xfrm>
            <a:off x="731520" y="4937760"/>
            <a:ext cx="10725912" cy="1143000"/>
          </a:xfrm>
          <a:prstGeom prst="roundRect">
            <a:avLst>
              <a:gd name="adj" fmla="val 6000"/>
            </a:avLst>
          </a:prstGeom>
          <a:solidFill>
            <a:srgbClr val="E4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4937760"/>
            <a:ext cx="10058400" cy="1143000"/>
          </a:xfrm>
          <a:prstGeom prst="rect">
            <a:avLst/>
          </a:prstGeom>
          <a:noFill/>
        </p:spPr>
        <p:txBody>
          <a:bodyPr wrap="square" anchor="ctr" lIns="0" rIns="0" tIns="0" bIns="0">
            <a:spAutoFit/>
          </a:bodyPr>
          <a:lstStyle/>
          <a:p>
            <a:pPr algn="l">
              <a:lnSpc>
                <a:spcPct val="130000"/>
              </a:lnSpc>
            </a:pPr>
            <a:r>
              <a:rPr sz="1500" b="1" i="0">
                <a:solidFill>
                  <a:srgbClr val="3E5F5A"/>
                </a:solidFill>
                <a:latin typeface="Segoe UI"/>
              </a:rPr>
              <a:t>Answer: no.</a:t>
            </a:r>
            <a:r>
              <a:rPr sz="1300" b="0" i="0">
                <a:solidFill>
                  <a:srgbClr val="1F2421"/>
                </a:solidFill>
                <a:latin typeface="Segoe UI"/>
              </a:rPr>
              <a:t>  Once scores are standardized within each round, a single global threshold already keeps false alarms low; Mondrian adds complexity without a measurable gain — and the 'too few clients per cluster' explanation did not hold up to 40 clients.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06 · CONCLUSION</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What did not work, and limitations</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31</a:t>
            </a:r>
          </a:p>
        </p:txBody>
      </p:sp>
      <p:sp>
        <p:nvSpPr>
          <p:cNvPr id="8" name="TextBox 7"/>
          <p:cNvSpPr txBox="1"/>
          <p:nvPr/>
        </p:nvSpPr>
        <p:spPr>
          <a:xfrm>
            <a:off x="731520" y="1828800"/>
            <a:ext cx="10515600" cy="4389120"/>
          </a:xfrm>
          <a:prstGeom prst="rect">
            <a:avLst/>
          </a:prstGeom>
          <a:noFill/>
        </p:spPr>
        <p:txBody>
          <a:bodyPr wrap="square" lIns="0" rIns="0" tIns="0" bIns="0">
            <a:spAutoFit/>
          </a:bodyPr>
          <a:lstStyle/>
          <a:p>
            <a:pPr marL="219456" indent="-219456">
              <a:lnSpc>
                <a:spcPct val="120000"/>
              </a:lnSpc>
              <a:spcAft>
                <a:spcPts val="1400"/>
              </a:spcAft>
              <a:buClr>
                <a:srgbClr val="3E5F5A"/>
              </a:buClr>
              <a:buFont typeface="Arial"/>
              <a:buChar char="•"/>
            </a:pPr>
            <a:r>
              <a:rPr sz="1400" b="1">
                <a:solidFill>
                  <a:srgbClr val="1F2421"/>
                </a:solidFill>
                <a:latin typeface="Segoe UI"/>
              </a:rPr>
              <a:t>Binary detection was too easy. </a:t>
            </a:r>
            <a:r>
              <a:rPr sz="1400">
                <a:solidFill>
                  <a:srgbClr val="1F2421"/>
                </a:solidFill>
                <a:latin typeface="Segoe UI"/>
              </a:rPr>
              <a:t>One feature scores 97.5% on FLNET2023 — so binary accuracy cannot separate setups.</a:t>
            </a:r>
          </a:p>
          <a:p>
            <a:pPr marL="219456" indent="-219456">
              <a:lnSpc>
                <a:spcPct val="120000"/>
              </a:lnSpc>
              <a:spcAft>
                <a:spcPts val="1400"/>
              </a:spcAft>
              <a:buClr>
                <a:srgbClr val="3E5F5A"/>
              </a:buClr>
              <a:buFont typeface="Arial"/>
              <a:buChar char="•"/>
            </a:pPr>
            <a:r>
              <a:rPr sz="1400" b="1">
                <a:solidFill>
                  <a:srgbClr val="1F2421"/>
                </a:solidFill>
                <a:latin typeface="Segoe UI"/>
              </a:rPr>
              <a:t>First protocol design failed. </a:t>
            </a:r>
            <a:r>
              <a:rPr sz="1400">
                <a:solidFill>
                  <a:srgbClr val="1F2421"/>
                </a:solidFill>
                <a:latin typeface="Segoe UI"/>
              </a:rPr>
              <a:t>Fixed thresholds flagged 65–96% of honest updates once training converged; fixed by per-round standardization.</a:t>
            </a:r>
          </a:p>
          <a:p>
            <a:pPr marL="219456" indent="-219456">
              <a:lnSpc>
                <a:spcPct val="120000"/>
              </a:lnSpc>
              <a:spcAft>
                <a:spcPts val="1400"/>
              </a:spcAft>
              <a:buClr>
                <a:srgbClr val="3E5F5A"/>
              </a:buClr>
              <a:buFont typeface="Arial"/>
              <a:buChar char="•"/>
            </a:pPr>
            <a:r>
              <a:rPr sz="1400" b="1">
                <a:solidFill>
                  <a:srgbClr val="1F2421"/>
                </a:solidFill>
                <a:latin typeface="Segoe UI"/>
              </a:rPr>
              <a:t>The weight cap is not free. </a:t>
            </a:r>
            <a:r>
              <a:rPr sz="1400">
                <a:solidFill>
                  <a:srgbClr val="1F2421"/>
                </a:solidFill>
                <a:latin typeface="Segoe UI"/>
              </a:rPr>
              <a:t>It can hand an honest large router's weight to the attackers.</a:t>
            </a:r>
          </a:p>
          <a:p>
            <a:pPr marL="219456" indent="-219456">
              <a:lnSpc>
                <a:spcPct val="120000"/>
              </a:lnSpc>
              <a:spcAft>
                <a:spcPts val="1400"/>
              </a:spcAft>
              <a:buClr>
                <a:srgbClr val="3E5F5A"/>
              </a:buClr>
              <a:buFont typeface="Arial"/>
              <a:buChar char="•"/>
            </a:pPr>
            <a:r>
              <a:rPr sz="1400" b="1">
                <a:solidFill>
                  <a:srgbClr val="1F2421"/>
                </a:solidFill>
                <a:latin typeface="Segoe UI"/>
              </a:rPr>
              <a:t>Heavy dropout weakens the filter. </a:t>
            </a:r>
            <a:r>
              <a:rPr sz="1400">
                <a:solidFill>
                  <a:srgbClr val="1F2421"/>
                </a:solidFill>
                <a:latin typeface="Segoe UI"/>
              </a:rPr>
              <a:t>At 40% offline, only about a third of poisoned updates are caught.</a:t>
            </a:r>
          </a:p>
          <a:p>
            <a:pPr marL="219456" indent="-219456">
              <a:lnSpc>
                <a:spcPct val="120000"/>
              </a:lnSpc>
              <a:spcAft>
                <a:spcPts val="1400"/>
              </a:spcAft>
              <a:buClr>
                <a:srgbClr val="3E5F5A"/>
              </a:buClr>
              <a:buFont typeface="Arial"/>
              <a:buChar char="•"/>
            </a:pPr>
            <a:r>
              <a:rPr sz="1400" b="1">
                <a:solidFill>
                  <a:srgbClr val="1F2421"/>
                </a:solidFill>
                <a:latin typeface="Segoe UI"/>
              </a:rPr>
              <a:t>Evaluation limits. </a:t>
            </a:r>
            <a:r>
              <a:rPr sz="1400">
                <a:solidFill>
                  <a:srgbClr val="1F2421"/>
                </a:solidFill>
                <a:latin typeface="Segoe UI"/>
              </a:rPr>
              <a:t>Simulated federation, emulated traffic, non-adaptive attackers, 5 seeds on FLNET2023.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06 · CONCLUSION</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Conclusion and future work</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32</a:t>
            </a:r>
          </a:p>
        </p:txBody>
      </p:sp>
      <p:sp>
        <p:nvSpPr>
          <p:cNvPr id="8" name="TextBox 7"/>
          <p:cNvSpPr txBox="1"/>
          <p:nvPr/>
        </p:nvSpPr>
        <p:spPr>
          <a:xfrm>
            <a:off x="731520" y="1783080"/>
            <a:ext cx="5212080" cy="320040"/>
          </a:xfrm>
          <a:prstGeom prst="rect">
            <a:avLst/>
          </a:prstGeom>
          <a:noFill/>
        </p:spPr>
        <p:txBody>
          <a:bodyPr wrap="square" anchor="t" lIns="0" rIns="0" tIns="0" bIns="0">
            <a:spAutoFit/>
          </a:bodyPr>
          <a:lstStyle/>
          <a:p>
            <a:pPr algn="l">
              <a:lnSpc>
                <a:spcPct val="120000"/>
              </a:lnSpc>
            </a:pPr>
            <a:r>
              <a:rPr sz="1100" b="1" i="0">
                <a:solidFill>
                  <a:srgbClr val="3E5F5A"/>
                </a:solidFill>
                <a:latin typeface="Segoe UI"/>
              </a:rPr>
              <a:t>CONCLUSIONS</a:t>
            </a:r>
          </a:p>
        </p:txBody>
      </p:sp>
      <p:sp>
        <p:nvSpPr>
          <p:cNvPr id="9" name="TextBox 8"/>
          <p:cNvSpPr txBox="1"/>
          <p:nvPr/>
        </p:nvSpPr>
        <p:spPr>
          <a:xfrm>
            <a:off x="731520" y="2194560"/>
            <a:ext cx="5212080" cy="4023360"/>
          </a:xfrm>
          <a:prstGeom prst="rect">
            <a:avLst/>
          </a:prstGeom>
          <a:noFill/>
        </p:spPr>
        <p:txBody>
          <a:bodyPr wrap="square" lIns="0" rIns="0" tIns="0" bIns="0">
            <a:spAutoFit/>
          </a:bodyPr>
          <a:lstStyle/>
          <a:p>
            <a:pPr marL="219456" indent="-219456">
              <a:lnSpc>
                <a:spcPct val="120000"/>
              </a:lnSpc>
              <a:spcAft>
                <a:spcPts val="1400"/>
              </a:spcAft>
              <a:buClr>
                <a:srgbClr val="3E5F5A"/>
              </a:buClr>
              <a:buFont typeface="Arial"/>
              <a:buChar char="•"/>
            </a:pPr>
            <a:r>
              <a:rPr sz="1400">
                <a:solidFill>
                  <a:srgbClr val="1F2421"/>
                </a:solidFill>
                <a:latin typeface="Segoe UI"/>
              </a:rPr>
              <a:t>Federated training over 10 real routers matches centralized binary detection.</a:t>
            </a:r>
          </a:p>
          <a:p>
            <a:pPr marL="219456" indent="-219456">
              <a:lnSpc>
                <a:spcPct val="120000"/>
              </a:lnSpc>
              <a:spcAft>
                <a:spcPts val="1400"/>
              </a:spcAft>
              <a:buClr>
                <a:srgbClr val="3E5F5A"/>
              </a:buClr>
              <a:buFont typeface="Arial"/>
              <a:buChar char="•"/>
            </a:pPr>
            <a:r>
              <a:rPr sz="1400">
                <a:solidFill>
                  <a:srgbClr val="1F2421"/>
                </a:solidFill>
                <a:latin typeface="Segoe UI"/>
              </a:rPr>
              <a:t>Naming the attack exposes the non-IID cost: macro-F1 0.39 vs 0.76 IID.</a:t>
            </a:r>
          </a:p>
          <a:p>
            <a:pPr marL="219456" indent="-219456">
              <a:lnSpc>
                <a:spcPct val="120000"/>
              </a:lnSpc>
              <a:spcAft>
                <a:spcPts val="1400"/>
              </a:spcAft>
              <a:buClr>
                <a:srgbClr val="3E5F5A"/>
              </a:buClr>
              <a:buFont typeface="Arial"/>
              <a:buChar char="•"/>
            </a:pPr>
            <a:r>
              <a:rPr sz="1400">
                <a:solidFill>
                  <a:srgbClr val="1F2421"/>
                </a:solidFill>
                <a:latin typeface="Segoe UI"/>
              </a:rPr>
              <a:t>Krypsis rejects every tampered message and raises accuracy under attack at under 1% message cost.</a:t>
            </a:r>
          </a:p>
          <a:p>
            <a:pPr marL="219456" indent="-219456">
              <a:lnSpc>
                <a:spcPct val="120000"/>
              </a:lnSpc>
              <a:spcAft>
                <a:spcPts val="1400"/>
              </a:spcAft>
              <a:buClr>
                <a:srgbClr val="3E5F5A"/>
              </a:buClr>
              <a:buFont typeface="Arial"/>
              <a:buChar char="•"/>
            </a:pPr>
            <a:r>
              <a:rPr sz="1400">
                <a:solidFill>
                  <a:srgbClr val="1F2421"/>
                </a:solidFill>
                <a:latin typeface="Segoe UI"/>
              </a:rPr>
              <a:t>A global threshold is enough — Mondrian brought no significant gain.</a:t>
            </a:r>
          </a:p>
        </p:txBody>
      </p:sp>
      <p:sp>
        <p:nvSpPr>
          <p:cNvPr id="10" name="TextBox 9"/>
          <p:cNvSpPr txBox="1"/>
          <p:nvPr/>
        </p:nvSpPr>
        <p:spPr>
          <a:xfrm>
            <a:off x="6400800" y="1783080"/>
            <a:ext cx="5029200" cy="320040"/>
          </a:xfrm>
          <a:prstGeom prst="rect">
            <a:avLst/>
          </a:prstGeom>
          <a:noFill/>
        </p:spPr>
        <p:txBody>
          <a:bodyPr wrap="square" anchor="t" lIns="0" rIns="0" tIns="0" bIns="0">
            <a:spAutoFit/>
          </a:bodyPr>
          <a:lstStyle/>
          <a:p>
            <a:pPr algn="l">
              <a:lnSpc>
                <a:spcPct val="120000"/>
              </a:lnSpc>
            </a:pPr>
            <a:r>
              <a:rPr sz="1100" b="1" i="0">
                <a:solidFill>
                  <a:srgbClr val="3E5F5A"/>
                </a:solidFill>
                <a:latin typeface="Segoe UI"/>
              </a:rPr>
              <a:t>FUTURE WORK</a:t>
            </a:r>
          </a:p>
        </p:txBody>
      </p:sp>
      <p:sp>
        <p:nvSpPr>
          <p:cNvPr id="11" name="TextBox 10"/>
          <p:cNvSpPr txBox="1"/>
          <p:nvPr/>
        </p:nvSpPr>
        <p:spPr>
          <a:xfrm>
            <a:off x="6400800" y="2194560"/>
            <a:ext cx="5029200" cy="4023360"/>
          </a:xfrm>
          <a:prstGeom prst="rect">
            <a:avLst/>
          </a:prstGeom>
          <a:noFill/>
        </p:spPr>
        <p:txBody>
          <a:bodyPr wrap="square" lIns="0" rIns="0" tIns="0" bIns="0">
            <a:spAutoFit/>
          </a:bodyPr>
          <a:lstStyle/>
          <a:p>
            <a:pPr marL="219456" indent="-219456">
              <a:lnSpc>
                <a:spcPct val="120000"/>
              </a:lnSpc>
              <a:spcAft>
                <a:spcPts val="1400"/>
              </a:spcAft>
              <a:buClr>
                <a:srgbClr val="3E5F5A"/>
              </a:buClr>
              <a:buFont typeface="Arial"/>
              <a:buChar char="•"/>
            </a:pPr>
            <a:r>
              <a:rPr sz="1400">
                <a:solidFill>
                  <a:srgbClr val="1F2421"/>
                </a:solidFill>
                <a:latin typeface="Segoe UI"/>
              </a:rPr>
              <a:t>Run the protocol on the multi-class task, where honest routers truly disagree.</a:t>
            </a:r>
          </a:p>
          <a:p>
            <a:pPr marL="219456" indent="-219456">
              <a:lnSpc>
                <a:spcPct val="120000"/>
              </a:lnSpc>
              <a:spcAft>
                <a:spcPts val="1400"/>
              </a:spcAft>
              <a:buClr>
                <a:srgbClr val="3E5F5A"/>
              </a:buClr>
              <a:buFont typeface="Arial"/>
              <a:buChar char="•"/>
            </a:pPr>
            <a:r>
              <a:rPr sz="1400">
                <a:solidFill>
                  <a:srgbClr val="1F2421"/>
                </a:solidFill>
                <a:latin typeface="Segoe UI"/>
              </a:rPr>
              <a:t>A trust-dependent weight cap instead of a fixed one.</a:t>
            </a:r>
          </a:p>
          <a:p>
            <a:pPr marL="219456" indent="-219456">
              <a:lnSpc>
                <a:spcPct val="120000"/>
              </a:lnSpc>
              <a:spcAft>
                <a:spcPts val="1400"/>
              </a:spcAft>
              <a:buClr>
                <a:srgbClr val="3E5F5A"/>
              </a:buClr>
              <a:buFont typeface="Arial"/>
              <a:buChar char="•"/>
            </a:pPr>
            <a:r>
              <a:rPr sz="1400">
                <a:solidFill>
                  <a:srgbClr val="1F2421"/>
                </a:solidFill>
                <a:latin typeface="Segoe UI"/>
              </a:rPr>
              <a:t>Score against a longer history to survive heavy dropout.</a:t>
            </a:r>
          </a:p>
          <a:p>
            <a:pPr marL="219456" indent="-219456">
              <a:lnSpc>
                <a:spcPct val="120000"/>
              </a:lnSpc>
              <a:spcAft>
                <a:spcPts val="1400"/>
              </a:spcAft>
              <a:buClr>
                <a:srgbClr val="3E5F5A"/>
              </a:buClr>
              <a:buFont typeface="Arial"/>
              <a:buChar char="•"/>
            </a:pPr>
            <a:r>
              <a:rPr sz="1400">
                <a:solidFill>
                  <a:srgbClr val="1F2421"/>
                </a:solidFill>
                <a:latin typeface="Segoe UI"/>
              </a:rPr>
              <a:t>Deploy over a real network (Mininet / SDN) and test adaptive attackers.</a:t>
            </a:r>
          </a:p>
          <a:p>
            <a:pPr marL="219456" indent="-219456">
              <a:lnSpc>
                <a:spcPct val="120000"/>
              </a:lnSpc>
              <a:spcAft>
                <a:spcPts val="1400"/>
              </a:spcAft>
              <a:buClr>
                <a:srgbClr val="3E5F5A"/>
              </a:buClr>
              <a:buFont typeface="Arial"/>
              <a:buChar char="•"/>
            </a:pPr>
            <a:r>
              <a:rPr sz="1400">
                <a:solidFill>
                  <a:srgbClr val="1F2421"/>
                </a:solidFill>
                <a:latin typeface="Segoe UI"/>
              </a:rPr>
              <a:t>More FLNET2023 seeds for statistical power.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06 · CONCLUSION</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References</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33</a:t>
            </a:r>
          </a:p>
        </p:txBody>
      </p:sp>
      <p:sp>
        <p:nvSpPr>
          <p:cNvPr id="8" name="TextBox 7"/>
          <p:cNvSpPr txBox="1"/>
          <p:nvPr/>
        </p:nvSpPr>
        <p:spPr>
          <a:xfrm>
            <a:off x="731520" y="1691640"/>
            <a:ext cx="5257800" cy="731520"/>
          </a:xfrm>
          <a:prstGeom prst="rect">
            <a:avLst/>
          </a:prstGeom>
          <a:noFill/>
        </p:spPr>
        <p:txBody>
          <a:bodyPr wrap="square" anchor="t" lIns="0" rIns="0" tIns="0" bIns="0">
            <a:spAutoFit/>
          </a:bodyPr>
          <a:lstStyle/>
          <a:p>
            <a:pPr algn="l">
              <a:lnSpc>
                <a:spcPct val="110000"/>
              </a:lnSpc>
            </a:pPr>
            <a:r>
              <a:rPr sz="1000" b="1" i="0">
                <a:solidFill>
                  <a:srgbClr val="3E5F5A"/>
                </a:solidFill>
                <a:latin typeface="Segoe UI"/>
              </a:rPr>
              <a:t>[1]  </a:t>
            </a:r>
            <a:r>
              <a:rPr sz="1000" b="0" i="0">
                <a:solidFill>
                  <a:srgbClr val="1F2421"/>
                </a:solidFill>
                <a:latin typeface="Segoe UI"/>
              </a:rPr>
              <a:t>Kumar, P., Liu, J., et al. (2023). FLNET2023: Realistic Network Intrusion Detection Dataset for Federated Learning. MILCOM 2023.</a:t>
            </a:r>
          </a:p>
          <a:p>
            <a:pPr algn="l">
              <a:lnSpc>
                <a:spcPct val="110000"/>
              </a:lnSpc>
            </a:pPr>
            <a:r>
              <a:rPr sz="950" b="0" i="0">
                <a:solidFill>
                  <a:srgbClr val="3E5F5A"/>
                </a:solidFill>
                <a:latin typeface="Segoe UI"/>
                <a:hlinkClick r:id="rId2"/>
              </a:rPr>
              <a:t>https://doi.org/10.1109/MILCOM58377.2023.10356272</a:t>
            </a:r>
          </a:p>
        </p:txBody>
      </p:sp>
      <p:sp>
        <p:nvSpPr>
          <p:cNvPr id="9" name="TextBox 8"/>
          <p:cNvSpPr txBox="1"/>
          <p:nvPr/>
        </p:nvSpPr>
        <p:spPr>
          <a:xfrm>
            <a:off x="731520" y="2459736"/>
            <a:ext cx="5257800" cy="731520"/>
          </a:xfrm>
          <a:prstGeom prst="rect">
            <a:avLst/>
          </a:prstGeom>
          <a:noFill/>
        </p:spPr>
        <p:txBody>
          <a:bodyPr wrap="square" anchor="t" lIns="0" rIns="0" tIns="0" bIns="0">
            <a:spAutoFit/>
          </a:bodyPr>
          <a:lstStyle/>
          <a:p>
            <a:pPr algn="l">
              <a:lnSpc>
                <a:spcPct val="110000"/>
              </a:lnSpc>
            </a:pPr>
            <a:r>
              <a:rPr sz="1000" b="1" i="0">
                <a:solidFill>
                  <a:srgbClr val="3E5F5A"/>
                </a:solidFill>
                <a:latin typeface="Segoe UI"/>
              </a:rPr>
              <a:t>[2]  </a:t>
            </a:r>
            <a:r>
              <a:rPr sz="1000" b="0" i="0">
                <a:solidFill>
                  <a:srgbClr val="1F2421"/>
                </a:solidFill>
                <a:latin typeface="Segoe UI"/>
              </a:rPr>
              <a:t>FLNET2023 dataset and documentation (nsol-nmsu / FML-Network).</a:t>
            </a:r>
          </a:p>
          <a:p>
            <a:pPr algn="l">
              <a:lnSpc>
                <a:spcPct val="110000"/>
              </a:lnSpc>
            </a:pPr>
            <a:r>
              <a:rPr sz="950" b="0" i="0">
                <a:solidFill>
                  <a:srgbClr val="3E5F5A"/>
                </a:solidFill>
                <a:latin typeface="Segoe UI"/>
                <a:hlinkClick r:id="rId3"/>
              </a:rPr>
              <a:t>https://github.com/nsol-nmsu/FML-Network</a:t>
            </a:r>
          </a:p>
        </p:txBody>
      </p:sp>
      <p:sp>
        <p:nvSpPr>
          <p:cNvPr id="10" name="TextBox 9"/>
          <p:cNvSpPr txBox="1"/>
          <p:nvPr/>
        </p:nvSpPr>
        <p:spPr>
          <a:xfrm>
            <a:off x="731520" y="3227832"/>
            <a:ext cx="5257800" cy="731520"/>
          </a:xfrm>
          <a:prstGeom prst="rect">
            <a:avLst/>
          </a:prstGeom>
          <a:noFill/>
        </p:spPr>
        <p:txBody>
          <a:bodyPr wrap="square" anchor="t" lIns="0" rIns="0" tIns="0" bIns="0">
            <a:spAutoFit/>
          </a:bodyPr>
          <a:lstStyle/>
          <a:p>
            <a:pPr algn="l">
              <a:lnSpc>
                <a:spcPct val="110000"/>
              </a:lnSpc>
            </a:pPr>
            <a:r>
              <a:rPr sz="1000" b="1" i="0">
                <a:solidFill>
                  <a:srgbClr val="3E5F5A"/>
                </a:solidFill>
                <a:latin typeface="Segoe UI"/>
              </a:rPr>
              <a:t>[3]  </a:t>
            </a:r>
            <a:r>
              <a:rPr sz="1000" b="0" i="0">
                <a:solidFill>
                  <a:srgbClr val="1F2421"/>
                </a:solidFill>
                <a:latin typeface="Segoe UI"/>
              </a:rPr>
              <a:t>McMahan, B., et al. (2017). Communication-Efficient Learning of Deep Networks from Decentralized Data. AISTATS.</a:t>
            </a:r>
          </a:p>
          <a:p>
            <a:pPr algn="l">
              <a:lnSpc>
                <a:spcPct val="110000"/>
              </a:lnSpc>
            </a:pPr>
            <a:r>
              <a:rPr sz="950" b="0" i="0">
                <a:solidFill>
                  <a:srgbClr val="3E5F5A"/>
                </a:solidFill>
                <a:latin typeface="Segoe UI"/>
                <a:hlinkClick r:id="rId4"/>
              </a:rPr>
              <a:t>https://arxiv.org/abs/1602.05629</a:t>
            </a:r>
          </a:p>
        </p:txBody>
      </p:sp>
      <p:sp>
        <p:nvSpPr>
          <p:cNvPr id="11" name="TextBox 10"/>
          <p:cNvSpPr txBox="1"/>
          <p:nvPr/>
        </p:nvSpPr>
        <p:spPr>
          <a:xfrm>
            <a:off x="731520" y="3995928"/>
            <a:ext cx="5257800" cy="731520"/>
          </a:xfrm>
          <a:prstGeom prst="rect">
            <a:avLst/>
          </a:prstGeom>
          <a:noFill/>
        </p:spPr>
        <p:txBody>
          <a:bodyPr wrap="square" anchor="t" lIns="0" rIns="0" tIns="0" bIns="0">
            <a:spAutoFit/>
          </a:bodyPr>
          <a:lstStyle/>
          <a:p>
            <a:pPr algn="l">
              <a:lnSpc>
                <a:spcPct val="110000"/>
              </a:lnSpc>
            </a:pPr>
            <a:r>
              <a:rPr sz="1000" b="1" i="0">
                <a:solidFill>
                  <a:srgbClr val="3E5F5A"/>
                </a:solidFill>
                <a:latin typeface="Segoe UI"/>
              </a:rPr>
              <a:t>[4]  </a:t>
            </a:r>
            <a:r>
              <a:rPr sz="1000" b="0" i="0">
                <a:solidFill>
                  <a:srgbClr val="1F2421"/>
                </a:solidFill>
                <a:latin typeface="Segoe UI"/>
              </a:rPr>
              <a:t>Blanchard, P., et al. (2017). Machine Learning with Adversaries: Byzantine Tolerant Gradient Descent (Krum). NeurIPS.</a:t>
            </a:r>
          </a:p>
          <a:p>
            <a:pPr algn="l">
              <a:lnSpc>
                <a:spcPct val="110000"/>
              </a:lnSpc>
            </a:pPr>
            <a:r>
              <a:rPr sz="950" b="0" i="0">
                <a:solidFill>
                  <a:srgbClr val="3E5F5A"/>
                </a:solidFill>
                <a:latin typeface="Segoe UI"/>
                <a:hlinkClick r:id="rId5"/>
              </a:rPr>
              <a:t>https://arxiv.org/abs/1703.02757</a:t>
            </a:r>
          </a:p>
        </p:txBody>
      </p:sp>
      <p:sp>
        <p:nvSpPr>
          <p:cNvPr id="12" name="TextBox 11"/>
          <p:cNvSpPr txBox="1"/>
          <p:nvPr/>
        </p:nvSpPr>
        <p:spPr>
          <a:xfrm>
            <a:off x="731520" y="4764024"/>
            <a:ext cx="5257800" cy="731520"/>
          </a:xfrm>
          <a:prstGeom prst="rect">
            <a:avLst/>
          </a:prstGeom>
          <a:noFill/>
        </p:spPr>
        <p:txBody>
          <a:bodyPr wrap="square" anchor="t" lIns="0" rIns="0" tIns="0" bIns="0">
            <a:spAutoFit/>
          </a:bodyPr>
          <a:lstStyle/>
          <a:p>
            <a:pPr algn="l">
              <a:lnSpc>
                <a:spcPct val="110000"/>
              </a:lnSpc>
            </a:pPr>
            <a:r>
              <a:rPr sz="1000" b="1" i="0">
                <a:solidFill>
                  <a:srgbClr val="3E5F5A"/>
                </a:solidFill>
                <a:latin typeface="Segoe UI"/>
              </a:rPr>
              <a:t>[5]  </a:t>
            </a:r>
            <a:r>
              <a:rPr sz="1000" b="0" i="0">
                <a:solidFill>
                  <a:srgbClr val="1F2421"/>
                </a:solidFill>
                <a:latin typeface="Segoe UI"/>
              </a:rPr>
              <a:t>Yin, D., et al. (2018). Byzantine-Robust Distributed Learning: Towards Optimal Statistical Rates (trimmed mean). ICML.</a:t>
            </a:r>
          </a:p>
          <a:p>
            <a:pPr algn="l">
              <a:lnSpc>
                <a:spcPct val="110000"/>
              </a:lnSpc>
            </a:pPr>
            <a:r>
              <a:rPr sz="950" b="0" i="0">
                <a:solidFill>
                  <a:srgbClr val="3E5F5A"/>
                </a:solidFill>
                <a:latin typeface="Segoe UI"/>
                <a:hlinkClick r:id="rId6"/>
              </a:rPr>
              <a:t>https://arxiv.org/abs/1803.01498</a:t>
            </a:r>
          </a:p>
        </p:txBody>
      </p:sp>
      <p:sp>
        <p:nvSpPr>
          <p:cNvPr id="13" name="TextBox 12"/>
          <p:cNvSpPr txBox="1"/>
          <p:nvPr/>
        </p:nvSpPr>
        <p:spPr>
          <a:xfrm>
            <a:off x="731520" y="5532120"/>
            <a:ext cx="5257800" cy="731520"/>
          </a:xfrm>
          <a:prstGeom prst="rect">
            <a:avLst/>
          </a:prstGeom>
          <a:noFill/>
        </p:spPr>
        <p:txBody>
          <a:bodyPr wrap="square" anchor="t" lIns="0" rIns="0" tIns="0" bIns="0">
            <a:spAutoFit/>
          </a:bodyPr>
          <a:lstStyle/>
          <a:p>
            <a:pPr algn="l">
              <a:lnSpc>
                <a:spcPct val="110000"/>
              </a:lnSpc>
            </a:pPr>
            <a:r>
              <a:rPr sz="1000" b="1" i="0">
                <a:solidFill>
                  <a:srgbClr val="3E5F5A"/>
                </a:solidFill>
                <a:latin typeface="Segoe UI"/>
              </a:rPr>
              <a:t>[6]  </a:t>
            </a:r>
            <a:r>
              <a:rPr sz="1000" b="0" i="0">
                <a:solidFill>
                  <a:srgbClr val="1F2421"/>
                </a:solidFill>
                <a:latin typeface="Segoe UI"/>
              </a:rPr>
              <a:t>Bagdasaryan, E., et al. (2020). How To Backdoor Federated Learning. AISTATS.</a:t>
            </a:r>
          </a:p>
          <a:p>
            <a:pPr algn="l">
              <a:lnSpc>
                <a:spcPct val="110000"/>
              </a:lnSpc>
            </a:pPr>
            <a:r>
              <a:rPr sz="950" b="0" i="0">
                <a:solidFill>
                  <a:srgbClr val="3E5F5A"/>
                </a:solidFill>
                <a:latin typeface="Segoe UI"/>
                <a:hlinkClick r:id="rId7"/>
              </a:rPr>
              <a:t>https://arxiv.org/abs/1807.00459</a:t>
            </a:r>
          </a:p>
        </p:txBody>
      </p:sp>
      <p:sp>
        <p:nvSpPr>
          <p:cNvPr id="14" name="TextBox 13"/>
          <p:cNvSpPr txBox="1"/>
          <p:nvPr/>
        </p:nvSpPr>
        <p:spPr>
          <a:xfrm>
            <a:off x="6199632" y="1691640"/>
            <a:ext cx="5257800" cy="731520"/>
          </a:xfrm>
          <a:prstGeom prst="rect">
            <a:avLst/>
          </a:prstGeom>
          <a:noFill/>
        </p:spPr>
        <p:txBody>
          <a:bodyPr wrap="square" anchor="t" lIns="0" rIns="0" tIns="0" bIns="0">
            <a:spAutoFit/>
          </a:bodyPr>
          <a:lstStyle/>
          <a:p>
            <a:pPr algn="l">
              <a:lnSpc>
                <a:spcPct val="110000"/>
              </a:lnSpc>
            </a:pPr>
            <a:r>
              <a:rPr sz="1000" b="1" i="0">
                <a:solidFill>
                  <a:srgbClr val="3E5F5A"/>
                </a:solidFill>
                <a:latin typeface="Segoe UI"/>
              </a:rPr>
              <a:t>[7]  </a:t>
            </a:r>
            <a:r>
              <a:rPr sz="1000" b="0" i="0">
                <a:solidFill>
                  <a:srgbClr val="1F2421"/>
                </a:solidFill>
                <a:latin typeface="Segoe UI"/>
              </a:rPr>
              <a:t>Tolpegin, V., et al. (2020). Data Poisoning Attacks Against Federated Learning Systems. ESORICS.</a:t>
            </a:r>
          </a:p>
          <a:p>
            <a:pPr algn="l">
              <a:lnSpc>
                <a:spcPct val="110000"/>
              </a:lnSpc>
            </a:pPr>
            <a:r>
              <a:rPr sz="950" b="0" i="0">
                <a:solidFill>
                  <a:srgbClr val="3E5F5A"/>
                </a:solidFill>
                <a:latin typeface="Segoe UI"/>
                <a:hlinkClick r:id="rId8"/>
              </a:rPr>
              <a:t>https://arxiv.org/abs/2007.08432</a:t>
            </a:r>
          </a:p>
        </p:txBody>
      </p:sp>
      <p:sp>
        <p:nvSpPr>
          <p:cNvPr id="15" name="TextBox 14"/>
          <p:cNvSpPr txBox="1"/>
          <p:nvPr/>
        </p:nvSpPr>
        <p:spPr>
          <a:xfrm>
            <a:off x="6199632" y="2459736"/>
            <a:ext cx="5257800" cy="731520"/>
          </a:xfrm>
          <a:prstGeom prst="rect">
            <a:avLst/>
          </a:prstGeom>
          <a:noFill/>
        </p:spPr>
        <p:txBody>
          <a:bodyPr wrap="square" anchor="t" lIns="0" rIns="0" tIns="0" bIns="0">
            <a:spAutoFit/>
          </a:bodyPr>
          <a:lstStyle/>
          <a:p>
            <a:pPr algn="l">
              <a:lnSpc>
                <a:spcPct val="110000"/>
              </a:lnSpc>
            </a:pPr>
            <a:r>
              <a:rPr sz="1000" b="1" i="0">
                <a:solidFill>
                  <a:srgbClr val="3E5F5A"/>
                </a:solidFill>
                <a:latin typeface="Segoe UI"/>
              </a:rPr>
              <a:t>[8]  </a:t>
            </a:r>
            <a:r>
              <a:rPr sz="1000" b="0" i="0">
                <a:solidFill>
                  <a:srgbClr val="1F2421"/>
                </a:solidFill>
                <a:latin typeface="Segoe UI"/>
              </a:rPr>
              <a:t>Hsu, T.-M. H., Qi, H., Brown, M. (2019). Measuring the Effects of Non-Identical Data Distribution for Federated Visual Classification.</a:t>
            </a:r>
          </a:p>
          <a:p>
            <a:pPr algn="l">
              <a:lnSpc>
                <a:spcPct val="110000"/>
              </a:lnSpc>
            </a:pPr>
            <a:r>
              <a:rPr sz="950" b="0" i="0">
                <a:solidFill>
                  <a:srgbClr val="3E5F5A"/>
                </a:solidFill>
                <a:latin typeface="Segoe UI"/>
                <a:hlinkClick r:id="rId9"/>
              </a:rPr>
              <a:t>https://arxiv.org/abs/1909.06335</a:t>
            </a:r>
          </a:p>
        </p:txBody>
      </p:sp>
      <p:sp>
        <p:nvSpPr>
          <p:cNvPr id="16" name="TextBox 15"/>
          <p:cNvSpPr txBox="1"/>
          <p:nvPr/>
        </p:nvSpPr>
        <p:spPr>
          <a:xfrm>
            <a:off x="6199632" y="3227832"/>
            <a:ext cx="5257800" cy="731520"/>
          </a:xfrm>
          <a:prstGeom prst="rect">
            <a:avLst/>
          </a:prstGeom>
          <a:noFill/>
        </p:spPr>
        <p:txBody>
          <a:bodyPr wrap="square" anchor="t" lIns="0" rIns="0" tIns="0" bIns="0">
            <a:spAutoFit/>
          </a:bodyPr>
          <a:lstStyle/>
          <a:p>
            <a:pPr algn="l">
              <a:lnSpc>
                <a:spcPct val="110000"/>
              </a:lnSpc>
            </a:pPr>
            <a:r>
              <a:rPr sz="1000" b="1" i="0">
                <a:solidFill>
                  <a:srgbClr val="3E5F5A"/>
                </a:solidFill>
                <a:latin typeface="Segoe UI"/>
              </a:rPr>
              <a:t>[9]  </a:t>
            </a:r>
            <a:r>
              <a:rPr sz="1000" b="0" i="0">
                <a:solidFill>
                  <a:srgbClr val="1F2421"/>
                </a:solidFill>
                <a:latin typeface="Segoe UI"/>
              </a:rPr>
              <a:t>Angelopoulos, A., Bates, S. (2021). A Gentle Introduction to Conformal Prediction.</a:t>
            </a:r>
          </a:p>
          <a:p>
            <a:pPr algn="l">
              <a:lnSpc>
                <a:spcPct val="110000"/>
              </a:lnSpc>
            </a:pPr>
            <a:r>
              <a:rPr sz="950" b="0" i="0">
                <a:solidFill>
                  <a:srgbClr val="3E5F5A"/>
                </a:solidFill>
                <a:latin typeface="Segoe UI"/>
                <a:hlinkClick r:id="rId10"/>
              </a:rPr>
              <a:t>https://arxiv.org/abs/2107.07511</a:t>
            </a:r>
          </a:p>
        </p:txBody>
      </p:sp>
      <p:sp>
        <p:nvSpPr>
          <p:cNvPr id="17" name="TextBox 16"/>
          <p:cNvSpPr txBox="1"/>
          <p:nvPr/>
        </p:nvSpPr>
        <p:spPr>
          <a:xfrm>
            <a:off x="6199632" y="3995928"/>
            <a:ext cx="5257800" cy="731520"/>
          </a:xfrm>
          <a:prstGeom prst="rect">
            <a:avLst/>
          </a:prstGeom>
          <a:noFill/>
        </p:spPr>
        <p:txBody>
          <a:bodyPr wrap="square" anchor="t" lIns="0" rIns="0" tIns="0" bIns="0">
            <a:spAutoFit/>
          </a:bodyPr>
          <a:lstStyle/>
          <a:p>
            <a:pPr algn="l">
              <a:lnSpc>
                <a:spcPct val="110000"/>
              </a:lnSpc>
            </a:pPr>
            <a:r>
              <a:rPr sz="1000" b="1" i="0">
                <a:solidFill>
                  <a:srgbClr val="3E5F5A"/>
                </a:solidFill>
                <a:latin typeface="Segoe UI"/>
              </a:rPr>
              <a:t>[10]  </a:t>
            </a:r>
            <a:r>
              <a:rPr sz="1000" b="0" i="0">
                <a:solidFill>
                  <a:srgbClr val="1F2421"/>
                </a:solidFill>
                <a:latin typeface="Segoe UI"/>
              </a:rPr>
              <a:t>Tavallaee, M., et al. (2009). A Detailed Analysis of the KDD CUP 99 Data Set (NSL-KDD). CISDA.</a:t>
            </a:r>
          </a:p>
          <a:p>
            <a:pPr algn="l">
              <a:lnSpc>
                <a:spcPct val="110000"/>
              </a:lnSpc>
            </a:pPr>
            <a:r>
              <a:rPr sz="950" b="0" i="0">
                <a:solidFill>
                  <a:srgbClr val="3E5F5A"/>
                </a:solidFill>
                <a:latin typeface="Segoe UI"/>
                <a:hlinkClick r:id="rId11"/>
              </a:rPr>
              <a:t>https://www.unb.ca/cic/datasets/nsl.html</a:t>
            </a:r>
          </a:p>
        </p:txBody>
      </p:sp>
      <p:sp>
        <p:nvSpPr>
          <p:cNvPr id="18" name="TextBox 17"/>
          <p:cNvSpPr txBox="1"/>
          <p:nvPr/>
        </p:nvSpPr>
        <p:spPr>
          <a:xfrm>
            <a:off x="6199632" y="4764024"/>
            <a:ext cx="5257800" cy="731520"/>
          </a:xfrm>
          <a:prstGeom prst="rect">
            <a:avLst/>
          </a:prstGeom>
          <a:noFill/>
        </p:spPr>
        <p:txBody>
          <a:bodyPr wrap="square" anchor="t" lIns="0" rIns="0" tIns="0" bIns="0">
            <a:spAutoFit/>
          </a:bodyPr>
          <a:lstStyle/>
          <a:p>
            <a:pPr algn="l">
              <a:lnSpc>
                <a:spcPct val="110000"/>
              </a:lnSpc>
            </a:pPr>
            <a:r>
              <a:rPr sz="1000" b="1" i="0">
                <a:solidFill>
                  <a:srgbClr val="3E5F5A"/>
                </a:solidFill>
                <a:latin typeface="Segoe UI"/>
              </a:rPr>
              <a:t>[11]  </a:t>
            </a:r>
            <a:r>
              <a:rPr sz="1000" b="0" i="0">
                <a:solidFill>
                  <a:srgbClr val="1F2421"/>
                </a:solidFill>
                <a:latin typeface="Segoe UI"/>
              </a:rPr>
              <a:t>Khraisat, A., et al. (2024). Survey on Federated Learning for Intrusion Detection System. ACM Computing Surveys 57(1).</a:t>
            </a:r>
          </a:p>
          <a:p>
            <a:pPr algn="l">
              <a:lnSpc>
                <a:spcPct val="110000"/>
              </a:lnSpc>
            </a:pPr>
            <a:r>
              <a:rPr sz="950" b="0" i="0">
                <a:solidFill>
                  <a:srgbClr val="3E5F5A"/>
                </a:solidFill>
                <a:latin typeface="Segoe UI"/>
                <a:hlinkClick r:id="rId12"/>
              </a:rPr>
              <a:t>https://doi.org/10.1145/3687124</a:t>
            </a:r>
          </a:p>
        </p:txBody>
      </p:sp>
      <p:sp>
        <p:nvSpPr>
          <p:cNvPr id="19" name="TextBox 18"/>
          <p:cNvSpPr txBox="1"/>
          <p:nvPr/>
        </p:nvSpPr>
        <p:spPr>
          <a:xfrm>
            <a:off x="6199632" y="5532120"/>
            <a:ext cx="5257800" cy="731520"/>
          </a:xfrm>
          <a:prstGeom prst="rect">
            <a:avLst/>
          </a:prstGeom>
          <a:noFill/>
        </p:spPr>
        <p:txBody>
          <a:bodyPr wrap="square" anchor="t" lIns="0" rIns="0" tIns="0" bIns="0">
            <a:spAutoFit/>
          </a:bodyPr>
          <a:lstStyle/>
          <a:p>
            <a:pPr algn="l">
              <a:lnSpc>
                <a:spcPct val="110000"/>
              </a:lnSpc>
            </a:pPr>
            <a:r>
              <a:rPr sz="1000" b="1" i="0">
                <a:solidFill>
                  <a:srgbClr val="3E5F5A"/>
                </a:solidFill>
                <a:latin typeface="Segoe UI"/>
              </a:rPr>
              <a:t>[12]  </a:t>
            </a:r>
            <a:r>
              <a:rPr sz="1000" b="0" i="0">
                <a:solidFill>
                  <a:srgbClr val="1F2421"/>
                </a:solidFill>
                <a:latin typeface="Segoe UI"/>
              </a:rPr>
              <a:t>Krawczyk, H., Bellare, M., Canetti, R. (1997). HMAC: Keyed-Hashing for Message Authentication. RFC 2104.</a:t>
            </a:r>
          </a:p>
          <a:p>
            <a:pPr algn="l">
              <a:lnSpc>
                <a:spcPct val="110000"/>
              </a:lnSpc>
            </a:pPr>
            <a:r>
              <a:rPr sz="950" b="0" i="0">
                <a:solidFill>
                  <a:srgbClr val="3E5F5A"/>
                </a:solidFill>
                <a:latin typeface="Segoe UI"/>
                <a:hlinkClick r:id="rId13"/>
              </a:rPr>
              <a:t>https://www.rfc-editor.org/rfc/rfc2104</a:t>
            </a:r>
          </a:p>
        </p:txBody>
      </p:sp>
      <p:sp>
        <p:nvSpPr>
          <p:cNvPr id="20" name="TextBox 19"/>
          <p:cNvSpPr txBox="1"/>
          <p:nvPr/>
        </p:nvSpPr>
        <p:spPr>
          <a:xfrm>
            <a:off x="731520" y="6172200"/>
            <a:ext cx="10725912" cy="228600"/>
          </a:xfrm>
          <a:prstGeom prst="rect">
            <a:avLst/>
          </a:prstGeom>
          <a:noFill/>
        </p:spPr>
        <p:txBody>
          <a:bodyPr wrap="square" anchor="t" lIns="0" rIns="0" tIns="0" bIns="0">
            <a:spAutoFit/>
          </a:bodyPr>
          <a:lstStyle/>
          <a:p>
            <a:pPr algn="l">
              <a:lnSpc>
                <a:spcPct val="120000"/>
              </a:lnSpc>
            </a:pPr>
            <a:r>
              <a:rPr sz="950" b="0" i="0">
                <a:solidFill>
                  <a:srgbClr val="8C918A"/>
                </a:solidFill>
                <a:latin typeface="Segoe UI"/>
              </a:rPr>
              <a:t>Code, results and full write-up: github.com/Vinudharshini18/Krypsis-A-network-intrusion-detection-system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377440"/>
            <a:ext cx="10058400" cy="1097280"/>
          </a:xfrm>
          <a:prstGeom prst="rect">
            <a:avLst/>
          </a:prstGeom>
          <a:noFill/>
        </p:spPr>
        <p:txBody>
          <a:bodyPr wrap="square" anchor="t" lIns="0" rIns="0" tIns="0" bIns="0">
            <a:spAutoFit/>
          </a:bodyPr>
          <a:lstStyle/>
          <a:p>
            <a:pPr algn="l">
              <a:lnSpc>
                <a:spcPct val="120000"/>
              </a:lnSpc>
            </a:pPr>
            <a:r>
              <a:rPr sz="6000" b="0" i="0">
                <a:solidFill>
                  <a:srgbClr val="1F2421"/>
                </a:solidFill>
                <a:latin typeface="Georgia"/>
              </a:rPr>
              <a:t>Thank you</a:t>
            </a:r>
          </a:p>
        </p:txBody>
      </p:sp>
      <p:cxnSp>
        <p:nvCxnSpPr>
          <p:cNvPr id="4" name="Connector 3"/>
          <p:cNvCxnSpPr/>
          <p:nvPr/>
        </p:nvCxnSpPr>
        <p:spPr>
          <a:xfrm>
            <a:off x="731520" y="3520440"/>
            <a:ext cx="731520" cy="0"/>
          </a:xfrm>
          <a:prstGeom prst="line">
            <a:avLst/>
          </a:prstGeom>
          <a:ln w="19050">
            <a:solidFill>
              <a:srgbClr val="3E5F5A"/>
            </a:solidFill>
          </a:ln>
        </p:spPr>
      </p:cxnSp>
      <p:sp>
        <p:nvSpPr>
          <p:cNvPr id="5" name="TextBox 4"/>
          <p:cNvSpPr txBox="1"/>
          <p:nvPr/>
        </p:nvSpPr>
        <p:spPr>
          <a:xfrm>
            <a:off x="731520" y="3703320"/>
            <a:ext cx="10058400" cy="548640"/>
          </a:xfrm>
          <a:prstGeom prst="rect">
            <a:avLst/>
          </a:prstGeom>
          <a:noFill/>
        </p:spPr>
        <p:txBody>
          <a:bodyPr wrap="square" anchor="t" lIns="0" rIns="0" tIns="0" bIns="0">
            <a:spAutoFit/>
          </a:bodyPr>
          <a:lstStyle/>
          <a:p>
            <a:pPr algn="l">
              <a:lnSpc>
                <a:spcPct val="120000"/>
              </a:lnSpc>
            </a:pPr>
            <a:r>
              <a:rPr sz="2000" b="0" i="0">
                <a:solidFill>
                  <a:srgbClr val="5B625C"/>
                </a:solidFill>
                <a:latin typeface="Georgia"/>
              </a:rPr>
              <a:t>Questions and discussion</a:t>
            </a:r>
          </a:p>
        </p:txBody>
      </p:sp>
      <p:sp>
        <p:nvSpPr>
          <p:cNvPr id="6" name="TextBox 5"/>
          <p:cNvSpPr txBox="1"/>
          <p:nvPr/>
        </p:nvSpPr>
        <p:spPr>
          <a:xfrm>
            <a:off x="731520" y="5120640"/>
            <a:ext cx="10058400" cy="365760"/>
          </a:xfrm>
          <a:prstGeom prst="rect">
            <a:avLst/>
          </a:prstGeom>
          <a:noFill/>
        </p:spPr>
        <p:txBody>
          <a:bodyPr wrap="square" anchor="t" lIns="0" rIns="0" tIns="0" bIns="0">
            <a:spAutoFit/>
          </a:bodyPr>
          <a:lstStyle/>
          <a:p>
            <a:pPr algn="l">
              <a:lnSpc>
                <a:spcPct val="120000"/>
              </a:lnSpc>
            </a:pPr>
            <a:r>
              <a:rPr sz="1200" b="0" i="0">
                <a:solidFill>
                  <a:srgbClr val="3E5F5A"/>
                </a:solidFill>
                <a:latin typeface="Segoe UI"/>
              </a:rPr>
              <a:t>github.com/Vinudharshini18/Krypsis-A-network-intrusion-detection-system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3E5F5A"/>
      </a:hlink>
      <a:folHlink>
        <a:srgbClr val="3E5F5A"/>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