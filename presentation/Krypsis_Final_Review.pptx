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72420"/>
                </a:solidFill>
                <a:latin typeface="Calibri"/>
              </a:rPr>
              <a:t>Accuracy under label-flipping attack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protocol</c:v>
                </c:pt>
              </c:strCache>
            </c:strRef>
          </c:tx>
          <c:spPr>
            <a:solidFill>
              <a:srgbClr val="8A968F"/>
            </a:solidFill>
          </c:spPr>
          <c:cat>
            <c:strRef>
              <c:f>Sheet1!$A$2:$A$3</c:f>
              <c:strCache>
                <c:ptCount val="2"/>
                <c:pt idx="0">
                  <c:v>FLNET2023</c:v>
                </c:pt>
                <c:pt idx="1">
                  <c:v>NSL-KDD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82.56405042700285</c:v>
                </c:pt>
                <c:pt idx="1">
                  <c:v>68.76863023420864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Krypsis v2 global</c:v>
                </c:pt>
              </c:strCache>
            </c:strRef>
          </c:tx>
          <c:spPr>
            <a:solidFill>
              <a:srgbClr val="C97A2B"/>
            </a:solidFill>
          </c:spPr>
          <c:cat>
            <c:strRef>
              <c:f>Sheet1!$A$2:$A$3</c:f>
              <c:strCache>
                <c:ptCount val="2"/>
                <c:pt idx="0">
                  <c:v>FLNET2023</c:v>
                </c:pt>
                <c:pt idx="1">
                  <c:v>NSL-KDD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83.82099769554019</c:v>
                </c:pt>
                <c:pt idx="1">
                  <c:v>79.15498580553584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Krypsis v2 Mondrian</c:v>
                </c:pt>
              </c:strCache>
            </c:strRef>
          </c:tx>
          <c:spPr>
            <a:solidFill>
              <a:srgbClr val="146B62"/>
            </a:solidFill>
          </c:spPr>
          <c:cat>
            <c:strRef>
              <c:f>Sheet1!$A$2:$A$3</c:f>
              <c:strCache>
                <c:ptCount val="2"/>
                <c:pt idx="0">
                  <c:v>FLNET2023</c:v>
                </c:pt>
                <c:pt idx="1">
                  <c:v>NSL-KDD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99.97017757896162</c:v>
                </c:pt>
                <c:pt idx="1">
                  <c:v>78.66926898509581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>
                  <a:solidFill>
                    <a:srgbClr val="1724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FD6CB"/>
            </a:solidFill>
          </a:ln>
        </c:spPr>
        <c:txPr>
          <a:bodyPr/>
          <a:lstStyle/>
          <a:p>
            <a:pPr>
              <a:defRPr>
                <a:solidFill>
                  <a:srgbClr val="56655D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>
          <c:spPr>
            <a:ln>
              <a:solidFill>
                <a:srgbClr val="CFD6CB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A968F"/>
                </a:solidFill>
              </a:defRPr>
            </a:pPr>
          </a:p>
        </c:txPr>
        <c:crossAx val="-2068027336"/>
        <c:crosses val="autoZero"/>
        <c:majorUnit val="20.0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56655D"/>
              </a:solidFill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56655D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72420"/>
                </a:solidFill>
                <a:latin typeface="Calibri"/>
              </a:rPr>
              <a:t>No overfitting: train vs validation vs test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Train 70%</c:v>
                </c:pt>
              </c:strCache>
            </c:strRef>
          </c:tx>
          <c:spPr>
            <a:solidFill>
              <a:srgbClr val="8A968F"/>
            </a:solidFill>
          </c:spPr>
          <c:cat>
            <c:strRef>
              <c:f>Sheet1!$A$2:$A$3</c:f>
              <c:strCache>
                <c:ptCount val="2"/>
                <c:pt idx="0">
                  <c:v>Centralized</c:v>
                </c:pt>
                <c:pt idx="1">
                  <c:v>FedAvg, 10 routers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99.99891060022297</c:v>
                </c:pt>
                <c:pt idx="1">
                  <c:v>99.96768113994793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Validation 15%</c:v>
                </c:pt>
              </c:strCache>
            </c:strRef>
          </c:tx>
          <c:spPr>
            <a:solidFill>
              <a:srgbClr val="C97A2B"/>
            </a:solidFill>
          </c:spPr>
          <c:cat>
            <c:strRef>
              <c:f>Sheet1!$A$2:$A$3</c:f>
              <c:strCache>
                <c:ptCount val="2"/>
                <c:pt idx="0">
                  <c:v>Centralized</c:v>
                </c:pt>
                <c:pt idx="1">
                  <c:v>FedAvg, 10 routers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99.99830542940418</c:v>
                </c:pt>
                <c:pt idx="1">
                  <c:v>99.97119229987122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Test 15%</c:v>
                </c:pt>
              </c:strCache>
            </c:strRef>
          </c:tx>
          <c:spPr>
            <a:solidFill>
              <a:srgbClr val="146B62"/>
            </a:solidFill>
          </c:spPr>
          <c:cat>
            <c:strRef>
              <c:f>Sheet1!$A$2:$A$3</c:f>
              <c:strCache>
                <c:ptCount val="2"/>
                <c:pt idx="0">
                  <c:v>Centralized</c:v>
                </c:pt>
                <c:pt idx="1">
                  <c:v>FedAvg, 10 routers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99.99830554425918</c:v>
                </c:pt>
                <c:pt idx="1">
                  <c:v>99.96272197370205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sz="1100">
                  <a:solidFill>
                    <a:srgbClr val="1724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FD6CB"/>
            </a:solidFill>
          </a:ln>
        </c:spPr>
        <c:txPr>
          <a:bodyPr/>
          <a:lstStyle/>
          <a:p>
            <a:pPr>
              <a:defRPr>
                <a:solidFill>
                  <a:srgbClr val="56655D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>
          <c:spPr>
            <a:ln>
              <a:solidFill>
                <a:srgbClr val="CFD6CB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rgbClr val="8A968F"/>
                </a:solidFill>
              </a:defRPr>
            </a:pPr>
          </a:p>
        </c:txPr>
        <c:crossAx val="-2068027336"/>
        <c:crosses val="autoZero"/>
        <c:majorUnit val="20.0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56655D"/>
              </a:solidFill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56655D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Our project is Krypsis: a network intrusion detection system trained</a:t>
            </a:r>
          </a:p>
          <a:p>
            <a:r>
              <a:t>with federated learning across 10 routers, protected by our own update protocol.</a:t>
            </a:r>
          </a:p>
          <a:p>
            <a:r>
              <a:t>Most of this talk is the methodology, step by step, with the real code we wrote.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intrusion detector needs lots of varied traffic to learn, but organisations</a:t>
            </a:r>
          </a:p>
          <a:p>
            <a:r>
              <a:t>cannot share their traffic because it is private. Federated learning solves that:</a:t>
            </a:r>
          </a:p>
          <a:p>
            <a:r>
              <a:t>each router trains locally and only sends model updates. But then the updates</a:t>
            </a:r>
          </a:p>
          <a:p>
            <a:r>
              <a:t>become the weak point: they can be changed on the way, or a bad client can send a</a:t>
            </a:r>
          </a:p>
          <a:p>
            <a:r>
              <a:t>poisoned one.</a:t>
            </a:r>
          </a:p>
          <a:p>
            <a:r>
              <a:t>Our five objectives are on the right. The research question at the bottom: since</a:t>
            </a:r>
          </a:p>
          <a:p>
            <a:r>
              <a:t>every router sees different traffic, does a single global threshold wrongly flag</a:t>
            </a:r>
          </a:p>
          <a:p>
            <a:r>
              <a:t>honest routers, and does a per-cluster Mondrian threshold do better?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method in eight steps. The top row is the federated learning</a:t>
            </a:r>
          </a:p>
          <a:p>
            <a:r>
              <a:t>system: prepare the data, split it into clients, define the model, train it with</a:t>
            </a:r>
          </a:p>
          <a:p>
            <a:r>
              <a:t>FedAvg. The highlighted bottom row is our protocol, Krypsis: build the message,</a:t>
            </a:r>
          </a:p>
          <a:p>
            <a:r>
              <a:t>verify it on the server, score how suspicious it is, then decide with a threshold</a:t>
            </a:r>
          </a:p>
          <a:p>
            <a:r>
              <a:t>and aggregate. Steps four to eight repeat every round. The next eight slides go</a:t>
            </a:r>
          </a:p>
          <a:p>
            <a:r>
              <a:t>through each step with its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one is the data. FLNET2023 was recorded at 10 routers of an emulated network and</a:t>
            </a:r>
          </a:p>
          <a:p>
            <a:r>
              <a:t>has normal traffic plus 10 attack types: the chart on the right shows how many training</a:t>
            </a:r>
          </a:p>
          <a:p>
            <a:r>
              <a:t>flows of each type we have. Most are DoS-hulk and DDoS-tcp; web attacks are rare.</a:t>
            </a:r>
          </a:p>
          <a:p>
            <a:r>
              <a:t>The top row is our preprocessing. We sample 10 percent of each file, because the full</a:t>
            </a:r>
          </a:p>
          <a:p>
            <a:r>
              <a:t>4.8 million flows is too big to train many times. We drop IP addresses, the port and the</a:t>
            </a:r>
          </a:p>
          <a:p>
            <a:r>
              <a:t>timestamp, so the model learns what an attack looks like instead of memorising the</a:t>
            </a:r>
          </a:p>
          <a:p>
            <a:r>
              <a:t>attacker's address. Then we remove exact duplicate flows: 30 percent of the flows were</a:t>
            </a:r>
          </a:p>
          <a:p>
            <a:r>
              <a:t>copies, mostly normal traffic, and a copy in both training and test would let the model</a:t>
            </a:r>
          </a:p>
          <a:p>
            <a:r>
              <a:t>pass the test by memory. Next we split each router's flows 70 percent training, 15</a:t>
            </a:r>
          </a:p>
          <a:p>
            <a:r>
              <a:t>percent validation and 15 percent test, keeping each router's traffic mix. Validation</a:t>
            </a:r>
          </a:p>
          <a:p>
            <a:r>
              <a:t>is used for early stopping and tuning; the test set is used only once, at the end.</a:t>
            </a:r>
          </a:p>
          <a:p>
            <a:r>
              <a:t>Last, a log and a 0 to 1 scaling, fitted only on the training part. The result is 66</a:t>
            </a:r>
          </a:p>
          <a:p>
            <a:r>
              <a:t>features per flow and a label: 0 for normal, 1 for attack.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two decides which data each client holds. The three charts show the share of</a:t>
            </a:r>
          </a:p>
          <a:p>
            <a:r>
              <a:t>attack traffic at each of the 10 clients, in the 70 percent training part.</a:t>
            </a:r>
          </a:p>
          <a:p>
            <a:r>
              <a:t>Left, the IID split: we shuffle all flows and deal them out evenly, so every client is</a:t>
            </a:r>
          </a:p>
          <a:p>
            <a:r>
              <a:t>about 90 percent attack. This is only a control.</a:t>
            </a:r>
          </a:p>
          <a:p>
            <a:r>
              <a:t>Middle, our main setup: FLNET2023's real routers, one router per client. It is uneven by</a:t>
            </a:r>
          </a:p>
          <a:p>
            <a:r>
              <a:t>nature: router 3 has 44 percent attacks, router 4 has</a:t>
            </a:r>
          </a:p>
          <a:p>
            <a:r>
              <a:t>98.</a:t>
            </a:r>
          </a:p>
          <a:p>
            <a:r>
              <a:t>Right, NSL-KDD with a Dirichlet split. For each attack type, a Dirichlet distribution</a:t>
            </a:r>
          </a:p>
          <a:p>
            <a:r>
              <a:t>with alpha 0.5 gives every client a random share, so some clients are almost all attack</a:t>
            </a:r>
          </a:p>
          <a:p>
            <a:r>
              <a:t>and others almost all normal.</a:t>
            </a:r>
          </a:p>
          <a:p>
            <a:r>
              <a:t>This matters because a protocol that rejects unusual updates might reject an honest</a:t>
            </a:r>
          </a:p>
          <a:p>
            <a:r>
              <a:t>router just because its traffic is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three is the model, a multilayer perceptron, drawn on the left. The input is the</a:t>
            </a:r>
          </a:p>
          <a:p>
            <a:r>
              <a:t>66 features of one flow. Three hidden layers of 256, 128 and 64 neurons learn</a:t>
            </a:r>
          </a:p>
          <a:p>
            <a:r>
              <a:t>combinations of those features, using the ReLU activation. Dropout randomly switches</a:t>
            </a:r>
          </a:p>
          <a:p>
            <a:r>
              <a:t>off neurons during training and L2 keeps the weights small; both stop the model from</a:t>
            </a:r>
          </a:p>
          <a:p>
            <a:r>
              <a:t>memorising. The single output neuron uses a sigmoid to give the probability of an</a:t>
            </a:r>
          </a:p>
          <a:p>
            <a:r>
              <a:t>attack.</a:t>
            </a:r>
          </a:p>
          <a:p>
            <a:r>
              <a:t>We chose an MLP because our data is a table of numbers, and its weights average</a:t>
            </a:r>
          </a:p>
          <a:p>
            <a:r>
              <a:t>cleanly in federated learning. It has 58,369 weights, and that is exactly the update</a:t>
            </a:r>
          </a:p>
          <a:p>
            <a:r>
              <a:t>each client sends every round. Trained on all the data in one place, it is our</a:t>
            </a:r>
          </a:p>
          <a:p>
            <a:r>
              <a:t>centralized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four is federated training, a loop that repeats every round. One: the server</a:t>
            </a:r>
          </a:p>
          <a:p>
            <a:r>
              <a:t>sends the current global model to all 10 routers. Two: each router trains it for two</a:t>
            </a:r>
          </a:p>
          <a:p>
            <a:r>
              <a:t>epochs on its own traffic. Three: each router sends back only its new weights and how</a:t>
            </a:r>
          </a:p>
          <a:p>
            <a:r>
              <a:t>many flows it trained on. Four: the server averages them with the FedAvg rule on the</a:t>
            </a:r>
          </a:p>
          <a:p>
            <a:r>
              <a:t>right: each router's model is weighted by its share of the data, so a router with more</a:t>
            </a:r>
          </a:p>
          <a:p>
            <a:r>
              <a:t>traffic counts more.</a:t>
            </a:r>
          </a:p>
          <a:p>
            <a:r>
              <a:t>After 15 rounds the federated model reaches 99.96% on the test</a:t>
            </a:r>
          </a:p>
          <a:p>
            <a:r>
              <a:t>set, almost the same as training on all data in one place. In the protected version, steps five to eight happen between</a:t>
            </a:r>
          </a:p>
          <a:p>
            <a:r>
              <a:t>"send weights back" and "average".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five is our protocol on the client. After training, the client wraps its update in</a:t>
            </a:r>
          </a:p>
          <a:p>
            <a:r>
              <a:t>one message, shown on top: a length field, a header with the fingerprint, the update</a:t>
            </a:r>
          </a:p>
          <a:p>
            <a:r>
              <a:t>itself as raw numbers, and the integrity tag at the end.</a:t>
            </a:r>
          </a:p>
          <a:p>
            <a:r>
              <a:t>Left: the fingerprint is a short summary of the update. The 58,369 numbers are</a:t>
            </a:r>
          </a:p>
          <a:p>
            <a:r>
              <a:t>multiplied by a fixed random matrix, made from a public seed, which squeezes them into</a:t>
            </a:r>
          </a:p>
          <a:p>
            <a:r>
              <a:t>64 numbers that keep the update's direction. We add the overall size and the size per</a:t>
            </a:r>
          </a:p>
          <a:p>
            <a:r>
              <a:t>layer. Because the seed is public, the server can recompute the fingerprint and check</a:t>
            </a:r>
          </a:p>
          <a:p>
            <a:r>
              <a:t>it.</a:t>
            </a:r>
          </a:p>
          <a:p>
            <a:r>
              <a:t>Right: the integrity tag. The header and payload are run through HMAC with SHA-256,</a:t>
            </a:r>
          </a:p>
          <a:p>
            <a:r>
              <a:t>together with a secret key that only this client and the server know. If anyone changes</a:t>
            </a:r>
          </a:p>
          <a:p>
            <a:r>
              <a:t>even one byte on the way, the tag will not match. All of this adds only 0.67 percent to</a:t>
            </a:r>
          </a:p>
          <a:p>
            <a:r>
              <a:t>the message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six runs on the server and follows this flowchart. The message is split into its</a:t>
            </a:r>
          </a:p>
          <a:p>
            <a:r>
              <a:t>four parts. Check one: the server recomputes the HMAC tag with that client's secret key.</a:t>
            </a:r>
          </a:p>
          <a:p>
            <a:r>
              <a:t>If it does not match, something changed on the way and the message is rejected as</a:t>
            </a:r>
          </a:p>
          <a:p>
            <a:r>
              <a:t>bad tag. Check two: the server recomputes the fingerprint from the payload itself. If it</a:t>
            </a:r>
          </a:p>
          <a:p>
            <a:r>
              <a:t>differs from the one in the header, the client tried to lie about its update, and the</a:t>
            </a:r>
          </a:p>
          <a:p>
            <a:r>
              <a:t>message is rejected. Only messages that pass both checks go on to scoring.</a:t>
            </a:r>
          </a:p>
          <a:p>
            <a:r>
              <a:t>The few lines of code at the bottom are these two checks. In our tests we changed one</a:t>
            </a:r>
          </a:p>
          <a:p>
            <a:r>
              <a:t>byte in 105 messages, and all 105 were rejected.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seven asks: does this update look suspicious? We use three cheap scores, all from</a:t>
            </a:r>
          </a:p>
          <a:p>
            <a:r>
              <a:t>the fingerprints, so the server never has to study the full update.</a:t>
            </a:r>
          </a:p>
          <a:p>
            <a:r>
              <a:t>First, the norm score: is this update much bigger or smaller than the others? In the</a:t>
            </a:r>
          </a:p>
          <a:p>
            <a:r>
              <a:t>picture, one arrow is far longer than the rest.</a:t>
            </a:r>
          </a:p>
          <a:p>
            <a:r>
              <a:t>Second, the consensus score: we take the median direction of all clients, the dark</a:t>
            </a:r>
          </a:p>
          <a:p>
            <a:r>
              <a:t>arrow, and measure how far each update points away from it. The median is used because</a:t>
            </a:r>
          </a:p>
          <a:p>
            <a:r>
              <a:t>a few attackers cannot drag it.</a:t>
            </a:r>
          </a:p>
          <a:p>
            <a:r>
              <a:t>Third, the history score: is this update very different from the same client's update</a:t>
            </a:r>
          </a:p>
          <a:p>
            <a:r>
              <a:t>last round?</a:t>
            </a:r>
          </a:p>
          <a:p>
            <a:r>
              <a:t>At the bottom: each score is standardized against the other clients in the same round.</a:t>
            </a:r>
          </a:p>
          <a:p>
            <a:r>
              <a:t>This was an important lesson. Our first version used fixed limits, and once training</a:t>
            </a:r>
          </a:p>
          <a:p>
            <a:r>
              <a:t>settled down it flagged 65 to 96 percent of honest updates.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eight makes the decision, following the flowchart on the left. If none of the</a:t>
            </a:r>
          </a:p>
          <a:p>
            <a:r>
              <a:t>three scores is above its limit, the update is accepted. If one is, it is not thrown</a:t>
            </a:r>
          </a:p>
          <a:p>
            <a:r>
              <a:t>away immediately: a second check compares it with a trimmed mean of all updates, which</a:t>
            </a:r>
          </a:p>
          <a:p>
            <a:r>
              <a:t>ignores the most extreme values. If it is close enough, it is rescued; otherwise it is</a:t>
            </a:r>
          </a:p>
          <a:p>
            <a:r>
              <a:t>rejected. All accepted updates are then averaged with FedAvg, but no client may hold</a:t>
            </a:r>
          </a:p>
          <a:p>
            <a:r>
              <a:t>more than 15 percent of the weight, so one big router cannot dominate.</a:t>
            </a:r>
          </a:p>
          <a:p>
            <a:r>
              <a:t>On the right is where the limit comes from. In the 5 clean rounds we collect scores and</a:t>
            </a:r>
          </a:p>
          <a:p>
            <a:r>
              <a:t>set a conformal threshold, so only about 5 percent of honest scores go above it. With a</a:t>
            </a:r>
          </a:p>
          <a:p>
            <a:r>
              <a:t>global threshold there is one line for everybody, and honest clients with unusual</a:t>
            </a:r>
          </a:p>
          <a:p>
            <a:r>
              <a:t>traffic can end up above it. With Mondrian, clients are grouped into 3 clusters by</a:t>
            </a:r>
          </a:p>
          <a:p>
            <a:r>
              <a:t>k-means and each cluster gets its own line. Which one is better is our research</a:t>
            </a:r>
          </a:p>
          <a:p>
            <a:r>
              <a:t>question, answered on slide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results. Top left: federated training over the 10 routers reaches</a:t>
            </a:r>
          </a:p>
          <a:p>
            <a:r>
              <a:t>99.96% on the test set, with the same accuracy on training and</a:t>
            </a:r>
          </a:p>
          <a:p>
            <a:r>
              <a:t>validation data. Every one of the 105 tampered messages was rejected. Under the</a:t>
            </a:r>
          </a:p>
          <a:p>
            <a:r>
              <a:t>label-flipping attack, Krypsis v2 with Mondrian thresholds caught</a:t>
            </a:r>
          </a:p>
          <a:p>
            <a:r>
              <a:t>74.3% of poisoned updates on FLNET2023 and</a:t>
            </a:r>
          </a:p>
          <a:p>
            <a:r>
              <a:t>99.3% on NSL-KDD, while wrongly excluding under</a:t>
            </a:r>
          </a:p>
          <a:p>
            <a:r>
              <a:t>2 percent of honest ones.</a:t>
            </a:r>
          </a:p>
          <a:p>
            <a:r>
              <a:t>Bottom left: accuracy at the end of an attacked run. On FLNET2023 no protocol gives</a:t>
            </a:r>
          </a:p>
          <a:p>
            <a:r>
              <a:t>82.6%, the global threshold</a:t>
            </a:r>
          </a:p>
          <a:p>
            <a:r>
              <a:t>83.8%, and Mondrian 100.0%,</a:t>
            </a:r>
          </a:p>
          <a:p>
            <a:r>
              <a:t>a significant gain, p = 0.045. On NSL-KDD both versions lift accuracy from</a:t>
            </a:r>
          </a:p>
          <a:p>
            <a:r>
              <a:t>68.8% to about 79.2%.</a:t>
            </a:r>
          </a:p>
          <a:p>
            <a:r>
              <a:t>Bottom right: the overfitting check. With the 70, 15, 15 split</a:t>
            </a:r>
          </a:p>
          <a:p>
            <a:r>
              <a:t>and duplicates removed, training, validation and test accuracy are the same, for the</a:t>
            </a:r>
          </a:p>
          <a:p>
            <a:r>
              <a:t>centralized model and for FedAvg. The model is not memorising; this dataset is simply</a:t>
            </a:r>
          </a:p>
          <a:p>
            <a:r>
              <a:t>easy to separate.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answers our research question, using the dedicated 15-seed experiment on</a:t>
            </a:r>
          </a:p>
          <a:p>
            <a:r>
              <a:t>FLNET2023. Because accuracy swings from round to round while attackers are active, the</a:t>
            </a:r>
          </a:p>
          <a:p>
            <a:r>
              <a:t>first row is the mean over the attack rounds 6 to 12: 81.9% with no</a:t>
            </a:r>
          </a:p>
          <a:p>
            <a:r>
              <a:t>protocol, 85.0% with a global threshold and</a:t>
            </a:r>
          </a:p>
          <a:p>
            <a:r>
              <a:t>94.6% with Mondrian; Mondrian is significantly better than both</a:t>
            </a:r>
          </a:p>
          <a:p>
            <a:r>
              <a:t>(p = 0.002 and p = 0.007).</a:t>
            </a:r>
          </a:p>
          <a:p>
            <a:r>
              <a:t>Mondrian caught 70.0% of attacks against</a:t>
            </a:r>
          </a:p>
          <a:p>
            <a:r>
              <a:t>29.5% for the global threshold. Its cost is more honest</a:t>
            </a:r>
          </a:p>
          <a:p>
            <a:r>
              <a:t>updates flagged, 12.9% against</a:t>
            </a:r>
          </a:p>
          <a:p>
            <a:r>
              <a:t>2.0%, because this experiment simply drops flagged</a:t>
            </a:r>
          </a:p>
          <a:p>
            <a:r>
              <a:t>updates. In Krypsis v2 the second check rescues most of them: only</a:t>
            </a:r>
          </a:p>
          <a:p>
            <a:r>
              <a:t>0.7% of honest updates are lost.</a:t>
            </a:r>
          </a:p>
          <a:p>
            <a:r>
              <a:t>Why does Mondrian win? After removing duplicates the routers are very different: router</a:t>
            </a:r>
          </a:p>
          <a:p>
            <a:r>
              <a:t>3 is under half attack traffic, most others about 90 percent. One global line must be</a:t>
            </a:r>
          </a:p>
          <a:p>
            <a:r>
              <a:t>loose enough for router 3, so it misses attackers; per-cluster lines can be strict</a:t>
            </a:r>
          </a:p>
          <a:p>
            <a:r>
              <a:t>where it is safe. Both versions rejected every tampered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conclude. We built a federated intrusion detector over 10 real router clients</a:t>
            </a:r>
          </a:p>
          <a:p>
            <a:r>
              <a:t>and our own protocol for the model updates. The protocol rejected every tampered</a:t>
            </a:r>
          </a:p>
          <a:p>
            <a:r>
              <a:t>message and filtered poisoned updates for less than 1 percent extra message size.</a:t>
            </a:r>
          </a:p>
          <a:p>
            <a:r>
              <a:t>Federated training matches centralized training, and on a fair 70, 15, 15 split with</a:t>
            </a:r>
          </a:p>
          <a:p>
            <a:r>
              <a:t>duplicates removed, training, validation and test accuracy are equal, so the model is</a:t>
            </a:r>
          </a:p>
          <a:p>
            <a:r>
              <a:t>not overfitting. Our research finding: when routers see very different traffic,</a:t>
            </a:r>
          </a:p>
          <a:p>
            <a:r>
              <a:t>per-cluster Mondrian thresholds catch far more poisoned updates than one global</a:t>
            </a:r>
          </a:p>
          <a:p>
            <a:r>
              <a:t>threshold, and the second check removes the extra false alarms. Next we would run more</a:t>
            </a:r>
          </a:p>
          <a:p>
            <a:r>
              <a:t>seeds on FLNET2023, the 11-class task, use a secret seed for the sketch, and test on a</a:t>
            </a:r>
          </a:p>
          <a:p>
            <a:r>
              <a:t>real network. The key references are on the right, and all the code and results are on</a:t>
            </a:r>
          </a:p>
          <a:p>
            <a:r>
              <a:t>GitHub. Thank you, we are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109/MILCOM58377.2023.10356272" TargetMode="External"/><Relationship Id="rId3" Type="http://schemas.openxmlformats.org/officeDocument/2006/relationships/hyperlink" Target="https://arxiv.org/abs/1602.05629" TargetMode="External"/><Relationship Id="rId4" Type="http://schemas.openxmlformats.org/officeDocument/2006/relationships/hyperlink" Target="https://arxiv.org/abs/1909.06335" TargetMode="External"/><Relationship Id="rId5" Type="http://schemas.openxmlformats.org/officeDocument/2006/relationships/hyperlink" Target="https://arxiv.org/abs/2107.07511" TargetMode="External"/><Relationship Id="rId6" Type="http://schemas.openxmlformats.org/officeDocument/2006/relationships/hyperlink" Target="https://arxiv.org/abs/1703.02757" TargetMode="External"/><Relationship Id="rId7" Type="http://schemas.openxmlformats.org/officeDocument/2006/relationships/hyperlink" Target="https://arxiv.org/abs/1803.01498" TargetMode="External"/><Relationship Id="rId8" Type="http://schemas.openxmlformats.org/officeDocument/2006/relationships/hyperlink" Target="https://arxiv.org/abs/2007.08432" TargetMode="External"/><Relationship Id="rId9" Type="http://schemas.openxmlformats.org/officeDocument/2006/relationships/hyperlink" Target="https://www.rfc-editor.org/rfc/rfc2104" TargetMode="External"/><Relationship Id="rId10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01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7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972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C97A2B"/>
                </a:solidFill>
                <a:latin typeface="Calibri"/>
              </a:rPr>
              <a:t>COMPUTER NETWORKS  —  FINAL PROJECT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280160"/>
            <a:ext cx="6858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0" i="0">
                <a:solidFill>
                  <a:srgbClr val="172420"/>
                </a:solidFill>
                <a:latin typeface="Arial Black"/>
              </a:rPr>
              <a:t>KRYPSIS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06040"/>
            <a:ext cx="6400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56655D"/>
                </a:solidFill>
                <a:latin typeface="Calibri"/>
              </a:rPr>
              <a:t>Federated network intrusion detection with a</a:t>
            </a:r>
          </a:p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56655D"/>
                </a:solidFill>
                <a:latin typeface="Calibri"/>
              </a:rPr>
              <a:t>security-fused model-update protocol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4360" y="4434840"/>
            <a:ext cx="6309360" cy="0"/>
          </a:xfrm>
          <a:prstGeom prst="line">
            <a:avLst/>
          </a:prstGeom>
          <a:ln w="15875">
            <a:solidFill>
              <a:srgbClr val="CFD6CB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594360" y="466344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Rithika K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CB.SC.U4AIE25126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466344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Pradhaniya S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CB.SC.U4AIE25148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39496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Sathya K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CB.SC.U4AIE25154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539496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Vinudharshini PP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CB.SC.U4AIE25161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INTRODUCTION  · 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The problem, and what we set out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02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34924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6B62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965960"/>
            <a:ext cx="4343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Detection needs data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An intrusion detector learns from traffic, but traffic logs are private and cannot be pooled.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44368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6B62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944368"/>
            <a:ext cx="4343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Federated learning helps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Each router trains locally; only model updates travel to the server (FedAvg).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2277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6B62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922776"/>
            <a:ext cx="4343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Updates become the risk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Updates can be tampered with on the way, or poisoned by a bad client.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155448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920240"/>
            <a:ext cx="5468112" cy="49377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920240"/>
            <a:ext cx="36576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1920240"/>
            <a:ext cx="484632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Detect attacks without sharing raw traffic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2523744"/>
            <a:ext cx="5468112" cy="49377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523744"/>
            <a:ext cx="36576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23744"/>
            <a:ext cx="484632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Design our own secure update protocol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80760" y="3127248"/>
            <a:ext cx="5468112" cy="49377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3127248"/>
            <a:ext cx="36576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127248"/>
            <a:ext cx="484632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Stop tampered and poisoned updates before averaging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80760" y="3730752"/>
            <a:ext cx="5468112" cy="49377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3730752"/>
            <a:ext cx="36576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730752"/>
            <a:ext cx="484632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Keep the protocol's message overhead small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80760" y="4334256"/>
            <a:ext cx="5468112" cy="49377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4334256"/>
            <a:ext cx="36576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4334256"/>
            <a:ext cx="484632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Test global vs per-cluster (Mondrian) thresholds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212080"/>
            <a:ext cx="11183112" cy="960120"/>
          </a:xfrm>
          <a:prstGeom prst="roundRect">
            <a:avLst>
              <a:gd name="adj" fmla="val 8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212080"/>
            <a:ext cx="1063447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46B62"/>
                </a:solidFill>
                <a:latin typeface="Calibri"/>
              </a:rPr>
              <a:t>RESEARCH QUESTION   </a:t>
            </a:r>
            <a:r>
              <a:rPr sz="1400" b="0" i="0">
                <a:solidFill>
                  <a:srgbClr val="172420"/>
                </a:solidFill>
                <a:latin typeface="Calibri"/>
              </a:rPr>
              <a:t>Routers see different traffic (non-IID). Does one global anomaly threshold wrongly flag honest but unusual routers, and do per-cluster (Mondrian) thresholds fix it?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23113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Eight steps, from raw traffic to a protected global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Each step is one of the next slides, explained with a diagram.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03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94767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40487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Data &amp; preprocessing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onsolas"/>
              </a:rPr>
              <a:t>preprocess.py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71800" y="2491740"/>
            <a:ext cx="438912" cy="0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sp>
        <p:nvSpPr>
          <p:cNvPr id="13" name="Rounded Rectangle 12"/>
          <p:cNvSpPr/>
          <p:nvPr/>
        </p:nvSpPr>
        <p:spPr>
          <a:xfrm>
            <a:off x="3410712" y="178308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194767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40487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Client split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onsolas"/>
              </a:rPr>
              <a:t>client_simulation.py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79592" y="2491740"/>
            <a:ext cx="438912" cy="0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6318504" y="178308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94767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40487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Model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onsolas"/>
              </a:rPr>
              <a:t>model.py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787384" y="2491740"/>
            <a:ext cx="438912" cy="0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9226296" y="178308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27464" y="194767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40487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Federated training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onsolas"/>
              </a:rPr>
              <a:t>federated_training.py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460736" y="3200400"/>
            <a:ext cx="0" cy="731520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9226296" y="393192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27464" y="4096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27464" y="455371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Krypsis message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onsolas"/>
              </a:rPr>
              <a:t>protocol.py · pack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8787384" y="4640580"/>
            <a:ext cx="438912" cy="0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sp>
        <p:nvSpPr>
          <p:cNvPr id="29" name="Rounded Rectangle 28"/>
          <p:cNvSpPr/>
          <p:nvPr/>
        </p:nvSpPr>
        <p:spPr>
          <a:xfrm>
            <a:off x="6318504" y="393192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9672" y="4096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9672" y="455371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Server verification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onsolas"/>
              </a:rPr>
              <a:t>protocol.py · unpack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5879592" y="4640580"/>
            <a:ext cx="438912" cy="0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3410712" y="393192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11880" y="4096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55371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Anomaly scoring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onsolas"/>
              </a:rPr>
              <a:t>protocol.py · AnomalyScorer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71800" y="4640580"/>
            <a:ext cx="438912" cy="0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sp>
        <p:nvSpPr>
          <p:cNvPr id="37" name="Rounded Rectangle 36"/>
          <p:cNvSpPr/>
          <p:nvPr/>
        </p:nvSpPr>
        <p:spPr>
          <a:xfrm>
            <a:off x="502920" y="393192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088" y="4096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" y="4553712"/>
            <a:ext cx="2103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Threshold &amp; aggregation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onsolas"/>
              </a:rPr>
              <a:t>calibrators · second check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54406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46B62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72420"/>
                </a:solidFill>
                <a:latin typeface="Calibri"/>
              </a:rPr>
              <a:t>Steps 05–08 are our protocol, Krypsis.  </a:t>
            </a:r>
            <a:r>
              <a:rPr sz="1250" b="0" i="0">
                <a:solidFill>
                  <a:srgbClr val="56655D"/>
                </a:solidFill>
                <a:latin typeface="Calibri"/>
              </a:rPr>
              <a:t>Steps 04–08 repeat every round: 12–15 rounds per run.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806440"/>
            <a:ext cx="11183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68F"/>
                </a:solidFill>
                <a:latin typeface="Calibri"/>
              </a:rPr>
              <a:t>One round: routers train locally → each sends a signed, fingerprinted update → the server verifies, scores and filters → capped FedAvg → new global model.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STEP 1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Data and preprocessing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FLNET2023 records network flows at 10 routers. Five steps turn the raw captures into a clean 70 / 15 / 15 split.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04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1700784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91640"/>
            <a:ext cx="15544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Sample 10%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of 4.8 M flows, ≥ 2,000 per file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03704" y="2194560"/>
            <a:ext cx="196596" cy="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sp>
        <p:nvSpPr>
          <p:cNvPr id="12" name="Rounded Rectangle 11"/>
          <p:cNvSpPr/>
          <p:nvPr/>
        </p:nvSpPr>
        <p:spPr>
          <a:xfrm>
            <a:off x="2400300" y="1691640"/>
            <a:ext cx="1700784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3452" y="1691640"/>
            <a:ext cx="15544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Drop identifiers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src/dst IP, source port, timestamp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101084" y="2194560"/>
            <a:ext cx="196596" cy="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sp>
        <p:nvSpPr>
          <p:cNvPr id="15" name="Rounded Rectangle 14"/>
          <p:cNvSpPr/>
          <p:nvPr/>
        </p:nvSpPr>
        <p:spPr>
          <a:xfrm>
            <a:off x="4297680" y="1691640"/>
            <a:ext cx="1700784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0832" y="1691640"/>
            <a:ext cx="15544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Remove duplicates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170,596 exact copies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98464" y="2194560"/>
            <a:ext cx="196596" cy="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sp>
        <p:nvSpPr>
          <p:cNvPr id="18" name="Rounded Rectangle 17"/>
          <p:cNvSpPr/>
          <p:nvPr/>
        </p:nvSpPr>
        <p:spPr>
          <a:xfrm>
            <a:off x="6195060" y="1691640"/>
            <a:ext cx="1700784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8212" y="1691640"/>
            <a:ext cx="15544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Split 70 / 15 / 15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train · validation · test, inside each router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895844" y="2194560"/>
            <a:ext cx="196596" cy="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8092440" y="1691640"/>
            <a:ext cx="1700784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65592" y="1691640"/>
            <a:ext cx="15544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Scale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signed log + min-max, fit on train only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793224" y="2194560"/>
            <a:ext cx="196596" cy="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9989820" y="1691640"/>
            <a:ext cx="1700784" cy="1005840"/>
          </a:xfrm>
          <a:prstGeom prst="roundRect">
            <a:avLst>
              <a:gd name="adj" fmla="val 10000"/>
            </a:avLst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62972" y="1691640"/>
            <a:ext cx="15544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46B62"/>
                </a:solidFill>
                <a:latin typeface="Calibri"/>
              </a:rPr>
              <a:t>Model input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66 features · label 0 /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01752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Why each step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438144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364992"/>
            <a:ext cx="5166360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Why sample?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4.8 million flows is too many to train hundreds of federated runs on a laptop; 10% keeps every router's mix of traffic.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944112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3870960"/>
            <a:ext cx="5166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Why drop identifiers?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Attackers in the capture use fixed addresses. With IPs and time left in, the model would memorise who attacks, not what an attack looks like.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648200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575048"/>
            <a:ext cx="5166360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Why remove duplicates?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30% of flows were exact copies. A copy in both train and test would let the model pass by memory.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154168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081016"/>
            <a:ext cx="5166360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Why 70 / 15 / 15?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Train 275,381 · validation 59,012 (early stopping, threshold) · test 59,016, used once at the end.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3017520"/>
            <a:ext cx="5422392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312724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TRAINING FLOWS (70%) BY TYPE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456432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172420"/>
                </a:solidFill>
                <a:latin typeface="Calibri"/>
              </a:rPr>
              <a:t>DoS-hulk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80" y="3493008"/>
            <a:ext cx="2651760" cy="155448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680192" y="3456432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114,900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3703320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172420"/>
                </a:solidFill>
                <a:latin typeface="Calibri"/>
              </a:rPr>
              <a:t>DDoS-tcp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55280" y="3739896"/>
            <a:ext cx="1500079" cy="155448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28511" y="3703320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64,998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3950208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172420"/>
                </a:solidFill>
                <a:latin typeface="Calibri"/>
              </a:rPr>
              <a:t>Normal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55280" y="3986784"/>
            <a:ext cx="650293" cy="155448"/>
          </a:xfrm>
          <a:prstGeom prst="rect">
            <a:avLst/>
          </a:prstGeom>
          <a:solidFill>
            <a:srgbClr val="8A9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78725" y="3950208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28,177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46520" y="4197096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172420"/>
                </a:solidFill>
                <a:latin typeface="Calibri"/>
              </a:rPr>
              <a:t>DDoS-stomp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55280" y="4233672"/>
            <a:ext cx="629314" cy="155448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57746" y="4197096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27,268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4443984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172420"/>
                </a:solidFill>
                <a:latin typeface="Calibri"/>
              </a:rPr>
              <a:t>DDoS-dyn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55280" y="4480560"/>
            <a:ext cx="486433" cy="155448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14865" y="4443984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21,077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46520" y="4690872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172420"/>
                </a:solidFill>
                <a:latin typeface="Calibri"/>
              </a:rPr>
              <a:t>DoS-slowhttp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5280" y="4727448"/>
            <a:ext cx="232104" cy="155448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60536" y="4690872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10,057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46520" y="4937760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172420"/>
                </a:solidFill>
                <a:latin typeface="Calibri"/>
              </a:rPr>
              <a:t>DDoS-bot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955280" y="4974336"/>
            <a:ext cx="141635" cy="155448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0067" y="4937760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6,137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46520" y="5184648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172420"/>
                </a:solidFill>
                <a:latin typeface="Calibri"/>
              </a:rPr>
              <a:t>Web-XSS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955280" y="5221224"/>
            <a:ext cx="49550" cy="155448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77982" y="5184648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2,147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46520" y="5431536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172420"/>
                </a:solidFill>
                <a:latin typeface="Calibri"/>
              </a:rPr>
              <a:t>Web-SQL-injection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55280" y="5468112"/>
            <a:ext cx="27432" cy="155448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55864" y="5431536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309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46520" y="5678424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172420"/>
                </a:solidFill>
                <a:latin typeface="Calibri"/>
              </a:rPr>
              <a:t>Web-cmd-injection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55280" y="5715000"/>
            <a:ext cx="27432" cy="155448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55864" y="5678424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231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5925312"/>
            <a:ext cx="1463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172420"/>
                </a:solidFill>
                <a:latin typeface="Calibri"/>
              </a:rPr>
              <a:t>Infiltration-MITM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955280" y="5961888"/>
            <a:ext cx="27432" cy="155448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55864" y="5925312"/>
            <a:ext cx="914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80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STEP 2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Client split: who holds which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IID means every client has a similar mix. Non-IID means every client is different, as in real networks.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05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3593592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10512"/>
            <a:ext cx="31363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IID split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968F"/>
                </a:solidFill>
                <a:latin typeface="Calibri"/>
              </a:rPr>
              <a:t>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95728"/>
            <a:ext cx="359359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A968F"/>
                </a:solidFill>
                <a:latin typeface="Calibri"/>
              </a:rPr>
              <a:t>attack % in each client's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7129" y="2989219"/>
            <a:ext cx="200126" cy="1107293"/>
          </a:xfrm>
          <a:prstGeom prst="rect">
            <a:avLst/>
          </a:prstGeom>
          <a:solidFill>
            <a:srgbClr val="8A9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89" y="2788051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89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9912" y="2986750"/>
            <a:ext cx="200126" cy="1109762"/>
          </a:xfrm>
          <a:prstGeom prst="rect">
            <a:avLst/>
          </a:prstGeom>
          <a:solidFill>
            <a:srgbClr val="8A9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72" y="2785582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72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92695" y="2987985"/>
            <a:ext cx="200126" cy="1108527"/>
          </a:xfrm>
          <a:prstGeom prst="rect">
            <a:avLst/>
          </a:prstGeom>
          <a:solidFill>
            <a:srgbClr val="8A9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01255" y="2786817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1255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15478" y="2987985"/>
            <a:ext cx="200126" cy="1108527"/>
          </a:xfrm>
          <a:prstGeom prst="rect">
            <a:avLst/>
          </a:prstGeom>
          <a:solidFill>
            <a:srgbClr val="8A9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4038" y="2786817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24038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38262" y="2992923"/>
            <a:ext cx="200126" cy="1103589"/>
          </a:xfrm>
          <a:prstGeom prst="rect">
            <a:avLst/>
          </a:prstGeom>
          <a:solidFill>
            <a:srgbClr val="8A9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46822" y="2791755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89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46822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61045" y="2985516"/>
            <a:ext cx="200126" cy="1110996"/>
          </a:xfrm>
          <a:prstGeom prst="rect">
            <a:avLst/>
          </a:prstGeom>
          <a:solidFill>
            <a:srgbClr val="8A9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69605" y="2784348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69605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83828" y="2991688"/>
            <a:ext cx="200126" cy="1104824"/>
          </a:xfrm>
          <a:prstGeom prst="rect">
            <a:avLst/>
          </a:prstGeom>
          <a:solidFill>
            <a:srgbClr val="8A9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92388" y="2790520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92388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06611" y="2983047"/>
            <a:ext cx="200126" cy="1113465"/>
          </a:xfrm>
          <a:prstGeom prst="rect">
            <a:avLst/>
          </a:prstGeom>
          <a:solidFill>
            <a:srgbClr val="8A9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15171" y="2781879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90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15171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29394" y="2987985"/>
            <a:ext cx="200126" cy="1108527"/>
          </a:xfrm>
          <a:prstGeom prst="rect">
            <a:avLst/>
          </a:prstGeom>
          <a:solidFill>
            <a:srgbClr val="8A9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37954" y="2786817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37954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2178" y="2989219"/>
            <a:ext cx="200126" cy="1107293"/>
          </a:xfrm>
          <a:prstGeom prst="rect">
            <a:avLst/>
          </a:prstGeom>
          <a:solidFill>
            <a:srgbClr val="8A9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60738" y="2788051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90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0738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10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85800" y="4096512"/>
            <a:ext cx="3227832" cy="0"/>
          </a:xfrm>
          <a:prstGeom prst="line">
            <a:avLst/>
          </a:prstGeom>
          <a:ln w="15875">
            <a:solidFill>
              <a:srgbClr val="CFD6CB"/>
            </a:solidFill>
          </a:ln>
        </p:spPr>
      </p:cxnSp>
      <p:sp>
        <p:nvSpPr>
          <p:cNvPr id="43" name="TextBox 42"/>
          <p:cNvSpPr txBox="1"/>
          <p:nvPr/>
        </p:nvSpPr>
        <p:spPr>
          <a:xfrm>
            <a:off x="731520" y="4480560"/>
            <a:ext cx="31363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All flows shuffled and dealt out evenly. Every client is about 90% attack, so everyone looks alike.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97680" y="1691640"/>
            <a:ext cx="3593592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26280" y="1810512"/>
            <a:ext cx="31363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Router split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968F"/>
                </a:solidFill>
                <a:latin typeface="Calibri"/>
              </a:rPr>
              <a:t>FLNET2023 · main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26280" y="2395728"/>
            <a:ext cx="359359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A968F"/>
                </a:solidFill>
                <a:latin typeface="Calibri"/>
              </a:rPr>
              <a:t>attack % in each client's data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41889" y="3011439"/>
            <a:ext cx="200126" cy="1085073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50449" y="2810271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88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50449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64672" y="2950952"/>
            <a:ext cx="200126" cy="114556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73232" y="274978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93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73232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187455" y="3548421"/>
            <a:ext cx="200126" cy="548091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96015" y="3347253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44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96015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510238" y="2884292"/>
            <a:ext cx="200126" cy="121222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8798" y="268312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18798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33022" y="2990454"/>
            <a:ext cx="200126" cy="1106058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41582" y="2789286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90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41582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55805" y="2992923"/>
            <a:ext cx="200126" cy="1103589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64365" y="2791755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64365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78588" y="3237342"/>
            <a:ext cx="200126" cy="85917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87148" y="303617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87148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801371" y="2960827"/>
            <a:ext cx="200126" cy="1135685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709931" y="2759659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92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09931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24154" y="2942311"/>
            <a:ext cx="200126" cy="1154201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032714" y="2741143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94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32714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9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446938" y="2955889"/>
            <a:ext cx="200126" cy="1140623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55498" y="2754721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92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55498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10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4480560" y="4096512"/>
            <a:ext cx="3227832" cy="0"/>
          </a:xfrm>
          <a:prstGeom prst="line">
            <a:avLst/>
          </a:prstGeom>
          <a:ln w="15875">
            <a:solidFill>
              <a:srgbClr val="CFD6CB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4526280" y="4480560"/>
            <a:ext cx="31363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Each real router is one client. Router 3 sees 44% attacks, router 4 sees 98%: naturally uneven.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092440" y="1691640"/>
            <a:ext cx="3593592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321040" y="1810512"/>
            <a:ext cx="31363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Dirichlet split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968F"/>
                </a:solidFill>
                <a:latin typeface="Calibri"/>
              </a:rPr>
              <a:t>NSL-KDD · alpha = 0.5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21040" y="2395728"/>
            <a:ext cx="359359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8A968F"/>
                </a:solidFill>
                <a:latin typeface="Calibri"/>
              </a:rPr>
              <a:t>attack % in each client's data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336649" y="3750869"/>
            <a:ext cx="200126" cy="345643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45209" y="3549701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28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45209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1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659432" y="2862072"/>
            <a:ext cx="200126" cy="1234440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567992" y="266090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100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567992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982215" y="2871948"/>
            <a:ext cx="200126" cy="1224564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890775" y="2670780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890775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3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304998" y="3869375"/>
            <a:ext cx="200126" cy="227137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213558" y="3668207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213558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4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627782" y="3600267"/>
            <a:ext cx="200126" cy="496245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536342" y="3399099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40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536342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5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950565" y="2891699"/>
            <a:ext cx="200126" cy="1204813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859125" y="2690531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98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859125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273348" y="3600267"/>
            <a:ext cx="200126" cy="496245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181908" y="3399099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81908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96131" y="3949614"/>
            <a:ext cx="200126" cy="146898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504691" y="3748446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12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504691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8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918914" y="3058348"/>
            <a:ext cx="200126" cy="1038164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827474" y="2857180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84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827474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1241698" y="3426211"/>
            <a:ext cx="200126" cy="670301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1150258" y="3225043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56655D"/>
                </a:solidFill>
                <a:latin typeface="Calibri"/>
              </a:rPr>
              <a:t>54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150258" y="4123944"/>
            <a:ext cx="38300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8A968F"/>
                </a:solidFill>
                <a:latin typeface="Calibri"/>
              </a:rPr>
              <a:t>10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8275320" y="4096512"/>
            <a:ext cx="3227832" cy="0"/>
          </a:xfrm>
          <a:prstGeom prst="line">
            <a:avLst/>
          </a:prstGeom>
          <a:ln w="15875">
            <a:solidFill>
              <a:srgbClr val="CFD6CB"/>
            </a:solidFill>
          </a:ln>
        </p:spPr>
      </p:cxnSp>
      <p:sp>
        <p:nvSpPr>
          <p:cNvPr id="113" name="TextBox 112"/>
          <p:cNvSpPr txBox="1"/>
          <p:nvPr/>
        </p:nvSpPr>
        <p:spPr>
          <a:xfrm>
            <a:off x="8321040" y="4480560"/>
            <a:ext cx="31363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Each attack type is shared out with random Dirichlet proportions. Smaller alpha = more uneven clients.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502920" y="5650992"/>
            <a:ext cx="11183112" cy="621792"/>
          </a:xfrm>
          <a:prstGeom prst="roundRect">
            <a:avLst>
              <a:gd name="adj" fmla="val 10000"/>
            </a:avLst>
          </a:prstGeom>
          <a:solidFill>
            <a:srgbClr val="F5E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02920" y="5650992"/>
            <a:ext cx="54864" cy="621792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77240" y="5650992"/>
            <a:ext cx="1072591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C97A2B"/>
                </a:solidFill>
                <a:latin typeface="Calibri"/>
              </a:rPr>
              <a:t>Why it matters  </a:t>
            </a:r>
            <a:r>
              <a:rPr sz="1250" b="0" i="0">
                <a:solidFill>
                  <a:srgbClr val="172420"/>
                </a:solidFill>
                <a:latin typeface="Calibri"/>
              </a:rPr>
              <a:t>An honest client with unusual data can look like an attacker to an outlier check. That is exactly our research question.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STEP 3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Model: a multilayer perceptron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One small neural network, used for the centralized baseline and copied to every client.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06 / 14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822960" y="203454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822960" y="224028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822960" y="224028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822960" y="224028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822960" y="224028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822960" y="224028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822960" y="2240280"/>
            <a:ext cx="1417320" cy="22631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822960" y="2240280"/>
            <a:ext cx="1417320" cy="26746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822960" y="203454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822960" y="244602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822960" y="265176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822960" y="265176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822960" y="265176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822960" y="265176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822960" y="265176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822960" y="2651760"/>
            <a:ext cx="1417320" cy="22631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822960" y="203454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22960" y="244602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22960" y="285750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22960" y="306324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22960" y="306324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22960" y="306324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822960" y="306324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822960" y="306324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33" name="Connector 32"/>
          <p:cNvCxnSpPr/>
          <p:nvPr/>
        </p:nvCxnSpPr>
        <p:spPr>
          <a:xfrm flipV="1">
            <a:off x="822960" y="203454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34" name="Connector 33"/>
          <p:cNvCxnSpPr/>
          <p:nvPr/>
        </p:nvCxnSpPr>
        <p:spPr>
          <a:xfrm flipV="1">
            <a:off x="822960" y="244602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35" name="Connector 34"/>
          <p:cNvCxnSpPr/>
          <p:nvPr/>
        </p:nvCxnSpPr>
        <p:spPr>
          <a:xfrm flipV="1">
            <a:off x="822960" y="285750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822960" y="326898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822960" y="347472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822960" y="347472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39" name="Connector 38"/>
          <p:cNvCxnSpPr/>
          <p:nvPr/>
        </p:nvCxnSpPr>
        <p:spPr>
          <a:xfrm>
            <a:off x="822960" y="347472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822960" y="347472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41" name="Connector 40"/>
          <p:cNvCxnSpPr/>
          <p:nvPr/>
        </p:nvCxnSpPr>
        <p:spPr>
          <a:xfrm flipV="1">
            <a:off x="822960" y="203454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42" name="Connector 41"/>
          <p:cNvCxnSpPr/>
          <p:nvPr/>
        </p:nvCxnSpPr>
        <p:spPr>
          <a:xfrm flipV="1">
            <a:off x="822960" y="244602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43" name="Connector 42"/>
          <p:cNvCxnSpPr/>
          <p:nvPr/>
        </p:nvCxnSpPr>
        <p:spPr>
          <a:xfrm flipV="1">
            <a:off x="822960" y="285750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44" name="Connector 43"/>
          <p:cNvCxnSpPr/>
          <p:nvPr/>
        </p:nvCxnSpPr>
        <p:spPr>
          <a:xfrm flipV="1">
            <a:off x="822960" y="326898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45" name="Connector 44"/>
          <p:cNvCxnSpPr/>
          <p:nvPr/>
        </p:nvCxnSpPr>
        <p:spPr>
          <a:xfrm flipV="1">
            <a:off x="822960" y="368046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822960" y="388620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822960" y="388620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822960" y="388620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49" name="Connector 48"/>
          <p:cNvCxnSpPr/>
          <p:nvPr/>
        </p:nvCxnSpPr>
        <p:spPr>
          <a:xfrm flipV="1">
            <a:off x="822960" y="2034540"/>
            <a:ext cx="1417320" cy="22631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50" name="Connector 49"/>
          <p:cNvCxnSpPr/>
          <p:nvPr/>
        </p:nvCxnSpPr>
        <p:spPr>
          <a:xfrm flipV="1">
            <a:off x="822960" y="244602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51" name="Connector 50"/>
          <p:cNvCxnSpPr/>
          <p:nvPr/>
        </p:nvCxnSpPr>
        <p:spPr>
          <a:xfrm flipV="1">
            <a:off x="822960" y="285750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52" name="Connector 51"/>
          <p:cNvCxnSpPr/>
          <p:nvPr/>
        </p:nvCxnSpPr>
        <p:spPr>
          <a:xfrm flipV="1">
            <a:off x="822960" y="326898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53" name="Connector 52"/>
          <p:cNvCxnSpPr/>
          <p:nvPr/>
        </p:nvCxnSpPr>
        <p:spPr>
          <a:xfrm flipV="1">
            <a:off x="822960" y="368046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54" name="Connector 53"/>
          <p:cNvCxnSpPr/>
          <p:nvPr/>
        </p:nvCxnSpPr>
        <p:spPr>
          <a:xfrm flipV="1">
            <a:off x="822960" y="409194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55" name="Connector 54"/>
          <p:cNvCxnSpPr/>
          <p:nvPr/>
        </p:nvCxnSpPr>
        <p:spPr>
          <a:xfrm>
            <a:off x="822960" y="429768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56" name="Connector 55"/>
          <p:cNvCxnSpPr/>
          <p:nvPr/>
        </p:nvCxnSpPr>
        <p:spPr>
          <a:xfrm>
            <a:off x="822960" y="429768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57" name="Connector 56"/>
          <p:cNvCxnSpPr/>
          <p:nvPr/>
        </p:nvCxnSpPr>
        <p:spPr>
          <a:xfrm flipV="1">
            <a:off x="822960" y="2034540"/>
            <a:ext cx="1417320" cy="26746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58" name="Connector 57"/>
          <p:cNvCxnSpPr/>
          <p:nvPr/>
        </p:nvCxnSpPr>
        <p:spPr>
          <a:xfrm flipV="1">
            <a:off x="822960" y="2446020"/>
            <a:ext cx="1417320" cy="22631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59" name="Connector 58"/>
          <p:cNvCxnSpPr/>
          <p:nvPr/>
        </p:nvCxnSpPr>
        <p:spPr>
          <a:xfrm flipV="1">
            <a:off x="822960" y="285750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60" name="Connector 59"/>
          <p:cNvCxnSpPr/>
          <p:nvPr/>
        </p:nvCxnSpPr>
        <p:spPr>
          <a:xfrm flipV="1">
            <a:off x="822960" y="326898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61" name="Connector 60"/>
          <p:cNvCxnSpPr/>
          <p:nvPr/>
        </p:nvCxnSpPr>
        <p:spPr>
          <a:xfrm flipV="1">
            <a:off x="822960" y="368046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62" name="Connector 61"/>
          <p:cNvCxnSpPr/>
          <p:nvPr/>
        </p:nvCxnSpPr>
        <p:spPr>
          <a:xfrm flipV="1">
            <a:off x="822960" y="409194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63" name="Connector 62"/>
          <p:cNvCxnSpPr/>
          <p:nvPr/>
        </p:nvCxnSpPr>
        <p:spPr>
          <a:xfrm flipV="1">
            <a:off x="822960" y="450342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64" name="Connector 63"/>
          <p:cNvCxnSpPr/>
          <p:nvPr/>
        </p:nvCxnSpPr>
        <p:spPr>
          <a:xfrm>
            <a:off x="822960" y="470916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65" name="Connector 64"/>
          <p:cNvCxnSpPr/>
          <p:nvPr/>
        </p:nvCxnSpPr>
        <p:spPr>
          <a:xfrm>
            <a:off x="2240280" y="203454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66" name="Connector 65"/>
          <p:cNvCxnSpPr/>
          <p:nvPr/>
        </p:nvCxnSpPr>
        <p:spPr>
          <a:xfrm>
            <a:off x="2240280" y="203454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67" name="Connector 66"/>
          <p:cNvCxnSpPr/>
          <p:nvPr/>
        </p:nvCxnSpPr>
        <p:spPr>
          <a:xfrm>
            <a:off x="2240280" y="203454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68" name="Connector 67"/>
          <p:cNvCxnSpPr/>
          <p:nvPr/>
        </p:nvCxnSpPr>
        <p:spPr>
          <a:xfrm>
            <a:off x="2240280" y="203454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69" name="Connector 68"/>
          <p:cNvCxnSpPr/>
          <p:nvPr/>
        </p:nvCxnSpPr>
        <p:spPr>
          <a:xfrm>
            <a:off x="2240280" y="203454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70" name="Connector 69"/>
          <p:cNvCxnSpPr/>
          <p:nvPr/>
        </p:nvCxnSpPr>
        <p:spPr>
          <a:xfrm>
            <a:off x="2240280" y="2034540"/>
            <a:ext cx="1417320" cy="22631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71" name="Connector 70"/>
          <p:cNvCxnSpPr/>
          <p:nvPr/>
        </p:nvCxnSpPr>
        <p:spPr>
          <a:xfrm>
            <a:off x="2240280" y="2034540"/>
            <a:ext cx="1417320" cy="26746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72" name="Connector 71"/>
          <p:cNvCxnSpPr/>
          <p:nvPr/>
        </p:nvCxnSpPr>
        <p:spPr>
          <a:xfrm flipV="1">
            <a:off x="2240280" y="224028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73" name="Connector 72"/>
          <p:cNvCxnSpPr/>
          <p:nvPr/>
        </p:nvCxnSpPr>
        <p:spPr>
          <a:xfrm>
            <a:off x="2240280" y="244602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74" name="Connector 73"/>
          <p:cNvCxnSpPr/>
          <p:nvPr/>
        </p:nvCxnSpPr>
        <p:spPr>
          <a:xfrm>
            <a:off x="2240280" y="244602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75" name="Connector 74"/>
          <p:cNvCxnSpPr/>
          <p:nvPr/>
        </p:nvCxnSpPr>
        <p:spPr>
          <a:xfrm>
            <a:off x="2240280" y="244602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76" name="Connector 75"/>
          <p:cNvCxnSpPr/>
          <p:nvPr/>
        </p:nvCxnSpPr>
        <p:spPr>
          <a:xfrm>
            <a:off x="2240280" y="244602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77" name="Connector 76"/>
          <p:cNvCxnSpPr/>
          <p:nvPr/>
        </p:nvCxnSpPr>
        <p:spPr>
          <a:xfrm>
            <a:off x="2240280" y="244602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78" name="Connector 77"/>
          <p:cNvCxnSpPr/>
          <p:nvPr/>
        </p:nvCxnSpPr>
        <p:spPr>
          <a:xfrm>
            <a:off x="2240280" y="2446020"/>
            <a:ext cx="1417320" cy="22631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79" name="Connector 78"/>
          <p:cNvCxnSpPr/>
          <p:nvPr/>
        </p:nvCxnSpPr>
        <p:spPr>
          <a:xfrm flipV="1">
            <a:off x="2240280" y="224028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80" name="Connector 79"/>
          <p:cNvCxnSpPr/>
          <p:nvPr/>
        </p:nvCxnSpPr>
        <p:spPr>
          <a:xfrm flipV="1">
            <a:off x="2240280" y="265176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81" name="Connector 80"/>
          <p:cNvCxnSpPr/>
          <p:nvPr/>
        </p:nvCxnSpPr>
        <p:spPr>
          <a:xfrm>
            <a:off x="2240280" y="285750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82" name="Connector 81"/>
          <p:cNvCxnSpPr/>
          <p:nvPr/>
        </p:nvCxnSpPr>
        <p:spPr>
          <a:xfrm>
            <a:off x="2240280" y="285750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83" name="Connector 82"/>
          <p:cNvCxnSpPr/>
          <p:nvPr/>
        </p:nvCxnSpPr>
        <p:spPr>
          <a:xfrm>
            <a:off x="2240280" y="285750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84" name="Connector 83"/>
          <p:cNvCxnSpPr/>
          <p:nvPr/>
        </p:nvCxnSpPr>
        <p:spPr>
          <a:xfrm>
            <a:off x="2240280" y="285750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85" name="Connector 84"/>
          <p:cNvCxnSpPr/>
          <p:nvPr/>
        </p:nvCxnSpPr>
        <p:spPr>
          <a:xfrm>
            <a:off x="2240280" y="285750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86" name="Connector 85"/>
          <p:cNvCxnSpPr/>
          <p:nvPr/>
        </p:nvCxnSpPr>
        <p:spPr>
          <a:xfrm flipV="1">
            <a:off x="2240280" y="224028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87" name="Connector 86"/>
          <p:cNvCxnSpPr/>
          <p:nvPr/>
        </p:nvCxnSpPr>
        <p:spPr>
          <a:xfrm flipV="1">
            <a:off x="2240280" y="265176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88" name="Connector 87"/>
          <p:cNvCxnSpPr/>
          <p:nvPr/>
        </p:nvCxnSpPr>
        <p:spPr>
          <a:xfrm flipV="1">
            <a:off x="2240280" y="306324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89" name="Connector 88"/>
          <p:cNvCxnSpPr/>
          <p:nvPr/>
        </p:nvCxnSpPr>
        <p:spPr>
          <a:xfrm>
            <a:off x="2240280" y="326898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90" name="Connector 89"/>
          <p:cNvCxnSpPr/>
          <p:nvPr/>
        </p:nvCxnSpPr>
        <p:spPr>
          <a:xfrm>
            <a:off x="2240280" y="326898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91" name="Connector 90"/>
          <p:cNvCxnSpPr/>
          <p:nvPr/>
        </p:nvCxnSpPr>
        <p:spPr>
          <a:xfrm>
            <a:off x="2240280" y="326898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92" name="Connector 91"/>
          <p:cNvCxnSpPr/>
          <p:nvPr/>
        </p:nvCxnSpPr>
        <p:spPr>
          <a:xfrm>
            <a:off x="2240280" y="326898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93" name="Connector 92"/>
          <p:cNvCxnSpPr/>
          <p:nvPr/>
        </p:nvCxnSpPr>
        <p:spPr>
          <a:xfrm flipV="1">
            <a:off x="2240280" y="224028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94" name="Connector 93"/>
          <p:cNvCxnSpPr/>
          <p:nvPr/>
        </p:nvCxnSpPr>
        <p:spPr>
          <a:xfrm flipV="1">
            <a:off x="2240280" y="265176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95" name="Connector 94"/>
          <p:cNvCxnSpPr/>
          <p:nvPr/>
        </p:nvCxnSpPr>
        <p:spPr>
          <a:xfrm flipV="1">
            <a:off x="2240280" y="306324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96" name="Connector 95"/>
          <p:cNvCxnSpPr/>
          <p:nvPr/>
        </p:nvCxnSpPr>
        <p:spPr>
          <a:xfrm flipV="1">
            <a:off x="2240280" y="347472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97" name="Connector 96"/>
          <p:cNvCxnSpPr/>
          <p:nvPr/>
        </p:nvCxnSpPr>
        <p:spPr>
          <a:xfrm>
            <a:off x="2240280" y="368046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98" name="Connector 97"/>
          <p:cNvCxnSpPr/>
          <p:nvPr/>
        </p:nvCxnSpPr>
        <p:spPr>
          <a:xfrm>
            <a:off x="2240280" y="368046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99" name="Connector 98"/>
          <p:cNvCxnSpPr/>
          <p:nvPr/>
        </p:nvCxnSpPr>
        <p:spPr>
          <a:xfrm>
            <a:off x="2240280" y="368046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00" name="Connector 99"/>
          <p:cNvCxnSpPr/>
          <p:nvPr/>
        </p:nvCxnSpPr>
        <p:spPr>
          <a:xfrm flipV="1">
            <a:off x="2240280" y="224028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01" name="Connector 100"/>
          <p:cNvCxnSpPr/>
          <p:nvPr/>
        </p:nvCxnSpPr>
        <p:spPr>
          <a:xfrm flipV="1">
            <a:off x="2240280" y="265176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02" name="Connector 101"/>
          <p:cNvCxnSpPr/>
          <p:nvPr/>
        </p:nvCxnSpPr>
        <p:spPr>
          <a:xfrm flipV="1">
            <a:off x="2240280" y="306324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03" name="Connector 102"/>
          <p:cNvCxnSpPr/>
          <p:nvPr/>
        </p:nvCxnSpPr>
        <p:spPr>
          <a:xfrm flipV="1">
            <a:off x="2240280" y="347472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04" name="Connector 103"/>
          <p:cNvCxnSpPr/>
          <p:nvPr/>
        </p:nvCxnSpPr>
        <p:spPr>
          <a:xfrm flipV="1">
            <a:off x="2240280" y="388620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05" name="Connector 104"/>
          <p:cNvCxnSpPr/>
          <p:nvPr/>
        </p:nvCxnSpPr>
        <p:spPr>
          <a:xfrm>
            <a:off x="2240280" y="409194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06" name="Connector 105"/>
          <p:cNvCxnSpPr/>
          <p:nvPr/>
        </p:nvCxnSpPr>
        <p:spPr>
          <a:xfrm>
            <a:off x="2240280" y="409194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07" name="Connector 106"/>
          <p:cNvCxnSpPr/>
          <p:nvPr/>
        </p:nvCxnSpPr>
        <p:spPr>
          <a:xfrm flipV="1">
            <a:off x="2240280" y="2240280"/>
            <a:ext cx="1417320" cy="22631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08" name="Connector 107"/>
          <p:cNvCxnSpPr/>
          <p:nvPr/>
        </p:nvCxnSpPr>
        <p:spPr>
          <a:xfrm flipV="1">
            <a:off x="2240280" y="265176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09" name="Connector 108"/>
          <p:cNvCxnSpPr/>
          <p:nvPr/>
        </p:nvCxnSpPr>
        <p:spPr>
          <a:xfrm flipV="1">
            <a:off x="2240280" y="306324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10" name="Connector 109"/>
          <p:cNvCxnSpPr/>
          <p:nvPr/>
        </p:nvCxnSpPr>
        <p:spPr>
          <a:xfrm flipV="1">
            <a:off x="2240280" y="347472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11" name="Connector 110"/>
          <p:cNvCxnSpPr/>
          <p:nvPr/>
        </p:nvCxnSpPr>
        <p:spPr>
          <a:xfrm flipV="1">
            <a:off x="2240280" y="388620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12" name="Connector 111"/>
          <p:cNvCxnSpPr/>
          <p:nvPr/>
        </p:nvCxnSpPr>
        <p:spPr>
          <a:xfrm flipV="1">
            <a:off x="2240280" y="429768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13" name="Connector 112"/>
          <p:cNvCxnSpPr/>
          <p:nvPr/>
        </p:nvCxnSpPr>
        <p:spPr>
          <a:xfrm>
            <a:off x="2240280" y="450342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14" name="Connector 113"/>
          <p:cNvCxnSpPr/>
          <p:nvPr/>
        </p:nvCxnSpPr>
        <p:spPr>
          <a:xfrm flipV="1">
            <a:off x="2240280" y="2240280"/>
            <a:ext cx="1417320" cy="26746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15" name="Connector 114"/>
          <p:cNvCxnSpPr/>
          <p:nvPr/>
        </p:nvCxnSpPr>
        <p:spPr>
          <a:xfrm flipV="1">
            <a:off x="2240280" y="2651760"/>
            <a:ext cx="1417320" cy="22631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16" name="Connector 115"/>
          <p:cNvCxnSpPr/>
          <p:nvPr/>
        </p:nvCxnSpPr>
        <p:spPr>
          <a:xfrm flipV="1">
            <a:off x="2240280" y="306324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17" name="Connector 116"/>
          <p:cNvCxnSpPr/>
          <p:nvPr/>
        </p:nvCxnSpPr>
        <p:spPr>
          <a:xfrm flipV="1">
            <a:off x="2240280" y="347472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18" name="Connector 117"/>
          <p:cNvCxnSpPr/>
          <p:nvPr/>
        </p:nvCxnSpPr>
        <p:spPr>
          <a:xfrm flipV="1">
            <a:off x="2240280" y="388620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19" name="Connector 118"/>
          <p:cNvCxnSpPr/>
          <p:nvPr/>
        </p:nvCxnSpPr>
        <p:spPr>
          <a:xfrm flipV="1">
            <a:off x="2240280" y="429768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20" name="Connector 119"/>
          <p:cNvCxnSpPr/>
          <p:nvPr/>
        </p:nvCxnSpPr>
        <p:spPr>
          <a:xfrm flipV="1">
            <a:off x="2240280" y="470916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21" name="Connector 120"/>
          <p:cNvCxnSpPr/>
          <p:nvPr/>
        </p:nvCxnSpPr>
        <p:spPr>
          <a:xfrm>
            <a:off x="3657600" y="224028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22" name="Connector 121"/>
          <p:cNvCxnSpPr/>
          <p:nvPr/>
        </p:nvCxnSpPr>
        <p:spPr>
          <a:xfrm>
            <a:off x="3657600" y="224028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23" name="Connector 122"/>
          <p:cNvCxnSpPr/>
          <p:nvPr/>
        </p:nvCxnSpPr>
        <p:spPr>
          <a:xfrm>
            <a:off x="3657600" y="224028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24" name="Connector 123"/>
          <p:cNvCxnSpPr/>
          <p:nvPr/>
        </p:nvCxnSpPr>
        <p:spPr>
          <a:xfrm>
            <a:off x="3657600" y="224028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25" name="Connector 124"/>
          <p:cNvCxnSpPr/>
          <p:nvPr/>
        </p:nvCxnSpPr>
        <p:spPr>
          <a:xfrm>
            <a:off x="3657600" y="224028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26" name="Connector 125"/>
          <p:cNvCxnSpPr/>
          <p:nvPr/>
        </p:nvCxnSpPr>
        <p:spPr>
          <a:xfrm>
            <a:off x="3657600" y="2240280"/>
            <a:ext cx="1417320" cy="22631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27" name="Connector 126"/>
          <p:cNvCxnSpPr/>
          <p:nvPr/>
        </p:nvCxnSpPr>
        <p:spPr>
          <a:xfrm flipV="1">
            <a:off x="3657600" y="244602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28" name="Connector 127"/>
          <p:cNvCxnSpPr/>
          <p:nvPr/>
        </p:nvCxnSpPr>
        <p:spPr>
          <a:xfrm>
            <a:off x="3657600" y="265176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29" name="Connector 128"/>
          <p:cNvCxnSpPr/>
          <p:nvPr/>
        </p:nvCxnSpPr>
        <p:spPr>
          <a:xfrm>
            <a:off x="3657600" y="265176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30" name="Connector 129"/>
          <p:cNvCxnSpPr/>
          <p:nvPr/>
        </p:nvCxnSpPr>
        <p:spPr>
          <a:xfrm>
            <a:off x="3657600" y="265176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31" name="Connector 130"/>
          <p:cNvCxnSpPr/>
          <p:nvPr/>
        </p:nvCxnSpPr>
        <p:spPr>
          <a:xfrm>
            <a:off x="3657600" y="265176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32" name="Connector 131"/>
          <p:cNvCxnSpPr/>
          <p:nvPr/>
        </p:nvCxnSpPr>
        <p:spPr>
          <a:xfrm>
            <a:off x="3657600" y="265176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33" name="Connector 132"/>
          <p:cNvCxnSpPr/>
          <p:nvPr/>
        </p:nvCxnSpPr>
        <p:spPr>
          <a:xfrm flipV="1">
            <a:off x="3657600" y="244602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34" name="Connector 133"/>
          <p:cNvCxnSpPr/>
          <p:nvPr/>
        </p:nvCxnSpPr>
        <p:spPr>
          <a:xfrm flipV="1">
            <a:off x="3657600" y="285750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35" name="Connector 134"/>
          <p:cNvCxnSpPr/>
          <p:nvPr/>
        </p:nvCxnSpPr>
        <p:spPr>
          <a:xfrm>
            <a:off x="3657600" y="306324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36" name="Connector 135"/>
          <p:cNvCxnSpPr/>
          <p:nvPr/>
        </p:nvCxnSpPr>
        <p:spPr>
          <a:xfrm>
            <a:off x="3657600" y="306324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37" name="Connector 136"/>
          <p:cNvCxnSpPr/>
          <p:nvPr/>
        </p:nvCxnSpPr>
        <p:spPr>
          <a:xfrm>
            <a:off x="3657600" y="306324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38" name="Connector 137"/>
          <p:cNvCxnSpPr/>
          <p:nvPr/>
        </p:nvCxnSpPr>
        <p:spPr>
          <a:xfrm>
            <a:off x="3657600" y="306324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39" name="Connector 138"/>
          <p:cNvCxnSpPr/>
          <p:nvPr/>
        </p:nvCxnSpPr>
        <p:spPr>
          <a:xfrm flipV="1">
            <a:off x="3657600" y="244602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40" name="Connector 139"/>
          <p:cNvCxnSpPr/>
          <p:nvPr/>
        </p:nvCxnSpPr>
        <p:spPr>
          <a:xfrm flipV="1">
            <a:off x="3657600" y="285750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41" name="Connector 140"/>
          <p:cNvCxnSpPr/>
          <p:nvPr/>
        </p:nvCxnSpPr>
        <p:spPr>
          <a:xfrm flipV="1">
            <a:off x="3657600" y="326898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42" name="Connector 141"/>
          <p:cNvCxnSpPr/>
          <p:nvPr/>
        </p:nvCxnSpPr>
        <p:spPr>
          <a:xfrm>
            <a:off x="3657600" y="347472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43" name="Connector 142"/>
          <p:cNvCxnSpPr/>
          <p:nvPr/>
        </p:nvCxnSpPr>
        <p:spPr>
          <a:xfrm>
            <a:off x="3657600" y="347472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44" name="Connector 143"/>
          <p:cNvCxnSpPr/>
          <p:nvPr/>
        </p:nvCxnSpPr>
        <p:spPr>
          <a:xfrm>
            <a:off x="3657600" y="347472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45" name="Connector 144"/>
          <p:cNvCxnSpPr/>
          <p:nvPr/>
        </p:nvCxnSpPr>
        <p:spPr>
          <a:xfrm flipV="1">
            <a:off x="3657600" y="244602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46" name="Connector 145"/>
          <p:cNvCxnSpPr/>
          <p:nvPr/>
        </p:nvCxnSpPr>
        <p:spPr>
          <a:xfrm flipV="1">
            <a:off x="3657600" y="285750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47" name="Connector 146"/>
          <p:cNvCxnSpPr/>
          <p:nvPr/>
        </p:nvCxnSpPr>
        <p:spPr>
          <a:xfrm flipV="1">
            <a:off x="3657600" y="326898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48" name="Connector 147"/>
          <p:cNvCxnSpPr/>
          <p:nvPr/>
        </p:nvCxnSpPr>
        <p:spPr>
          <a:xfrm flipV="1">
            <a:off x="3657600" y="368046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49" name="Connector 148"/>
          <p:cNvCxnSpPr/>
          <p:nvPr/>
        </p:nvCxnSpPr>
        <p:spPr>
          <a:xfrm>
            <a:off x="3657600" y="388620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50" name="Connector 149"/>
          <p:cNvCxnSpPr/>
          <p:nvPr/>
        </p:nvCxnSpPr>
        <p:spPr>
          <a:xfrm>
            <a:off x="3657600" y="388620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51" name="Connector 150"/>
          <p:cNvCxnSpPr/>
          <p:nvPr/>
        </p:nvCxnSpPr>
        <p:spPr>
          <a:xfrm flipV="1">
            <a:off x="3657600" y="244602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52" name="Connector 151"/>
          <p:cNvCxnSpPr/>
          <p:nvPr/>
        </p:nvCxnSpPr>
        <p:spPr>
          <a:xfrm flipV="1">
            <a:off x="3657600" y="285750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53" name="Connector 152"/>
          <p:cNvCxnSpPr/>
          <p:nvPr/>
        </p:nvCxnSpPr>
        <p:spPr>
          <a:xfrm flipV="1">
            <a:off x="3657600" y="326898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54" name="Connector 153"/>
          <p:cNvCxnSpPr/>
          <p:nvPr/>
        </p:nvCxnSpPr>
        <p:spPr>
          <a:xfrm flipV="1">
            <a:off x="3657600" y="368046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55" name="Connector 154"/>
          <p:cNvCxnSpPr/>
          <p:nvPr/>
        </p:nvCxnSpPr>
        <p:spPr>
          <a:xfrm flipV="1">
            <a:off x="3657600" y="409194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56" name="Connector 155"/>
          <p:cNvCxnSpPr/>
          <p:nvPr/>
        </p:nvCxnSpPr>
        <p:spPr>
          <a:xfrm>
            <a:off x="3657600" y="429768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57" name="Connector 156"/>
          <p:cNvCxnSpPr/>
          <p:nvPr/>
        </p:nvCxnSpPr>
        <p:spPr>
          <a:xfrm flipV="1">
            <a:off x="3657600" y="2446020"/>
            <a:ext cx="1417320" cy="22631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58" name="Connector 157"/>
          <p:cNvCxnSpPr/>
          <p:nvPr/>
        </p:nvCxnSpPr>
        <p:spPr>
          <a:xfrm flipV="1">
            <a:off x="3657600" y="2857500"/>
            <a:ext cx="1417320" cy="185166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59" name="Connector 158"/>
          <p:cNvCxnSpPr/>
          <p:nvPr/>
        </p:nvCxnSpPr>
        <p:spPr>
          <a:xfrm flipV="1">
            <a:off x="3657600" y="3268980"/>
            <a:ext cx="1417320" cy="144018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60" name="Connector 159"/>
          <p:cNvCxnSpPr/>
          <p:nvPr/>
        </p:nvCxnSpPr>
        <p:spPr>
          <a:xfrm flipV="1">
            <a:off x="3657600" y="368046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61" name="Connector 160"/>
          <p:cNvCxnSpPr/>
          <p:nvPr/>
        </p:nvCxnSpPr>
        <p:spPr>
          <a:xfrm flipV="1">
            <a:off x="3657600" y="409194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62" name="Connector 161"/>
          <p:cNvCxnSpPr/>
          <p:nvPr/>
        </p:nvCxnSpPr>
        <p:spPr>
          <a:xfrm flipV="1">
            <a:off x="3657600" y="450342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63" name="Connector 162"/>
          <p:cNvCxnSpPr/>
          <p:nvPr/>
        </p:nvCxnSpPr>
        <p:spPr>
          <a:xfrm>
            <a:off x="5074920" y="244602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64" name="Connector 163"/>
          <p:cNvCxnSpPr/>
          <p:nvPr/>
        </p:nvCxnSpPr>
        <p:spPr>
          <a:xfrm>
            <a:off x="5074920" y="285750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65" name="Connector 164"/>
          <p:cNvCxnSpPr/>
          <p:nvPr/>
        </p:nvCxnSpPr>
        <p:spPr>
          <a:xfrm>
            <a:off x="5074920" y="326898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66" name="Connector 165"/>
          <p:cNvCxnSpPr/>
          <p:nvPr/>
        </p:nvCxnSpPr>
        <p:spPr>
          <a:xfrm flipV="1">
            <a:off x="5074920" y="3474720"/>
            <a:ext cx="1417320" cy="20574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67" name="Connector 166"/>
          <p:cNvCxnSpPr/>
          <p:nvPr/>
        </p:nvCxnSpPr>
        <p:spPr>
          <a:xfrm flipV="1">
            <a:off x="5074920" y="3474720"/>
            <a:ext cx="1417320" cy="61722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cxnSp>
        <p:nvCxnSpPr>
          <p:cNvPr id="168" name="Connector 167"/>
          <p:cNvCxnSpPr/>
          <p:nvPr/>
        </p:nvCxnSpPr>
        <p:spPr>
          <a:xfrm flipV="1">
            <a:off x="5074920" y="3474720"/>
            <a:ext cx="1417320" cy="1028700"/>
          </a:xfrm>
          <a:prstGeom prst="line">
            <a:avLst/>
          </a:prstGeom>
          <a:ln w="6350">
            <a:solidFill>
              <a:srgbClr val="CFD6CB"/>
            </a:solidFill>
          </a:ln>
        </p:spPr>
      </p:cxnSp>
      <p:sp>
        <p:nvSpPr>
          <p:cNvPr id="169" name="Oval 168"/>
          <p:cNvSpPr/>
          <p:nvPr/>
        </p:nvSpPr>
        <p:spPr>
          <a:xfrm>
            <a:off x="704088" y="212140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704088" y="253288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704088" y="294436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704088" y="33558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704088" y="376732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704088" y="417880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704088" y="459028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A96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2121408" y="191566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2121408" y="232714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2121408" y="273862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121408" y="315010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2121408" y="356158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121408" y="397306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121408" y="438454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2121408" y="479602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3538728" y="212140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3538728" y="253288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3538728" y="294436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3538728" y="335584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3538728" y="376732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3538728" y="417880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3538728" y="459028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4956048" y="232714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4956048" y="273862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4956048" y="315010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4956048" y="356158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4956048" y="397306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4956048" y="4384548"/>
            <a:ext cx="237744" cy="237744"/>
          </a:xfrm>
          <a:prstGeom prst="ellipse">
            <a:avLst/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6373368" y="3355848"/>
            <a:ext cx="237744" cy="237744"/>
          </a:xfrm>
          <a:prstGeom prst="ellipse">
            <a:avLst/>
          </a:prstGeom>
          <a:solidFill>
            <a:srgbClr val="C97A2B"/>
          </a:solidFill>
          <a:ln w="12700">
            <a:solidFill>
              <a:srgbClr val="C9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137160" y="5349240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Input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66 features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554480" y="5349240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Dense 256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ReLU · dropout 0.3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2971800" y="5349240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Dense 128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ReLU · dropout 0.3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389120" y="5349240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Dense 64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ReLU · dropout 0.2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5806440" y="5349240"/>
            <a:ext cx="137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Output</a:t>
            </a:r>
          </a:p>
          <a:p>
            <a:pPr algn="ctr">
              <a:lnSpc>
                <a:spcPct val="105000"/>
              </a:lnSpc>
            </a:pPr>
            <a:r>
              <a:rPr sz="950" b="0" i="0">
                <a:solidFill>
                  <a:srgbClr val="56655D"/>
                </a:solidFill>
                <a:latin typeface="Calibri"/>
              </a:rPr>
              <a:t>sigmoid → P(attack)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406640" y="1691640"/>
            <a:ext cx="4279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Design choices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7406640" y="2112264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7635240" y="2039112"/>
            <a:ext cx="405079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Why an MLP?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Flow features are a flat table of numbers; a dense network fits them well and averages cleanly under FedAvg.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7406640" y="2816352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7635240" y="2743200"/>
            <a:ext cx="4050792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Hidden layers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256 → 128 → 64 neurons with ReLU learn combinations of packet, byte and timing features.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7406640" y="3322320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7635240" y="3249168"/>
            <a:ext cx="4050792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Against overfitting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Dropout switches off random neurons while training; L2 keeps the weights small.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7406640" y="3828288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7635240" y="3755136"/>
            <a:ext cx="4050792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Output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One sigmoid neuron gives the probability that a flow is an attack.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7406640" y="4334256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7635240" y="4261104"/>
            <a:ext cx="4050792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Size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58,369 weights: exactly what each client sends every round.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7406640" y="4840224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7635240" y="4767072"/>
            <a:ext cx="405079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Baseline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Trained centrally with class weights, early stopping and a tuned threshold: the best accuracy to aim for.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STEP 4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Federated training with FedAvg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Every round: send the model out, train locally, send weights back, average. Raw traffic never leaves a router.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07 / 14</a:t>
            </a:r>
          </a:p>
        </p:txBody>
      </p:sp>
      <p:sp>
        <p:nvSpPr>
          <p:cNvPr id="9" name="Oval 8"/>
          <p:cNvSpPr/>
          <p:nvPr/>
        </p:nvSpPr>
        <p:spPr>
          <a:xfrm>
            <a:off x="3182111" y="3319272"/>
            <a:ext cx="1133856" cy="1133856"/>
          </a:xfrm>
          <a:prstGeom prst="ellipse">
            <a:avLst/>
          </a:prstGeom>
          <a:solidFill>
            <a:srgbClr val="D7EBE7"/>
          </a:solidFill>
          <a:ln w="1905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82111" y="3319272"/>
            <a:ext cx="1133856" cy="11338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46B62"/>
                </a:solidFill>
                <a:latin typeface="Calibri"/>
              </a:rPr>
              <a:t>Server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8899" y="1714500"/>
            <a:ext cx="22402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02051" y="1714500"/>
            <a:ext cx="209397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72420"/>
                </a:solidFill>
                <a:latin typeface="Calibri"/>
              </a:rPr>
              <a:t>1 · Send global model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server → all 10 routers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14900" y="3451860"/>
            <a:ext cx="22402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8052" y="3451860"/>
            <a:ext cx="209397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72420"/>
                </a:solidFill>
                <a:latin typeface="Calibri"/>
              </a:rPr>
              <a:t>2 · Train locally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2 epochs on own traffic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28899" y="5189220"/>
            <a:ext cx="22402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02051" y="5189220"/>
            <a:ext cx="209397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72420"/>
                </a:solidFill>
                <a:latin typeface="Calibri"/>
              </a:rPr>
              <a:t>3 · Send weights back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new weights + sample count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2900" y="3451860"/>
            <a:ext cx="22402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6052" y="3451860"/>
            <a:ext cx="209397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172420"/>
                </a:solidFill>
                <a:latin typeface="Calibri"/>
              </a:rPr>
              <a:t>4 · Weighted average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FedAvg → new global model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69179" y="2148840"/>
            <a:ext cx="1165861" cy="130302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cxnSp>
        <p:nvCxnSpPr>
          <p:cNvPr id="20" name="Connector 19"/>
          <p:cNvCxnSpPr/>
          <p:nvPr/>
        </p:nvCxnSpPr>
        <p:spPr>
          <a:xfrm flipH="1">
            <a:off x="4869179" y="4320540"/>
            <a:ext cx="1165861" cy="130302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cxnSp>
        <p:nvCxnSpPr>
          <p:cNvPr id="21" name="Connector 20"/>
          <p:cNvCxnSpPr/>
          <p:nvPr/>
        </p:nvCxnSpPr>
        <p:spPr>
          <a:xfrm flipH="1" flipV="1">
            <a:off x="1463040" y="4320540"/>
            <a:ext cx="1165859" cy="130302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cxnSp>
        <p:nvCxnSpPr>
          <p:cNvPr id="22" name="Connector 21"/>
          <p:cNvCxnSpPr/>
          <p:nvPr/>
        </p:nvCxnSpPr>
        <p:spPr>
          <a:xfrm flipV="1">
            <a:off x="1463040" y="2148840"/>
            <a:ext cx="1165859" cy="130302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7315200" y="1691640"/>
            <a:ext cx="4370832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1783080"/>
            <a:ext cx="4370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THE FEDAVG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2057400"/>
            <a:ext cx="40050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46B62"/>
                </a:solidFill>
                <a:latin typeface="Calibri"/>
              </a:rPr>
              <a:t>new model = Σ  (n</a:t>
            </a:r>
            <a:r>
              <a:rPr sz="1200" b="1" i="0">
                <a:solidFill>
                  <a:srgbClr val="146B62"/>
                </a:solidFill>
                <a:latin typeface="Calibri"/>
              </a:rPr>
              <a:t>k</a:t>
            </a:r>
            <a:r>
              <a:rPr sz="1900" b="1" i="0">
                <a:solidFill>
                  <a:srgbClr val="146B62"/>
                </a:solidFill>
                <a:latin typeface="Calibri"/>
              </a:rPr>
              <a:t> / n) × model</a:t>
            </a:r>
            <a:r>
              <a:rPr sz="1200" b="1" i="0">
                <a:solidFill>
                  <a:srgbClr val="146B62"/>
                </a:solidFill>
                <a:latin typeface="Calibri"/>
              </a:rPr>
              <a:t>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2514600"/>
            <a:ext cx="40050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nk = flows at router k, n = all flows: bigger routers count more.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3227832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800" y="3154680"/>
            <a:ext cx="414223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Why weighted?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A router with more traffic has seen more examples, so its model counts more. Router 10 holds 26% of all flows.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0" y="3931920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43800" y="3858768"/>
            <a:ext cx="4142232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Setup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10 clients · 15 rounds · 2 local epochs · batch size 256.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0" y="4437888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43800" y="4364736"/>
            <a:ext cx="4142232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Privacy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Only the 58,369 weights travel; the 275,381 training flows stay on their routers.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0" y="4943856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3800" y="4870704"/>
            <a:ext cx="4142232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Result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Test accuracy 99.96% over the real routers vs 100.00% centralized.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0" y="5449824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43800" y="5376672"/>
            <a:ext cx="4142232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Where Krypsis fits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Steps 5–8 run between 3 (send back) and 4 (average).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STEP 5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The Krypsis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After local training, each client wraps its update in one message with a fingerprint and an integrity tag.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08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1371600" cy="960120"/>
          </a:xfrm>
          <a:prstGeom prst="rect">
            <a:avLst/>
          </a:prstGeom>
          <a:solidFill>
            <a:srgbClr val="E7EBE4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737360"/>
            <a:ext cx="10972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Length</a:t>
            </a:r>
            <a:r>
              <a:rPr sz="1100" b="0" i="0">
                <a:solidFill>
                  <a:srgbClr val="56655D"/>
                </a:solidFill>
                <a:latin typeface="Calibri"/>
              </a:rPr>
              <a:t>   4 bytes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where the header ends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74520" y="1691640"/>
            <a:ext cx="3383280" cy="960120"/>
          </a:xfrm>
          <a:prstGeom prst="rect">
            <a:avLst/>
          </a:prstGeom>
          <a:solidFill>
            <a:srgbClr val="D7EBE7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1737360"/>
            <a:ext cx="31089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6B62"/>
                </a:solidFill>
                <a:latin typeface="Calibri"/>
              </a:rPr>
              <a:t>Header + fingerprint</a:t>
            </a:r>
            <a:r>
              <a:rPr sz="1100" b="0" i="0">
                <a:solidFill>
                  <a:srgbClr val="56655D"/>
                </a:solidFill>
                <a:latin typeface="Calibri"/>
              </a:rPr>
              <a:t>   ≈1.5 KB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client · round · sample count · fingerprint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57800" y="1691640"/>
            <a:ext cx="4206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1737360"/>
            <a:ext cx="39319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Payload</a:t>
            </a:r>
            <a:r>
              <a:rPr sz="1100" b="0" i="0">
                <a:solidFill>
                  <a:srgbClr val="56655D"/>
                </a:solidFill>
                <a:latin typeface="Calibri"/>
              </a:rPr>
              <a:t>   233,476 bytes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the update Δw: 58,369 float32 numbers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64040" y="1691640"/>
            <a:ext cx="2221992" cy="960120"/>
          </a:xfrm>
          <a:prstGeom prst="rect">
            <a:avLst/>
          </a:prstGeom>
          <a:solidFill>
            <a:srgbClr val="F5E2C8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0" y="1737360"/>
            <a:ext cx="194767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7A2B"/>
                </a:solidFill>
                <a:latin typeface="Calibri"/>
              </a:rPr>
              <a:t>Integrity tag</a:t>
            </a:r>
            <a:r>
              <a:rPr sz="1100" b="0" i="0">
                <a:solidFill>
                  <a:srgbClr val="56655D"/>
                </a:solidFill>
                <a:latin typeface="Calibri"/>
              </a:rPr>
              <a:t>   32 bytes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HMAC-SHA256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880360"/>
            <a:ext cx="548640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990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6B62"/>
                </a:solidFill>
                <a:latin typeface="Calibri"/>
              </a:rPr>
              <a:t>THE FINGERPRINT: A SHORT SUMMARY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3429000"/>
            <a:ext cx="320040" cy="2103120"/>
          </a:xfrm>
          <a:prstGeom prst="rect">
            <a:avLst/>
          </a:prstGeom>
          <a:solidFill>
            <a:srgbClr val="8A9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57784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56655D"/>
                </a:solidFill>
                <a:latin typeface="Calibri"/>
              </a:rPr>
              <a:t>Δw</a:t>
            </a:r>
          </a:p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56655D"/>
                </a:solidFill>
                <a:latin typeface="Calibri"/>
              </a:rPr>
              <a:t>58,369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280160" y="4480560"/>
            <a:ext cx="1463040" cy="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sp>
        <p:nvSpPr>
          <p:cNvPr id="22" name="TextBox 21"/>
          <p:cNvSpPr txBox="1"/>
          <p:nvPr/>
        </p:nvSpPr>
        <p:spPr>
          <a:xfrm>
            <a:off x="1234440" y="3886200"/>
            <a:ext cx="1600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56655D"/>
                </a:solidFill>
                <a:latin typeface="Calibri"/>
              </a:rPr>
              <a:t>× random matrix</a:t>
            </a:r>
          </a:p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56655D"/>
                </a:solidFill>
                <a:latin typeface="Calibri"/>
              </a:rPr>
              <a:t>(public seed 2023)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80360" y="3474720"/>
            <a:ext cx="320040" cy="82296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7560" y="3447288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sketch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64 numbers: the update's direction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80360" y="4526280"/>
            <a:ext cx="320040" cy="22860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37560" y="4498848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L2 norm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1 number: overall size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5257800"/>
            <a:ext cx="320040" cy="41148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37560" y="5230368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layer norms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4 numbers: size per layer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5669280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46B62"/>
                </a:solidFill>
                <a:latin typeface="Calibri"/>
              </a:rPr>
              <a:t>The server can recompute it, so it cannot be faked.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2880360"/>
            <a:ext cx="548640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8232" y="2990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97A2B"/>
                </a:solidFill>
                <a:latin typeface="Calibri"/>
              </a:rPr>
              <a:t>THE INTEGRITY TAG: A DIGITAL SEAL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73952" y="3474720"/>
            <a:ext cx="173736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47104" y="3474720"/>
            <a:ext cx="159105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172420"/>
                </a:solidFill>
                <a:latin typeface="Calibri"/>
              </a:rPr>
              <a:t>header + payload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73952" y="4343400"/>
            <a:ext cx="173736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47104" y="4343400"/>
            <a:ext cx="159105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172420"/>
                </a:solidFill>
                <a:latin typeface="Calibri"/>
              </a:rPr>
              <a:t>secret key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32 bytes, one per client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714232" y="3886200"/>
            <a:ext cx="1325880" cy="731520"/>
          </a:xfrm>
          <a:prstGeom prst="roundRect">
            <a:avLst>
              <a:gd name="adj" fmla="val 10000"/>
            </a:avLst>
          </a:prstGeom>
          <a:solidFill>
            <a:srgbClr val="F5E2C8"/>
          </a:solidFill>
          <a:ln w="12700">
            <a:solidFill>
              <a:srgbClr val="C9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87384" y="3886200"/>
            <a:ext cx="117957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C97A2B"/>
                </a:solidFill>
                <a:latin typeface="Calibri"/>
              </a:rPr>
              <a:t>HMAC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SHA-256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05872" y="3931920"/>
            <a:ext cx="10515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79024" y="3931920"/>
            <a:ext cx="9052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tag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32 bytes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211312" y="3813048"/>
            <a:ext cx="502920" cy="301752"/>
          </a:xfrm>
          <a:prstGeom prst="line">
            <a:avLst/>
          </a:prstGeom>
          <a:ln w="15875">
            <a:solidFill>
              <a:srgbClr val="C97A2B"/>
            </a:solidFill>
            <a:tailEnd type="triangle" w="med" len="med"/>
          </a:ln>
        </p:spPr>
      </p:cxnSp>
      <p:cxnSp>
        <p:nvCxnSpPr>
          <p:cNvPr id="41" name="Connector 40"/>
          <p:cNvCxnSpPr/>
          <p:nvPr/>
        </p:nvCxnSpPr>
        <p:spPr>
          <a:xfrm flipV="1">
            <a:off x="8211312" y="4389120"/>
            <a:ext cx="502920" cy="292608"/>
          </a:xfrm>
          <a:prstGeom prst="line">
            <a:avLst/>
          </a:prstGeom>
          <a:ln w="15875">
            <a:solidFill>
              <a:srgbClr val="C97A2B"/>
            </a:solidFill>
            <a:tailEnd type="triangle" w="med" len="med"/>
          </a:ln>
        </p:spPr>
      </p:cxnSp>
      <p:cxnSp>
        <p:nvCxnSpPr>
          <p:cNvPr id="42" name="Connector 41"/>
          <p:cNvCxnSpPr/>
          <p:nvPr/>
        </p:nvCxnSpPr>
        <p:spPr>
          <a:xfrm>
            <a:off x="10040112" y="4251960"/>
            <a:ext cx="365760" cy="0"/>
          </a:xfrm>
          <a:prstGeom prst="line">
            <a:avLst/>
          </a:prstGeom>
          <a:ln w="15875">
            <a:solidFill>
              <a:srgbClr val="C97A2B"/>
            </a:solidFill>
            <a:tailEnd type="triangle" w="med" len="med"/>
          </a:ln>
        </p:spPr>
      </p:cxnSp>
      <p:sp>
        <p:nvSpPr>
          <p:cNvPr id="43" name="TextBox 42"/>
          <p:cNvSpPr txBox="1"/>
          <p:nvPr/>
        </p:nvSpPr>
        <p:spPr>
          <a:xfrm>
            <a:off x="6473952" y="525780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Only the client and the server know the key. Change even one byte on the way and the tag no longer matches. Total cost: +0.67% message size (plain JSON would be 5.6× bigger).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STEP 6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Server verification: two hard checks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Before anything else, the server checks that the message is genuine. Failures are dropped immediately.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09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48840"/>
            <a:ext cx="164592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2148840"/>
            <a:ext cx="1499616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Message arrives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from client 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214884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87752" y="2148840"/>
            <a:ext cx="1682496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Split it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length · header · payload · tag</a:t>
            </a:r>
          </a:p>
        </p:txBody>
      </p:sp>
      <p:sp>
        <p:nvSpPr>
          <p:cNvPr id="13" name="Diamond 12"/>
          <p:cNvSpPr/>
          <p:nvPr/>
        </p:nvSpPr>
        <p:spPr>
          <a:xfrm>
            <a:off x="4663440" y="2011680"/>
            <a:ext cx="2103120" cy="1371600"/>
          </a:xfrm>
          <a:prstGeom prst="diamond">
            <a:avLst/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011680"/>
            <a:ext cx="173736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46B62"/>
                </a:solidFill>
                <a:latin typeface="Calibri"/>
              </a:rPr>
              <a:t>Tag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46B62"/>
                </a:solidFill>
                <a:latin typeface="Calibri"/>
              </a:rPr>
              <a:t>matches?</a:t>
            </a:r>
          </a:p>
        </p:txBody>
      </p:sp>
      <p:sp>
        <p:nvSpPr>
          <p:cNvPr id="15" name="Diamond 14"/>
          <p:cNvSpPr/>
          <p:nvPr/>
        </p:nvSpPr>
        <p:spPr>
          <a:xfrm>
            <a:off x="7178040" y="2011680"/>
            <a:ext cx="2103120" cy="1371600"/>
          </a:xfrm>
          <a:prstGeom prst="diamond">
            <a:avLst/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0920" y="2011680"/>
            <a:ext cx="173736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46B62"/>
                </a:solidFill>
                <a:latin typeface="Calibri"/>
              </a:rPr>
              <a:t>Fingerprint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46B62"/>
                </a:solidFill>
                <a:latin typeface="Calibri"/>
              </a:rPr>
              <a:t>matches?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2148840"/>
            <a:ext cx="1993392" cy="1097280"/>
          </a:xfrm>
          <a:prstGeom prst="roundRect">
            <a:avLst>
              <a:gd name="adj" fmla="val 10000"/>
            </a:avLst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65792" y="2148840"/>
            <a:ext cx="184708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46B62"/>
                </a:solidFill>
                <a:latin typeface="Calibri"/>
              </a:rPr>
              <a:t>Accepted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go to scoring (step 7)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148840" y="2697480"/>
            <a:ext cx="365760" cy="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cxnSp>
        <p:nvCxnSpPr>
          <p:cNvPr id="20" name="Connector 19"/>
          <p:cNvCxnSpPr/>
          <p:nvPr/>
        </p:nvCxnSpPr>
        <p:spPr>
          <a:xfrm>
            <a:off x="4343400" y="2697480"/>
            <a:ext cx="320040" cy="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cxnSp>
        <p:nvCxnSpPr>
          <p:cNvPr id="21" name="Connector 20"/>
          <p:cNvCxnSpPr/>
          <p:nvPr/>
        </p:nvCxnSpPr>
        <p:spPr>
          <a:xfrm>
            <a:off x="6766560" y="2697480"/>
            <a:ext cx="411480" cy="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cxnSp>
        <p:nvCxnSpPr>
          <p:cNvPr id="22" name="Connector 21"/>
          <p:cNvCxnSpPr/>
          <p:nvPr/>
        </p:nvCxnSpPr>
        <p:spPr>
          <a:xfrm>
            <a:off x="9281160" y="2697480"/>
            <a:ext cx="411480" cy="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sp>
        <p:nvSpPr>
          <p:cNvPr id="23" name="TextBox 22"/>
          <p:cNvSpPr txBox="1"/>
          <p:nvPr/>
        </p:nvSpPr>
        <p:spPr>
          <a:xfrm>
            <a:off x="6720840" y="2404872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yes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404872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yes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715000" y="3383280"/>
            <a:ext cx="0" cy="502920"/>
          </a:xfrm>
          <a:prstGeom prst="line">
            <a:avLst/>
          </a:prstGeom>
          <a:ln w="15875">
            <a:solidFill>
              <a:srgbClr val="C97A2B"/>
            </a:solidFill>
            <a:tailEnd type="triangle" w="med" len="med"/>
          </a:ln>
        </p:spPr>
      </p:cxnSp>
      <p:sp>
        <p:nvSpPr>
          <p:cNvPr id="26" name="TextBox 25"/>
          <p:cNvSpPr txBox="1"/>
          <p:nvPr/>
        </p:nvSpPr>
        <p:spPr>
          <a:xfrm>
            <a:off x="5788152" y="34747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7A2B"/>
                </a:solidFill>
                <a:latin typeface="Calibri"/>
              </a:rPr>
              <a:t>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17720" y="3886200"/>
            <a:ext cx="2194560" cy="685800"/>
          </a:xfrm>
          <a:prstGeom prst="roundRect">
            <a:avLst>
              <a:gd name="adj" fmla="val 10000"/>
            </a:avLst>
          </a:prstGeom>
          <a:solidFill>
            <a:srgbClr val="F5E2C8"/>
          </a:solidFill>
          <a:ln w="12700">
            <a:solidFill>
              <a:srgbClr val="C9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90872" y="3886200"/>
            <a:ext cx="204825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C97A2B"/>
                </a:solidFill>
                <a:latin typeface="Calibri"/>
              </a:rPr>
              <a:t>Reject: bad_tag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changed on the way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29600" y="3383280"/>
            <a:ext cx="0" cy="502920"/>
          </a:xfrm>
          <a:prstGeom prst="line">
            <a:avLst/>
          </a:prstGeom>
          <a:ln w="15875">
            <a:solidFill>
              <a:srgbClr val="C97A2B"/>
            </a:solidFill>
            <a:tailEnd type="triangle" w="med" len="med"/>
          </a:ln>
        </p:spPr>
      </p:cxnSp>
      <p:sp>
        <p:nvSpPr>
          <p:cNvPr id="30" name="TextBox 29"/>
          <p:cNvSpPr txBox="1"/>
          <p:nvPr/>
        </p:nvSpPr>
        <p:spPr>
          <a:xfrm>
            <a:off x="8302752" y="34747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7A2B"/>
                </a:solidFill>
                <a:latin typeface="Calibri"/>
              </a:rPr>
              <a:t>no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0" y="3886200"/>
            <a:ext cx="2194560" cy="685800"/>
          </a:xfrm>
          <a:prstGeom prst="roundRect">
            <a:avLst>
              <a:gd name="adj" fmla="val 10000"/>
            </a:avLst>
          </a:prstGeom>
          <a:solidFill>
            <a:srgbClr val="F5E2C8"/>
          </a:solidFill>
          <a:ln w="12700">
            <a:solidFill>
              <a:srgbClr val="C9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05472" y="3886200"/>
            <a:ext cx="204825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C97A2B"/>
                </a:solidFill>
                <a:latin typeface="Calibri"/>
              </a:rPr>
              <a:t>Reject: fingerprint_mismatch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client lied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919472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846320"/>
            <a:ext cx="4572000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Check 1 · tag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The server recomputes the HMAC with that client's key and compares in constant time.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425440"/>
            <a:ext cx="91440" cy="9144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352288"/>
            <a:ext cx="4572000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72420"/>
                </a:solidFill>
                <a:latin typeface="Calibri"/>
              </a:rPr>
              <a:t>Check 2 · fingerprint  </a:t>
            </a:r>
            <a:r>
              <a:rPr sz="1200" b="0" i="0">
                <a:solidFill>
                  <a:srgbClr val="56655D"/>
                </a:solidFill>
                <a:latin typeface="Calibri"/>
              </a:rPr>
              <a:t>It recomputes the fingerprint from the payload instead of trusting the header.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0" y="4754880"/>
            <a:ext cx="4069080" cy="153619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0" y="4754880"/>
            <a:ext cx="4069080" cy="384048"/>
          </a:xfrm>
          <a:prstGeom prst="rect">
            <a:avLst/>
          </a:prstGeom>
          <a:solidFill>
            <a:srgbClr val="E7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15000" y="4754880"/>
            <a:ext cx="3063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onsolas"/>
              </a:rPr>
              <a:t>src/protocol.py · unpack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96128" y="5303520"/>
            <a:ext cx="36576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ts val="1188"/>
              </a:lnSpc>
            </a:pPr>
            <a:r>
              <a:rPr sz="750" b="0" i="0">
                <a:solidFill>
                  <a:srgbClr val="8A968F"/>
                </a:solidFill>
                <a:latin typeface="Consolas"/>
              </a:rPr>
              <a:t>1</a:t>
            </a:r>
          </a:p>
          <a:p>
            <a:pPr algn="r">
              <a:lnSpc>
                <a:spcPts val="1188"/>
              </a:lnSpc>
            </a:pPr>
            <a:r>
              <a:rPr sz="750" b="0" i="0">
                <a:solidFill>
                  <a:srgbClr val="8A968F"/>
                </a:solidFill>
                <a:latin typeface="Consolas"/>
              </a:rPr>
              <a:t>2</a:t>
            </a:r>
          </a:p>
          <a:p>
            <a:pPr algn="r">
              <a:lnSpc>
                <a:spcPts val="1188"/>
              </a:lnSpc>
            </a:pPr>
            <a:r>
              <a:rPr sz="750" b="0" i="0">
                <a:solidFill>
                  <a:srgbClr val="8A968F"/>
                </a:solidFill>
                <a:latin typeface="Consolas"/>
              </a:rPr>
              <a:t>3</a:t>
            </a:r>
          </a:p>
          <a:p>
            <a:pPr algn="r">
              <a:lnSpc>
                <a:spcPts val="1188"/>
              </a:lnSpc>
            </a:pPr>
            <a:r>
              <a:rPr sz="750" b="0" i="0">
                <a:solidFill>
                  <a:srgbClr val="8A968F"/>
                </a:solidFill>
                <a:latin typeface="Consolas"/>
              </a:rPr>
              <a:t>4</a:t>
            </a:r>
          </a:p>
          <a:p>
            <a:pPr algn="r">
              <a:lnSpc>
                <a:spcPts val="1188"/>
              </a:lnSpc>
            </a:pPr>
            <a:r>
              <a:rPr sz="750" b="0" i="0">
                <a:solidFill>
                  <a:srgbClr val="8A968F"/>
                </a:solidFill>
                <a:latin typeface="Consolas"/>
              </a:rPr>
              <a:t>5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053328" y="5257800"/>
            <a:ext cx="0" cy="896112"/>
          </a:xfrm>
          <a:prstGeom prst="line">
            <a:avLst/>
          </a:prstGeom>
          <a:ln w="9525">
            <a:solidFill>
              <a:srgbClr val="CFD6CB"/>
            </a:solidFill>
          </a:ln>
        </p:spPr>
      </p:cxnSp>
      <p:sp>
        <p:nvSpPr>
          <p:cNvPr id="42" name="TextBox 41"/>
          <p:cNvSpPr txBox="1"/>
          <p:nvPr/>
        </p:nvSpPr>
        <p:spPr>
          <a:xfrm>
            <a:off x="6199632" y="5303520"/>
            <a:ext cx="324612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88"/>
              </a:lnSpc>
            </a:pPr>
            <a:r>
              <a:rPr sz="900" b="1" i="0">
                <a:solidFill>
                  <a:srgbClr val="146B62"/>
                </a:solidFill>
                <a:latin typeface="Consolas"/>
              </a:rPr>
              <a:t>if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1" i="0">
                <a:solidFill>
                  <a:srgbClr val="146B62"/>
                </a:solidFill>
                <a:latin typeface="Consolas"/>
              </a:rPr>
              <a:t>not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hmac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compare_digest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tag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expected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:</a:t>
            </a:r>
          </a:p>
          <a:p>
            <a:pPr algn="l">
              <a:lnSpc>
                <a:spcPts val="1188"/>
              </a:lnSpc>
            </a:pP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1" i="0">
                <a:solidFill>
                  <a:srgbClr val="146B62"/>
                </a:solidFill>
                <a:latin typeface="Consolas"/>
              </a:rPr>
              <a:t>return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header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1" i="0">
                <a:solidFill>
                  <a:srgbClr val="146B62"/>
                </a:solidFill>
                <a:latin typeface="Consolas"/>
              </a:rPr>
              <a:t>None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9A5B13"/>
                </a:solidFill>
                <a:latin typeface="Consolas"/>
              </a:rPr>
              <a:t>"bad_tag"</a:t>
            </a:r>
          </a:p>
          <a:p>
            <a:pPr algn="l">
              <a:lnSpc>
                <a:spcPts val="1188"/>
              </a:lnSpc>
            </a:pPr>
            <a:r>
              <a:rPr sz="900" b="1" i="0">
                <a:solidFill>
                  <a:srgbClr val="146B62"/>
                </a:solidFill>
                <a:latin typeface="Consolas"/>
              </a:rPr>
              <a:t>if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1" i="0">
                <a:solidFill>
                  <a:srgbClr val="146B62"/>
                </a:solidFill>
                <a:latin typeface="Consolas"/>
              </a:rPr>
              <a:t>not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np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allclose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fp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.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compute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(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delta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900" b="0" i="0">
                <a:solidFill>
                  <a:srgbClr val="9A5B13"/>
                </a:solidFill>
                <a:latin typeface="Consolas"/>
              </a:rPr>
              <a:t>"sketch"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,</a:t>
            </a:r>
          </a:p>
          <a:p>
            <a:pPr algn="l">
              <a:lnSpc>
                <a:spcPts val="1188"/>
              </a:lnSpc>
            </a:pP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header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900" b="0" i="0">
                <a:solidFill>
                  <a:srgbClr val="9A5B13"/>
                </a:solidFill>
                <a:latin typeface="Consolas"/>
              </a:rPr>
              <a:t>"fp"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[</a:t>
            </a:r>
            <a:r>
              <a:rPr sz="900" b="0" i="0">
                <a:solidFill>
                  <a:srgbClr val="9A5B13"/>
                </a:solidFill>
                <a:latin typeface="Consolas"/>
              </a:rPr>
              <a:t>"sketch"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]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)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:</a:t>
            </a:r>
          </a:p>
          <a:p>
            <a:pPr algn="l">
              <a:lnSpc>
                <a:spcPts val="1188"/>
              </a:lnSpc>
            </a:pP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1" i="0">
                <a:solidFill>
                  <a:srgbClr val="146B62"/>
                </a:solidFill>
                <a:latin typeface="Consolas"/>
              </a:rPr>
              <a:t>return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header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1" i="0">
                <a:solidFill>
                  <a:srgbClr val="146B62"/>
                </a:solidFill>
                <a:latin typeface="Consolas"/>
              </a:rPr>
              <a:t>None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,</a:t>
            </a:r>
            <a:r>
              <a:rPr sz="900" b="0" i="0">
                <a:solidFill>
                  <a:srgbClr val="172420"/>
                </a:solidFill>
                <a:latin typeface="Consolas"/>
              </a:rPr>
              <a:t> </a:t>
            </a:r>
            <a:r>
              <a:rPr sz="900" b="0" i="0">
                <a:solidFill>
                  <a:srgbClr val="9A5B13"/>
                </a:solidFill>
                <a:latin typeface="Consolas"/>
              </a:rPr>
              <a:t>"fingerprint_mismatch"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92640" y="4754880"/>
            <a:ext cx="1993392" cy="1536192"/>
          </a:xfrm>
          <a:prstGeom prst="roundRect">
            <a:avLst>
              <a:gd name="adj" fmla="val 8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92640" y="4754880"/>
            <a:ext cx="1993392" cy="15361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146B62"/>
                </a:solidFill>
                <a:latin typeface="Arial Black"/>
              </a:rPr>
              <a:t>105 / 105</a:t>
            </a:r>
          </a:p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tampered messages rejected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STEP 7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Anomaly scoring: is this update suspicious?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Three cheap scores, computed only from the fingerprints of this round's updates.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10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3593592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10512"/>
            <a:ext cx="31363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Norm score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Is it much bigger or smaller than the others?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1325880" y="3220339"/>
            <a:ext cx="498254" cy="711581"/>
          </a:xfrm>
          <a:prstGeom prst="line">
            <a:avLst/>
          </a:prstGeom>
          <a:ln w="22225">
            <a:solidFill>
              <a:srgbClr val="146B62"/>
            </a:solidFill>
            <a:tailEnd type="triangle" w="med" len="med"/>
          </a:ln>
        </p:spPr>
      </p:cxnSp>
      <p:cxnSp>
        <p:nvCxnSpPr>
          <p:cNvPr id="12" name="Connector 11"/>
          <p:cNvCxnSpPr/>
          <p:nvPr/>
        </p:nvCxnSpPr>
        <p:spPr>
          <a:xfrm flipV="1">
            <a:off x="1325880" y="3314767"/>
            <a:ext cx="735495" cy="617153"/>
          </a:xfrm>
          <a:prstGeom prst="line">
            <a:avLst/>
          </a:prstGeom>
          <a:ln w="22225">
            <a:solidFill>
              <a:srgbClr val="146B62"/>
            </a:solidFill>
            <a:tailEnd type="triangle" w="med" len="med"/>
          </a:ln>
        </p:spPr>
      </p:cxnSp>
      <p:cxnSp>
        <p:nvCxnSpPr>
          <p:cNvPr id="13" name="Connector 12"/>
          <p:cNvCxnSpPr/>
          <p:nvPr/>
        </p:nvCxnSpPr>
        <p:spPr>
          <a:xfrm flipV="1">
            <a:off x="1325880" y="3564800"/>
            <a:ext cx="787291" cy="367120"/>
          </a:xfrm>
          <a:prstGeom prst="line">
            <a:avLst/>
          </a:prstGeom>
          <a:ln w="22225">
            <a:solidFill>
              <a:srgbClr val="146B62"/>
            </a:solidFill>
            <a:tailEnd type="triangle" w="med" len="med"/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325880" y="3773136"/>
            <a:ext cx="900508" cy="158784"/>
          </a:xfrm>
          <a:prstGeom prst="line">
            <a:avLst/>
          </a:prstGeom>
          <a:ln w="22225">
            <a:solidFill>
              <a:srgbClr val="146B62"/>
            </a:solidFill>
            <a:tailEnd type="triangle" w="med" len="med"/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325880" y="2617804"/>
            <a:ext cx="530937" cy="1314116"/>
          </a:xfrm>
          <a:prstGeom prst="line">
            <a:avLst/>
          </a:prstGeom>
          <a:ln w="28575">
            <a:solidFill>
              <a:srgbClr val="C97A2B"/>
            </a:solidFill>
            <a:tailEnd type="triangle" w="med" len="med"/>
          </a:ln>
        </p:spPr>
      </p:cxnSp>
      <p:sp>
        <p:nvSpPr>
          <p:cNvPr id="16" name="TextBox 15"/>
          <p:cNvSpPr txBox="1"/>
          <p:nvPr/>
        </p:nvSpPr>
        <p:spPr>
          <a:xfrm>
            <a:off x="2011680" y="260604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7A2B"/>
                </a:solidFill>
                <a:latin typeface="Calibri"/>
              </a:rPr>
              <a:t>too large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51960"/>
            <a:ext cx="3227832" cy="457200"/>
          </a:xfrm>
          <a:prstGeom prst="roundRect">
            <a:avLst>
              <a:gd name="adj" fmla="val 2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2278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46B62"/>
                </a:solidFill>
                <a:latin typeface="Calibri"/>
              </a:rPr>
              <a:t>| log( size / median size ) |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1691640"/>
            <a:ext cx="3593592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1810512"/>
            <a:ext cx="31363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Consensus score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Does it point away from everyone else?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5852160" y="3287993"/>
            <a:ext cx="1211051" cy="643927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852160" y="3087479"/>
            <a:ext cx="1080836" cy="844441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 flipV="1">
            <a:off x="5852160" y="2945274"/>
            <a:ext cx="952793" cy="986646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852160" y="3164931"/>
            <a:ext cx="1137108" cy="766989"/>
          </a:xfrm>
          <a:prstGeom prst="line">
            <a:avLst/>
          </a:prstGeom>
          <a:ln w="15875">
            <a:solidFill>
              <a:srgbClr val="8A968F"/>
            </a:solidFill>
            <a:tailEnd type="triangle" w="med" len="med"/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52160" y="2886351"/>
            <a:ext cx="1387517" cy="1045569"/>
          </a:xfrm>
          <a:prstGeom prst="line">
            <a:avLst/>
          </a:prstGeom>
          <a:ln w="31750">
            <a:solidFill>
              <a:srgbClr val="146B62"/>
            </a:solidFill>
            <a:tailEnd type="triangle" w="med" len="med"/>
          </a:ln>
        </p:spPr>
      </p:cxnSp>
      <p:sp>
        <p:nvSpPr>
          <p:cNvPr id="26" name="TextBox 25"/>
          <p:cNvSpPr txBox="1"/>
          <p:nvPr/>
        </p:nvSpPr>
        <p:spPr>
          <a:xfrm>
            <a:off x="7269480" y="26974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median</a:t>
            </a:r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4862293" y="3360420"/>
            <a:ext cx="989867" cy="571500"/>
          </a:xfrm>
          <a:prstGeom prst="line">
            <a:avLst/>
          </a:prstGeom>
          <a:ln w="28575">
            <a:solidFill>
              <a:srgbClr val="C97A2B"/>
            </a:solidFill>
            <a:tailEnd type="triangle" w="med" len="med"/>
          </a:ln>
        </p:spPr>
      </p:cxnSp>
      <p:sp>
        <p:nvSpPr>
          <p:cNvPr id="28" name="TextBox 27"/>
          <p:cNvSpPr txBox="1"/>
          <p:nvPr/>
        </p:nvSpPr>
        <p:spPr>
          <a:xfrm>
            <a:off x="4526280" y="3063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7A2B"/>
                </a:solidFill>
                <a:latin typeface="Calibri"/>
              </a:rPr>
              <a:t>outlier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4251960"/>
            <a:ext cx="3227832" cy="457200"/>
          </a:xfrm>
          <a:prstGeom prst="roundRect">
            <a:avLst>
              <a:gd name="adj" fmla="val 2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0" y="4251960"/>
            <a:ext cx="32278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46B62"/>
                </a:solidFill>
                <a:latin typeface="Calibri"/>
              </a:rPr>
              <a:t>1 − cos( sketch, median sketch 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2440" y="1691640"/>
            <a:ext cx="3593592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1810512"/>
            <a:ext cx="31363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72420"/>
                </a:solidFill>
                <a:latin typeface="Calibri"/>
              </a:rPr>
              <a:t>History score</a:t>
            </a:r>
          </a:p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Is it unlike this client's own last update?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8915400" y="2987859"/>
            <a:ext cx="1348259" cy="944061"/>
          </a:xfrm>
          <a:prstGeom prst="line">
            <a:avLst/>
          </a:prstGeom>
          <a:ln w="25400">
            <a:solidFill>
              <a:srgbClr val="8A968F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10332720" y="27889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8A968F"/>
                </a:solidFill>
                <a:latin typeface="Calibri"/>
              </a:rPr>
              <a:t>last round</a:t>
            </a:r>
          </a:p>
        </p:txBody>
      </p:sp>
      <p:cxnSp>
        <p:nvCxnSpPr>
          <p:cNvPr id="35" name="Connector 34"/>
          <p:cNvCxnSpPr/>
          <p:nvPr/>
        </p:nvCxnSpPr>
        <p:spPr>
          <a:xfrm flipH="1" flipV="1">
            <a:off x="8584070" y="2695380"/>
            <a:ext cx="331330" cy="1236540"/>
          </a:xfrm>
          <a:prstGeom prst="line">
            <a:avLst/>
          </a:prstGeom>
          <a:ln w="28575">
            <a:solidFill>
              <a:srgbClr val="C97A2B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8229600" y="30175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7A2B"/>
                </a:solidFill>
                <a:latin typeface="Calibri"/>
              </a:rPr>
              <a:t>this round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75320" y="4251960"/>
            <a:ext cx="3227832" cy="457200"/>
          </a:xfrm>
          <a:prstGeom prst="roundRect">
            <a:avLst>
              <a:gd name="adj" fmla="val 2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75320" y="4251960"/>
            <a:ext cx="32278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46B62"/>
                </a:solidFill>
                <a:latin typeface="Calibri"/>
              </a:rPr>
              <a:t>1 − cos( sketch, last sketch 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120640"/>
            <a:ext cx="11183112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5120640"/>
            <a:ext cx="54864" cy="1143000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120640"/>
            <a:ext cx="45720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Standardize within the round</a:t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46B62"/>
                </a:solidFill>
                <a:latin typeface="Calibri"/>
              </a:rPr>
              <a:t>z = (score − median) / (1.4826 × MAD)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5120640"/>
            <a:ext cx="621792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Each score is compared with the other clients in the same round. Lesson learned: our first version used fixed limits, and once training settled 65–96% of honest updates were flagged. Comparing within the round fixed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46430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4643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METHODOLOGY  ·  STEP 8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Decision: threshold, second check, capped average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Rounds 1–5 are clean and set the limits. From round 6 every update goes through this decision.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11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219456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783080"/>
            <a:ext cx="204825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3 standardized scores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600200" y="2468880"/>
            <a:ext cx="0" cy="22860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sp>
        <p:nvSpPr>
          <p:cNvPr id="12" name="Diamond 11"/>
          <p:cNvSpPr/>
          <p:nvPr/>
        </p:nvSpPr>
        <p:spPr>
          <a:xfrm>
            <a:off x="457200" y="2697480"/>
            <a:ext cx="2286000" cy="1051560"/>
          </a:xfrm>
          <a:prstGeom prst="diamond">
            <a:avLst/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19202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46B62"/>
                </a:solidFill>
                <a:latin typeface="Calibri"/>
              </a:rPr>
              <a:t>Any score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46B62"/>
                </a:solidFill>
                <a:latin typeface="Calibri"/>
              </a:rPr>
              <a:t>above limit?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2880360"/>
            <a:ext cx="1828800" cy="685800"/>
          </a:xfrm>
          <a:prstGeom prst="roundRect">
            <a:avLst>
              <a:gd name="adj" fmla="val 10000"/>
            </a:avLst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93592" y="2880360"/>
            <a:ext cx="168249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46B62"/>
                </a:solidFill>
                <a:latin typeface="Calibri"/>
              </a:rPr>
              <a:t>Accept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43200" y="3218688"/>
            <a:ext cx="777240" cy="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sp>
        <p:nvSpPr>
          <p:cNvPr id="17" name="TextBox 16"/>
          <p:cNvSpPr txBox="1"/>
          <p:nvPr/>
        </p:nvSpPr>
        <p:spPr>
          <a:xfrm>
            <a:off x="2880360" y="29260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600200" y="3749039"/>
            <a:ext cx="0" cy="228600"/>
          </a:xfrm>
          <a:prstGeom prst="line">
            <a:avLst/>
          </a:prstGeom>
          <a:ln w="15875">
            <a:solidFill>
              <a:srgbClr val="C97A2B"/>
            </a:solidFill>
            <a:tailEnd type="triangle" w="med" len="med"/>
          </a:ln>
        </p:spPr>
      </p:cxnSp>
      <p:sp>
        <p:nvSpPr>
          <p:cNvPr id="19" name="TextBox 18"/>
          <p:cNvSpPr txBox="1"/>
          <p:nvPr/>
        </p:nvSpPr>
        <p:spPr>
          <a:xfrm>
            <a:off x="1691640" y="3730752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97A2B"/>
                </a:solidFill>
                <a:latin typeface="Calibri"/>
              </a:rPr>
              <a:t>yes</a:t>
            </a:r>
          </a:p>
        </p:txBody>
      </p:sp>
      <p:sp>
        <p:nvSpPr>
          <p:cNvPr id="20" name="Diamond 19"/>
          <p:cNvSpPr/>
          <p:nvPr/>
        </p:nvSpPr>
        <p:spPr>
          <a:xfrm>
            <a:off x="457200" y="3977639"/>
            <a:ext cx="2286000" cy="1051560"/>
          </a:xfrm>
          <a:prstGeom prst="diamond">
            <a:avLst/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977639"/>
            <a:ext cx="19202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46B62"/>
                </a:solidFill>
                <a:latin typeface="Calibri"/>
              </a:rPr>
              <a:t>Close to</a:t>
            </a:r>
          </a:p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46B62"/>
                </a:solidFill>
                <a:latin typeface="Calibri"/>
              </a:rPr>
              <a:t>trimmed mean?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20440" y="4160520"/>
            <a:ext cx="1828800" cy="685800"/>
          </a:xfrm>
          <a:prstGeom prst="roundRect">
            <a:avLst>
              <a:gd name="adj" fmla="val 10000"/>
            </a:avLst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93592" y="4160520"/>
            <a:ext cx="168249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46B62"/>
                </a:solidFill>
                <a:latin typeface="Calibri"/>
              </a:rPr>
              <a:t>Rescue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56655D"/>
                </a:solidFill>
                <a:latin typeface="Calibri"/>
              </a:rPr>
              <a:t>accept after all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743200" y="4498848"/>
            <a:ext cx="777240" cy="0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sp>
        <p:nvSpPr>
          <p:cNvPr id="25" name="TextBox 24"/>
          <p:cNvSpPr txBox="1"/>
          <p:nvPr/>
        </p:nvSpPr>
        <p:spPr>
          <a:xfrm>
            <a:off x="2880360" y="420624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yes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600200" y="5029200"/>
            <a:ext cx="0" cy="228600"/>
          </a:xfrm>
          <a:prstGeom prst="line">
            <a:avLst/>
          </a:prstGeom>
          <a:ln w="15875">
            <a:solidFill>
              <a:srgbClr val="C97A2B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502920" y="5257800"/>
            <a:ext cx="2194560" cy="640080"/>
          </a:xfrm>
          <a:prstGeom prst="roundRect">
            <a:avLst>
              <a:gd name="adj" fmla="val 10000"/>
            </a:avLst>
          </a:prstGeom>
          <a:solidFill>
            <a:srgbClr val="F5E2C8"/>
          </a:solidFill>
          <a:ln w="12700">
            <a:solidFill>
              <a:srgbClr val="C97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5257800"/>
            <a:ext cx="204825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C97A2B"/>
                </a:solidFill>
                <a:latin typeface="Calibri"/>
              </a:rPr>
              <a:t>Reject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349240" y="3218688"/>
            <a:ext cx="320040" cy="0"/>
          </a:xfrm>
          <a:prstGeom prst="line">
            <a:avLst/>
          </a:prstGeom>
          <a:ln w="15875">
            <a:solidFill>
              <a:srgbClr val="146B62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5349240" y="4498848"/>
            <a:ext cx="320040" cy="0"/>
          </a:xfrm>
          <a:prstGeom prst="line">
            <a:avLst/>
          </a:prstGeom>
          <a:ln w="15875">
            <a:solidFill>
              <a:srgbClr val="146B62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5669280" y="3218688"/>
            <a:ext cx="0" cy="2039112"/>
          </a:xfrm>
          <a:prstGeom prst="line">
            <a:avLst/>
          </a:prstGeom>
          <a:ln w="15875">
            <a:solidFill>
              <a:srgbClr val="146B62"/>
            </a:solidFill>
            <a:tailEnd type="triangle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3520440" y="5257800"/>
            <a:ext cx="2377440" cy="640080"/>
          </a:xfrm>
          <a:prstGeom prst="roundRect">
            <a:avLst>
              <a:gd name="adj" fmla="val 10000"/>
            </a:avLst>
          </a:prstGeom>
          <a:solidFill>
            <a:srgbClr val="146B62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93592" y="5257800"/>
            <a:ext cx="223113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Capped FedAvg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D7EBE7"/>
                </a:solidFill>
                <a:latin typeface="Calibri"/>
              </a:rPr>
              <a:t>no client above 15%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1691640"/>
            <a:ext cx="5285232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1801368"/>
            <a:ext cx="5285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WHERE THE LIMIT COMES FROM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2103120"/>
            <a:ext cx="48280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56655D"/>
                </a:solidFill>
                <a:latin typeface="Calibri"/>
              </a:rPr>
              <a:t>Conformal threshold from the 5 clean rounds: about 5% of honest scores (alpha = 0.05) are allowed above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2880360"/>
            <a:ext cx="5285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2420"/>
                </a:solidFill>
                <a:latin typeface="Calibri"/>
              </a:rPr>
              <a:t>Global: one limit for all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766560" y="4206240"/>
            <a:ext cx="4645152" cy="0"/>
          </a:xfrm>
          <a:prstGeom prst="line">
            <a:avLst/>
          </a:prstGeom>
          <a:ln w="15875">
            <a:solidFill>
              <a:srgbClr val="CFD6CB"/>
            </a:solidFill>
          </a:ln>
        </p:spPr>
      </p:cxnSp>
      <p:sp>
        <p:nvSpPr>
          <p:cNvPr id="39" name="Oval 38"/>
          <p:cNvSpPr/>
          <p:nvPr/>
        </p:nvSpPr>
        <p:spPr>
          <a:xfrm>
            <a:off x="6858000" y="3886200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315200" y="3749040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772400" y="3941064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29600" y="3419856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686800" y="3337560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144000" y="3831336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601200" y="3995928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058400" y="3474720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515600" y="3694176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972800" y="3310129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6766560" y="3602736"/>
            <a:ext cx="4645152" cy="0"/>
          </a:xfrm>
          <a:prstGeom prst="line">
            <a:avLst/>
          </a:prstGeom>
          <a:ln w="19050">
            <a:solidFill>
              <a:srgbClr val="C97A2B"/>
            </a:solidFill>
          </a:ln>
        </p:spPr>
      </p:cxnSp>
      <p:sp>
        <p:nvSpPr>
          <p:cNvPr id="50" name="TextBox 49"/>
          <p:cNvSpPr txBox="1"/>
          <p:nvPr/>
        </p:nvSpPr>
        <p:spPr>
          <a:xfrm>
            <a:off x="10451592" y="3346704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97A2B"/>
                </a:solidFill>
                <a:latin typeface="Calibri"/>
              </a:rPr>
              <a:t>limit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20272" y="4224528"/>
            <a:ext cx="274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172420"/>
                </a:solidFill>
                <a:latin typeface="Calibr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4572000"/>
            <a:ext cx="5285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72420"/>
                </a:solidFill>
                <a:latin typeface="Calibri"/>
              </a:rPr>
              <a:t>Mondrian: one limit per cluster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766560" y="5897880"/>
            <a:ext cx="4645152" cy="0"/>
          </a:xfrm>
          <a:prstGeom prst="line">
            <a:avLst/>
          </a:prstGeom>
          <a:ln w="15875">
            <a:solidFill>
              <a:srgbClr val="CFD6CB"/>
            </a:solidFill>
          </a:ln>
        </p:spPr>
      </p:cxnSp>
      <p:sp>
        <p:nvSpPr>
          <p:cNvPr id="54" name="Oval 53"/>
          <p:cNvSpPr/>
          <p:nvPr/>
        </p:nvSpPr>
        <p:spPr>
          <a:xfrm>
            <a:off x="6858000" y="5577840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315200" y="5440680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772400" y="5632704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229600" y="5111496"/>
            <a:ext cx="146304" cy="146304"/>
          </a:xfrm>
          <a:prstGeom prst="ellipse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686800" y="5029200"/>
            <a:ext cx="146304" cy="146304"/>
          </a:xfrm>
          <a:prstGeom prst="ellipse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144000" y="5522976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9601200" y="5687568"/>
            <a:ext cx="146304" cy="146304"/>
          </a:xfrm>
          <a:prstGeom prst="ellipse">
            <a:avLst/>
          </a:prstGeom>
          <a:solidFill>
            <a:srgbClr val="2E5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058400" y="5166360"/>
            <a:ext cx="146304" cy="146304"/>
          </a:xfrm>
          <a:prstGeom prst="ellipse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515600" y="5385816"/>
            <a:ext cx="146304" cy="146304"/>
          </a:xfrm>
          <a:prstGeom prst="ellipse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0972800" y="5001769"/>
            <a:ext cx="146304" cy="146304"/>
          </a:xfrm>
          <a:prstGeom prst="ellipse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6784848" y="5390388"/>
            <a:ext cx="3950208" cy="0"/>
          </a:xfrm>
          <a:prstGeom prst="line">
            <a:avLst/>
          </a:prstGeom>
          <a:ln w="19050">
            <a:solidFill>
              <a:srgbClr val="146B62"/>
            </a:solidFill>
          </a:ln>
        </p:spPr>
      </p:cxnSp>
      <p:cxnSp>
        <p:nvCxnSpPr>
          <p:cNvPr id="65" name="Connector 64"/>
          <p:cNvCxnSpPr/>
          <p:nvPr/>
        </p:nvCxnSpPr>
        <p:spPr>
          <a:xfrm>
            <a:off x="8156448" y="5006340"/>
            <a:ext cx="3035808" cy="0"/>
          </a:xfrm>
          <a:prstGeom prst="line">
            <a:avLst/>
          </a:prstGeom>
          <a:ln w="19050">
            <a:solidFill>
              <a:srgbClr val="C97A2B"/>
            </a:solidFill>
          </a:ln>
        </p:spPr>
      </p:cxnSp>
      <p:cxnSp>
        <p:nvCxnSpPr>
          <p:cNvPr id="66" name="Connector 65"/>
          <p:cNvCxnSpPr/>
          <p:nvPr/>
        </p:nvCxnSpPr>
        <p:spPr>
          <a:xfrm>
            <a:off x="9528048" y="5678424"/>
            <a:ext cx="292608" cy="0"/>
          </a:xfrm>
          <a:prstGeom prst="line">
            <a:avLst/>
          </a:prstGeom>
          <a:ln w="19050">
            <a:solidFill>
              <a:srgbClr val="2E558A"/>
            </a:solidFill>
          </a:ln>
        </p:spPr>
      </p:cxnSp>
      <p:sp>
        <p:nvSpPr>
          <p:cNvPr id="67" name="TextBox 66"/>
          <p:cNvSpPr txBox="1"/>
          <p:nvPr/>
        </p:nvSpPr>
        <p:spPr>
          <a:xfrm>
            <a:off x="11320272" y="5916168"/>
            <a:ext cx="274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172420"/>
                </a:solidFill>
                <a:latin typeface="Calibri"/>
              </a:rPr>
              <a:t/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29400" y="5897880"/>
            <a:ext cx="48280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Dots = honest clients' scores. In the global plot, unusual clients sit above the line.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90982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90982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What the experiments show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Attack: 2 of 10 clients flip labels (attack ↔ normal) from round 6 of 12. Krypsis v2 = filter + second check + 15% cap. 5 (FLNET2023) / 10 (NSL-KDD) seeds.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12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91640"/>
            <a:ext cx="2423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99.96%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72420"/>
                </a:solidFill>
                <a:latin typeface="Calibri"/>
              </a:rPr>
              <a:t>FedAvg test accuracy, 10 routers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train 99.97% · validation 99.97%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1159" y="16002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14039" y="1691640"/>
            <a:ext cx="2423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105 / 105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72420"/>
                </a:solidFill>
                <a:latin typeface="Calibri"/>
              </a:rPr>
              <a:t>tampered messages rejected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integrity tag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9398" y="16002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2278" y="1691640"/>
            <a:ext cx="2423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74.3% · 99.3%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72420"/>
                </a:solidFill>
                <a:latin typeface="Calibri"/>
              </a:rPr>
              <a:t>poisoned updates caught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v2 Mondrian · FLNET2023 · NSL-KDD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87637" y="1600200"/>
            <a:ext cx="26974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70517" y="1691640"/>
            <a:ext cx="2423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146B62"/>
                </a:solidFill>
                <a:latin typeface="Calibri"/>
              </a:rPr>
              <a:t>0.7% · 1.8%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72420"/>
                </a:solidFill>
                <a:latin typeface="Calibri"/>
              </a:rPr>
              <a:t>honest updates wrongly excluded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v2 Mondrian · FLNET2023 · NSL-KDD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02920" y="3017520"/>
          <a:ext cx="548640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172200" y="3017520"/>
          <a:ext cx="5513832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852928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285292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COMPARISON  ·  RESEARCH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No protocol vs global vs Mondrian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11183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FLNET2023, 2 of 10 attackers, 15 seeds, paired t-tests.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13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1645920"/>
            <a:ext cx="237744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164592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No protocol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645920"/>
            <a:ext cx="237744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164592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Protocol + global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1645920"/>
            <a:ext cx="2377440" cy="3383280"/>
          </a:xfrm>
          <a:prstGeom prst="roundRect">
            <a:avLst>
              <a:gd name="adj" fmla="val 5000"/>
            </a:avLst>
          </a:prstGeom>
          <a:solidFill>
            <a:srgbClr val="D7EBE7"/>
          </a:solidFill>
          <a:ln w="12700">
            <a:solidFill>
              <a:srgbClr val="14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164592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Protocol + Mondrian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0" y="149047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1490472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2F4F0"/>
                </a:solidFill>
                <a:latin typeface="Calibri"/>
              </a:rPr>
              <a:t>BEST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2920" y="2194560"/>
            <a:ext cx="10424160" cy="0"/>
          </a:xfrm>
          <a:prstGeom prst="line">
            <a:avLst/>
          </a:prstGeom>
          <a:ln w="9525">
            <a:solidFill>
              <a:srgbClr val="CFD6CB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502920" y="2194560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Accuracy, rounds 6–12 (mean)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219456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172420"/>
                </a:solidFill>
                <a:latin typeface="Calibri"/>
              </a:rPr>
              <a:t>81.9%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19456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172420"/>
                </a:solidFill>
                <a:latin typeface="Calibri"/>
              </a:rPr>
              <a:t>85.0%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19456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146B62"/>
                </a:solidFill>
                <a:latin typeface="Calibri"/>
              </a:rPr>
              <a:t>94.6%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920" y="2743200"/>
            <a:ext cx="10424160" cy="0"/>
          </a:xfrm>
          <a:prstGeom prst="line">
            <a:avLst/>
          </a:prstGeom>
          <a:ln w="9525">
            <a:solidFill>
              <a:srgbClr val="CFD6CB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502920" y="2743200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Accuracy, last round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274320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172420"/>
                </a:solidFill>
                <a:latin typeface="Calibri"/>
              </a:rPr>
              <a:t>76.5%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274320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172420"/>
                </a:solidFill>
                <a:latin typeface="Calibri"/>
              </a:rPr>
              <a:t>88.2%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274320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146B62"/>
                </a:solidFill>
                <a:latin typeface="Calibri"/>
              </a:rPr>
              <a:t>88.0%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02920" y="3291840"/>
            <a:ext cx="10424160" cy="0"/>
          </a:xfrm>
          <a:prstGeom prst="line">
            <a:avLst/>
          </a:prstGeom>
          <a:ln w="9525">
            <a:solidFill>
              <a:srgbClr val="CFD6CB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502920" y="3291840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Attacks caught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329184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172420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329184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172420"/>
                </a:solidFill>
                <a:latin typeface="Calibri"/>
              </a:rPr>
              <a:t>29.5%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29184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146B62"/>
                </a:solidFill>
                <a:latin typeface="Calibri"/>
              </a:rPr>
              <a:t>70.0%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02920" y="3840480"/>
            <a:ext cx="10424160" cy="0"/>
          </a:xfrm>
          <a:prstGeom prst="line">
            <a:avLst/>
          </a:prstGeom>
          <a:ln w="9525">
            <a:solidFill>
              <a:srgbClr val="CFD6CB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502920" y="3840480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Honest wrongly flagged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1880" y="384048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172420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384048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172420"/>
                </a:solidFill>
                <a:latin typeface="Calibri"/>
              </a:rPr>
              <a:t>2.0%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384048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146B62"/>
                </a:solidFill>
                <a:latin typeface="Calibri"/>
              </a:rPr>
              <a:t>12.9%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02920" y="4389120"/>
            <a:ext cx="10424160" cy="0"/>
          </a:xfrm>
          <a:prstGeom prst="line">
            <a:avLst/>
          </a:prstGeom>
          <a:ln w="9525">
            <a:solidFill>
              <a:srgbClr val="CFD6CB"/>
            </a:solidFill>
          </a:ln>
        </p:spPr>
      </p:cxnSp>
      <p:sp>
        <p:nvSpPr>
          <p:cNvPr id="38" name="TextBox 37"/>
          <p:cNvSpPr txBox="1"/>
          <p:nvPr/>
        </p:nvSpPr>
        <p:spPr>
          <a:xfrm>
            <a:off x="502920" y="4389120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6655D"/>
                </a:solidFill>
                <a:latin typeface="Calibri"/>
              </a:rPr>
              <a:t>Tampered rejected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80" y="438912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172420"/>
                </a:solidFill>
                <a:latin typeface="Calibri"/>
              </a:rPr>
              <a:t>not checked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438912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172420"/>
                </a:solidFill>
                <a:latin typeface="Calibri"/>
              </a:rPr>
              <a:t>105 / 105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438912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146B62"/>
                </a:solidFill>
                <a:latin typeface="Calibri"/>
              </a:rPr>
              <a:t>105 / 105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257800"/>
            <a:ext cx="1118311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257800"/>
            <a:ext cx="54864" cy="914400"/>
          </a:xfrm>
          <a:prstGeom prst="rect">
            <a:avLst/>
          </a:prstGeom>
          <a:solidFill>
            <a:srgbClr val="C97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5257800"/>
            <a:ext cx="1072591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46B62"/>
                </a:solidFill>
                <a:latin typeface="Calibri"/>
              </a:rPr>
              <a:t>Answer: yes.  </a:t>
            </a:r>
            <a:r>
              <a:rPr sz="1350" b="0" i="0">
                <a:solidFill>
                  <a:srgbClr val="172420"/>
                </a:solidFill>
                <a:latin typeface="Calibri"/>
              </a:rPr>
              <a:t>Mondrian caught far more attacks (p &lt; 0.001) and kept accuracy higher during the attack (p = 0.007). Its cost, more honest updates flagged, is fixed by the second check: 0.7% in v2.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430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831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172420"/>
                </a:solidFill>
                <a:latin typeface="Arial Black"/>
              </a:rPr>
              <a:t>What we built and what we learned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KRYPSIS  ·  FINAL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4432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A968F"/>
                </a:solidFill>
                <a:latin typeface="Calibri"/>
              </a:rPr>
              <a:t>14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36192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36192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BUILT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20" y="1463040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A federated intrusion detector over 10 real router clients, with our own update protocol.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286000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286000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PROTOCOL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20" y="2212848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HMAC tag + verifiable fingerprint: all tampering rejected, poisoned updates filtered, +0.67% size.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035808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035808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20" y="2962656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Federated matches centralized; train, validation and test accuracy are equal on a fair 70 / 15 / 15 split, so no overfitting.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85616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785616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146B62"/>
                </a:solidFill>
                <a:latin typeface="Calibri"/>
              </a:rPr>
              <a:t>FINDING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20" y="3712464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Per-cluster (Mondrian) thresholds beat one global threshold on uneven routers; the second check removes their extra false alarms.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35424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F5E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535424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C97A2B"/>
                </a:solidFill>
                <a:latin typeface="Calibri"/>
              </a:rPr>
              <a:t>NEXT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20" y="4462272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More FLNET2023 seeds, the 11-class task, a secret sketch seed, a real network testbed.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0" y="1417320"/>
            <a:ext cx="4279392" cy="4846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5240" y="15544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8A968F"/>
                </a:solidFill>
                <a:latin typeface="Calibri"/>
              </a:rPr>
              <a:t>KEY REFERENCES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92024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FLNET2023 dataset, MILCOM 2023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46B62"/>
                </a:solidFill>
                <a:latin typeface="Calibri"/>
                <a:hlinkClick r:id="rId2"/>
              </a:rPr>
              <a:t>https://doi.org/10.1109/MILCOM58377.2023.10356272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5240" y="2450592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McMahan et al. 2017 · FedAvg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46B62"/>
                </a:solidFill>
                <a:latin typeface="Calibri"/>
                <a:hlinkClick r:id="rId3"/>
              </a:rPr>
              <a:t>https://arxiv.org/abs/1602.05629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2980944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Hsu et al. 2019 · Dirichlet non-IID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46B62"/>
                </a:solidFill>
                <a:latin typeface="Calibri"/>
                <a:hlinkClick r:id="rId4"/>
              </a:rPr>
              <a:t>https://arxiv.org/abs/1909.06335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3511296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Angelopoulos &amp; Bates 2021 · conformal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46B62"/>
                </a:solidFill>
                <a:latin typeface="Calibri"/>
                <a:hlinkClick r:id="rId5"/>
              </a:rPr>
              <a:t>https://arxiv.org/abs/2107.07511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4041648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Blanchard et al. 2017 · Krum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46B62"/>
                </a:solidFill>
                <a:latin typeface="Calibri"/>
                <a:hlinkClick r:id="rId6"/>
              </a:rPr>
              <a:t>https://arxiv.org/abs/1703.02757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457200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Yin et al. 2018 · trimmed mean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46B62"/>
                </a:solidFill>
                <a:latin typeface="Calibri"/>
                <a:hlinkClick r:id="rId7"/>
              </a:rPr>
              <a:t>https://arxiv.org/abs/1803.01498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5102352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Tolpegin et al. 2020 · label flipping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46B62"/>
                </a:solidFill>
                <a:latin typeface="Calibri"/>
                <a:hlinkClick r:id="rId8"/>
              </a:rPr>
              <a:t>https://arxiv.org/abs/2007.08432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5632704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RFC 2104 · HMAC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46B62"/>
                </a:solidFill>
                <a:latin typeface="Calibri"/>
                <a:hlinkClick r:id="rId9"/>
              </a:rPr>
              <a:t>https://www.rfc-editor.org/rfc/rfc2104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440680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 i="0">
                <a:solidFill>
                  <a:srgbClr val="172420"/>
                </a:solidFill>
                <a:latin typeface="Calibri"/>
              </a:rPr>
              <a:t>Thank you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A968F"/>
                </a:solidFill>
                <a:latin typeface="Calibri"/>
              </a:rPr>
              <a:t>Questions welcome  ·  code: github.com/Vinudharshini18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46B62"/>
      </a:hlink>
      <a:folHlink>
        <a:srgbClr val="146B6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