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72420"/>
                </a:solidFill>
                <a:latin typeface="Calibri"/>
              </a:rPr>
              <a:t>Accuracy under label-flipping attack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protocol</c:v>
                </c:pt>
              </c:strCache>
            </c:strRef>
          </c:tx>
          <c:spPr>
            <a:solidFill>
              <a:srgbClr val="8A968F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92.35561258507254</c:v>
                </c:pt>
                <c:pt idx="1">
                  <c:v>68.76863023420864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Krypsis</c:v>
                </c:pt>
              </c:strCache>
            </c:strRef>
          </c:tx>
          <c:spPr>
            <a:solidFill>
              <a:srgbClr val="146B62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96.72742826231901</c:v>
                </c:pt>
                <c:pt idx="1">
                  <c:v>79.15498580553584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>
                  <a:solidFill>
                    <a:srgbClr val="1724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6CB"/>
            </a:solidFill>
          </a:ln>
        </c:spPr>
        <c:txPr>
          <a:bodyPr/>
          <a:lstStyle/>
          <a:p>
            <a:pPr>
              <a:defRPr>
                <a:solidFill>
                  <a:srgbClr val="56655D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CFD6C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68F"/>
                </a:solidFill>
              </a:defRPr>
            </a:pPr>
          </a:p>
        </c:txPr>
        <c:crossAx val="-2068027336"/>
        <c:crosses val="autoZero"/>
        <c:majorUnit val="20.0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56655D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6655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72420"/>
                </a:solidFill>
                <a:latin typeface="Calibri"/>
              </a:rPr>
              <a:t>Naming the attack type (11 classes): macro-F1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C97A2B"/>
            </a:solidFill>
          </c:spPr>
          <c:cat>
            <c:strRef>
              <c:f>Sheet1!$A$2:$A$4</c:f>
              <c:strCache>
                <c:ptCount val="3"/>
                <c:pt idx="0">
                  <c:v>Centralized</c:v>
                </c:pt>
                <c:pt idx="1">
                  <c:v>FedAvg IID</c:v>
                </c:pt>
                <c:pt idx="2">
                  <c:v>FedAvg routers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78.9875770383257</c:v>
                </c:pt>
                <c:pt idx="1">
                  <c:v>75.88834627427782</c:v>
                </c:pt>
                <c:pt idx="2">
                  <c:v>38.89182280782382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>
                  <a:solidFill>
                    <a:srgbClr val="1724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6CB"/>
            </a:solidFill>
          </a:ln>
        </c:spPr>
        <c:txPr>
          <a:bodyPr/>
          <a:lstStyle/>
          <a:p>
            <a:pPr>
              <a:defRPr>
                <a:solidFill>
                  <a:srgbClr val="56655D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CFD6C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68F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56655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Our project is Krypsis: a network intrusion detection system trained</a:t>
            </a:r>
          </a:p>
          <a:p>
            <a:r>
              <a:t>with federated learning across 10 routers, protected by our own update protocol.</a:t>
            </a:r>
          </a:p>
          <a:p>
            <a:r>
              <a:t>Most of this talk is the methodology, step by step, with the real code we wrote.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intrusion detector needs lots of varied traffic to learn, but organisations</a:t>
            </a:r>
          </a:p>
          <a:p>
            <a:r>
              <a:t>cannot share their traffic because it is private. Federated learning solves that:</a:t>
            </a:r>
          </a:p>
          <a:p>
            <a:r>
              <a:t>each router trains locally and only sends model updates. But then the updates</a:t>
            </a:r>
          </a:p>
          <a:p>
            <a:r>
              <a:t>become the weak point: they can be changed on the way, or a bad client can send a</a:t>
            </a:r>
          </a:p>
          <a:p>
            <a:r>
              <a:t>poisoned one.</a:t>
            </a:r>
          </a:p>
          <a:p>
            <a:r>
              <a:t>Our five objectives are on the right. The research question at the bottom: since</a:t>
            </a:r>
          </a:p>
          <a:p>
            <a:r>
              <a:t>every router sees different traffic, does a single global threshold wrongly flag</a:t>
            </a:r>
          </a:p>
          <a:p>
            <a:r>
              <a:t>honest routers, and does a per-cluster Mondrian threshold do better?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method in eight steps. The top row is the federated learning</a:t>
            </a:r>
          </a:p>
          <a:p>
            <a:r>
              <a:t>system: prepare the data, split it into clients, define the model, train it with</a:t>
            </a:r>
          </a:p>
          <a:p>
            <a:r>
              <a:t>FedAvg. The highlighted bottom row is our protocol, Krypsis: build the message,</a:t>
            </a:r>
          </a:p>
          <a:p>
            <a:r>
              <a:t>verify it on the server, score how suspicious it is, then decide with a threshold</a:t>
            </a:r>
          </a:p>
          <a:p>
            <a:r>
              <a:t>and aggregate. Steps four to eight repeat every round. The next eight slides go</a:t>
            </a:r>
          </a:p>
          <a:p>
            <a:r>
              <a:t>through each step with its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 is the data. FLNET2023 records traffic at 10 routers, with normal traffic</a:t>
            </a:r>
          </a:p>
          <a:p>
            <a:r>
              <a:t>and 10 attack types. Line 1 and 2: we sample 10 percent of each file, because the</a:t>
            </a:r>
          </a:p>
          <a:p>
            <a:r>
              <a:t>full 4.8 million flows is too much to train many times. Line 3: we drop IP</a:t>
            </a:r>
          </a:p>
          <a:p>
            <a:r>
              <a:t>addresses, port and timestamp, otherwise the model would learn the attacker's</a:t>
            </a:r>
          </a:p>
          <a:p>
            <a:r>
              <a:t>address instead of what an attack looks like. Line 5: every flow keeps its router</a:t>
            </a:r>
          </a:p>
          <a:p>
            <a:r>
              <a:t>number, which becomes its client in step two. Lines 7 to 10 remove broken rows and</a:t>
            </a:r>
          </a:p>
          <a:p>
            <a:r>
              <a:t>columns that never change. Lines 12 to 18: the label is 0 for normal and 1 for</a:t>
            </a:r>
          </a:p>
          <a:p>
            <a:r>
              <a:t>attack; values are log-scaled then scaled to 0 to 1, with the scaler fitted only on</a:t>
            </a:r>
          </a:p>
          <a:p>
            <a:r>
              <a:t>training data so the test set stays unseen. The result: 564,007 training flows,</a:t>
            </a:r>
          </a:p>
          <a:p>
            <a:r>
              <a:t>79,491 test flows, 66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 decides which data each client holds. Lines 1 to 3: for FLNET2023 each real</a:t>
            </a:r>
          </a:p>
          <a:p>
            <a:r>
              <a:t>router is one client, so the data is naturally uneven: router 3 has 19 percent</a:t>
            </a:r>
          </a:p>
          <a:p>
            <a:r>
              <a:t>attacks, router 4 has 92 percent, as the small chart shows. Lines 5 to 9: the IID</a:t>
            </a:r>
          </a:p>
          <a:p>
            <a:r>
              <a:t>split shuffles everything and deals it out evenly. It is our control. Lines 11 to</a:t>
            </a:r>
          </a:p>
          <a:p>
            <a:r>
              <a:t>20: for NSL-KDD we create uneven clients with a Dirichlet split. For every attack</a:t>
            </a:r>
          </a:p>
          <a:p>
            <a:r>
              <a:t>type, the Dirichlet distribution gives each of the 10 clients a random share. Alpha</a:t>
            </a:r>
          </a:p>
          <a:p>
            <a:r>
              <a:t>0.5 makes them quite uneven. Uneven data matters because an honest client with</a:t>
            </a:r>
          </a:p>
          <a:p>
            <a:r>
              <a:t>unusual data can look like an attacker.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 is the model, a multilayer perceptron. It takes the 66 features. Lines 7</a:t>
            </a:r>
          </a:p>
          <a:p>
            <a:r>
              <a:t>to 13 are three hidden layers of 256, 128 and 64 neurons. Lines 8, 10 and 12 add</a:t>
            </a:r>
          </a:p>
          <a:p>
            <a:r>
              <a:t>dropout, which switches off random neurons during training, and line 4 adds L2,</a:t>
            </a:r>
          </a:p>
          <a:p>
            <a:r>
              <a:t>which keeps the weights small. Both stop the model from memorising. Line 13: one</a:t>
            </a:r>
          </a:p>
          <a:p>
            <a:r>
              <a:t>sigmoid output, the probability that a flow is an attack. It has 58,369 weights,</a:t>
            </a:r>
          </a:p>
          <a:p>
            <a:r>
              <a:t>which is exactly what every client sends to the server each round. Trained on all</a:t>
            </a:r>
          </a:p>
          <a:p>
            <a:r>
              <a:t>data in one place, this model is our centralized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 is federated training. Read the loop at the bottom first. Every round,</a:t>
            </a:r>
          </a:p>
          <a:p>
            <a:r>
              <a:t>line 14: each client copies the global model. Line 15: it trains on its own data for</a:t>
            </a:r>
          </a:p>
          <a:p>
            <a:r>
              <a:t>two passes. Lines 16 and 17: it sends back its new weights and its number of</a:t>
            </a:r>
          </a:p>
          <a:p>
            <a:r>
              <a:t>samples. Then lines 1 to 9, FedAvg: for every layer, the server multiplies each</a:t>
            </a:r>
          </a:p>
          <a:p>
            <a:r>
              <a:t>client's weights by that client's share of the data and adds them up. Line 18 makes</a:t>
            </a:r>
          </a:p>
          <a:p>
            <a:r>
              <a:t>that the new global model, and line 19 tests it. After 15 rounds the federated model</a:t>
            </a:r>
          </a:p>
          <a:p>
            <a:r>
              <a:t>reaches 99.93 percent, almost the same as the centralized model. In the protocol</a:t>
            </a:r>
          </a:p>
          <a:p>
            <a:r>
              <a:t>runs, steps five to eight sit between training and averaging.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five is our protocol on the client side. Delta is the update: new weights minus</a:t>
            </a:r>
          </a:p>
          <a:p>
            <a:r>
              <a:t>global weights. Lines 7 to 11 compute its fingerprint: the overall size of the</a:t>
            </a:r>
          </a:p>
          <a:p>
            <a:r>
              <a:t>update, the size per layer, and a sketch, which is the update squeezed into 64</a:t>
            </a:r>
          </a:p>
          <a:p>
            <a:r>
              <a:t>numbers by a random projection. Lines 3 to 5 make that projection from a public seed,</a:t>
            </a:r>
          </a:p>
          <a:p>
            <a:r>
              <a:t>so the server can compute exactly the same sketch. Lines 13 to 16 put the client ID,</a:t>
            </a:r>
          </a:p>
          <a:p>
            <a:r>
              <a:t>round, sample count and fingerprint into a header. Line 17 adds the update as raw</a:t>
            </a:r>
          </a:p>
          <a:p>
            <a:r>
              <a:t>bytes. Line 18 is the integrity tag: an HMAC with the client's secret key over the</a:t>
            </a:r>
          </a:p>
          <a:p>
            <a:r>
              <a:t>header and payload. The whole message is only 0.67 percent bigger than the update</a:t>
            </a:r>
          </a:p>
          <a:p>
            <a:r>
              <a:t>itself; plain JSON would be 5.6 times bigger.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six runs on the server. Lines 2 to 7 split the message into its parts and look up</a:t>
            </a:r>
          </a:p>
          <a:p>
            <a:r>
              <a:t>the key of the client who sent it. Lines 8 to 11: the server makes the HMAC again with</a:t>
            </a:r>
          </a:p>
          <a:p>
            <a:r>
              <a:t>that key. If even one byte changed on the way, the tags differ and the message is</a:t>
            </a:r>
          </a:p>
          <a:p>
            <a:r>
              <a:t>rejected. Lines 12 to 14 check the size. Lines 15 to 18: the server does not trust the</a:t>
            </a:r>
          </a:p>
          <a:p>
            <a:r>
              <a:t>fingerprint in the header. It computes it again from the payload, and if it does not</a:t>
            </a:r>
          </a:p>
          <a:p>
            <a:r>
              <a:t>match, the message is rejected, so a cheating client cannot hide a bad update behind</a:t>
            </a:r>
          </a:p>
          <a:p>
            <a:r>
              <a:t>a nice fingerprint. In our tests we flipped one byte in 105 messages, and all 105 were</a:t>
            </a:r>
          </a:p>
          <a:p>
            <a:r>
              <a:t>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seven gives each update three cheap scores, using only the fingerprints. Line 3</a:t>
            </a:r>
          </a:p>
          <a:p>
            <a:r>
              <a:t>builds the consensus: the median sketch of all clients. We use the median because a</a:t>
            </a:r>
          </a:p>
          <a:p>
            <a:r>
              <a:t>few attackers cannot drag it. Line 9, the norm score: is this update much bigger or</a:t>
            </a:r>
          </a:p>
          <a:p>
            <a:r>
              <a:t>smaller than the others? Line 10, the consensus score: does it point in a different</a:t>
            </a:r>
          </a:p>
          <a:p>
            <a:r>
              <a:t>direction from everyone else? Line 11, the history score: is it different from this</a:t>
            </a:r>
          </a:p>
          <a:p>
            <a:r>
              <a:t>same client's last update? Lines 15 to 21 standardize each score within the round.</a:t>
            </a:r>
          </a:p>
          <a:p>
            <a:r>
              <a:t>This was a lesson: our first version used fixed limits, and once training settled,</a:t>
            </a:r>
          </a:p>
          <a:p>
            <a:r>
              <a:t>65 to 96 percent of honest updates were flagged. Comparing within the round fixed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eight makes the decision. Lines 1 to 3: during the 5 clean calibration rounds we</a:t>
            </a:r>
          </a:p>
          <a:p>
            <a:r>
              <a:t>collect scores and set a conformal threshold, chosen so that only about 5 percent of</a:t>
            </a:r>
          </a:p>
          <a:p>
            <a:r>
              <a:t>honest scores would go above it. Lines 5 to 7: global means one limit for every</a:t>
            </a:r>
          </a:p>
          <a:p>
            <a:r>
              <a:t>client; Mondrian groups clients into 3 clusters with k-means and gives each cluster</a:t>
            </a:r>
          </a:p>
          <a:p>
            <a:r>
              <a:t>its own limit. That choice is our research question. Lines 9 to 11: if any of the</a:t>
            </a:r>
          </a:p>
          <a:p>
            <a:r>
              <a:t>three scores is above its limit, the update is flagged. Line 12: instead of throwing</a:t>
            </a:r>
          </a:p>
          <a:p>
            <a:r>
              <a:t>it away, a second check compares it with a trimmed mean of all updates; if it is</a:t>
            </a:r>
          </a:p>
          <a:p>
            <a:r>
              <a:t>close enough, it is rescued. Lines 15 to 17: the accepted updates are averaged, but</a:t>
            </a:r>
          </a:p>
          <a:p>
            <a:r>
              <a:t>no client may have more than 15 percent of the weight, so one large router cannot</a:t>
            </a:r>
          </a:p>
          <a:p>
            <a:r>
              <a:t>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results. Top left: federated training over the 10 routers reaches</a:t>
            </a:r>
          </a:p>
          <a:p>
            <a:r>
              <a:t>99.93%, almost the same as the centralized</a:t>
            </a:r>
          </a:p>
          <a:p>
            <a:r>
              <a:t>100.0%. Every one of the 105 tampered messages was rejected. Under</a:t>
            </a:r>
          </a:p>
          <a:p>
            <a:r>
              <a:t>the label-flipping attack the protocol caught 71.4% of</a:t>
            </a:r>
          </a:p>
          <a:p>
            <a:r>
              <a:t>poisoned updates on FLNET2023 and 99.3% on NSL-KDD,</a:t>
            </a:r>
          </a:p>
          <a:p>
            <a:r>
              <a:t>while wrongly flagging under 1.2 percent of honest ones.</a:t>
            </a:r>
          </a:p>
          <a:p>
            <a:r>
              <a:t>Bottom left: accuracy at the end of an attacked run, without and with Krypsis:</a:t>
            </a:r>
          </a:p>
          <a:p>
            <a:r>
              <a:t>FLNET2023 92.4% to 96.7%, NSL-KDD</a:t>
            </a:r>
          </a:p>
          <a:p>
            <a:r>
              <a:t>68.8% to 79.2%; the NSL-KDD gain is</a:t>
            </a:r>
          </a:p>
          <a:p>
            <a:r>
              <a:t>statistically significant, p = 0.009.</a:t>
            </a:r>
          </a:p>
          <a:p>
            <a:r>
              <a:t>Bottom right: the binary task is easy, so we also named the 11 traffic types. There,</a:t>
            </a:r>
          </a:p>
          <a:p>
            <a:r>
              <a:t>real uneven routers drop macro-F1 from 0.76 to 0.39: attack types that only one</a:t>
            </a:r>
          </a:p>
          <a:p>
            <a:r>
              <a:t>router sees get averaged away. That is the cost of non-IID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answers our research question, using the dedicated 15-seed experiment on</a:t>
            </a:r>
          </a:p>
          <a:p>
            <a:r>
              <a:t>FLNET2023. Without the protocol, accuracy under attack ends at</a:t>
            </a:r>
          </a:p>
          <a:p>
            <a:r>
              <a:t>78.0%. With the protocol and a global threshold it is</a:t>
            </a:r>
          </a:p>
          <a:p>
            <a:r>
              <a:t>88.2%; with Mondrian 87.5%. Mondrian</a:t>
            </a:r>
          </a:p>
          <a:p>
            <a:r>
              <a:t>caught slightly more attacks, 57.6% against</a:t>
            </a:r>
          </a:p>
          <a:p>
            <a:r>
              <a:t>53.3%, but also wrongly flagged more honest clients,</a:t>
            </a:r>
          </a:p>
          <a:p>
            <a:r>
              <a:t>4.6% against 2.7%. Paired</a:t>
            </a:r>
          </a:p>
          <a:p>
            <a:r>
              <a:t>t-tests over the 15 seeds show neither difference is significant. So the simpler</a:t>
            </a:r>
          </a:p>
          <a:p>
            <a:r>
              <a:t>global threshold is the best choice, and both rejected every tampered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conclude. We built a federated intrusion detector over 10 real router clients</a:t>
            </a:r>
          </a:p>
          <a:p>
            <a:r>
              <a:t>and our own protocol for the model updates. The protocol rejected every tampered</a:t>
            </a:r>
          </a:p>
          <a:p>
            <a:r>
              <a:t>message and filtered poisoned updates for less than 1 percent extra message size.</a:t>
            </a:r>
          </a:p>
          <a:p>
            <a:r>
              <a:t>Federated training almost matches centralized training, and under attack Krypsis</a:t>
            </a:r>
          </a:p>
          <a:p>
            <a:r>
              <a:t>keeps accuracy higher. Our research finding: one global threshold is enough; the</a:t>
            </a:r>
          </a:p>
          <a:p>
            <a:r>
              <a:t>per-cluster Mondrian threshold gave no significant gain. Next we would run the</a:t>
            </a:r>
          </a:p>
          <a:p>
            <a:r>
              <a:t>protocol on the 11-class task, use a trust-based weight cap, and test on a real</a:t>
            </a:r>
          </a:p>
          <a:p>
            <a:r>
              <a:t>network. The key references are on the right, and all the code and results are on</a:t>
            </a:r>
          </a:p>
          <a:p>
            <a:r>
              <a:t>GitHub. Thank you,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109/MILCOM58377.2023.10356272" TargetMode="External"/><Relationship Id="rId3" Type="http://schemas.openxmlformats.org/officeDocument/2006/relationships/hyperlink" Target="https://arxiv.org/abs/1602.05629" TargetMode="External"/><Relationship Id="rId4" Type="http://schemas.openxmlformats.org/officeDocument/2006/relationships/hyperlink" Target="https://arxiv.org/abs/1909.06335" TargetMode="External"/><Relationship Id="rId5" Type="http://schemas.openxmlformats.org/officeDocument/2006/relationships/hyperlink" Target="https://arxiv.org/abs/2107.07511" TargetMode="External"/><Relationship Id="rId6" Type="http://schemas.openxmlformats.org/officeDocument/2006/relationships/hyperlink" Target="https://arxiv.org/abs/1703.02757" TargetMode="External"/><Relationship Id="rId7" Type="http://schemas.openxmlformats.org/officeDocument/2006/relationships/hyperlink" Target="https://arxiv.org/abs/1803.01498" TargetMode="External"/><Relationship Id="rId8" Type="http://schemas.openxmlformats.org/officeDocument/2006/relationships/hyperlink" Target="https://arxiv.org/abs/2007.08432" TargetMode="External"/><Relationship Id="rId9" Type="http://schemas.openxmlformats.org/officeDocument/2006/relationships/hyperlink" Target="https://www.rfc-editor.org/rfc/rfc2104" TargetMode="External"/><Relationship Id="rId1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01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7A2B"/>
                </a:solidFill>
                <a:latin typeface="Calibri"/>
              </a:rPr>
              <a:t>COMPUTER NETWORKS  —  FINAL PROJECT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6858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0">
                <a:solidFill>
                  <a:srgbClr val="172420"/>
                </a:solidFill>
                <a:latin typeface="Arial Black"/>
              </a:rPr>
              <a:t>KRYPSIS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Federated network intrusion detection with a</a:t>
            </a:r>
          </a:p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security-fused model-update protocol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" y="4434840"/>
            <a:ext cx="6309360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94360" y="466344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Rithika K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466344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Pradhaniya 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Sathya K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53949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Vinudharshini PP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INTRODUCTION  · 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The problem, and what we set out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34924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6B62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965960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Detection needs data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An intrusion detector learns from traffic, but traffic logs are private and cannot be pooled.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4436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6B6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944368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Federated learning helps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Each router trains locally; only model updates travel to the server (FedAvg).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227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6B62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922776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Updates become the risk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Updates can be tampered with on the way, or poisoned by a bad client.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5544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920240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920240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1920240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Detect attacks without sharing raw traffic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2523744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523744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23744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Design our own secure update protocol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3127248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127248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127248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Stop tampered and poisoned updates before averaging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3730752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3730752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730752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Keep the protocol's message overhead small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80760" y="4334256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334256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334256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Test global vs per-cluster (Mondrian) thresholds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12080"/>
            <a:ext cx="11183112" cy="960120"/>
          </a:xfrm>
          <a:prstGeom prst="roundRect">
            <a:avLst>
              <a:gd name="adj" fmla="val 8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12080"/>
            <a:ext cx="1063447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RESEARCH QUESTION   </a:t>
            </a:r>
            <a:r>
              <a:rPr sz="1400" b="0" i="0">
                <a:solidFill>
                  <a:srgbClr val="172420"/>
                </a:solidFill>
                <a:latin typeface="Calibri"/>
              </a:rPr>
              <a:t>Routers see different traffic (non-IID). Does one global anomaly threshold wrongly flag honest but unusual routers, and do per-cluster (Mondrian) thresholds fix it?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23113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Eight steps, from raw traffic to a protected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Each step is one of the next slides, with the code that implements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Data &amp; preprocessing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preprocess.py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71800" y="249174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13" name="Rounded Rectangle 12"/>
          <p:cNvSpPr/>
          <p:nvPr/>
        </p:nvSpPr>
        <p:spPr>
          <a:xfrm>
            <a:off x="3410712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Client split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client_simulation.py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79592" y="249174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6318504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Model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model.py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87384" y="249174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9226296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7464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Federated training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federated_training.py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460736" y="3200400"/>
            <a:ext cx="0" cy="73152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9226296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27464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7464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Krypsis message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protocol.py · pack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8787384" y="464058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6318504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Server verification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protocol.py · unpack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5879592" y="464058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3410712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1880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Anomaly scoring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protocol.py · AnomalyScorer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71800" y="464058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37" name="Rounded Rectangle 36"/>
          <p:cNvSpPr/>
          <p:nvPr/>
        </p:nvSpPr>
        <p:spPr>
          <a:xfrm>
            <a:off x="502920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Threshold &amp; aggregation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calibrators · second check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46B62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72420"/>
                </a:solidFill>
                <a:latin typeface="Calibri"/>
              </a:rPr>
              <a:t>Steps 05–08 are our protocol, Krypsis.  </a:t>
            </a:r>
            <a:r>
              <a:rPr sz="1250" b="0" i="0">
                <a:solidFill>
                  <a:srgbClr val="56655D"/>
                </a:solidFill>
                <a:latin typeface="Calibri"/>
              </a:rPr>
              <a:t>Steps 04–08 repeat every round: 12–15 rounds per run.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06440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68F"/>
                </a:solidFill>
                <a:latin typeface="Calibri"/>
              </a:rPr>
              <a:t>One round: routers train locally → each sends a signed, fingerprinted update → the server verifies, scores and filters → capped FedAvg → new global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1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Data and preprocessing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FLNET2023: 10 routers, 11 traffic types  →  564,007 train / 79,491 test flows, 66 features.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onsolas"/>
              </a:rPr>
              <a:t>src/preprocess.py  (excerpt)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SAMPLE_FRACTION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0.10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4.8 M flows -&gt; 10% of each file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MIN_ROWS_PER_FILE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2000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keeps small attack files visible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DROP_COLUMNS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"src_ip"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"dst_ip"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"src_port"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"timestamp"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df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"router"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int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match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group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Dataset-3.csv -&gt; router 3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features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features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replace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inf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-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inf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nan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bad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features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isna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any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axis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df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loc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~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bad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drop broken rows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constant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cols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train_df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nunique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&lt;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2E558A"/>
                </a:solidFill>
                <a:latin typeface="Consolas"/>
              </a:rPr>
              <a:t>signed_log1p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x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values span 1 to 1e9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sign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x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log1p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abs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x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y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~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"label"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str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lower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isin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NORMAL_LABELS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astype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int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scaler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MinMaxScaler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fitted on TRAIN only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X_train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scaler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fit_transform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signed_log1p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X_train_raw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X_test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clip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scaler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transform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signed_log1p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X_test_raw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0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HOW IT 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L1–2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Sample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10% of every file, at least 2,000 rows, so training many runs stays fast.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Drop identifiers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IPs, port and time removed: learn behaviour, not the attacker's address.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75818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Tag the router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The router number becomes the client ID in step 2.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67258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672584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L7–10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654296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Clean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inf / NaN rows and 12 constant columns removed.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556869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5568696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L12–18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5550408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Label and scale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Normal = 0, attack = 1. Log, then 0–1 scaling fitted on training data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2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Client split: IID vs non-IID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IID = every client gets a similar mix.  Non-IID = every client is different.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onsolas"/>
              </a:rPr>
              <a:t>src/client_simulation.py · src/preprocess_nslkdd.py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2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3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4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5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6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7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8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9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10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11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12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13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14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15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16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17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18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19</a:t>
            </a:r>
          </a:p>
          <a:p>
            <a:pPr algn="r">
              <a:lnSpc>
                <a:spcPts val="1573"/>
              </a:lnSpc>
            </a:pPr>
            <a:r>
              <a:rPr sz="1041" b="0" i="0">
                <a:solidFill>
                  <a:srgbClr val="8A968F"/>
                </a:solidFill>
                <a:latin typeface="Consolas"/>
              </a:rPr>
              <a:t>20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3"/>
              </a:lnSpc>
            </a:pPr>
            <a:r>
              <a:rPr sz="1191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2E558A"/>
                </a:solidFill>
                <a:latin typeface="Consolas"/>
              </a:rPr>
              <a:t>split_by_router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router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1">
                <a:solidFill>
                  <a:srgbClr val="8A968F"/>
                </a:solidFill>
                <a:latin typeface="Consolas"/>
              </a:rPr>
              <a:t># FLNET2023: real non-IID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routers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unique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router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searchsorted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routers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router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1">
                <a:solidFill>
                  <a:srgbClr val="8A968F"/>
                </a:solidFill>
                <a:latin typeface="Consolas"/>
              </a:rPr>
              <a:t># router 1..10 -&gt; 0..9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573"/>
              </a:lnSpc>
            </a:pPr>
            <a:r>
              <a:rPr sz="1191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2E558A"/>
                </a:solidFill>
                <a:latin typeface="Consolas"/>
              </a:rPr>
              <a:t>split_iid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num_samples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num_clients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seed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C97A2B"/>
                </a:solidFill>
                <a:latin typeface="Consolas"/>
              </a:rPr>
              <a:t>42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1">
                <a:solidFill>
                  <a:srgbClr val="8A968F"/>
                </a:solidFill>
                <a:latin typeface="Consolas"/>
              </a:rPr>
              <a:t># control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rng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random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default_rng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seed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indices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rng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permutation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num_samples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chunks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array_split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indices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num_clients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1">
                <a:solidFill>
                  <a:srgbClr val="8A968F"/>
                </a:solidFill>
                <a:latin typeface="Consolas"/>
              </a:rPr>
              <a:t># chunk k -&gt; client k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573"/>
              </a:lnSpc>
            </a:pPr>
            <a:r>
              <a:rPr sz="1191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2E558A"/>
                </a:solidFill>
                <a:latin typeface="Consolas"/>
              </a:rPr>
              <a:t>split_non_iid_dirichlet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labels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num_clients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alpha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seed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rng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random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default_rng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seed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1">
                <a:solidFill>
                  <a:srgbClr val="8A968F"/>
                </a:solidFill>
                <a:latin typeface="Consolas"/>
              </a:rPr>
              <a:t># NSL-KDD, alpha = 0.5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assignment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full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len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labels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-</a:t>
            </a:r>
            <a:r>
              <a:rPr sz="1191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dtype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int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category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unique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labels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idx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where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labels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category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91" b="0" i="0">
                <a:solidFill>
                  <a:srgbClr val="C97A2B"/>
                </a:solidFill>
                <a:latin typeface="Consolas"/>
              </a:rPr>
              <a:t>0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rng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shuffle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idx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share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rng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dirichlet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alpha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ones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num_clients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sizes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share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len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idx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astype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int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1">
                <a:solidFill>
                  <a:srgbClr val="8A968F"/>
                </a:solidFill>
                <a:latin typeface="Consolas"/>
              </a:rPr>
              <a:t># give idx to clients by sizes</a:t>
            </a:r>
          </a:p>
          <a:p>
            <a:pPr algn="l">
              <a:lnSpc>
                <a:spcPts val="1573"/>
              </a:lnSpc>
            </a:pP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91" b="0" i="0">
                <a:solidFill>
                  <a:srgbClr val="172420"/>
                </a:solidFill>
                <a:latin typeface="Consolas"/>
              </a:rPr>
              <a:t>assignment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HOW IT 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Router split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Each real router is one client: the data is naturally uneven.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L5–9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IID split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Shuffle and deal evenly: a control to measure the cost of unevenness.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L11–20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75818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Dirichlet split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Each attack type is shared out with random proportions; smaller alpha = more uneven.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07492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968F"/>
                </a:solidFill>
                <a:latin typeface="Calibri"/>
              </a:rPr>
              <a:t>FLNET2023 · attack % per router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5867" y="5802600"/>
            <a:ext cx="225637" cy="305592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24427" y="5601432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4427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79798" y="5651724"/>
            <a:ext cx="225637" cy="45646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8358" y="5450556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8358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43729" y="6003950"/>
            <a:ext cx="225637" cy="104242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52289" y="5802782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2289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7661" y="5602895"/>
            <a:ext cx="225637" cy="505297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16221" y="5401727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16221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71592" y="5689580"/>
            <a:ext cx="225637" cy="418612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80152" y="5488412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80152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35523" y="5745541"/>
            <a:ext cx="225637" cy="362651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44083" y="5544373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44083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99454" y="5876666"/>
            <a:ext cx="225637" cy="231526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08014" y="5675498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8014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63385" y="5829483"/>
            <a:ext cx="225637" cy="278709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71945" y="5628315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71945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027317" y="5711525"/>
            <a:ext cx="225637" cy="396667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935877" y="5510357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35877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391248" y="5732374"/>
            <a:ext cx="225637" cy="37581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299808" y="5531206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99808" y="6135624"/>
            <a:ext cx="40851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046720" y="6108192"/>
            <a:ext cx="363931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3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Model: a multilayer perceptron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The same model is used centrally (baseline) and on every client.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06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onsolas"/>
              </a:rPr>
              <a:t>src/model.py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keras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layers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2E558A"/>
                </a:solidFill>
                <a:latin typeface="Consolas"/>
              </a:rPr>
              <a:t>build_model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input_dim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input_dim = 66 features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keras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regularizers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1e-4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model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keras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Sequential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Input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shape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input_dim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Dense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256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activation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"relu"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kernel_regularizer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Dropout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0.3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Dense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128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activation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"relu"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kernel_regularizer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Dropout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0.3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Dense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64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activation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"relu"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kernel_regularizer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Dropout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0.2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Dense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activation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"sigmoid"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model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compile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optimizer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"adam"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loss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"binary_crossentropy"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metrics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"accuracy"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HOW IT 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L7–13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Three hidden layers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256, 128 and 64 neurons with ReLU learn patterns in the flow features.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Dropout + L2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Randomly switch off neurons and keep weights small, to avoid memorising.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75818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Sigmoid output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One number from 0 to 1: the chance that a flow is an attack.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67258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672584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654296"/>
            <a:ext cx="27706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Training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Adam optimiser, binary cross-entropy loss.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5257800"/>
            <a:ext cx="566928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5257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66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613648" y="5486400"/>
            <a:ext cx="201168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8814816" y="5257800"/>
            <a:ext cx="566928" cy="457200"/>
          </a:xfrm>
          <a:prstGeom prst="roundRect">
            <a:avLst>
              <a:gd name="adj" fmla="val 15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14816" y="5257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256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81744" y="5486400"/>
            <a:ext cx="201168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9582912" y="5257800"/>
            <a:ext cx="566928" cy="457200"/>
          </a:xfrm>
          <a:prstGeom prst="roundRect">
            <a:avLst>
              <a:gd name="adj" fmla="val 15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5257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128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149840" y="5486400"/>
            <a:ext cx="201168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37" name="Rounded Rectangle 36"/>
          <p:cNvSpPr/>
          <p:nvPr/>
        </p:nvSpPr>
        <p:spPr>
          <a:xfrm>
            <a:off x="10351008" y="5257800"/>
            <a:ext cx="566928" cy="457200"/>
          </a:xfrm>
          <a:prstGeom prst="roundRect">
            <a:avLst>
              <a:gd name="adj" fmla="val 15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51008" y="5257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64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917936" y="5486400"/>
            <a:ext cx="201168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40" name="Rounded Rectangle 39"/>
          <p:cNvSpPr/>
          <p:nvPr/>
        </p:nvSpPr>
        <p:spPr>
          <a:xfrm>
            <a:off x="11119104" y="5257800"/>
            <a:ext cx="566928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19104" y="5257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5806440"/>
            <a:ext cx="3639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968F"/>
                </a:solidFill>
                <a:latin typeface="Calibri"/>
              </a:rPr>
              <a:t>input → hidden layers → output · 58,369 weights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4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Federated training with FedAvg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Clients train locally; the server averages their weights, weighted by data size.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onsolas"/>
              </a:rPr>
              <a:t>src/federated_training.py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19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2E558A"/>
                </a:solidFill>
                <a:latin typeface="Consolas"/>
              </a:rPr>
              <a:t>federated_average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weight_list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sample_counts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total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sum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sample_counts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averaged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layer_idx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range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len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weight_list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0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layer_sum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sum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weight_list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layer_idx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sample_counts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/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total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range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len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weight_list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averaged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append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layer_sum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averaged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round_num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range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num_rounds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+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15 rounds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client_id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range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num_clients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10 routers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mask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assignment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client_id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local_model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set_weights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global_weights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local_model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fit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X_train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mask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y_train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mask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epochs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local_weights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append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local_model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get_weights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sample_counts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append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mask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sum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global_weights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federated_average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local_weights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sample_counts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metrics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evaluate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global_model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X_test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y_test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HOW IT 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965960"/>
            <a:ext cx="27706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Start from global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Every client copies the current global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69748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69748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67919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Train locally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2 passes over its own data only; raw traffic never leaves.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59359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59359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L16–17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575304"/>
            <a:ext cx="27706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Send back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Its new weights and how many samples it used.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3068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306824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L1–9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288536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Weighted average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Each layer averaged; a client with more data counts more.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5486400"/>
            <a:ext cx="3639312" cy="731520"/>
          </a:xfrm>
          <a:prstGeom prst="roundRect">
            <a:avLst>
              <a:gd name="adj" fmla="val 8000"/>
            </a:avLst>
          </a:prstGeom>
          <a:solidFill>
            <a:srgbClr val="F5E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5486400"/>
            <a:ext cx="54864" cy="731520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5486400"/>
            <a:ext cx="33649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C97A2B"/>
                </a:solidFill>
                <a:latin typeface="Calibri"/>
              </a:rPr>
              <a:t>Result  </a:t>
            </a:r>
            <a:r>
              <a:rPr sz="1150" b="0" i="0">
                <a:solidFill>
                  <a:srgbClr val="172420"/>
                </a:solidFill>
                <a:latin typeface="Calibri"/>
              </a:rPr>
              <a:t>FedAvg over 10 routers 99.93% vs centralized 100.0%.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5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Krypsis message: fingerprint + integrity tag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Built on the client, right after local training, for every update.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onsolas"/>
              </a:rPr>
              <a:t>src/protocol.py  (client side)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19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146B62"/>
                </a:solidFill>
                <a:latin typeface="Consolas"/>
              </a:rPr>
              <a:t>class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2E558A"/>
                </a:solidFill>
                <a:latin typeface="Consolas"/>
              </a:rPr>
              <a:t>Fingerprinter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2E558A"/>
                </a:solidFill>
                <a:latin typeface="Consolas"/>
              </a:rPr>
              <a:t>__init__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weight_shapes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rng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random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default_rng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SKETCH_SEED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public: 2023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projection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rng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standard_normal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SKETCH_DIM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dim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/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math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sqrt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SKETCH_DIM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astype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float32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2E558A"/>
                </a:solidFill>
                <a:latin typeface="Consolas"/>
              </a:rPr>
              <a:t>compute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{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"l2"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float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linalg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norm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"layer_l2"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float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linalg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norm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layer_slices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"sketch"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self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projection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@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tolist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}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2E558A"/>
                </a:solidFill>
                <a:latin typeface="Consolas"/>
              </a:rPr>
              <a:t>pack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client_id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round_num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num_samples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key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json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dumps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{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"client"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client_id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"round"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round_num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"n"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num_samples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"fp"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compute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}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separators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","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":"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encode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astype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float32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tobytes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tag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hmac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new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key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+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hashlib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sha256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digest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len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to_bytes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4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"big"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+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+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+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HOW IT 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L3–5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Shared random projection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Public seed, so client and server compute the same sketch.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L7–11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Fingerprint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Update size, size per layer, and 64 numbers that capture its direction.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L17–19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75818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Payload + tag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Update as raw bytes, sealed with HMAC-SHA256 and the client's secret key.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5212080"/>
            <a:ext cx="56692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5230368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72420"/>
                </a:solidFill>
                <a:latin typeface="Calibri"/>
              </a:rPr>
              <a:t>4 B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length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50224" y="5212080"/>
            <a:ext cx="1097280" cy="685800"/>
          </a:xfrm>
          <a:prstGeom prst="rect">
            <a:avLst/>
          </a:prstGeom>
          <a:solidFill>
            <a:srgbClr val="D7EBE7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50224" y="5230368"/>
            <a:ext cx="1097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72420"/>
                </a:solidFill>
                <a:latin typeface="Calibri"/>
              </a:rPr>
              <a:t>~1.5 KB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header + fingerprint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0" y="5212080"/>
            <a:ext cx="124358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5230368"/>
            <a:ext cx="124358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72420"/>
                </a:solidFill>
                <a:latin typeface="Calibri"/>
              </a:rPr>
              <a:t>233 KB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model update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064240" y="5212080"/>
            <a:ext cx="621792" cy="685800"/>
          </a:xfrm>
          <a:prstGeom prst="rect">
            <a:avLst/>
          </a:prstGeom>
          <a:solidFill>
            <a:srgbClr val="F5E2C8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64240" y="5230368"/>
            <a:ext cx="6217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72420"/>
                </a:solidFill>
                <a:latin typeface="Calibri"/>
              </a:rPr>
              <a:t>32 B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HMAC tag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961888"/>
            <a:ext cx="36393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97A2B"/>
                </a:solidFill>
                <a:latin typeface="Calibri"/>
              </a:rPr>
              <a:t>+0.67% size · JSON would be 5.6×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6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Server verification: reject before reading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Two hard checks. Anything that fails is dropped before it can be averaged.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09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onsolas"/>
              </a:rPr>
              <a:t>src/protocol.py · unpack  (excerpt)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19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2E558A"/>
                </a:solidFill>
                <a:latin typeface="Consolas"/>
              </a:rPr>
              <a:t>unpack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message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keys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fingerprinter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header_len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int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from_bytes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message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4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"big"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header_bytes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message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4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4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+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header_len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message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4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+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header_len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-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32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tag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message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-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32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json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loads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header_bytes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key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keys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"client"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expected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hmac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new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key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header_bytes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+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hashlib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sha256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digest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not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hmac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compare_digest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tag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expected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None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"bad_tag"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changed on the way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frombuffer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payload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dtype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float32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size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!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fingerprinter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dim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None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"bad_size"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actual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fingerprinter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compute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recompute it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claimed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"fp"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not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allclose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actual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"sketch"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claimed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"sketch"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None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9A5B13"/>
                </a:solidFill>
                <a:latin typeface="Consolas"/>
              </a:rPr>
              <a:t>"fingerprint_mismatch"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HOW IT 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L2–7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Split the message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Length, header, payload and tag; find the client's key.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L8–11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Check the tag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Recompute the HMAC. One changed byte gives a different tag: reject.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L15–18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75818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Check the fingerprint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Recompute it from the payload, so a client cannot fake an innocent one.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5486400"/>
            <a:ext cx="3639312" cy="731520"/>
          </a:xfrm>
          <a:prstGeom prst="roundRect">
            <a:avLst>
              <a:gd name="adj" fmla="val 8000"/>
            </a:avLst>
          </a:prstGeom>
          <a:solidFill>
            <a:srgbClr val="F5E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5486400"/>
            <a:ext cx="54864" cy="731520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5486400"/>
            <a:ext cx="33649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C97A2B"/>
                </a:solidFill>
                <a:latin typeface="Calibri"/>
              </a:rPr>
              <a:t>Result  </a:t>
            </a:r>
            <a:r>
              <a:rPr sz="1150" b="0" i="0">
                <a:solidFill>
                  <a:srgbClr val="172420"/>
                </a:solidFill>
                <a:latin typeface="Calibri"/>
              </a:rPr>
              <a:t>105 of 105 tampered messages rejected (one byte flipped each).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7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Anomaly scoring: three cheap scores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Computed from the fingerprints only, before touching the full update.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onsolas"/>
              </a:rPr>
              <a:t>src/protocol.py · AnomalyScorer  (excerpt)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2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3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4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5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6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7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8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9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10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11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12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13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14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15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16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17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18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19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20</a:t>
            </a:r>
          </a:p>
          <a:p>
            <a:pPr algn="r">
              <a:lnSpc>
                <a:spcPts val="1498"/>
              </a:lnSpc>
            </a:pPr>
            <a:r>
              <a:rPr sz="985" b="0" i="0">
                <a:solidFill>
                  <a:srgbClr val="8A968F"/>
                </a:solidFill>
                <a:latin typeface="Consolas"/>
              </a:rPr>
              <a:t>21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8"/>
              </a:lnSpc>
            </a:pPr>
            <a:r>
              <a:rPr sz="1135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2E558A"/>
                </a:solidFill>
                <a:latin typeface="Consolas"/>
              </a:rPr>
              <a:t>score_round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self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fps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sketches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{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asarray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9A5B13"/>
                </a:solidFill>
                <a:latin typeface="Consolas"/>
              </a:rPr>
              <a:t>"sketch"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fps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items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}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consensus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stack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list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sketches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axis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C97A2B"/>
                </a:solidFill>
                <a:latin typeface="Consolas"/>
              </a:rPr>
              <a:t>0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median_norm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float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9A5B13"/>
                </a:solidFill>
                <a:latin typeface="Consolas"/>
              </a:rPr>
              <a:t>"l2"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fps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{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}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fps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items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prev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self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prev_sketch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get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{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9A5B13"/>
                </a:solidFill>
                <a:latin typeface="Consolas"/>
              </a:rPr>
              <a:t>"norm"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abs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math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log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9A5B13"/>
                </a:solidFill>
                <a:latin typeface="Consolas"/>
              </a:rPr>
              <a:t>"l2"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/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median_norm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9A5B13"/>
                </a:solidFill>
                <a:latin typeface="Consolas"/>
              </a:rPr>
              <a:t>"consensus"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C97A2B"/>
                </a:solidFill>
                <a:latin typeface="Consolas"/>
              </a:rPr>
              <a:t>1.0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-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cosine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sketches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consensus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9A5B13"/>
                </a:solidFill>
                <a:latin typeface="Consolas"/>
              </a:rPr>
              <a:t>"history"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C97A2B"/>
                </a:solidFill>
                <a:latin typeface="Consolas"/>
              </a:rPr>
              <a:t>1.0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-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cosine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sketches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prev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}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standardize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498"/>
              </a:lnSpc>
            </a:pPr>
            <a:r>
              <a:rPr sz="1135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2E558A"/>
                </a:solidFill>
                <a:latin typeface="Consolas"/>
              </a:rPr>
              <a:t>standardize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1">
                <a:solidFill>
                  <a:srgbClr val="8A968F"/>
                </a:solidFill>
                <a:latin typeface="Consolas"/>
              </a:rPr>
              <a:t># robust z within the round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name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SCORE_NAMES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array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name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float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scale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C97A2B"/>
                </a:solidFill>
                <a:latin typeface="Consolas"/>
              </a:rPr>
              <a:t>1.4826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float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abs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values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-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498"/>
              </a:lnSpc>
            </a:pP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out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name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name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-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median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/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135" b="0" i="0">
                <a:solidFill>
                  <a:srgbClr val="172420"/>
                </a:solidFill>
                <a:latin typeface="Consolas"/>
              </a:rPr>
              <a:t>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HOW IT 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Norm score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Is this update much bigger or smaller than the others?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862072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Consensus score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Does it point away from the median of all clients? Medians resist attackers.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77647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7647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758184"/>
            <a:ext cx="27706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History score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Is it unlike this client's own last update?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48970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489704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L15–21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471416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Standardize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Compare each score with this round's other clients (robust z-score).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5486400"/>
            <a:ext cx="3639312" cy="731520"/>
          </a:xfrm>
          <a:prstGeom prst="roundRect">
            <a:avLst>
              <a:gd name="adj" fmla="val 8000"/>
            </a:avLst>
          </a:prstGeom>
          <a:solidFill>
            <a:srgbClr val="F5E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5486400"/>
            <a:ext cx="54864" cy="731520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5486400"/>
            <a:ext cx="33649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C97A2B"/>
                </a:solidFill>
                <a:latin typeface="Calibri"/>
              </a:rPr>
              <a:t>Why lines 15–21  </a:t>
            </a:r>
            <a:r>
              <a:rPr sz="1150" b="0" i="0">
                <a:solidFill>
                  <a:srgbClr val="172420"/>
                </a:solidFill>
                <a:latin typeface="Calibri"/>
              </a:rPr>
              <a:t>our first version used fixed limits and flagged 65–96% of honest updates.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8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Threshold, second check and capped averaging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Rounds 1–5 are clean and set the limits; from round 6 every update is judged.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11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7315200" cy="46817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7315200" cy="384048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309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onsolas"/>
              </a:rPr>
              <a:t>src/protocol.py · defense_experiment.py  (excerpt)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148840"/>
            <a:ext cx="36576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7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8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9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10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11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12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13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14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15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16</a:t>
            </a:r>
          </a:p>
          <a:p>
            <a:pPr algn="r">
              <a:lnSpc>
                <a:spcPts val="1650"/>
              </a:lnSpc>
            </a:pPr>
            <a:r>
              <a:rPr sz="1100" b="0" i="0">
                <a:solidFill>
                  <a:srgbClr val="8A968F"/>
                </a:solidFill>
                <a:latin typeface="Consolas"/>
              </a:rPr>
              <a:t>17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9848" y="2103120"/>
            <a:ext cx="0" cy="4041648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16152" y="2148840"/>
            <a:ext cx="649224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146B62"/>
                </a:solidFill>
                <a:latin typeface="Consolas"/>
              </a:rPr>
              <a:t>def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2E558A"/>
                </a:solidFill>
                <a:latin typeface="Consolas"/>
              </a:rPr>
              <a:t>conformal_threshold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alpha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alpha = 0.05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rank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math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ceil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len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+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-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alpha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float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sort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rank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-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1">
                <a:solidFill>
                  <a:srgbClr val="8A968F"/>
                </a:solidFill>
                <a:latin typeface="Consolas"/>
              </a:rPr>
              <a:t># Global: one threshold per score for all clients</a:t>
            </a:r>
          </a:p>
          <a:p>
            <a:pPr algn="l">
              <a:lnSpc>
                <a:spcPts val="1650"/>
              </a:lnSpc>
            </a:pPr>
            <a:r>
              <a:rPr sz="1250" b="0" i="1">
                <a:solidFill>
                  <a:srgbClr val="8A968F"/>
                </a:solidFill>
                <a:latin typeface="Consolas"/>
              </a:rPr>
              <a:t># Mondrian: k-means (k = 3) on calibration sketches, one per cluster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labels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KMeans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n_clusters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k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n_init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10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fit_predict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profiles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passed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{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items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not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is_flagged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scores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calibrator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threshold_for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}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flagged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{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deltas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items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if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not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passed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}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rescued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second_check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passed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flagged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0.2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1">
                <a:solidFill>
                  <a:srgbClr val="8A968F"/>
                </a:solidFill>
                <a:latin typeface="Consolas"/>
              </a:rPr>
              <a:t># trimmed-mean test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accepted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{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passed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rescued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}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weights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capped_weights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{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: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counts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accepted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}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C97A2B"/>
                </a:solidFill>
                <a:latin typeface="Consolas"/>
              </a:rPr>
              <a:t>1.5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global_vec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=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global_vec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+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sum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accepted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*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weights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]</a:t>
            </a:r>
          </a:p>
          <a:p>
            <a:pPr algn="l">
              <a:lnSpc>
                <a:spcPts val="1650"/>
              </a:lnSpc>
            </a:pP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for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c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1" i="0">
                <a:solidFill>
                  <a:srgbClr val="146B62"/>
                </a:solidFill>
                <a:latin typeface="Consolas"/>
              </a:rPr>
              <a:t>in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accepted</a:t>
            </a:r>
            <a:r>
              <a:rPr sz="1250" b="0" i="0">
                <a:solidFill>
                  <a:srgbClr val="172420"/>
                </a:solidFill>
                <a:latin typeface="Consolas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60020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HOW IT 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84248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965960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Set the limit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From clean rounds: only ~5% of honest scores should cross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80360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L9–11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862072"/>
            <a:ext cx="27706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Flag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Any score above its limit flags the update.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59359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593592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L12–13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575304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Second check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A flagged update close to a trimmed-mean reference is rescued.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48970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489704"/>
            <a:ext cx="749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onsolas"/>
              </a:rPr>
              <a:t>L15–17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471416"/>
            <a:ext cx="2770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Capped FedAvg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No client gets more than 15% weight (1.5 × 1/10).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5532120"/>
            <a:ext cx="3639312" cy="731520"/>
          </a:xfrm>
          <a:prstGeom prst="roundRect">
            <a:avLst>
              <a:gd name="adj" fmla="val 8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5532120"/>
            <a:ext cx="54864" cy="73152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5532120"/>
            <a:ext cx="33649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46B62"/>
                </a:solidFill>
                <a:latin typeface="Calibri"/>
              </a:rPr>
              <a:t>Global </a:t>
            </a:r>
            <a:r>
              <a:rPr sz="1150" b="0" i="0">
                <a:solidFill>
                  <a:srgbClr val="172420"/>
                </a:solidFill>
                <a:latin typeface="Calibri"/>
              </a:rPr>
              <a:t>one limit for everyone.  </a:t>
            </a:r>
            <a:r>
              <a:rPr sz="1150" b="1" i="0">
                <a:solidFill>
                  <a:srgbClr val="146B62"/>
                </a:solidFill>
                <a:latin typeface="Calibri"/>
              </a:rPr>
              <a:t>Mondrian </a:t>
            </a:r>
            <a:r>
              <a:rPr sz="1150" b="0" i="0">
                <a:solidFill>
                  <a:srgbClr val="172420"/>
                </a:solidFill>
                <a:latin typeface="Calibri"/>
              </a:rPr>
              <a:t>one limit per cluster of similar clients.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90982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9098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What the experiments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Attack: 2 of 10 clients flip labels (attack ↔ normal) from round 6 of 12. Means over 5 (FLNET2023) and 10 (NSL-KDD) seeds.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99.93%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FedAvg accuracy, 10 routers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centralized 100.0%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1159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4039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105 / 105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tampered messages rejected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integrity tag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398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2278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71.4% · 99.3%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poisoned updates caught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FLNET2023 · NSL-KDD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7637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0517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0.4% · 1.1%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honest updates wrongly flagged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FLNET2023 · NSL-KDD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02920" y="3017520"/>
          <a:ext cx="54864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172200" y="3017520"/>
          <a:ext cx="5513832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85292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529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COMPARISON  ·  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No protocol vs global vs Mondrian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FLNET2023, 2 of 10 attackers, 15 seeds, paired t-tests.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69164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916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No protocol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69164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6916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Protocol + global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15361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536192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2F4F0"/>
                </a:solidFill>
                <a:latin typeface="Calibri"/>
              </a:rPr>
              <a:t>BEST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69164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6916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Protocol + Mondrian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2350008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02920" y="2350008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Accuracy under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35000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78.0%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5000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88.2%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35000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87.5%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3008376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502920" y="3008376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Attacks caught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0083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0083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53.3%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0083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57.6%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3666744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02920" y="3666744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Honest wrongly flagged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66674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366674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2.7%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66674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4.6%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2920" y="4325112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02920" y="4325112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Tampered rejected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32511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not checked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32511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105 / 105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32511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105 / 105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257800"/>
            <a:ext cx="1118311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257800"/>
            <a:ext cx="54864" cy="914400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257800"/>
            <a:ext cx="107259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C97A2B"/>
                </a:solidFill>
                <a:latin typeface="Calibri"/>
              </a:rPr>
              <a:t>Answer: no.  </a:t>
            </a:r>
            <a:r>
              <a:rPr sz="1350" b="0" i="0">
                <a:solidFill>
                  <a:srgbClr val="172420"/>
                </a:solidFill>
                <a:latin typeface="Calibri"/>
              </a:rPr>
              <a:t>Mondrian caught a little more but flagged more honest clients; neither difference is significant (p = 0.21 and 0.18). One global threshold is enough.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43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What we built and what we 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14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36192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1463040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A federated intrusion detector over 10 real router clients, with our own update protocol.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8600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2212848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HMAC tag + verifiable fingerprint: all tampering rejected, poisoned updates filtered, +0.67% size.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35808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035808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2962656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Federated nearly matches centralized; under attack Krypsis keeps accuracy higher.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85616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85616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3712464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One global threshold is enough; Mondrian gave no significant gain.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35424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F5E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35424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Calibri"/>
              </a:rPr>
              <a:t>NEXT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20" y="4462272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Protocol on the 11-class task, a trust-based weight cap, a real network testbed.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1417320"/>
            <a:ext cx="4279392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1554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KEY 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92024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FLNET2023 dataset, MILCOM 2023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2"/>
              </a:rPr>
              <a:t>https://doi.org/10.1109/MILCOM58377.2023.10356272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450592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McMahan et al. 2017 · FedAvg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3"/>
              </a:rPr>
              <a:t>https://arxiv.org/abs/1602.05629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2980944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Hsu et al. 2019 · Dirichlet non-IID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4"/>
              </a:rPr>
              <a:t>https://arxiv.org/abs/1909.06335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11296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Angelopoulos &amp; Bates 2021 · conformal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5"/>
              </a:rPr>
              <a:t>https://arxiv.org/abs/2107.07511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041648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Blanchard et al. 2017 · Krum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6"/>
              </a:rPr>
              <a:t>https://arxiv.org/abs/1703.02757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5720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Yin et al. 2018 · trimmed mean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7"/>
              </a:rPr>
              <a:t>https://arxiv.org/abs/1803.01498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5102352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Tolpegin et al. 2020 · label flipping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8"/>
              </a:rPr>
              <a:t>https://arxiv.org/abs/2007.08432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5632704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RFC 2104 · HMAC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9"/>
              </a:rPr>
              <a:t>https://www.rfc-editor.org/rfc/rfc2104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406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172420"/>
                </a:solidFill>
                <a:latin typeface="Calibri"/>
              </a:rPr>
              <a:t>Thank you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A968F"/>
                </a:solidFill>
                <a:latin typeface="Calibri"/>
              </a:rPr>
              <a:t>Questions welcome  ·  code: github.com/Vinudharshini18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46B62"/>
      </a:hlink>
      <a:folHlink>
        <a:srgbClr val="146B6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