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team and the project in one sentence: Krypsis trains one intrusion detector across 10 routers without moving their traffic, and protects the model updates with our own protocol.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Detection needs varied traffic, but traffic is sensitive. Federated learning keeps traffic on the routers and only shares weight updates, as in the diagram. That moves the risk to the updates themselves: tampering, poisoning, and honest routers that simply look different. Krypsis protects the updates, and our research question asks whether one global threshold is unfair to unusual honest routers.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objectives. The right column shows how far each was met; every number comes from our result files.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round, left to right: the router trains on its own flows and wraps the weight change in a Krypsis message; the server verifies, scores and filters it, then averages the accepted updates with a 15% cap per client, and sends the new model back. The data is FLNET2023, a dataset made for federated intrusion detection: traffic from 10 routers, so each router is one client.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steps, left, and the code that does them, right. Each flow is tagged with its router so we can give it to the right client. We sample 10% to keep training fast. We drop IP addresses, the source port and timestamps, otherwise the model could memorise the attacker's address. Then we clean and scale; the scaler is fitted on training data only, so the test set stays unseen.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IID means every client has a similar mix; non-IID means each one is different. FLNET2023 is naturally non-IID: router 3 sees 19% attack traffic, router 4 sees 92%. For NSL-KDD we created uneven clients with a Dirichlet split: each attack type is divided among the 10 clients with random proportions, alpha 0.5. Some clients end up almost all attack, others almost all normal. This matters because an honest client with unusual data can look like an attacker, which is our research question. We also ran an IID split of FLNET2023 as a control.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is a small multilayer perceptron: 66 inputs, three hidden layers, one output for normal or attack. Left is the code. Right is FedAvg: every round each client starts from the global model and trains on its own data; the server then averages each layer, weighting clients by how much data they have. The same model trained on all data in one place is our centralized baseline, the best accuracy we can hope for.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strip on top is one message on the wire. Left: one federated round. Each router starts from the global model g, trains one epoch on its own flows, computes its update d, and packs it. The server unpacks, filters, and averages with capped weights. Right: pack builds the header with the fingerprint (overall size, size per layer, and a 64-number sketch), appends the raw float32 update, and signs everything with HMAC-SHA256 using the router's own key.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steps. Left: the hard checks. A wrong HMAC means the message was changed in transit; the server also recomputes the fingerprint from the payload, so a client cannot send a fake innocent-looking one. Right: three cheap scores from the fingerprint only: is the update unusually large or small, does it point away from the median of the other routers, and does it differ from this router's last update. Scores are standardized within the round, compared with conformal thresholds, flagged updates get a second check against a trimmed mean, and no client gets more than 15% of the average.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Federated training over the real routers matches centralized training on the binary task. But we checked the perfect score: the emulated traffic is separable by one feature, so we also trained an 11-class model. There, macro-F1 drops from 0.76 with an IID split to 0.39 with the real routers: attack types held by one router are averaged away. The chart shows recall per attack type.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accuracy round by round. Without protection the poisoned rounds drag accuracy down; with Krypsis it stays near the clean level. Right: every tampered message was rejected, label flipping and backdoors lose most of their effect, the protocol still helps when 40% of routers drop out, it scales to 40 clients in milliseconds, and an honest router whose traffic changed was never excluded. On FLNET2023 the backdoor failed even without a defense.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 plain FedAvg has no protection; HTTP with TLS protects the channel but not against a malicious client; Krum and trimmed mean filter updates only after receiving everything, every round. Krypsis adds a per-client integrity tag and a cheap filter first. Bottom: our own setups. Both protocol versions beat no defense; v2 excludes fewer honest routers; Mondrian is never clearly better. On FLNET2023 the weight cap has a downside in one seed.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tested the research question three ways and Mondrian was never significantly better: a negative answer, tested properly. Then the four conclusions, and honestly what did not work and what comes next.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links are clickable. The GitHub repository has the code, every result file and the full README. Thank the panel and open for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109/MILCOM58377.2023.10356272" TargetMode="External"/><Relationship Id="rId3" Type="http://schemas.openxmlformats.org/officeDocument/2006/relationships/hyperlink" Target="https://github.com/nsol-nmsu/FML-Network" TargetMode="External"/><Relationship Id="rId4" Type="http://schemas.openxmlformats.org/officeDocument/2006/relationships/hyperlink" Target="https://arxiv.org/abs/1602.05629" TargetMode="External"/><Relationship Id="rId5" Type="http://schemas.openxmlformats.org/officeDocument/2006/relationships/hyperlink" Target="https://arxiv.org/abs/1703.02757" TargetMode="External"/><Relationship Id="rId6" Type="http://schemas.openxmlformats.org/officeDocument/2006/relationships/hyperlink" Target="https://arxiv.org/abs/1803.01498" TargetMode="External"/><Relationship Id="rId7" Type="http://schemas.openxmlformats.org/officeDocument/2006/relationships/hyperlink" Target="https://arxiv.org/abs/1807.00459" TargetMode="External"/><Relationship Id="rId8" Type="http://schemas.openxmlformats.org/officeDocument/2006/relationships/hyperlink" Target="https://arxiv.org/abs/2007.08432" TargetMode="External"/><Relationship Id="rId9" Type="http://schemas.openxmlformats.org/officeDocument/2006/relationships/hyperlink" Target="https://arxiv.org/abs/1909.06335" TargetMode="External"/><Relationship Id="rId10" Type="http://schemas.openxmlformats.org/officeDocument/2006/relationships/hyperlink" Target="https://arxiv.org/abs/2107.07511" TargetMode="External"/><Relationship Id="rId11" Type="http://schemas.openxmlformats.org/officeDocument/2006/relationships/hyperlink" Target="https://www.unb.ca/cic/datasets/nsl.html" TargetMode="External"/><Relationship Id="rId12" Type="http://schemas.openxmlformats.org/officeDocument/2006/relationships/hyperlink" Target="https://doi.org/10.1145/3687124" TargetMode="External"/><Relationship Id="rId13" Type="http://schemas.openxmlformats.org/officeDocument/2006/relationships/hyperlink" Target="https://www.rfc-editor.org/rfc/rfc2104" TargetMode="External"/><Relationship Id="rId14"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234440"/>
            <a:ext cx="7315200" cy="274320"/>
          </a:xfrm>
          <a:prstGeom prst="rect">
            <a:avLst/>
          </a:prstGeom>
          <a:noFill/>
        </p:spPr>
        <p:txBody>
          <a:bodyPr wrap="square" anchor="t" lIns="0" rIns="0" tIns="0" bIns="0">
            <a:spAutoFit/>
          </a:bodyPr>
          <a:lstStyle/>
          <a:p>
            <a:pPr algn="l">
              <a:lnSpc>
                <a:spcPct val="120000"/>
              </a:lnSpc>
            </a:pPr>
            <a:r>
              <a:rPr sz="1100" b="1" i="0">
                <a:solidFill>
                  <a:srgbClr val="3E5F5A"/>
                </a:solidFill>
                <a:latin typeface="Segoe UI"/>
              </a:rPr>
              <a:t>COMPUTER NETWORKS  ·  FINAL PROJECT REVIEW</a:t>
            </a:r>
          </a:p>
        </p:txBody>
      </p:sp>
      <p:cxnSp>
        <p:nvCxnSpPr>
          <p:cNvPr id="4" name="Connector 3"/>
          <p:cNvCxnSpPr/>
          <p:nvPr/>
        </p:nvCxnSpPr>
        <p:spPr>
          <a:xfrm>
            <a:off x="731520" y="1600200"/>
            <a:ext cx="548640" cy="0"/>
          </a:xfrm>
          <a:prstGeom prst="line">
            <a:avLst/>
          </a:prstGeom>
          <a:ln w="19050">
            <a:solidFill>
              <a:srgbClr val="3E5F5A"/>
            </a:solidFill>
          </a:ln>
        </p:spPr>
      </p:cxnSp>
      <p:sp>
        <p:nvSpPr>
          <p:cNvPr id="5" name="TextBox 4"/>
          <p:cNvSpPr txBox="1"/>
          <p:nvPr/>
        </p:nvSpPr>
        <p:spPr>
          <a:xfrm>
            <a:off x="731520" y="1828800"/>
            <a:ext cx="10058400" cy="1188720"/>
          </a:xfrm>
          <a:prstGeom prst="rect">
            <a:avLst/>
          </a:prstGeom>
          <a:noFill/>
        </p:spPr>
        <p:txBody>
          <a:bodyPr wrap="square" anchor="t" lIns="0" rIns="0" tIns="0" bIns="0">
            <a:spAutoFit/>
          </a:bodyPr>
          <a:lstStyle/>
          <a:p>
            <a:pPr algn="l">
              <a:lnSpc>
                <a:spcPct val="120000"/>
              </a:lnSpc>
            </a:pPr>
            <a:r>
              <a:rPr sz="7200" b="0" i="0">
                <a:solidFill>
                  <a:srgbClr val="1F2421"/>
                </a:solidFill>
                <a:latin typeface="Georgia"/>
              </a:rPr>
              <a:t>Krypsis</a:t>
            </a:r>
          </a:p>
        </p:txBody>
      </p:sp>
      <p:sp>
        <p:nvSpPr>
          <p:cNvPr id="6" name="TextBox 5"/>
          <p:cNvSpPr txBox="1"/>
          <p:nvPr/>
        </p:nvSpPr>
        <p:spPr>
          <a:xfrm>
            <a:off x="731520" y="3063240"/>
            <a:ext cx="10058400" cy="914400"/>
          </a:xfrm>
          <a:prstGeom prst="rect">
            <a:avLst/>
          </a:prstGeom>
          <a:noFill/>
        </p:spPr>
        <p:txBody>
          <a:bodyPr wrap="square" anchor="t" lIns="0" rIns="0" tIns="0" bIns="0">
            <a:spAutoFit/>
          </a:bodyPr>
          <a:lstStyle/>
          <a:p>
            <a:pPr algn="l">
              <a:lnSpc>
                <a:spcPct val="125000"/>
              </a:lnSpc>
            </a:pPr>
            <a:r>
              <a:rPr sz="2000" b="0" i="0">
                <a:solidFill>
                  <a:srgbClr val="5B625C"/>
                </a:solidFill>
                <a:latin typeface="Georgia"/>
              </a:rPr>
              <a:t>Federated network intrusion detection over real router clients,</a:t>
            </a:r>
          </a:p>
          <a:p>
            <a:pPr algn="l">
              <a:lnSpc>
                <a:spcPct val="125000"/>
              </a:lnSpc>
            </a:pPr>
            <a:r>
              <a:rPr sz="2000" b="0" i="0">
                <a:solidFill>
                  <a:srgbClr val="5B625C"/>
                </a:solidFill>
                <a:latin typeface="Georgia"/>
              </a:rPr>
              <a:t>with a security-fused update protocol</a:t>
            </a:r>
          </a:p>
        </p:txBody>
      </p:sp>
      <p:cxnSp>
        <p:nvCxnSpPr>
          <p:cNvPr id="7" name="Connector 6"/>
          <p:cNvCxnSpPr/>
          <p:nvPr/>
        </p:nvCxnSpPr>
        <p:spPr>
          <a:xfrm>
            <a:off x="731520" y="4846320"/>
            <a:ext cx="10698480" cy="0"/>
          </a:xfrm>
          <a:prstGeom prst="line">
            <a:avLst/>
          </a:prstGeom>
          <a:ln w="9525">
            <a:solidFill>
              <a:srgbClr val="DDDAD2"/>
            </a:solidFill>
          </a:ln>
        </p:spPr>
      </p:cxnSp>
      <p:sp>
        <p:nvSpPr>
          <p:cNvPr id="8" name="TextBox 7"/>
          <p:cNvSpPr txBox="1"/>
          <p:nvPr/>
        </p:nvSpPr>
        <p:spPr>
          <a:xfrm>
            <a:off x="731520" y="5029200"/>
            <a:ext cx="2560320" cy="640080"/>
          </a:xfrm>
          <a:prstGeom prst="rect">
            <a:avLst/>
          </a:prstGeom>
          <a:noFill/>
        </p:spPr>
        <p:txBody>
          <a:bodyPr wrap="square" anchor="t" lIns="0" rIns="0" tIns="0" bIns="0">
            <a:spAutoFit/>
          </a:bodyPr>
          <a:lstStyle/>
          <a:p>
            <a:pPr algn="l">
              <a:lnSpc>
                <a:spcPct val="120000"/>
              </a:lnSpc>
            </a:pPr>
            <a:r>
              <a:rPr sz="1300" b="1" i="0">
                <a:solidFill>
                  <a:srgbClr val="1F2421"/>
                </a:solidFill>
                <a:latin typeface="Segoe UI"/>
              </a:rPr>
              <a:t>Rithika K</a:t>
            </a:r>
          </a:p>
          <a:p>
            <a:pPr algn="l">
              <a:lnSpc>
                <a:spcPct val="120000"/>
              </a:lnSpc>
            </a:pPr>
            <a:r>
              <a:rPr sz="1100" b="0" i="0">
                <a:solidFill>
                  <a:srgbClr val="8C918A"/>
                </a:solidFill>
                <a:latin typeface="Segoe UI"/>
              </a:rPr>
              <a:t>CB.SC.U4AIE25126</a:t>
            </a:r>
          </a:p>
        </p:txBody>
      </p:sp>
      <p:sp>
        <p:nvSpPr>
          <p:cNvPr id="9" name="TextBox 8"/>
          <p:cNvSpPr txBox="1"/>
          <p:nvPr/>
        </p:nvSpPr>
        <p:spPr>
          <a:xfrm>
            <a:off x="3429000" y="5029200"/>
            <a:ext cx="2560320" cy="640080"/>
          </a:xfrm>
          <a:prstGeom prst="rect">
            <a:avLst/>
          </a:prstGeom>
          <a:noFill/>
        </p:spPr>
        <p:txBody>
          <a:bodyPr wrap="square" anchor="t" lIns="0" rIns="0" tIns="0" bIns="0">
            <a:spAutoFit/>
          </a:bodyPr>
          <a:lstStyle/>
          <a:p>
            <a:pPr algn="l">
              <a:lnSpc>
                <a:spcPct val="120000"/>
              </a:lnSpc>
            </a:pPr>
            <a:r>
              <a:rPr sz="1300" b="1" i="0">
                <a:solidFill>
                  <a:srgbClr val="1F2421"/>
                </a:solidFill>
                <a:latin typeface="Segoe UI"/>
              </a:rPr>
              <a:t>Pradhaniya S</a:t>
            </a:r>
          </a:p>
          <a:p>
            <a:pPr algn="l">
              <a:lnSpc>
                <a:spcPct val="120000"/>
              </a:lnSpc>
            </a:pPr>
            <a:r>
              <a:rPr sz="1100" b="0" i="0">
                <a:solidFill>
                  <a:srgbClr val="8C918A"/>
                </a:solidFill>
                <a:latin typeface="Segoe UI"/>
              </a:rPr>
              <a:t>CB.SC.U4AIE25148</a:t>
            </a:r>
          </a:p>
        </p:txBody>
      </p:sp>
      <p:sp>
        <p:nvSpPr>
          <p:cNvPr id="10" name="TextBox 9"/>
          <p:cNvSpPr txBox="1"/>
          <p:nvPr/>
        </p:nvSpPr>
        <p:spPr>
          <a:xfrm>
            <a:off x="6126480" y="5029200"/>
            <a:ext cx="2560320" cy="640080"/>
          </a:xfrm>
          <a:prstGeom prst="rect">
            <a:avLst/>
          </a:prstGeom>
          <a:noFill/>
        </p:spPr>
        <p:txBody>
          <a:bodyPr wrap="square" anchor="t" lIns="0" rIns="0" tIns="0" bIns="0">
            <a:spAutoFit/>
          </a:bodyPr>
          <a:lstStyle/>
          <a:p>
            <a:pPr algn="l">
              <a:lnSpc>
                <a:spcPct val="120000"/>
              </a:lnSpc>
            </a:pPr>
            <a:r>
              <a:rPr sz="1300" b="1" i="0">
                <a:solidFill>
                  <a:srgbClr val="1F2421"/>
                </a:solidFill>
                <a:latin typeface="Segoe UI"/>
              </a:rPr>
              <a:t>Sathya K</a:t>
            </a:r>
          </a:p>
          <a:p>
            <a:pPr algn="l">
              <a:lnSpc>
                <a:spcPct val="120000"/>
              </a:lnSpc>
            </a:pPr>
            <a:r>
              <a:rPr sz="1100" b="0" i="0">
                <a:solidFill>
                  <a:srgbClr val="8C918A"/>
                </a:solidFill>
                <a:latin typeface="Segoe UI"/>
              </a:rPr>
              <a:t>CB.SC.U4AIE25154</a:t>
            </a:r>
          </a:p>
        </p:txBody>
      </p:sp>
      <p:sp>
        <p:nvSpPr>
          <p:cNvPr id="11" name="TextBox 10"/>
          <p:cNvSpPr txBox="1"/>
          <p:nvPr/>
        </p:nvSpPr>
        <p:spPr>
          <a:xfrm>
            <a:off x="8823960" y="5029200"/>
            <a:ext cx="2560320" cy="640080"/>
          </a:xfrm>
          <a:prstGeom prst="rect">
            <a:avLst/>
          </a:prstGeom>
          <a:noFill/>
        </p:spPr>
        <p:txBody>
          <a:bodyPr wrap="square" anchor="t" lIns="0" rIns="0" tIns="0" bIns="0">
            <a:spAutoFit/>
          </a:bodyPr>
          <a:lstStyle/>
          <a:p>
            <a:pPr algn="l">
              <a:lnSpc>
                <a:spcPct val="120000"/>
              </a:lnSpc>
            </a:pPr>
            <a:r>
              <a:rPr sz="1300" b="1" i="0">
                <a:solidFill>
                  <a:srgbClr val="1F2421"/>
                </a:solidFill>
                <a:latin typeface="Segoe UI"/>
              </a:rPr>
              <a:t>Vinudharshini PP</a:t>
            </a:r>
          </a:p>
          <a:p>
            <a:pPr algn="l">
              <a:lnSpc>
                <a:spcPct val="120000"/>
              </a:lnSpc>
            </a:pPr>
            <a:r>
              <a:rPr sz="1100" b="0" i="0">
                <a:solidFill>
                  <a:srgbClr val="8C918A"/>
                </a:solidFill>
                <a:latin typeface="Segoe UI"/>
              </a:rPr>
              <a:t>CB.SC.U4AIE25161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7315200" cy="274320"/>
          </a:xfrm>
          <a:prstGeom prst="rect">
            <a:avLst/>
          </a:prstGeom>
          <a:noFill/>
        </p:spPr>
        <p:txBody>
          <a:bodyPr wrap="square" anchor="t" lIns="0" rIns="0" tIns="0" bIns="0">
            <a:spAutoFit/>
          </a:bodyPr>
          <a:lstStyle/>
          <a:p>
            <a:pPr algn="l">
              <a:lnSpc>
                <a:spcPct val="120000"/>
              </a:lnSpc>
            </a:pPr>
            <a:r>
              <a:rPr sz="1050" b="1" i="0">
                <a:solidFill>
                  <a:srgbClr val="3E5F5A"/>
                </a:solidFill>
                <a:latin typeface="Segoe UI"/>
              </a:rPr>
              <a:t>INTRODUCTION</a:t>
            </a:r>
          </a:p>
        </p:txBody>
      </p:sp>
      <p:cxnSp>
        <p:nvCxnSpPr>
          <p:cNvPr id="4" name="Connector 3"/>
          <p:cNvCxnSpPr/>
          <p:nvPr/>
        </p:nvCxnSpPr>
        <p:spPr>
          <a:xfrm>
            <a:off x="731520" y="841248"/>
            <a:ext cx="457200" cy="0"/>
          </a:xfrm>
          <a:prstGeom prst="line">
            <a:avLst/>
          </a:prstGeom>
          <a:ln w="19050">
            <a:solidFill>
              <a:srgbClr val="3E5F5A"/>
            </a:solidFill>
          </a:ln>
        </p:spPr>
      </p:cxnSp>
      <p:sp>
        <p:nvSpPr>
          <p:cNvPr id="5" name="TextBox 4"/>
          <p:cNvSpPr txBox="1"/>
          <p:nvPr/>
        </p:nvSpPr>
        <p:spPr>
          <a:xfrm>
            <a:off x="731520" y="960120"/>
            <a:ext cx="10725912" cy="731520"/>
          </a:xfrm>
          <a:prstGeom prst="rect">
            <a:avLst/>
          </a:prstGeom>
          <a:noFill/>
        </p:spPr>
        <p:txBody>
          <a:bodyPr wrap="square" anchor="t" lIns="0" rIns="0" tIns="0" bIns="0">
            <a:spAutoFit/>
          </a:bodyPr>
          <a:lstStyle/>
          <a:p>
            <a:pPr algn="l">
              <a:lnSpc>
                <a:spcPct val="120000"/>
              </a:lnSpc>
            </a:pPr>
            <a:r>
              <a:rPr sz="2800" b="0" i="0">
                <a:solidFill>
                  <a:srgbClr val="1F2421"/>
                </a:solidFill>
                <a:latin typeface="Georgia"/>
              </a:rPr>
              <a:t>Intrusion detection without sharing traffic</a:t>
            </a:r>
          </a:p>
        </p:txBody>
      </p:sp>
      <p:sp>
        <p:nvSpPr>
          <p:cNvPr id="6" name="TextBox 5"/>
          <p:cNvSpPr txBox="1"/>
          <p:nvPr/>
        </p:nvSpPr>
        <p:spPr>
          <a:xfrm>
            <a:off x="731520" y="6400800"/>
            <a:ext cx="5486400" cy="228600"/>
          </a:xfrm>
          <a:prstGeom prst="rect">
            <a:avLst/>
          </a:prstGeom>
          <a:noFill/>
        </p:spPr>
        <p:txBody>
          <a:bodyPr wrap="square" anchor="t" lIns="0" rIns="0" tIns="0" bIns="0">
            <a:spAutoFit/>
          </a:bodyPr>
          <a:lstStyle/>
          <a:p>
            <a:pPr algn="l">
              <a:lnSpc>
                <a:spcPct val="120000"/>
              </a:lnSpc>
            </a:pPr>
            <a:r>
              <a:rPr sz="900" b="0" i="0">
                <a:solidFill>
                  <a:srgbClr val="8C918A"/>
                </a:solidFill>
                <a:latin typeface="Segoe UI"/>
              </a:rPr>
              <a:t>Krypsis  ·  Final Review</a:t>
            </a:r>
          </a:p>
        </p:txBody>
      </p:sp>
      <p:sp>
        <p:nvSpPr>
          <p:cNvPr id="7" name="TextBox 6"/>
          <p:cNvSpPr txBox="1"/>
          <p:nvPr/>
        </p:nvSpPr>
        <p:spPr>
          <a:xfrm>
            <a:off x="10543032" y="6400800"/>
            <a:ext cx="914400" cy="228600"/>
          </a:xfrm>
          <a:prstGeom prst="rect">
            <a:avLst/>
          </a:prstGeom>
          <a:noFill/>
        </p:spPr>
        <p:txBody>
          <a:bodyPr wrap="square" anchor="t" lIns="0" rIns="0" tIns="0" bIns="0">
            <a:spAutoFit/>
          </a:bodyPr>
          <a:lstStyle/>
          <a:p>
            <a:pPr algn="r">
              <a:lnSpc>
                <a:spcPct val="120000"/>
              </a:lnSpc>
            </a:pPr>
            <a:r>
              <a:rPr sz="900" b="0" i="0">
                <a:solidFill>
                  <a:srgbClr val="8C918A"/>
                </a:solidFill>
                <a:latin typeface="Segoe UI"/>
              </a:rPr>
              <a:t>2</a:t>
            </a:r>
          </a:p>
        </p:txBody>
      </p:sp>
      <p:sp>
        <p:nvSpPr>
          <p:cNvPr id="8" name="TextBox 7"/>
          <p:cNvSpPr txBox="1"/>
          <p:nvPr/>
        </p:nvSpPr>
        <p:spPr>
          <a:xfrm>
            <a:off x="731520" y="1783080"/>
            <a:ext cx="5486400" cy="274320"/>
          </a:xfrm>
          <a:prstGeom prst="rect">
            <a:avLst/>
          </a:prstGeom>
          <a:noFill/>
        </p:spPr>
        <p:txBody>
          <a:bodyPr wrap="square" anchor="t" lIns="0" rIns="0" tIns="0" bIns="0">
            <a:spAutoFit/>
          </a:bodyPr>
          <a:lstStyle/>
          <a:p>
            <a:pPr algn="l">
              <a:lnSpc>
                <a:spcPct val="120000"/>
              </a:lnSpc>
            </a:pPr>
            <a:r>
              <a:rPr sz="1050" b="1" i="0">
                <a:solidFill>
                  <a:srgbClr val="3E5F5A"/>
                </a:solidFill>
                <a:latin typeface="Segoe UI"/>
              </a:rPr>
              <a:t>THE PROBLEM</a:t>
            </a:r>
          </a:p>
        </p:txBody>
      </p:sp>
      <p:sp>
        <p:nvSpPr>
          <p:cNvPr id="9" name="TextBox 8"/>
          <p:cNvSpPr txBox="1"/>
          <p:nvPr/>
        </p:nvSpPr>
        <p:spPr>
          <a:xfrm>
            <a:off x="731520" y="2057400"/>
            <a:ext cx="5486400" cy="777240"/>
          </a:xfrm>
          <a:prstGeom prst="rect">
            <a:avLst/>
          </a:prstGeom>
          <a:noFill/>
        </p:spPr>
        <p:txBody>
          <a:bodyPr wrap="square" anchor="t" lIns="0" rIns="0" tIns="0" bIns="0">
            <a:spAutoFit/>
          </a:bodyPr>
          <a:lstStyle/>
          <a:p>
            <a:pPr algn="l">
              <a:lnSpc>
                <a:spcPct val="120000"/>
              </a:lnSpc>
            </a:pPr>
            <a:r>
              <a:rPr sz="1250" b="0" i="0">
                <a:solidFill>
                  <a:srgbClr val="1F2421"/>
                </a:solidFill>
                <a:latin typeface="Segoe UI"/>
              </a:rPr>
              <a:t>An intrusion detection system (NIDS) learns to tell normal flows from attacks, so it needs varied traffic. But traffic logs reveal hosts, services and internal structure, so organisations cannot simply pool them.</a:t>
            </a:r>
          </a:p>
        </p:txBody>
      </p:sp>
      <p:sp>
        <p:nvSpPr>
          <p:cNvPr id="10" name="TextBox 9"/>
          <p:cNvSpPr txBox="1"/>
          <p:nvPr/>
        </p:nvSpPr>
        <p:spPr>
          <a:xfrm>
            <a:off x="731520" y="2834640"/>
            <a:ext cx="5486400" cy="274320"/>
          </a:xfrm>
          <a:prstGeom prst="rect">
            <a:avLst/>
          </a:prstGeom>
          <a:noFill/>
        </p:spPr>
        <p:txBody>
          <a:bodyPr wrap="square" anchor="t" lIns="0" rIns="0" tIns="0" bIns="0">
            <a:spAutoFit/>
          </a:bodyPr>
          <a:lstStyle/>
          <a:p>
            <a:pPr algn="l">
              <a:lnSpc>
                <a:spcPct val="120000"/>
              </a:lnSpc>
            </a:pPr>
            <a:r>
              <a:rPr sz="1050" b="1" i="0">
                <a:solidFill>
                  <a:srgbClr val="3E5F5A"/>
                </a:solidFill>
                <a:latin typeface="Segoe UI"/>
              </a:rPr>
              <a:t>FEDERATED LEARNING</a:t>
            </a:r>
          </a:p>
        </p:txBody>
      </p:sp>
      <p:sp>
        <p:nvSpPr>
          <p:cNvPr id="11" name="TextBox 10"/>
          <p:cNvSpPr txBox="1"/>
          <p:nvPr/>
        </p:nvSpPr>
        <p:spPr>
          <a:xfrm>
            <a:off x="731520" y="3108960"/>
            <a:ext cx="5486400" cy="777240"/>
          </a:xfrm>
          <a:prstGeom prst="rect">
            <a:avLst/>
          </a:prstGeom>
          <a:noFill/>
        </p:spPr>
        <p:txBody>
          <a:bodyPr wrap="square" anchor="t" lIns="0" rIns="0" tIns="0" bIns="0">
            <a:spAutoFit/>
          </a:bodyPr>
          <a:lstStyle/>
          <a:p>
            <a:pPr algn="l">
              <a:lnSpc>
                <a:spcPct val="120000"/>
              </a:lnSpc>
            </a:pPr>
            <a:r>
              <a:rPr sz="1250" b="0" i="0">
                <a:solidFill>
                  <a:srgbClr val="1F2421"/>
                </a:solidFill>
                <a:latin typeface="Segoe UI"/>
              </a:rPr>
              <a:t>Each router trains the shared model on its own traffic and sends back only the change in weights. The server averages the changes (FedAvg). Raw traffic never leaves a router.</a:t>
            </a:r>
          </a:p>
        </p:txBody>
      </p:sp>
      <p:sp>
        <p:nvSpPr>
          <p:cNvPr id="12" name="TextBox 11"/>
          <p:cNvSpPr txBox="1"/>
          <p:nvPr/>
        </p:nvSpPr>
        <p:spPr>
          <a:xfrm>
            <a:off x="731520" y="3886200"/>
            <a:ext cx="5486400" cy="274320"/>
          </a:xfrm>
          <a:prstGeom prst="rect">
            <a:avLst/>
          </a:prstGeom>
          <a:noFill/>
        </p:spPr>
        <p:txBody>
          <a:bodyPr wrap="square" anchor="t" lIns="0" rIns="0" tIns="0" bIns="0">
            <a:spAutoFit/>
          </a:bodyPr>
          <a:lstStyle/>
          <a:p>
            <a:pPr algn="l">
              <a:lnSpc>
                <a:spcPct val="120000"/>
              </a:lnSpc>
            </a:pPr>
            <a:r>
              <a:rPr sz="1050" b="1" i="0">
                <a:solidFill>
                  <a:srgbClr val="3E5F5A"/>
                </a:solidFill>
                <a:latin typeface="Segoe UI"/>
              </a:rPr>
              <a:t>THE NEW RISK</a:t>
            </a:r>
          </a:p>
        </p:txBody>
      </p:sp>
      <p:sp>
        <p:nvSpPr>
          <p:cNvPr id="13" name="TextBox 12"/>
          <p:cNvSpPr txBox="1"/>
          <p:nvPr/>
        </p:nvSpPr>
        <p:spPr>
          <a:xfrm>
            <a:off x="731520" y="4160520"/>
            <a:ext cx="5486400" cy="777240"/>
          </a:xfrm>
          <a:prstGeom prst="rect">
            <a:avLst/>
          </a:prstGeom>
          <a:noFill/>
        </p:spPr>
        <p:txBody>
          <a:bodyPr wrap="square" anchor="t" lIns="0" rIns="0" tIns="0" bIns="0">
            <a:spAutoFit/>
          </a:bodyPr>
          <a:lstStyle/>
          <a:p>
            <a:pPr algn="l">
              <a:lnSpc>
                <a:spcPct val="120000"/>
              </a:lnSpc>
            </a:pPr>
            <a:r>
              <a:rPr sz="1250" b="0" i="0">
                <a:solidFill>
                  <a:srgbClr val="1F2421"/>
                </a:solidFill>
                <a:latin typeface="Segoe UI"/>
              </a:rPr>
              <a:t>The updates become the attack surface: they can be tampered with in transit or poisoned by a compromised router (label flipping, backdoors). And honest routers with unusual traffic (non-IID) can look like attackers.</a:t>
            </a:r>
          </a:p>
        </p:txBody>
      </p:sp>
      <p:sp>
        <p:nvSpPr>
          <p:cNvPr id="14" name="Rounded Rectangle 13"/>
          <p:cNvSpPr/>
          <p:nvPr/>
        </p:nvSpPr>
        <p:spPr>
          <a:xfrm>
            <a:off x="6629400" y="1783080"/>
            <a:ext cx="4828032" cy="3017520"/>
          </a:xfrm>
          <a:prstGeom prst="roundRect">
            <a:avLst>
              <a:gd name="adj" fmla="val 4000"/>
            </a:avLst>
          </a:prstGeom>
          <a:solidFill>
            <a:srgbClr val="FFFFFF"/>
          </a:solidFill>
          <a:ln w="9525">
            <a:solidFill>
              <a:srgbClr val="DDDA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854696" y="2057400"/>
            <a:ext cx="2377440" cy="621792"/>
          </a:xfrm>
          <a:prstGeom prst="roundRect">
            <a:avLst>
              <a:gd name="adj" fmla="val 8000"/>
            </a:avLst>
          </a:prstGeom>
          <a:solidFill>
            <a:srgbClr val="E4EBE8"/>
          </a:solidFill>
          <a:ln w="9525">
            <a:solidFill>
              <a:srgbClr val="3E5F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46136" y="2057400"/>
            <a:ext cx="2194560" cy="621792"/>
          </a:xfrm>
          <a:prstGeom prst="rect">
            <a:avLst/>
          </a:prstGeom>
          <a:noFill/>
        </p:spPr>
        <p:txBody>
          <a:bodyPr wrap="square" anchor="ctr" lIns="0" rIns="0" tIns="0" bIns="0">
            <a:spAutoFit/>
          </a:bodyPr>
          <a:lstStyle/>
          <a:p>
            <a:pPr algn="ctr">
              <a:lnSpc>
                <a:spcPct val="110000"/>
              </a:lnSpc>
            </a:pPr>
            <a:r>
              <a:rPr sz="1150" b="1" i="0">
                <a:solidFill>
                  <a:srgbClr val="3E5F5A"/>
                </a:solidFill>
                <a:latin typeface="Segoe UI"/>
              </a:rPr>
              <a:t>Aggregation server</a:t>
            </a:r>
          </a:p>
          <a:p>
            <a:pPr algn="ctr">
              <a:lnSpc>
                <a:spcPct val="110000"/>
              </a:lnSpc>
            </a:pPr>
            <a:r>
              <a:rPr sz="950" b="0" i="0">
                <a:solidFill>
                  <a:srgbClr val="5B625C"/>
                </a:solidFill>
                <a:latin typeface="Segoe UI"/>
              </a:rPr>
              <a:t>FedAvg</a:t>
            </a:r>
          </a:p>
        </p:txBody>
      </p:sp>
      <p:cxnSp>
        <p:nvCxnSpPr>
          <p:cNvPr id="17" name="Connector 16"/>
          <p:cNvCxnSpPr/>
          <p:nvPr/>
        </p:nvCxnSpPr>
        <p:spPr>
          <a:xfrm>
            <a:off x="7328916" y="3108960"/>
            <a:ext cx="3429000" cy="0"/>
          </a:xfrm>
          <a:prstGeom prst="line">
            <a:avLst/>
          </a:prstGeom>
          <a:ln w="12700">
            <a:solidFill>
              <a:srgbClr val="8C918A"/>
            </a:solidFill>
          </a:ln>
        </p:spPr>
      </p:cxnSp>
      <p:cxnSp>
        <p:nvCxnSpPr>
          <p:cNvPr id="18" name="Connector 17"/>
          <p:cNvCxnSpPr/>
          <p:nvPr/>
        </p:nvCxnSpPr>
        <p:spPr>
          <a:xfrm>
            <a:off x="9043416" y="2679192"/>
            <a:ext cx="0" cy="429768"/>
          </a:xfrm>
          <a:prstGeom prst="line">
            <a:avLst/>
          </a:prstGeom>
          <a:ln w="12700">
            <a:solidFill>
              <a:srgbClr val="8C918A"/>
            </a:solidFill>
          </a:ln>
        </p:spPr>
      </p:cxnSp>
      <p:sp>
        <p:nvSpPr>
          <p:cNvPr id="19" name="Rounded Rectangle 18"/>
          <p:cNvSpPr/>
          <p:nvPr/>
        </p:nvSpPr>
        <p:spPr>
          <a:xfrm>
            <a:off x="6848856" y="3566160"/>
            <a:ext cx="960120" cy="566928"/>
          </a:xfrm>
          <a:prstGeom prst="roundRect">
            <a:avLst>
              <a:gd name="adj" fmla="val 8000"/>
            </a:avLst>
          </a:prstGeom>
          <a:solidFill>
            <a:srgbClr val="FFFFFF"/>
          </a:solidFill>
          <a:ln w="9525">
            <a:solidFill>
              <a:srgbClr val="DDDA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40296" y="3566160"/>
            <a:ext cx="777240" cy="566928"/>
          </a:xfrm>
          <a:prstGeom prst="rect">
            <a:avLst/>
          </a:prstGeom>
          <a:noFill/>
        </p:spPr>
        <p:txBody>
          <a:bodyPr wrap="square" anchor="ctr" lIns="0" rIns="0" tIns="0" bIns="0">
            <a:spAutoFit/>
          </a:bodyPr>
          <a:lstStyle/>
          <a:p>
            <a:pPr algn="ctr">
              <a:lnSpc>
                <a:spcPct val="110000"/>
              </a:lnSpc>
            </a:pPr>
            <a:r>
              <a:rPr sz="1050" b="1" i="0">
                <a:solidFill>
                  <a:srgbClr val="1F2421"/>
                </a:solidFill>
                <a:latin typeface="Segoe UI"/>
              </a:rPr>
              <a:t>Router 1</a:t>
            </a:r>
          </a:p>
        </p:txBody>
      </p:sp>
      <p:cxnSp>
        <p:nvCxnSpPr>
          <p:cNvPr id="21" name="Connector 20"/>
          <p:cNvCxnSpPr/>
          <p:nvPr/>
        </p:nvCxnSpPr>
        <p:spPr>
          <a:xfrm>
            <a:off x="7237476" y="3108960"/>
            <a:ext cx="0" cy="457200"/>
          </a:xfrm>
          <a:prstGeom prst="line">
            <a:avLst/>
          </a:prstGeom>
          <a:ln w="12700">
            <a:solidFill>
              <a:srgbClr val="8C918A"/>
            </a:solidFill>
            <a:tailEnd type="triangle" w="med" len="med"/>
          </a:ln>
        </p:spPr>
      </p:cxnSp>
      <p:cxnSp>
        <p:nvCxnSpPr>
          <p:cNvPr id="22" name="Connector 21"/>
          <p:cNvCxnSpPr/>
          <p:nvPr/>
        </p:nvCxnSpPr>
        <p:spPr>
          <a:xfrm flipV="1">
            <a:off x="7420356" y="3108960"/>
            <a:ext cx="0" cy="457200"/>
          </a:xfrm>
          <a:prstGeom prst="line">
            <a:avLst/>
          </a:prstGeom>
          <a:ln w="12700">
            <a:solidFill>
              <a:srgbClr val="3E5F5A"/>
            </a:solidFill>
            <a:tailEnd type="triangle" w="med" len="med"/>
          </a:ln>
        </p:spPr>
      </p:cxnSp>
      <p:sp>
        <p:nvSpPr>
          <p:cNvPr id="23" name="Rounded Rectangle 22"/>
          <p:cNvSpPr/>
          <p:nvPr/>
        </p:nvSpPr>
        <p:spPr>
          <a:xfrm>
            <a:off x="7991856" y="3566160"/>
            <a:ext cx="960120" cy="566928"/>
          </a:xfrm>
          <a:prstGeom prst="roundRect">
            <a:avLst>
              <a:gd name="adj" fmla="val 8000"/>
            </a:avLst>
          </a:prstGeom>
          <a:solidFill>
            <a:srgbClr val="FFFFFF"/>
          </a:solidFill>
          <a:ln w="9525">
            <a:solidFill>
              <a:srgbClr val="DDDA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83296" y="3566160"/>
            <a:ext cx="777240" cy="566928"/>
          </a:xfrm>
          <a:prstGeom prst="rect">
            <a:avLst/>
          </a:prstGeom>
          <a:noFill/>
        </p:spPr>
        <p:txBody>
          <a:bodyPr wrap="square" anchor="ctr" lIns="0" rIns="0" tIns="0" bIns="0">
            <a:spAutoFit/>
          </a:bodyPr>
          <a:lstStyle/>
          <a:p>
            <a:pPr algn="ctr">
              <a:lnSpc>
                <a:spcPct val="110000"/>
              </a:lnSpc>
            </a:pPr>
            <a:r>
              <a:rPr sz="1050" b="1" i="0">
                <a:solidFill>
                  <a:srgbClr val="1F2421"/>
                </a:solidFill>
                <a:latin typeface="Segoe UI"/>
              </a:rPr>
              <a:t>Router 2</a:t>
            </a:r>
          </a:p>
        </p:txBody>
      </p:sp>
      <p:cxnSp>
        <p:nvCxnSpPr>
          <p:cNvPr id="25" name="Connector 24"/>
          <p:cNvCxnSpPr/>
          <p:nvPr/>
        </p:nvCxnSpPr>
        <p:spPr>
          <a:xfrm>
            <a:off x="8380476" y="3108960"/>
            <a:ext cx="0" cy="457200"/>
          </a:xfrm>
          <a:prstGeom prst="line">
            <a:avLst/>
          </a:prstGeom>
          <a:ln w="12700">
            <a:solidFill>
              <a:srgbClr val="8C918A"/>
            </a:solidFill>
            <a:tailEnd type="triangle" w="med" len="med"/>
          </a:ln>
        </p:spPr>
      </p:cxnSp>
      <p:cxnSp>
        <p:nvCxnSpPr>
          <p:cNvPr id="26" name="Connector 25"/>
          <p:cNvCxnSpPr/>
          <p:nvPr/>
        </p:nvCxnSpPr>
        <p:spPr>
          <a:xfrm flipV="1">
            <a:off x="8563356" y="3108960"/>
            <a:ext cx="0" cy="457200"/>
          </a:xfrm>
          <a:prstGeom prst="line">
            <a:avLst/>
          </a:prstGeom>
          <a:ln w="12700">
            <a:solidFill>
              <a:srgbClr val="3E5F5A"/>
            </a:solidFill>
            <a:tailEnd type="triangle" w="med" len="med"/>
          </a:ln>
        </p:spPr>
      </p:cxnSp>
      <p:sp>
        <p:nvSpPr>
          <p:cNvPr id="27" name="TextBox 26"/>
          <p:cNvSpPr txBox="1"/>
          <p:nvPr/>
        </p:nvSpPr>
        <p:spPr>
          <a:xfrm>
            <a:off x="9134856" y="3657600"/>
            <a:ext cx="960120" cy="365760"/>
          </a:xfrm>
          <a:prstGeom prst="rect">
            <a:avLst/>
          </a:prstGeom>
          <a:noFill/>
        </p:spPr>
        <p:txBody>
          <a:bodyPr wrap="square" anchor="t" lIns="0" rIns="0" tIns="0" bIns="0">
            <a:spAutoFit/>
          </a:bodyPr>
          <a:lstStyle/>
          <a:p>
            <a:pPr algn="ctr">
              <a:lnSpc>
                <a:spcPct val="120000"/>
              </a:lnSpc>
            </a:pPr>
            <a:r>
              <a:rPr sz="1600" b="0" i="0">
                <a:solidFill>
                  <a:srgbClr val="8C918A"/>
                </a:solidFill>
                <a:latin typeface="Segoe UI"/>
              </a:rPr>
              <a:t>· · ·</a:t>
            </a:r>
          </a:p>
        </p:txBody>
      </p:sp>
      <p:sp>
        <p:nvSpPr>
          <p:cNvPr id="28" name="Rounded Rectangle 27"/>
          <p:cNvSpPr/>
          <p:nvPr/>
        </p:nvSpPr>
        <p:spPr>
          <a:xfrm>
            <a:off x="10277856" y="3566160"/>
            <a:ext cx="960120" cy="566928"/>
          </a:xfrm>
          <a:prstGeom prst="roundRect">
            <a:avLst>
              <a:gd name="adj" fmla="val 8000"/>
            </a:avLst>
          </a:prstGeom>
          <a:solidFill>
            <a:srgbClr val="FFFFFF"/>
          </a:solidFill>
          <a:ln w="9525">
            <a:solidFill>
              <a:srgbClr val="DDDA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69296" y="3566160"/>
            <a:ext cx="777240" cy="566928"/>
          </a:xfrm>
          <a:prstGeom prst="rect">
            <a:avLst/>
          </a:prstGeom>
          <a:noFill/>
        </p:spPr>
        <p:txBody>
          <a:bodyPr wrap="square" anchor="ctr" lIns="0" rIns="0" tIns="0" bIns="0">
            <a:spAutoFit/>
          </a:bodyPr>
          <a:lstStyle/>
          <a:p>
            <a:pPr algn="ctr">
              <a:lnSpc>
                <a:spcPct val="110000"/>
              </a:lnSpc>
            </a:pPr>
            <a:r>
              <a:rPr sz="1050" b="1" i="0">
                <a:solidFill>
                  <a:srgbClr val="1F2421"/>
                </a:solidFill>
                <a:latin typeface="Segoe UI"/>
              </a:rPr>
              <a:t>Router 10</a:t>
            </a:r>
          </a:p>
        </p:txBody>
      </p:sp>
      <p:cxnSp>
        <p:nvCxnSpPr>
          <p:cNvPr id="30" name="Connector 29"/>
          <p:cNvCxnSpPr/>
          <p:nvPr/>
        </p:nvCxnSpPr>
        <p:spPr>
          <a:xfrm>
            <a:off x="10666476" y="3108960"/>
            <a:ext cx="0" cy="457200"/>
          </a:xfrm>
          <a:prstGeom prst="line">
            <a:avLst/>
          </a:prstGeom>
          <a:ln w="12700">
            <a:solidFill>
              <a:srgbClr val="8C918A"/>
            </a:solidFill>
            <a:tailEnd type="triangle" w="med" len="med"/>
          </a:ln>
        </p:spPr>
      </p:cxnSp>
      <p:cxnSp>
        <p:nvCxnSpPr>
          <p:cNvPr id="31" name="Connector 30"/>
          <p:cNvCxnSpPr/>
          <p:nvPr/>
        </p:nvCxnSpPr>
        <p:spPr>
          <a:xfrm flipV="1">
            <a:off x="10849356" y="3108960"/>
            <a:ext cx="0" cy="457200"/>
          </a:xfrm>
          <a:prstGeom prst="line">
            <a:avLst/>
          </a:prstGeom>
          <a:ln w="12700">
            <a:solidFill>
              <a:srgbClr val="3E5F5A"/>
            </a:solidFill>
            <a:tailEnd type="triangle" w="med" len="med"/>
          </a:ln>
        </p:spPr>
      </p:cxnSp>
      <p:sp>
        <p:nvSpPr>
          <p:cNvPr id="32" name="TextBox 31"/>
          <p:cNvSpPr txBox="1"/>
          <p:nvPr/>
        </p:nvSpPr>
        <p:spPr>
          <a:xfrm>
            <a:off x="6629400" y="4297680"/>
            <a:ext cx="4828032" cy="320040"/>
          </a:xfrm>
          <a:prstGeom prst="rect">
            <a:avLst/>
          </a:prstGeom>
          <a:noFill/>
        </p:spPr>
        <p:txBody>
          <a:bodyPr wrap="square" anchor="t" lIns="0" rIns="0" tIns="0" bIns="0">
            <a:spAutoFit/>
          </a:bodyPr>
          <a:lstStyle/>
          <a:p>
            <a:pPr algn="ctr">
              <a:lnSpc>
                <a:spcPct val="120000"/>
              </a:lnSpc>
            </a:pPr>
            <a:r>
              <a:rPr sz="1050" b="0" i="0">
                <a:solidFill>
                  <a:srgbClr val="5B625C"/>
                </a:solidFill>
                <a:latin typeface="Segoe UI"/>
              </a:rPr>
              <a:t>↓ global model     </a:t>
            </a:r>
            <a:r>
              <a:rPr sz="1050" b="0" i="0">
                <a:solidFill>
                  <a:srgbClr val="3E5F5A"/>
                </a:solidFill>
                <a:latin typeface="Segoe UI"/>
              </a:rPr>
              <a:t>↑ weight update only</a:t>
            </a:r>
          </a:p>
        </p:txBody>
      </p:sp>
      <p:sp>
        <p:nvSpPr>
          <p:cNvPr id="33" name="Rounded Rectangle 32"/>
          <p:cNvSpPr/>
          <p:nvPr/>
        </p:nvSpPr>
        <p:spPr>
          <a:xfrm>
            <a:off x="731520" y="5074920"/>
            <a:ext cx="10725912" cy="1097280"/>
          </a:xfrm>
          <a:prstGeom prst="roundRect">
            <a:avLst>
              <a:gd name="adj" fmla="val 6000"/>
            </a:avLst>
          </a:prstGeom>
          <a:solidFill>
            <a:srgbClr val="E4EB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5840" y="5074920"/>
            <a:ext cx="10177272" cy="1097280"/>
          </a:xfrm>
          <a:prstGeom prst="rect">
            <a:avLst/>
          </a:prstGeom>
          <a:noFill/>
        </p:spPr>
        <p:txBody>
          <a:bodyPr wrap="square" anchor="ctr" lIns="0" rIns="0" tIns="0" bIns="0">
            <a:spAutoFit/>
          </a:bodyPr>
          <a:lstStyle/>
          <a:p>
            <a:pPr algn="l">
              <a:lnSpc>
                <a:spcPct val="120000"/>
              </a:lnSpc>
            </a:pPr>
            <a:r>
              <a:rPr sz="1200" b="1" i="0">
                <a:solidFill>
                  <a:srgbClr val="3E5F5A"/>
                </a:solidFill>
                <a:latin typeface="Segoe UI"/>
              </a:rPr>
              <a:t>Our approach  </a:t>
            </a:r>
            <a:r>
              <a:rPr sz="1200" b="0" i="0">
                <a:solidFill>
                  <a:srgbClr val="1F2421"/>
                </a:solidFill>
                <a:latin typeface="Segoe UI"/>
              </a:rPr>
              <a:t>Krypsis builds security into the update protocol itself: every update carries an integrity tag and a verifiable fingerprint, and suspicious updates are filtered cheaply before aggregation.</a:t>
            </a:r>
          </a:p>
          <a:p>
            <a:pPr algn="l">
              <a:lnSpc>
                <a:spcPct val="120000"/>
              </a:lnSpc>
            </a:pPr>
            <a:r>
              <a:rPr sz="1200" b="1" i="0">
                <a:solidFill>
                  <a:srgbClr val="3E5F5A"/>
                </a:solidFill>
                <a:latin typeface="Segoe UI"/>
              </a:rPr>
              <a:t>Research question  </a:t>
            </a:r>
            <a:r>
              <a:rPr sz="1200" b="0" i="0">
                <a:solidFill>
                  <a:srgbClr val="1F2421"/>
                </a:solidFill>
                <a:latin typeface="Segoe UI"/>
              </a:rPr>
              <a:t>Does one global anomaly threshold wrongly flag honest non-IID routers, and do per-cluster (Mondrian) thresholds reduce those false alarms?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7315200" cy="274320"/>
          </a:xfrm>
          <a:prstGeom prst="rect">
            <a:avLst/>
          </a:prstGeom>
          <a:noFill/>
        </p:spPr>
        <p:txBody>
          <a:bodyPr wrap="square" anchor="t" lIns="0" rIns="0" tIns="0" bIns="0">
            <a:spAutoFit/>
          </a:bodyPr>
          <a:lstStyle/>
          <a:p>
            <a:pPr algn="l">
              <a:lnSpc>
                <a:spcPct val="120000"/>
              </a:lnSpc>
            </a:pPr>
            <a:r>
              <a:rPr sz="1050" b="1" i="0">
                <a:solidFill>
                  <a:srgbClr val="3E5F5A"/>
                </a:solidFill>
                <a:latin typeface="Segoe UI"/>
              </a:rPr>
              <a:t>OBJECTIVES</a:t>
            </a:r>
          </a:p>
        </p:txBody>
      </p:sp>
      <p:cxnSp>
        <p:nvCxnSpPr>
          <p:cNvPr id="4" name="Connector 3"/>
          <p:cNvCxnSpPr/>
          <p:nvPr/>
        </p:nvCxnSpPr>
        <p:spPr>
          <a:xfrm>
            <a:off x="731520" y="841248"/>
            <a:ext cx="457200" cy="0"/>
          </a:xfrm>
          <a:prstGeom prst="line">
            <a:avLst/>
          </a:prstGeom>
          <a:ln w="19050">
            <a:solidFill>
              <a:srgbClr val="3E5F5A"/>
            </a:solidFill>
          </a:ln>
        </p:spPr>
      </p:cxnSp>
      <p:sp>
        <p:nvSpPr>
          <p:cNvPr id="5" name="TextBox 4"/>
          <p:cNvSpPr txBox="1"/>
          <p:nvPr/>
        </p:nvSpPr>
        <p:spPr>
          <a:xfrm>
            <a:off x="731520" y="960120"/>
            <a:ext cx="10725912" cy="731520"/>
          </a:xfrm>
          <a:prstGeom prst="rect">
            <a:avLst/>
          </a:prstGeom>
          <a:noFill/>
        </p:spPr>
        <p:txBody>
          <a:bodyPr wrap="square" anchor="t" lIns="0" rIns="0" tIns="0" bIns="0">
            <a:spAutoFit/>
          </a:bodyPr>
          <a:lstStyle/>
          <a:p>
            <a:pPr algn="l">
              <a:lnSpc>
                <a:spcPct val="120000"/>
              </a:lnSpc>
            </a:pPr>
            <a:r>
              <a:rPr sz="2800" b="0" i="0">
                <a:solidFill>
                  <a:srgbClr val="1F2421"/>
                </a:solidFill>
                <a:latin typeface="Georgia"/>
              </a:rPr>
              <a:t>Objectives</a:t>
            </a:r>
          </a:p>
        </p:txBody>
      </p:sp>
      <p:sp>
        <p:nvSpPr>
          <p:cNvPr id="6" name="TextBox 5"/>
          <p:cNvSpPr txBox="1"/>
          <p:nvPr/>
        </p:nvSpPr>
        <p:spPr>
          <a:xfrm>
            <a:off x="731520" y="6400800"/>
            <a:ext cx="5486400" cy="228600"/>
          </a:xfrm>
          <a:prstGeom prst="rect">
            <a:avLst/>
          </a:prstGeom>
          <a:noFill/>
        </p:spPr>
        <p:txBody>
          <a:bodyPr wrap="square" anchor="t" lIns="0" rIns="0" tIns="0" bIns="0">
            <a:spAutoFit/>
          </a:bodyPr>
          <a:lstStyle/>
          <a:p>
            <a:pPr algn="l">
              <a:lnSpc>
                <a:spcPct val="120000"/>
              </a:lnSpc>
            </a:pPr>
            <a:r>
              <a:rPr sz="900" b="0" i="0">
                <a:solidFill>
                  <a:srgbClr val="8C918A"/>
                </a:solidFill>
                <a:latin typeface="Segoe UI"/>
              </a:rPr>
              <a:t>Krypsis  ·  Final Review</a:t>
            </a:r>
          </a:p>
        </p:txBody>
      </p:sp>
      <p:sp>
        <p:nvSpPr>
          <p:cNvPr id="7" name="TextBox 6"/>
          <p:cNvSpPr txBox="1"/>
          <p:nvPr/>
        </p:nvSpPr>
        <p:spPr>
          <a:xfrm>
            <a:off x="10543032" y="6400800"/>
            <a:ext cx="914400" cy="228600"/>
          </a:xfrm>
          <a:prstGeom prst="rect">
            <a:avLst/>
          </a:prstGeom>
          <a:noFill/>
        </p:spPr>
        <p:txBody>
          <a:bodyPr wrap="square" anchor="t" lIns="0" rIns="0" tIns="0" bIns="0">
            <a:spAutoFit/>
          </a:bodyPr>
          <a:lstStyle/>
          <a:p>
            <a:pPr algn="r">
              <a:lnSpc>
                <a:spcPct val="120000"/>
              </a:lnSpc>
            </a:pPr>
            <a:r>
              <a:rPr sz="900" b="0" i="0">
                <a:solidFill>
                  <a:srgbClr val="8C918A"/>
                </a:solidFill>
                <a:latin typeface="Segoe UI"/>
              </a:rPr>
              <a:t>3</a:t>
            </a:r>
          </a:p>
        </p:txBody>
      </p:sp>
      <p:sp>
        <p:nvSpPr>
          <p:cNvPr id="8" name="TextBox 7"/>
          <p:cNvSpPr txBox="1"/>
          <p:nvPr/>
        </p:nvSpPr>
        <p:spPr>
          <a:xfrm>
            <a:off x="731520" y="1783080"/>
            <a:ext cx="548640" cy="548640"/>
          </a:xfrm>
          <a:prstGeom prst="rect">
            <a:avLst/>
          </a:prstGeom>
          <a:noFill/>
        </p:spPr>
        <p:txBody>
          <a:bodyPr wrap="square" anchor="t" lIns="0" rIns="0" tIns="0" bIns="0">
            <a:spAutoFit/>
          </a:bodyPr>
          <a:lstStyle/>
          <a:p>
            <a:pPr algn="l">
              <a:lnSpc>
                <a:spcPct val="120000"/>
              </a:lnSpc>
            </a:pPr>
            <a:r>
              <a:rPr sz="2400" b="0" i="0">
                <a:solidFill>
                  <a:srgbClr val="3E5F5A"/>
                </a:solidFill>
                <a:latin typeface="Georgia"/>
              </a:rPr>
              <a:t>1</a:t>
            </a:r>
          </a:p>
        </p:txBody>
      </p:sp>
      <p:sp>
        <p:nvSpPr>
          <p:cNvPr id="9" name="TextBox 8"/>
          <p:cNvSpPr txBox="1"/>
          <p:nvPr/>
        </p:nvSpPr>
        <p:spPr>
          <a:xfrm>
            <a:off x="1280160" y="1801368"/>
            <a:ext cx="6309360" cy="822960"/>
          </a:xfrm>
          <a:prstGeom prst="rect">
            <a:avLst/>
          </a:prstGeom>
          <a:noFill/>
        </p:spPr>
        <p:txBody>
          <a:bodyPr wrap="square" anchor="t" lIns="0" rIns="0" tIns="0" bIns="0">
            <a:spAutoFit/>
          </a:bodyPr>
          <a:lstStyle/>
          <a:p>
            <a:pPr algn="l">
              <a:lnSpc>
                <a:spcPct val="115000"/>
              </a:lnSpc>
            </a:pPr>
            <a:r>
              <a:rPr sz="1400" b="1" i="0">
                <a:solidFill>
                  <a:srgbClr val="1F2421"/>
                </a:solidFill>
                <a:latin typeface="Segoe UI"/>
              </a:rPr>
              <a:t>Federated detector</a:t>
            </a:r>
          </a:p>
          <a:p>
            <a:pPr algn="l">
              <a:lnSpc>
                <a:spcPct val="115000"/>
              </a:lnSpc>
            </a:pPr>
            <a:r>
              <a:rPr sz="1200" b="0" i="0">
                <a:solidFill>
                  <a:srgbClr val="5B625C"/>
                </a:solidFill>
                <a:latin typeface="Segoe UI"/>
              </a:rPr>
              <a:t>Train one intrusion detector across 10 router clients without centralizing raw traffic.</a:t>
            </a:r>
          </a:p>
        </p:txBody>
      </p:sp>
      <p:sp>
        <p:nvSpPr>
          <p:cNvPr id="10" name="Rounded Rectangle 9"/>
          <p:cNvSpPr/>
          <p:nvPr/>
        </p:nvSpPr>
        <p:spPr>
          <a:xfrm>
            <a:off x="7726679" y="1874520"/>
            <a:ext cx="3730752" cy="566928"/>
          </a:xfrm>
          <a:prstGeom prst="roundRect">
            <a:avLst>
              <a:gd name="adj" fmla="val 20000"/>
            </a:avLst>
          </a:prstGeom>
          <a:solidFill>
            <a:srgbClr val="E4EB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0" y="1874520"/>
            <a:ext cx="3474720" cy="566928"/>
          </a:xfrm>
          <a:prstGeom prst="rect">
            <a:avLst/>
          </a:prstGeom>
          <a:noFill/>
        </p:spPr>
        <p:txBody>
          <a:bodyPr wrap="square" anchor="ctr" lIns="0" rIns="0" tIns="0" bIns="0">
            <a:spAutoFit/>
          </a:bodyPr>
          <a:lstStyle/>
          <a:p>
            <a:pPr algn="l">
              <a:lnSpc>
                <a:spcPct val="120000"/>
              </a:lnSpc>
            </a:pPr>
            <a:r>
              <a:rPr sz="1150" b="0" i="0">
                <a:solidFill>
                  <a:srgbClr val="3E5F5A"/>
                </a:solidFill>
                <a:latin typeface="Segoe UI"/>
              </a:rPr>
              <a:t>Met · FedAvg over 10 routers: 99.93%</a:t>
            </a:r>
          </a:p>
        </p:txBody>
      </p:sp>
      <p:cxnSp>
        <p:nvCxnSpPr>
          <p:cNvPr id="12" name="Connector 11"/>
          <p:cNvCxnSpPr/>
          <p:nvPr/>
        </p:nvCxnSpPr>
        <p:spPr>
          <a:xfrm>
            <a:off x="1280160" y="2587752"/>
            <a:ext cx="10149840" cy="0"/>
          </a:xfrm>
          <a:prstGeom prst="line">
            <a:avLst/>
          </a:prstGeom>
          <a:ln w="6350">
            <a:solidFill>
              <a:srgbClr val="DDDAD2"/>
            </a:solidFill>
          </a:ln>
        </p:spPr>
      </p:cxnSp>
      <p:sp>
        <p:nvSpPr>
          <p:cNvPr id="13" name="TextBox 12"/>
          <p:cNvSpPr txBox="1"/>
          <p:nvPr/>
        </p:nvSpPr>
        <p:spPr>
          <a:xfrm>
            <a:off x="731520" y="2651760"/>
            <a:ext cx="548640" cy="548640"/>
          </a:xfrm>
          <a:prstGeom prst="rect">
            <a:avLst/>
          </a:prstGeom>
          <a:noFill/>
        </p:spPr>
        <p:txBody>
          <a:bodyPr wrap="square" anchor="t" lIns="0" rIns="0" tIns="0" bIns="0">
            <a:spAutoFit/>
          </a:bodyPr>
          <a:lstStyle/>
          <a:p>
            <a:pPr algn="l">
              <a:lnSpc>
                <a:spcPct val="120000"/>
              </a:lnSpc>
            </a:pPr>
            <a:r>
              <a:rPr sz="2400" b="0" i="0">
                <a:solidFill>
                  <a:srgbClr val="3E5F5A"/>
                </a:solidFill>
                <a:latin typeface="Georgia"/>
              </a:rPr>
              <a:t>2</a:t>
            </a:r>
          </a:p>
        </p:txBody>
      </p:sp>
      <p:sp>
        <p:nvSpPr>
          <p:cNvPr id="14" name="TextBox 13"/>
          <p:cNvSpPr txBox="1"/>
          <p:nvPr/>
        </p:nvSpPr>
        <p:spPr>
          <a:xfrm>
            <a:off x="1280160" y="2670048"/>
            <a:ext cx="6309360" cy="822960"/>
          </a:xfrm>
          <a:prstGeom prst="rect">
            <a:avLst/>
          </a:prstGeom>
          <a:noFill/>
        </p:spPr>
        <p:txBody>
          <a:bodyPr wrap="square" anchor="t" lIns="0" rIns="0" tIns="0" bIns="0">
            <a:spAutoFit/>
          </a:bodyPr>
          <a:lstStyle/>
          <a:p>
            <a:pPr algn="l">
              <a:lnSpc>
                <a:spcPct val="115000"/>
              </a:lnSpc>
            </a:pPr>
            <a:r>
              <a:rPr sz="1400" b="1" i="0">
                <a:solidFill>
                  <a:srgbClr val="1F2421"/>
                </a:solidFill>
                <a:latin typeface="Segoe UI"/>
              </a:rPr>
              <a:t>Security-fused protocol</a:t>
            </a:r>
          </a:p>
          <a:p>
            <a:pPr algn="l">
              <a:lnSpc>
                <a:spcPct val="115000"/>
              </a:lnSpc>
            </a:pPr>
            <a:r>
              <a:rPr sz="1200" b="0" i="0">
                <a:solidFill>
                  <a:srgbClr val="5B625C"/>
                </a:solidFill>
                <a:latin typeface="Segoe UI"/>
              </a:rPr>
              <a:t>Design an update message with an integrity tag and a fingerprint, and filter bad updates before aggregation.</a:t>
            </a:r>
          </a:p>
        </p:txBody>
      </p:sp>
      <p:sp>
        <p:nvSpPr>
          <p:cNvPr id="15" name="Rounded Rectangle 14"/>
          <p:cNvSpPr/>
          <p:nvPr/>
        </p:nvSpPr>
        <p:spPr>
          <a:xfrm>
            <a:off x="7726679" y="2743200"/>
            <a:ext cx="3730752" cy="566928"/>
          </a:xfrm>
          <a:prstGeom prst="roundRect">
            <a:avLst>
              <a:gd name="adj" fmla="val 20000"/>
            </a:avLst>
          </a:prstGeom>
          <a:solidFill>
            <a:srgbClr val="E4EB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0" y="2743200"/>
            <a:ext cx="3474720" cy="566928"/>
          </a:xfrm>
          <a:prstGeom prst="rect">
            <a:avLst/>
          </a:prstGeom>
          <a:noFill/>
        </p:spPr>
        <p:txBody>
          <a:bodyPr wrap="square" anchor="ctr" lIns="0" rIns="0" tIns="0" bIns="0">
            <a:spAutoFit/>
          </a:bodyPr>
          <a:lstStyle/>
          <a:p>
            <a:pPr algn="l">
              <a:lnSpc>
                <a:spcPct val="120000"/>
              </a:lnSpc>
            </a:pPr>
            <a:r>
              <a:rPr sz="1150" b="0" i="0">
                <a:solidFill>
                  <a:srgbClr val="3E5F5A"/>
                </a:solidFill>
                <a:latin typeface="Segoe UI"/>
              </a:rPr>
              <a:t>Met · HMAC, verifiable fingerprint, 3 anomaly scores</a:t>
            </a:r>
          </a:p>
        </p:txBody>
      </p:sp>
      <p:cxnSp>
        <p:nvCxnSpPr>
          <p:cNvPr id="17" name="Connector 16"/>
          <p:cNvCxnSpPr/>
          <p:nvPr/>
        </p:nvCxnSpPr>
        <p:spPr>
          <a:xfrm>
            <a:off x="1280160" y="3456432"/>
            <a:ext cx="10149840" cy="0"/>
          </a:xfrm>
          <a:prstGeom prst="line">
            <a:avLst/>
          </a:prstGeom>
          <a:ln w="6350">
            <a:solidFill>
              <a:srgbClr val="DDDAD2"/>
            </a:solidFill>
          </a:ln>
        </p:spPr>
      </p:cxnSp>
      <p:sp>
        <p:nvSpPr>
          <p:cNvPr id="18" name="TextBox 17"/>
          <p:cNvSpPr txBox="1"/>
          <p:nvPr/>
        </p:nvSpPr>
        <p:spPr>
          <a:xfrm>
            <a:off x="731520" y="3520440"/>
            <a:ext cx="548640" cy="548640"/>
          </a:xfrm>
          <a:prstGeom prst="rect">
            <a:avLst/>
          </a:prstGeom>
          <a:noFill/>
        </p:spPr>
        <p:txBody>
          <a:bodyPr wrap="square" anchor="t" lIns="0" rIns="0" tIns="0" bIns="0">
            <a:spAutoFit/>
          </a:bodyPr>
          <a:lstStyle/>
          <a:p>
            <a:pPr algn="l">
              <a:lnSpc>
                <a:spcPct val="120000"/>
              </a:lnSpc>
            </a:pPr>
            <a:r>
              <a:rPr sz="2400" b="0" i="0">
                <a:solidFill>
                  <a:srgbClr val="3E5F5A"/>
                </a:solidFill>
                <a:latin typeface="Georgia"/>
              </a:rPr>
              <a:t>3</a:t>
            </a:r>
          </a:p>
        </p:txBody>
      </p:sp>
      <p:sp>
        <p:nvSpPr>
          <p:cNvPr id="19" name="TextBox 18"/>
          <p:cNvSpPr txBox="1"/>
          <p:nvPr/>
        </p:nvSpPr>
        <p:spPr>
          <a:xfrm>
            <a:off x="1280160" y="3538728"/>
            <a:ext cx="6309360" cy="822960"/>
          </a:xfrm>
          <a:prstGeom prst="rect">
            <a:avLst/>
          </a:prstGeom>
          <a:noFill/>
        </p:spPr>
        <p:txBody>
          <a:bodyPr wrap="square" anchor="t" lIns="0" rIns="0" tIns="0" bIns="0">
            <a:spAutoFit/>
          </a:bodyPr>
          <a:lstStyle/>
          <a:p>
            <a:pPr algn="l">
              <a:lnSpc>
                <a:spcPct val="115000"/>
              </a:lnSpc>
            </a:pPr>
            <a:r>
              <a:rPr sz="1400" b="1" i="0">
                <a:solidFill>
                  <a:srgbClr val="1F2421"/>
                </a:solidFill>
                <a:latin typeface="Segoe UI"/>
              </a:rPr>
              <a:t>Detection quality</a:t>
            </a:r>
          </a:p>
          <a:p>
            <a:pPr algn="l">
              <a:lnSpc>
                <a:spcPct val="115000"/>
              </a:lnSpc>
            </a:pPr>
            <a:r>
              <a:rPr sz="1200" b="0" i="0">
                <a:solidFill>
                  <a:srgbClr val="5B625C"/>
                </a:solidFill>
                <a:latin typeface="Segoe UI"/>
              </a:rPr>
              <a:t>Measure accuracy, precision, recall and F1, for binary and 11-class detection.</a:t>
            </a:r>
          </a:p>
        </p:txBody>
      </p:sp>
      <p:sp>
        <p:nvSpPr>
          <p:cNvPr id="20" name="Rounded Rectangle 19"/>
          <p:cNvSpPr/>
          <p:nvPr/>
        </p:nvSpPr>
        <p:spPr>
          <a:xfrm>
            <a:off x="7726679" y="3611880"/>
            <a:ext cx="3730752" cy="566928"/>
          </a:xfrm>
          <a:prstGeom prst="roundRect">
            <a:avLst>
              <a:gd name="adj" fmla="val 20000"/>
            </a:avLst>
          </a:prstGeom>
          <a:solidFill>
            <a:srgbClr val="E4EB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0" y="3611880"/>
            <a:ext cx="3474720" cy="566928"/>
          </a:xfrm>
          <a:prstGeom prst="rect">
            <a:avLst/>
          </a:prstGeom>
          <a:noFill/>
        </p:spPr>
        <p:txBody>
          <a:bodyPr wrap="square" anchor="ctr" lIns="0" rIns="0" tIns="0" bIns="0">
            <a:spAutoFit/>
          </a:bodyPr>
          <a:lstStyle/>
          <a:p>
            <a:pPr algn="l">
              <a:lnSpc>
                <a:spcPct val="120000"/>
              </a:lnSpc>
            </a:pPr>
            <a:r>
              <a:rPr sz="1150" b="0" i="0">
                <a:solidFill>
                  <a:srgbClr val="3E5F5A"/>
                </a:solidFill>
                <a:latin typeface="Segoe UI"/>
              </a:rPr>
              <a:t>Met · two datasets, binary and 11-class</a:t>
            </a:r>
          </a:p>
        </p:txBody>
      </p:sp>
      <p:cxnSp>
        <p:nvCxnSpPr>
          <p:cNvPr id="22" name="Connector 21"/>
          <p:cNvCxnSpPr/>
          <p:nvPr/>
        </p:nvCxnSpPr>
        <p:spPr>
          <a:xfrm>
            <a:off x="1280160" y="4325112"/>
            <a:ext cx="10149840" cy="0"/>
          </a:xfrm>
          <a:prstGeom prst="line">
            <a:avLst/>
          </a:prstGeom>
          <a:ln w="6350">
            <a:solidFill>
              <a:srgbClr val="DDDAD2"/>
            </a:solidFill>
          </a:ln>
        </p:spPr>
      </p:cxnSp>
      <p:sp>
        <p:nvSpPr>
          <p:cNvPr id="23" name="TextBox 22"/>
          <p:cNvSpPr txBox="1"/>
          <p:nvPr/>
        </p:nvSpPr>
        <p:spPr>
          <a:xfrm>
            <a:off x="731520" y="4389120"/>
            <a:ext cx="548640" cy="548640"/>
          </a:xfrm>
          <a:prstGeom prst="rect">
            <a:avLst/>
          </a:prstGeom>
          <a:noFill/>
        </p:spPr>
        <p:txBody>
          <a:bodyPr wrap="square" anchor="t" lIns="0" rIns="0" tIns="0" bIns="0">
            <a:spAutoFit/>
          </a:bodyPr>
          <a:lstStyle/>
          <a:p>
            <a:pPr algn="l">
              <a:lnSpc>
                <a:spcPct val="120000"/>
              </a:lnSpc>
            </a:pPr>
            <a:r>
              <a:rPr sz="2400" b="0" i="0">
                <a:solidFill>
                  <a:srgbClr val="3E5F5A"/>
                </a:solidFill>
                <a:latin typeface="Georgia"/>
              </a:rPr>
              <a:t>4</a:t>
            </a:r>
          </a:p>
        </p:txBody>
      </p:sp>
      <p:sp>
        <p:nvSpPr>
          <p:cNvPr id="24" name="TextBox 23"/>
          <p:cNvSpPr txBox="1"/>
          <p:nvPr/>
        </p:nvSpPr>
        <p:spPr>
          <a:xfrm>
            <a:off x="1280160" y="4407408"/>
            <a:ext cx="6309360" cy="822960"/>
          </a:xfrm>
          <a:prstGeom prst="rect">
            <a:avLst/>
          </a:prstGeom>
          <a:noFill/>
        </p:spPr>
        <p:txBody>
          <a:bodyPr wrap="square" anchor="t" lIns="0" rIns="0" tIns="0" bIns="0">
            <a:spAutoFit/>
          </a:bodyPr>
          <a:lstStyle/>
          <a:p>
            <a:pPr algn="l">
              <a:lnSpc>
                <a:spcPct val="115000"/>
              </a:lnSpc>
            </a:pPr>
            <a:r>
              <a:rPr sz="1400" b="1" i="0">
                <a:solidFill>
                  <a:srgbClr val="1F2421"/>
                </a:solidFill>
                <a:latin typeface="Segoe UI"/>
              </a:rPr>
              <a:t>Communication cost</a:t>
            </a:r>
          </a:p>
          <a:p>
            <a:pPr algn="l">
              <a:lnSpc>
                <a:spcPct val="115000"/>
              </a:lnSpc>
            </a:pPr>
            <a:r>
              <a:rPr sz="1200" b="0" i="0">
                <a:solidFill>
                  <a:srgbClr val="5B625C"/>
                </a:solidFill>
                <a:latin typeface="Segoe UI"/>
              </a:rPr>
              <a:t>Measure the protocol's overhead against a generic HTTP/JSON transfer.</a:t>
            </a:r>
          </a:p>
        </p:txBody>
      </p:sp>
      <p:sp>
        <p:nvSpPr>
          <p:cNvPr id="25" name="Rounded Rectangle 24"/>
          <p:cNvSpPr/>
          <p:nvPr/>
        </p:nvSpPr>
        <p:spPr>
          <a:xfrm>
            <a:off x="7726679" y="4480560"/>
            <a:ext cx="3730752" cy="566928"/>
          </a:xfrm>
          <a:prstGeom prst="roundRect">
            <a:avLst>
              <a:gd name="adj" fmla="val 20000"/>
            </a:avLst>
          </a:prstGeom>
          <a:solidFill>
            <a:srgbClr val="E4EB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63840" y="4480560"/>
            <a:ext cx="3474720" cy="566928"/>
          </a:xfrm>
          <a:prstGeom prst="rect">
            <a:avLst/>
          </a:prstGeom>
          <a:noFill/>
        </p:spPr>
        <p:txBody>
          <a:bodyPr wrap="square" anchor="ctr" lIns="0" rIns="0" tIns="0" bIns="0">
            <a:spAutoFit/>
          </a:bodyPr>
          <a:lstStyle/>
          <a:p>
            <a:pPr algn="l">
              <a:lnSpc>
                <a:spcPct val="120000"/>
              </a:lnSpc>
            </a:pPr>
            <a:r>
              <a:rPr sz="1150" b="0" i="0">
                <a:solidFill>
                  <a:srgbClr val="3E5F5A"/>
                </a:solidFill>
                <a:latin typeface="Segoe UI"/>
              </a:rPr>
              <a:t>Met · +0.67% overhead; JSON is 5.6× larger</a:t>
            </a:r>
          </a:p>
        </p:txBody>
      </p:sp>
      <p:cxnSp>
        <p:nvCxnSpPr>
          <p:cNvPr id="27" name="Connector 26"/>
          <p:cNvCxnSpPr/>
          <p:nvPr/>
        </p:nvCxnSpPr>
        <p:spPr>
          <a:xfrm>
            <a:off x="1280160" y="5193792"/>
            <a:ext cx="10149840" cy="0"/>
          </a:xfrm>
          <a:prstGeom prst="line">
            <a:avLst/>
          </a:prstGeom>
          <a:ln w="6350">
            <a:solidFill>
              <a:srgbClr val="DDDAD2"/>
            </a:solidFill>
          </a:ln>
        </p:spPr>
      </p:cxnSp>
      <p:sp>
        <p:nvSpPr>
          <p:cNvPr id="28" name="TextBox 27"/>
          <p:cNvSpPr txBox="1"/>
          <p:nvPr/>
        </p:nvSpPr>
        <p:spPr>
          <a:xfrm>
            <a:off x="731520" y="5257800"/>
            <a:ext cx="548640" cy="548640"/>
          </a:xfrm>
          <a:prstGeom prst="rect">
            <a:avLst/>
          </a:prstGeom>
          <a:noFill/>
        </p:spPr>
        <p:txBody>
          <a:bodyPr wrap="square" anchor="t" lIns="0" rIns="0" tIns="0" bIns="0">
            <a:spAutoFit/>
          </a:bodyPr>
          <a:lstStyle/>
          <a:p>
            <a:pPr algn="l">
              <a:lnSpc>
                <a:spcPct val="120000"/>
              </a:lnSpc>
            </a:pPr>
            <a:r>
              <a:rPr sz="2400" b="0" i="0">
                <a:solidFill>
                  <a:srgbClr val="3E5F5A"/>
                </a:solidFill>
                <a:latin typeface="Georgia"/>
              </a:rPr>
              <a:t>5</a:t>
            </a:r>
          </a:p>
        </p:txBody>
      </p:sp>
      <p:sp>
        <p:nvSpPr>
          <p:cNvPr id="29" name="TextBox 28"/>
          <p:cNvSpPr txBox="1"/>
          <p:nvPr/>
        </p:nvSpPr>
        <p:spPr>
          <a:xfrm>
            <a:off x="1280160" y="5276088"/>
            <a:ext cx="6309360" cy="822960"/>
          </a:xfrm>
          <a:prstGeom prst="rect">
            <a:avLst/>
          </a:prstGeom>
          <a:noFill/>
        </p:spPr>
        <p:txBody>
          <a:bodyPr wrap="square" anchor="t" lIns="0" rIns="0" tIns="0" bIns="0">
            <a:spAutoFit/>
          </a:bodyPr>
          <a:lstStyle/>
          <a:p>
            <a:pPr algn="l">
              <a:lnSpc>
                <a:spcPct val="115000"/>
              </a:lnSpc>
            </a:pPr>
            <a:r>
              <a:rPr sz="1400" b="1" i="0">
                <a:solidFill>
                  <a:srgbClr val="1F2421"/>
                </a:solidFill>
                <a:latin typeface="Segoe UI"/>
              </a:rPr>
              <a:t>Robustness and the research question</a:t>
            </a:r>
          </a:p>
          <a:p>
            <a:pPr algn="l">
              <a:lnSpc>
                <a:spcPct val="115000"/>
              </a:lnSpc>
            </a:pPr>
            <a:r>
              <a:rPr sz="1200" b="0" i="0">
                <a:solidFill>
                  <a:srgbClr val="5B625C"/>
                </a:solidFill>
                <a:latin typeface="Segoe UI"/>
              </a:rPr>
              <a:t>Test poisoning, dropout, traffic shift and global vs Mondrian thresholds, over repeated seeds with significance tests.</a:t>
            </a:r>
          </a:p>
        </p:txBody>
      </p:sp>
      <p:sp>
        <p:nvSpPr>
          <p:cNvPr id="30" name="Rounded Rectangle 29"/>
          <p:cNvSpPr/>
          <p:nvPr/>
        </p:nvSpPr>
        <p:spPr>
          <a:xfrm>
            <a:off x="7726679" y="5349240"/>
            <a:ext cx="3730752" cy="566928"/>
          </a:xfrm>
          <a:prstGeom prst="roundRect">
            <a:avLst>
              <a:gd name="adj" fmla="val 20000"/>
            </a:avLst>
          </a:prstGeom>
          <a:solidFill>
            <a:srgbClr val="E4EB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0" y="5349240"/>
            <a:ext cx="3474720" cy="566928"/>
          </a:xfrm>
          <a:prstGeom prst="rect">
            <a:avLst/>
          </a:prstGeom>
          <a:noFill/>
        </p:spPr>
        <p:txBody>
          <a:bodyPr wrap="square" anchor="ctr" lIns="0" rIns="0" tIns="0" bIns="0">
            <a:spAutoFit/>
          </a:bodyPr>
          <a:lstStyle/>
          <a:p>
            <a:pPr algn="l">
              <a:lnSpc>
                <a:spcPct val="120000"/>
              </a:lnSpc>
            </a:pPr>
            <a:r>
              <a:rPr sz="1150" b="0" i="0">
                <a:solidFill>
                  <a:srgbClr val="3E5F5A"/>
                </a:solidFill>
                <a:latin typeface="Segoe UI"/>
              </a:rPr>
              <a:t>Met · 235 federated runs; Mondrian not better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7315200" cy="274320"/>
          </a:xfrm>
          <a:prstGeom prst="rect">
            <a:avLst/>
          </a:prstGeom>
          <a:noFill/>
        </p:spPr>
        <p:txBody>
          <a:bodyPr wrap="square" anchor="t" lIns="0" rIns="0" tIns="0" bIns="0">
            <a:spAutoFit/>
          </a:bodyPr>
          <a:lstStyle/>
          <a:p>
            <a:pPr algn="l">
              <a:lnSpc>
                <a:spcPct val="120000"/>
              </a:lnSpc>
            </a:pPr>
            <a:r>
              <a:rPr sz="1050" b="1" i="0">
                <a:solidFill>
                  <a:srgbClr val="3E5F5A"/>
                </a:solidFill>
                <a:latin typeface="Segoe UI"/>
              </a:rPr>
              <a:t>METHODOLOGY · 1 / 6</a:t>
            </a:r>
          </a:p>
        </p:txBody>
      </p:sp>
      <p:cxnSp>
        <p:nvCxnSpPr>
          <p:cNvPr id="4" name="Connector 3"/>
          <p:cNvCxnSpPr/>
          <p:nvPr/>
        </p:nvCxnSpPr>
        <p:spPr>
          <a:xfrm>
            <a:off x="731520" y="841248"/>
            <a:ext cx="457200" cy="0"/>
          </a:xfrm>
          <a:prstGeom prst="line">
            <a:avLst/>
          </a:prstGeom>
          <a:ln w="19050">
            <a:solidFill>
              <a:srgbClr val="3E5F5A"/>
            </a:solidFill>
          </a:ln>
        </p:spPr>
      </p:cxnSp>
      <p:sp>
        <p:nvSpPr>
          <p:cNvPr id="5" name="TextBox 4"/>
          <p:cNvSpPr txBox="1"/>
          <p:nvPr/>
        </p:nvSpPr>
        <p:spPr>
          <a:xfrm>
            <a:off x="731520" y="960120"/>
            <a:ext cx="10725912" cy="731520"/>
          </a:xfrm>
          <a:prstGeom prst="rect">
            <a:avLst/>
          </a:prstGeom>
          <a:noFill/>
        </p:spPr>
        <p:txBody>
          <a:bodyPr wrap="square" anchor="t" lIns="0" rIns="0" tIns="0" bIns="0">
            <a:spAutoFit/>
          </a:bodyPr>
          <a:lstStyle/>
          <a:p>
            <a:pPr algn="l">
              <a:lnSpc>
                <a:spcPct val="120000"/>
              </a:lnSpc>
            </a:pPr>
            <a:r>
              <a:rPr sz="2800" b="0" i="0">
                <a:solidFill>
                  <a:srgbClr val="1F2421"/>
                </a:solidFill>
                <a:latin typeface="Georgia"/>
              </a:rPr>
              <a:t>System architecture and dataset</a:t>
            </a:r>
          </a:p>
        </p:txBody>
      </p:sp>
      <p:sp>
        <p:nvSpPr>
          <p:cNvPr id="6" name="TextBox 5"/>
          <p:cNvSpPr txBox="1"/>
          <p:nvPr/>
        </p:nvSpPr>
        <p:spPr>
          <a:xfrm>
            <a:off x="731520" y="6400800"/>
            <a:ext cx="5486400" cy="228600"/>
          </a:xfrm>
          <a:prstGeom prst="rect">
            <a:avLst/>
          </a:prstGeom>
          <a:noFill/>
        </p:spPr>
        <p:txBody>
          <a:bodyPr wrap="square" anchor="t" lIns="0" rIns="0" tIns="0" bIns="0">
            <a:spAutoFit/>
          </a:bodyPr>
          <a:lstStyle/>
          <a:p>
            <a:pPr algn="l">
              <a:lnSpc>
                <a:spcPct val="120000"/>
              </a:lnSpc>
            </a:pPr>
            <a:r>
              <a:rPr sz="900" b="0" i="0">
                <a:solidFill>
                  <a:srgbClr val="8C918A"/>
                </a:solidFill>
                <a:latin typeface="Segoe UI"/>
              </a:rPr>
              <a:t>Krypsis  ·  Final Review</a:t>
            </a:r>
          </a:p>
        </p:txBody>
      </p:sp>
      <p:sp>
        <p:nvSpPr>
          <p:cNvPr id="7" name="TextBox 6"/>
          <p:cNvSpPr txBox="1"/>
          <p:nvPr/>
        </p:nvSpPr>
        <p:spPr>
          <a:xfrm>
            <a:off x="10543032" y="6400800"/>
            <a:ext cx="914400" cy="228600"/>
          </a:xfrm>
          <a:prstGeom prst="rect">
            <a:avLst/>
          </a:prstGeom>
          <a:noFill/>
        </p:spPr>
        <p:txBody>
          <a:bodyPr wrap="square" anchor="t" lIns="0" rIns="0" tIns="0" bIns="0">
            <a:spAutoFit/>
          </a:bodyPr>
          <a:lstStyle/>
          <a:p>
            <a:pPr algn="r">
              <a:lnSpc>
                <a:spcPct val="120000"/>
              </a:lnSpc>
            </a:pPr>
            <a:r>
              <a:rPr sz="900" b="0" i="0">
                <a:solidFill>
                  <a:srgbClr val="8C918A"/>
                </a:solidFill>
                <a:latin typeface="Segoe UI"/>
              </a:rPr>
              <a:t>4</a:t>
            </a:r>
          </a:p>
        </p:txBody>
      </p:sp>
      <p:sp>
        <p:nvSpPr>
          <p:cNvPr id="8" name="Rounded Rectangle 7"/>
          <p:cNvSpPr/>
          <p:nvPr/>
        </p:nvSpPr>
        <p:spPr>
          <a:xfrm>
            <a:off x="731520" y="1783080"/>
            <a:ext cx="2011680" cy="1051560"/>
          </a:xfrm>
          <a:prstGeom prst="roundRect">
            <a:avLst>
              <a:gd name="adj" fmla="val 8000"/>
            </a:avLst>
          </a:prstGeom>
          <a:solidFill>
            <a:srgbClr val="FFFFFF"/>
          </a:solidFill>
          <a:ln w="9525">
            <a:solidFill>
              <a:srgbClr val="DDDA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783080"/>
            <a:ext cx="1828800" cy="1051560"/>
          </a:xfrm>
          <a:prstGeom prst="rect">
            <a:avLst/>
          </a:prstGeom>
          <a:noFill/>
        </p:spPr>
        <p:txBody>
          <a:bodyPr wrap="square" anchor="ctr" lIns="0" rIns="0" tIns="0" bIns="0">
            <a:spAutoFit/>
          </a:bodyPr>
          <a:lstStyle/>
          <a:p>
            <a:pPr algn="ctr">
              <a:lnSpc>
                <a:spcPct val="110000"/>
              </a:lnSpc>
            </a:pPr>
            <a:r>
              <a:rPr sz="1200" b="1" i="0">
                <a:solidFill>
                  <a:srgbClr val="1F2421"/>
                </a:solidFill>
                <a:latin typeface="Segoe UI"/>
              </a:rPr>
              <a:t>Router client</a:t>
            </a:r>
          </a:p>
          <a:p>
            <a:pPr algn="ctr">
              <a:lnSpc>
                <a:spcPct val="110000"/>
              </a:lnSpc>
            </a:pPr>
            <a:r>
              <a:rPr sz="1000" b="0" i="0">
                <a:solidFill>
                  <a:srgbClr val="5B625C"/>
                </a:solidFill>
                <a:latin typeface="Segoe UI"/>
              </a:rPr>
              <a:t>local flows → local training → update Δw</a:t>
            </a:r>
          </a:p>
        </p:txBody>
      </p:sp>
      <p:cxnSp>
        <p:nvCxnSpPr>
          <p:cNvPr id="10" name="Connector 9"/>
          <p:cNvCxnSpPr/>
          <p:nvPr/>
        </p:nvCxnSpPr>
        <p:spPr>
          <a:xfrm>
            <a:off x="2770632" y="2308860"/>
            <a:ext cx="310896" cy="0"/>
          </a:xfrm>
          <a:prstGeom prst="line">
            <a:avLst/>
          </a:prstGeom>
          <a:ln w="15875">
            <a:solidFill>
              <a:srgbClr val="3E5F5A"/>
            </a:solidFill>
            <a:tailEnd type="triangle" w="med" len="med"/>
          </a:ln>
        </p:spPr>
      </p:cxnSp>
      <p:sp>
        <p:nvSpPr>
          <p:cNvPr id="11" name="Rounded Rectangle 10"/>
          <p:cNvSpPr/>
          <p:nvPr/>
        </p:nvSpPr>
        <p:spPr>
          <a:xfrm>
            <a:off x="3108960" y="1783080"/>
            <a:ext cx="2194560" cy="1051560"/>
          </a:xfrm>
          <a:prstGeom prst="roundRect">
            <a:avLst>
              <a:gd name="adj" fmla="val 8000"/>
            </a:avLst>
          </a:prstGeom>
          <a:solidFill>
            <a:srgbClr val="E4EBE8"/>
          </a:solidFill>
          <a:ln w="9525">
            <a:solidFill>
              <a:srgbClr val="3E5F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0" y="1783080"/>
            <a:ext cx="2011680" cy="1051560"/>
          </a:xfrm>
          <a:prstGeom prst="rect">
            <a:avLst/>
          </a:prstGeom>
          <a:noFill/>
        </p:spPr>
        <p:txBody>
          <a:bodyPr wrap="square" anchor="ctr" lIns="0" rIns="0" tIns="0" bIns="0">
            <a:spAutoFit/>
          </a:bodyPr>
          <a:lstStyle/>
          <a:p>
            <a:pPr algn="ctr">
              <a:lnSpc>
                <a:spcPct val="110000"/>
              </a:lnSpc>
            </a:pPr>
            <a:r>
              <a:rPr sz="1200" b="1" i="0">
                <a:solidFill>
                  <a:srgbClr val="3E5F5A"/>
                </a:solidFill>
                <a:latin typeface="Segoe UI"/>
              </a:rPr>
              <a:t>Krypsis message</a:t>
            </a:r>
          </a:p>
          <a:p>
            <a:pPr algn="ctr">
              <a:lnSpc>
                <a:spcPct val="110000"/>
              </a:lnSpc>
            </a:pPr>
            <a:r>
              <a:rPr sz="1000" b="0" i="0">
                <a:solidFill>
                  <a:srgbClr val="5B625C"/>
                </a:solidFill>
                <a:latin typeface="Segoe UI"/>
              </a:rPr>
              <a:t>header · fingerprint · payload · HMAC</a:t>
            </a:r>
          </a:p>
        </p:txBody>
      </p:sp>
      <p:cxnSp>
        <p:nvCxnSpPr>
          <p:cNvPr id="13" name="Connector 12"/>
          <p:cNvCxnSpPr/>
          <p:nvPr/>
        </p:nvCxnSpPr>
        <p:spPr>
          <a:xfrm>
            <a:off x="5330952" y="2308860"/>
            <a:ext cx="310896" cy="0"/>
          </a:xfrm>
          <a:prstGeom prst="line">
            <a:avLst/>
          </a:prstGeom>
          <a:ln w="15875">
            <a:solidFill>
              <a:srgbClr val="3E5F5A"/>
            </a:solidFill>
            <a:tailEnd type="triangle" w="med" len="med"/>
          </a:ln>
        </p:spPr>
      </p:cxnSp>
      <p:sp>
        <p:nvSpPr>
          <p:cNvPr id="14" name="Rounded Rectangle 13"/>
          <p:cNvSpPr/>
          <p:nvPr/>
        </p:nvSpPr>
        <p:spPr>
          <a:xfrm>
            <a:off x="5669280" y="1783080"/>
            <a:ext cx="2834640" cy="1051560"/>
          </a:xfrm>
          <a:prstGeom prst="roundRect">
            <a:avLst>
              <a:gd name="adj" fmla="val 8000"/>
            </a:avLst>
          </a:prstGeom>
          <a:solidFill>
            <a:srgbClr val="E4EBE8"/>
          </a:solidFill>
          <a:ln w="9525">
            <a:solidFill>
              <a:srgbClr val="3E5F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760720" y="1783080"/>
            <a:ext cx="2651760" cy="1051560"/>
          </a:xfrm>
          <a:prstGeom prst="rect">
            <a:avLst/>
          </a:prstGeom>
          <a:noFill/>
        </p:spPr>
        <p:txBody>
          <a:bodyPr wrap="square" anchor="ctr" lIns="0" rIns="0" tIns="0" bIns="0">
            <a:spAutoFit/>
          </a:bodyPr>
          <a:lstStyle/>
          <a:p>
            <a:pPr algn="ctr">
              <a:lnSpc>
                <a:spcPct val="110000"/>
              </a:lnSpc>
            </a:pPr>
            <a:r>
              <a:rPr sz="1200" b="1" i="0">
                <a:solidFill>
                  <a:srgbClr val="3E5F5A"/>
                </a:solidFill>
                <a:latin typeface="Segoe UI"/>
              </a:rPr>
              <a:t>Server checks</a:t>
            </a:r>
          </a:p>
          <a:p>
            <a:pPr algn="ctr">
              <a:lnSpc>
                <a:spcPct val="110000"/>
              </a:lnSpc>
            </a:pPr>
            <a:r>
              <a:rPr sz="1000" b="0" i="0">
                <a:solidFill>
                  <a:srgbClr val="5B625C"/>
                </a:solidFill>
                <a:latin typeface="Segoe UI"/>
              </a:rPr>
              <a:t>verify tag and fingerprint → score → threshold → second check</a:t>
            </a:r>
          </a:p>
        </p:txBody>
      </p:sp>
      <p:cxnSp>
        <p:nvCxnSpPr>
          <p:cNvPr id="16" name="Connector 15"/>
          <p:cNvCxnSpPr/>
          <p:nvPr/>
        </p:nvCxnSpPr>
        <p:spPr>
          <a:xfrm>
            <a:off x="8531352" y="2308860"/>
            <a:ext cx="310896" cy="0"/>
          </a:xfrm>
          <a:prstGeom prst="line">
            <a:avLst/>
          </a:prstGeom>
          <a:ln w="15875">
            <a:solidFill>
              <a:srgbClr val="3E5F5A"/>
            </a:solidFill>
            <a:tailEnd type="triangle" w="med" len="med"/>
          </a:ln>
        </p:spPr>
      </p:cxnSp>
      <p:sp>
        <p:nvSpPr>
          <p:cNvPr id="17" name="Rounded Rectangle 16"/>
          <p:cNvSpPr/>
          <p:nvPr/>
        </p:nvSpPr>
        <p:spPr>
          <a:xfrm>
            <a:off x="8869680" y="1783080"/>
            <a:ext cx="2587752" cy="1051560"/>
          </a:xfrm>
          <a:prstGeom prst="roundRect">
            <a:avLst>
              <a:gd name="adj" fmla="val 8000"/>
            </a:avLst>
          </a:prstGeom>
          <a:solidFill>
            <a:srgbClr val="FFFFFF"/>
          </a:solidFill>
          <a:ln w="9525">
            <a:solidFill>
              <a:srgbClr val="DDDA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20" y="1783080"/>
            <a:ext cx="2404872" cy="1051560"/>
          </a:xfrm>
          <a:prstGeom prst="rect">
            <a:avLst/>
          </a:prstGeom>
          <a:noFill/>
        </p:spPr>
        <p:txBody>
          <a:bodyPr wrap="square" anchor="ctr" lIns="0" rIns="0" tIns="0" bIns="0">
            <a:spAutoFit/>
          </a:bodyPr>
          <a:lstStyle/>
          <a:p>
            <a:pPr algn="ctr">
              <a:lnSpc>
                <a:spcPct val="110000"/>
              </a:lnSpc>
            </a:pPr>
            <a:r>
              <a:rPr sz="1200" b="1" i="0">
                <a:solidFill>
                  <a:srgbClr val="1F2421"/>
                </a:solidFill>
                <a:latin typeface="Segoe UI"/>
              </a:rPr>
              <a:t>Capped FedAvg</a:t>
            </a:r>
          </a:p>
          <a:p>
            <a:pPr algn="ctr">
              <a:lnSpc>
                <a:spcPct val="110000"/>
              </a:lnSpc>
            </a:pPr>
            <a:r>
              <a:rPr sz="1000" b="0" i="0">
                <a:solidFill>
                  <a:srgbClr val="5B625C"/>
                </a:solidFill>
                <a:latin typeface="Segoe UI"/>
              </a:rPr>
              <a:t>weighted average, ≤ 15% per client</a:t>
            </a:r>
          </a:p>
        </p:txBody>
      </p:sp>
      <p:cxnSp>
        <p:nvCxnSpPr>
          <p:cNvPr id="19" name="Connector 18"/>
          <p:cNvCxnSpPr/>
          <p:nvPr/>
        </p:nvCxnSpPr>
        <p:spPr>
          <a:xfrm>
            <a:off x="1737360" y="3154680"/>
            <a:ext cx="8412480" cy="0"/>
          </a:xfrm>
          <a:prstGeom prst="line">
            <a:avLst/>
          </a:prstGeom>
          <a:ln w="12700">
            <a:solidFill>
              <a:srgbClr val="8C918A"/>
            </a:solidFill>
          </a:ln>
        </p:spPr>
      </p:cxnSp>
      <p:cxnSp>
        <p:nvCxnSpPr>
          <p:cNvPr id="20" name="Connector 19"/>
          <p:cNvCxnSpPr/>
          <p:nvPr/>
        </p:nvCxnSpPr>
        <p:spPr>
          <a:xfrm>
            <a:off x="10149840" y="2834640"/>
            <a:ext cx="0" cy="320040"/>
          </a:xfrm>
          <a:prstGeom prst="line">
            <a:avLst/>
          </a:prstGeom>
          <a:ln w="15875">
            <a:solidFill>
              <a:srgbClr val="8C918A"/>
            </a:solidFill>
            <a:tailEnd type="triangle" w="med" len="med"/>
          </a:ln>
        </p:spPr>
      </p:cxnSp>
      <p:cxnSp>
        <p:nvCxnSpPr>
          <p:cNvPr id="21" name="Connector 20"/>
          <p:cNvCxnSpPr/>
          <p:nvPr/>
        </p:nvCxnSpPr>
        <p:spPr>
          <a:xfrm flipV="1">
            <a:off x="1737360" y="2834640"/>
            <a:ext cx="0" cy="320040"/>
          </a:xfrm>
          <a:prstGeom prst="line">
            <a:avLst/>
          </a:prstGeom>
          <a:ln w="15875">
            <a:solidFill>
              <a:srgbClr val="8C918A"/>
            </a:solidFill>
            <a:tailEnd type="triangle" w="med" len="med"/>
          </a:ln>
        </p:spPr>
      </p:cxnSp>
      <p:sp>
        <p:nvSpPr>
          <p:cNvPr id="22" name="TextBox 21"/>
          <p:cNvSpPr txBox="1"/>
          <p:nvPr/>
        </p:nvSpPr>
        <p:spPr>
          <a:xfrm>
            <a:off x="4023360" y="3209544"/>
            <a:ext cx="4206240" cy="274320"/>
          </a:xfrm>
          <a:prstGeom prst="rect">
            <a:avLst/>
          </a:prstGeom>
          <a:noFill/>
        </p:spPr>
        <p:txBody>
          <a:bodyPr wrap="square" anchor="t" lIns="0" rIns="0" tIns="0" bIns="0">
            <a:spAutoFit/>
          </a:bodyPr>
          <a:lstStyle/>
          <a:p>
            <a:pPr algn="ctr">
              <a:lnSpc>
                <a:spcPct val="120000"/>
              </a:lnSpc>
            </a:pPr>
            <a:r>
              <a:rPr sz="1050" b="0" i="0">
                <a:solidFill>
                  <a:srgbClr val="5B625C"/>
                </a:solidFill>
                <a:latin typeface="Segoe UI"/>
              </a:rPr>
              <a:t>new global model sent to every router, next round</a:t>
            </a:r>
          </a:p>
        </p:txBody>
      </p:sp>
      <p:cxnSp>
        <p:nvCxnSpPr>
          <p:cNvPr id="23" name="Connector 22"/>
          <p:cNvCxnSpPr/>
          <p:nvPr/>
        </p:nvCxnSpPr>
        <p:spPr>
          <a:xfrm>
            <a:off x="731520" y="3703320"/>
            <a:ext cx="10725912" cy="0"/>
          </a:xfrm>
          <a:prstGeom prst="line">
            <a:avLst/>
          </a:prstGeom>
          <a:ln w="9525">
            <a:solidFill>
              <a:srgbClr val="DDDAD2"/>
            </a:solidFill>
          </a:ln>
        </p:spPr>
      </p:cxnSp>
      <p:sp>
        <p:nvSpPr>
          <p:cNvPr id="24" name="TextBox 23"/>
          <p:cNvSpPr txBox="1"/>
          <p:nvPr/>
        </p:nvSpPr>
        <p:spPr>
          <a:xfrm>
            <a:off x="731520" y="3840480"/>
            <a:ext cx="5486400" cy="274320"/>
          </a:xfrm>
          <a:prstGeom prst="rect">
            <a:avLst/>
          </a:prstGeom>
          <a:noFill/>
        </p:spPr>
        <p:txBody>
          <a:bodyPr wrap="square" anchor="t" lIns="0" rIns="0" tIns="0" bIns="0">
            <a:spAutoFit/>
          </a:bodyPr>
          <a:lstStyle/>
          <a:p>
            <a:pPr algn="l">
              <a:lnSpc>
                <a:spcPct val="120000"/>
              </a:lnSpc>
            </a:pPr>
            <a:r>
              <a:rPr sz="1050" b="1" i="0">
                <a:solidFill>
                  <a:srgbClr val="3E5F5A"/>
                </a:solidFill>
                <a:latin typeface="Segoe UI"/>
              </a:rPr>
              <a:t>DATASET · FLNET2023 (KUMAR ET AL., 2023)</a:t>
            </a:r>
          </a:p>
        </p:txBody>
      </p:sp>
      <p:sp>
        <p:nvSpPr>
          <p:cNvPr id="25" name="TextBox 24"/>
          <p:cNvSpPr txBox="1"/>
          <p:nvPr/>
        </p:nvSpPr>
        <p:spPr>
          <a:xfrm>
            <a:off x="731520" y="4206240"/>
            <a:ext cx="5486400" cy="2103120"/>
          </a:xfrm>
          <a:prstGeom prst="rect">
            <a:avLst/>
          </a:prstGeom>
          <a:noFill/>
        </p:spPr>
        <p:txBody>
          <a:bodyPr wrap="square" lIns="0" rIns="0" tIns="0" bIns="0">
            <a:spAutoFit/>
          </a:bodyPr>
          <a:lstStyle/>
          <a:p>
            <a:pPr marL="219456" indent="-219456">
              <a:lnSpc>
                <a:spcPct val="120000"/>
              </a:lnSpc>
              <a:spcAft>
                <a:spcPts val="500"/>
              </a:spcAft>
              <a:buClr>
                <a:srgbClr val="3E5F5A"/>
              </a:buClr>
              <a:buFont typeface="Arial"/>
              <a:buChar char="•"/>
            </a:pPr>
            <a:r>
              <a:rPr sz="1200" b="1">
                <a:solidFill>
                  <a:srgbClr val="1F2421"/>
                </a:solidFill>
                <a:latin typeface="Segoe UI"/>
              </a:rPr>
              <a:t>Built for federated learning: </a:t>
            </a:r>
            <a:r>
              <a:rPr sz="1200">
                <a:solidFill>
                  <a:srgbClr val="1F2421"/>
                </a:solidFill>
                <a:latin typeface="Segoe UI"/>
              </a:rPr>
              <a:t>flows recorded at 10 routers of an emulated 40-node network.</a:t>
            </a:r>
          </a:p>
          <a:p>
            <a:pPr marL="219456" indent="-219456">
              <a:lnSpc>
                <a:spcPct val="120000"/>
              </a:lnSpc>
              <a:spcAft>
                <a:spcPts val="500"/>
              </a:spcAft>
              <a:buClr>
                <a:srgbClr val="3E5F5A"/>
              </a:buClr>
              <a:buFont typeface="Arial"/>
              <a:buChar char="•"/>
            </a:pPr>
            <a:r>
              <a:rPr sz="1200" b="1">
                <a:solidFill>
                  <a:srgbClr val="1F2421"/>
                </a:solidFill>
                <a:latin typeface="Segoe UI"/>
              </a:rPr>
              <a:t>10 routers = 10 clients, </a:t>
            </a:r>
            <a:r>
              <a:rPr sz="1200">
                <a:solidFill>
                  <a:srgbClr val="1F2421"/>
                </a:solidFill>
                <a:latin typeface="Segoe UI"/>
              </a:rPr>
              <a:t>each with its own mix of attacks.</a:t>
            </a:r>
          </a:p>
          <a:p>
            <a:pPr marL="219456" indent="-219456">
              <a:lnSpc>
                <a:spcPct val="120000"/>
              </a:lnSpc>
              <a:spcAft>
                <a:spcPts val="500"/>
              </a:spcAft>
              <a:buClr>
                <a:srgbClr val="3E5F5A"/>
              </a:buClr>
              <a:buFont typeface="Arial"/>
              <a:buChar char="•"/>
            </a:pPr>
            <a:r>
              <a:rPr sz="1200" b="1">
                <a:solidFill>
                  <a:srgbClr val="1F2421"/>
                </a:solidFill>
                <a:latin typeface="Segoe UI"/>
              </a:rPr>
              <a:t>Labels: </a:t>
            </a:r>
            <a:r>
              <a:rPr sz="1200">
                <a:solidFill>
                  <a:srgbClr val="1F2421"/>
                </a:solidFill>
                <a:latin typeface="Segoe UI"/>
              </a:rPr>
              <a:t>Normal or one of 10 attacks (DDoS, DoS, web attacks, MITM).</a:t>
            </a:r>
          </a:p>
          <a:p>
            <a:pPr marL="219456" indent="-219456">
              <a:lnSpc>
                <a:spcPct val="120000"/>
              </a:lnSpc>
              <a:spcAft>
                <a:spcPts val="500"/>
              </a:spcAft>
              <a:buClr>
                <a:srgbClr val="3E5F5A"/>
              </a:buClr>
              <a:buFont typeface="Arial"/>
              <a:buChar char="•"/>
            </a:pPr>
            <a:r>
              <a:rPr sz="1200" b="1">
                <a:solidFill>
                  <a:srgbClr val="1F2421"/>
                </a:solidFill>
                <a:latin typeface="Segoe UI"/>
              </a:rPr>
              <a:t>NSL-KDD </a:t>
            </a:r>
            <a:r>
              <a:rPr sz="1200">
                <a:solidFill>
                  <a:srgbClr val="1F2421"/>
                </a:solidFill>
                <a:latin typeface="Segoe UI"/>
              </a:rPr>
              <a:t>is used as a second dataset to repeat the results.</a:t>
            </a:r>
          </a:p>
        </p:txBody>
      </p:sp>
      <p:sp>
        <p:nvSpPr>
          <p:cNvPr id="26" name="TextBox 25"/>
          <p:cNvSpPr txBox="1"/>
          <p:nvPr/>
        </p:nvSpPr>
        <p:spPr>
          <a:xfrm>
            <a:off x="6766560" y="3931920"/>
            <a:ext cx="2286000" cy="1005840"/>
          </a:xfrm>
          <a:prstGeom prst="rect">
            <a:avLst/>
          </a:prstGeom>
          <a:noFill/>
        </p:spPr>
        <p:txBody>
          <a:bodyPr wrap="square" anchor="t" lIns="0" rIns="0" tIns="0" bIns="0">
            <a:spAutoFit/>
          </a:bodyPr>
          <a:lstStyle/>
          <a:p>
            <a:pPr algn="l">
              <a:lnSpc>
                <a:spcPct val="105000"/>
              </a:lnSpc>
            </a:pPr>
            <a:r>
              <a:rPr sz="2400" b="0" i="0">
                <a:solidFill>
                  <a:srgbClr val="1F2421"/>
                </a:solidFill>
                <a:latin typeface="Georgia"/>
              </a:rPr>
              <a:t>564,007</a:t>
            </a:r>
          </a:p>
          <a:p>
            <a:pPr algn="l">
              <a:lnSpc>
                <a:spcPct val="105000"/>
              </a:lnSpc>
            </a:pPr>
            <a:r>
              <a:rPr sz="1100" b="0" i="0">
                <a:solidFill>
                  <a:srgbClr val="5B625C"/>
                </a:solidFill>
                <a:latin typeface="Segoe UI"/>
              </a:rPr>
              <a:t>training flows</a:t>
            </a:r>
          </a:p>
        </p:txBody>
      </p:sp>
      <p:sp>
        <p:nvSpPr>
          <p:cNvPr id="27" name="TextBox 26"/>
          <p:cNvSpPr txBox="1"/>
          <p:nvPr/>
        </p:nvSpPr>
        <p:spPr>
          <a:xfrm>
            <a:off x="9144000" y="3931920"/>
            <a:ext cx="2286000" cy="1005840"/>
          </a:xfrm>
          <a:prstGeom prst="rect">
            <a:avLst/>
          </a:prstGeom>
          <a:noFill/>
        </p:spPr>
        <p:txBody>
          <a:bodyPr wrap="square" anchor="t" lIns="0" rIns="0" tIns="0" bIns="0">
            <a:spAutoFit/>
          </a:bodyPr>
          <a:lstStyle/>
          <a:p>
            <a:pPr algn="l">
              <a:lnSpc>
                <a:spcPct val="105000"/>
              </a:lnSpc>
            </a:pPr>
            <a:r>
              <a:rPr sz="2400" b="0" i="0">
                <a:solidFill>
                  <a:srgbClr val="1F2421"/>
                </a:solidFill>
                <a:latin typeface="Georgia"/>
              </a:rPr>
              <a:t>79,491</a:t>
            </a:r>
          </a:p>
          <a:p>
            <a:pPr algn="l">
              <a:lnSpc>
                <a:spcPct val="105000"/>
              </a:lnSpc>
            </a:pPr>
            <a:r>
              <a:rPr sz="1100" b="0" i="0">
                <a:solidFill>
                  <a:srgbClr val="5B625C"/>
                </a:solidFill>
                <a:latin typeface="Segoe UI"/>
              </a:rPr>
              <a:t>test flows</a:t>
            </a:r>
          </a:p>
        </p:txBody>
      </p:sp>
      <p:sp>
        <p:nvSpPr>
          <p:cNvPr id="28" name="TextBox 27"/>
          <p:cNvSpPr txBox="1"/>
          <p:nvPr/>
        </p:nvSpPr>
        <p:spPr>
          <a:xfrm>
            <a:off x="6766560" y="5029200"/>
            <a:ext cx="2286000" cy="1005840"/>
          </a:xfrm>
          <a:prstGeom prst="rect">
            <a:avLst/>
          </a:prstGeom>
          <a:noFill/>
        </p:spPr>
        <p:txBody>
          <a:bodyPr wrap="square" anchor="t" lIns="0" rIns="0" tIns="0" bIns="0">
            <a:spAutoFit/>
          </a:bodyPr>
          <a:lstStyle/>
          <a:p>
            <a:pPr algn="l">
              <a:lnSpc>
                <a:spcPct val="105000"/>
              </a:lnSpc>
            </a:pPr>
            <a:r>
              <a:rPr sz="2400" b="0" i="0">
                <a:solidFill>
                  <a:srgbClr val="1F2421"/>
                </a:solidFill>
                <a:latin typeface="Georgia"/>
              </a:rPr>
              <a:t>66</a:t>
            </a:r>
          </a:p>
          <a:p>
            <a:pPr algn="l">
              <a:lnSpc>
                <a:spcPct val="105000"/>
              </a:lnSpc>
            </a:pPr>
            <a:r>
              <a:rPr sz="1100" b="0" i="0">
                <a:solidFill>
                  <a:srgbClr val="5B625C"/>
                </a:solidFill>
                <a:latin typeface="Segoe UI"/>
              </a:rPr>
              <a:t>features per flow</a:t>
            </a:r>
          </a:p>
        </p:txBody>
      </p:sp>
      <p:sp>
        <p:nvSpPr>
          <p:cNvPr id="29" name="TextBox 28"/>
          <p:cNvSpPr txBox="1"/>
          <p:nvPr/>
        </p:nvSpPr>
        <p:spPr>
          <a:xfrm>
            <a:off x="9144000" y="5029200"/>
            <a:ext cx="2286000" cy="1005840"/>
          </a:xfrm>
          <a:prstGeom prst="rect">
            <a:avLst/>
          </a:prstGeom>
          <a:noFill/>
        </p:spPr>
        <p:txBody>
          <a:bodyPr wrap="square" anchor="t" lIns="0" rIns="0" tIns="0" bIns="0">
            <a:spAutoFit/>
          </a:bodyPr>
          <a:lstStyle/>
          <a:p>
            <a:pPr algn="l">
              <a:lnSpc>
                <a:spcPct val="105000"/>
              </a:lnSpc>
            </a:pPr>
            <a:r>
              <a:rPr sz="2400" b="0" i="0">
                <a:solidFill>
                  <a:srgbClr val="1F2421"/>
                </a:solidFill>
                <a:latin typeface="Georgia"/>
              </a:rPr>
              <a:t>66%</a:t>
            </a:r>
          </a:p>
          <a:p>
            <a:pPr algn="l">
              <a:lnSpc>
                <a:spcPct val="105000"/>
              </a:lnSpc>
            </a:pPr>
            <a:r>
              <a:rPr sz="1100" b="0" i="0">
                <a:solidFill>
                  <a:srgbClr val="5B625C"/>
                </a:solidFill>
                <a:latin typeface="Segoe UI"/>
              </a:rPr>
              <a:t>of training flows are attacks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7315200" cy="274320"/>
          </a:xfrm>
          <a:prstGeom prst="rect">
            <a:avLst/>
          </a:prstGeom>
          <a:noFill/>
        </p:spPr>
        <p:txBody>
          <a:bodyPr wrap="square" anchor="t" lIns="0" rIns="0" tIns="0" bIns="0">
            <a:spAutoFit/>
          </a:bodyPr>
          <a:lstStyle/>
          <a:p>
            <a:pPr algn="l">
              <a:lnSpc>
                <a:spcPct val="120000"/>
              </a:lnSpc>
            </a:pPr>
            <a:r>
              <a:rPr sz="1050" b="1" i="0">
                <a:solidFill>
                  <a:srgbClr val="3E5F5A"/>
                </a:solidFill>
                <a:latin typeface="Segoe UI"/>
              </a:rPr>
              <a:t>METHODOLOGY · 2 / 6</a:t>
            </a:r>
          </a:p>
        </p:txBody>
      </p:sp>
      <p:cxnSp>
        <p:nvCxnSpPr>
          <p:cNvPr id="4" name="Connector 3"/>
          <p:cNvCxnSpPr/>
          <p:nvPr/>
        </p:nvCxnSpPr>
        <p:spPr>
          <a:xfrm>
            <a:off x="731520" y="841248"/>
            <a:ext cx="457200" cy="0"/>
          </a:xfrm>
          <a:prstGeom prst="line">
            <a:avLst/>
          </a:prstGeom>
          <a:ln w="19050">
            <a:solidFill>
              <a:srgbClr val="3E5F5A"/>
            </a:solidFill>
          </a:ln>
        </p:spPr>
      </p:cxnSp>
      <p:sp>
        <p:nvSpPr>
          <p:cNvPr id="5" name="TextBox 4"/>
          <p:cNvSpPr txBox="1"/>
          <p:nvPr/>
        </p:nvSpPr>
        <p:spPr>
          <a:xfrm>
            <a:off x="731520" y="960120"/>
            <a:ext cx="10725912" cy="731520"/>
          </a:xfrm>
          <a:prstGeom prst="rect">
            <a:avLst/>
          </a:prstGeom>
          <a:noFill/>
        </p:spPr>
        <p:txBody>
          <a:bodyPr wrap="square" anchor="t" lIns="0" rIns="0" tIns="0" bIns="0">
            <a:spAutoFit/>
          </a:bodyPr>
          <a:lstStyle/>
          <a:p>
            <a:pPr algn="l">
              <a:lnSpc>
                <a:spcPct val="120000"/>
              </a:lnSpc>
            </a:pPr>
            <a:r>
              <a:rPr sz="2800" b="0" i="0">
                <a:solidFill>
                  <a:srgbClr val="1F2421"/>
                </a:solidFill>
                <a:latin typeface="Georgia"/>
              </a:rPr>
              <a:t>Preprocessing: from raw flows to model input</a:t>
            </a:r>
          </a:p>
        </p:txBody>
      </p:sp>
      <p:sp>
        <p:nvSpPr>
          <p:cNvPr id="6" name="TextBox 5"/>
          <p:cNvSpPr txBox="1"/>
          <p:nvPr/>
        </p:nvSpPr>
        <p:spPr>
          <a:xfrm>
            <a:off x="731520" y="6400800"/>
            <a:ext cx="5486400" cy="228600"/>
          </a:xfrm>
          <a:prstGeom prst="rect">
            <a:avLst/>
          </a:prstGeom>
          <a:noFill/>
        </p:spPr>
        <p:txBody>
          <a:bodyPr wrap="square" anchor="t" lIns="0" rIns="0" tIns="0" bIns="0">
            <a:spAutoFit/>
          </a:bodyPr>
          <a:lstStyle/>
          <a:p>
            <a:pPr algn="l">
              <a:lnSpc>
                <a:spcPct val="120000"/>
              </a:lnSpc>
            </a:pPr>
            <a:r>
              <a:rPr sz="900" b="0" i="0">
                <a:solidFill>
                  <a:srgbClr val="8C918A"/>
                </a:solidFill>
                <a:latin typeface="Segoe UI"/>
              </a:rPr>
              <a:t>Krypsis  ·  Final Review</a:t>
            </a:r>
          </a:p>
        </p:txBody>
      </p:sp>
      <p:sp>
        <p:nvSpPr>
          <p:cNvPr id="7" name="TextBox 6"/>
          <p:cNvSpPr txBox="1"/>
          <p:nvPr/>
        </p:nvSpPr>
        <p:spPr>
          <a:xfrm>
            <a:off x="10543032" y="6400800"/>
            <a:ext cx="914400" cy="228600"/>
          </a:xfrm>
          <a:prstGeom prst="rect">
            <a:avLst/>
          </a:prstGeom>
          <a:noFill/>
        </p:spPr>
        <p:txBody>
          <a:bodyPr wrap="square" anchor="t" lIns="0" rIns="0" tIns="0" bIns="0">
            <a:spAutoFit/>
          </a:bodyPr>
          <a:lstStyle/>
          <a:p>
            <a:pPr algn="r">
              <a:lnSpc>
                <a:spcPct val="120000"/>
              </a:lnSpc>
            </a:pPr>
            <a:r>
              <a:rPr sz="900" b="0" i="0">
                <a:solidFill>
                  <a:srgbClr val="8C918A"/>
                </a:solidFill>
                <a:latin typeface="Segoe UI"/>
              </a:rPr>
              <a:t>5</a:t>
            </a:r>
          </a:p>
        </p:txBody>
      </p:sp>
      <p:sp>
        <p:nvSpPr>
          <p:cNvPr id="8" name="Rounded Rectangle 7"/>
          <p:cNvSpPr/>
          <p:nvPr/>
        </p:nvSpPr>
        <p:spPr>
          <a:xfrm>
            <a:off x="731520" y="1819656"/>
            <a:ext cx="365760" cy="365760"/>
          </a:xfrm>
          <a:prstGeom prst="roundRect">
            <a:avLst>
              <a:gd name="adj" fmla="val 50000"/>
            </a:avLst>
          </a:prstGeom>
          <a:solidFill>
            <a:srgbClr val="E4EB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19656"/>
            <a:ext cx="365760" cy="365760"/>
          </a:xfrm>
          <a:prstGeom prst="rect">
            <a:avLst/>
          </a:prstGeom>
          <a:noFill/>
        </p:spPr>
        <p:txBody>
          <a:bodyPr wrap="square" anchor="ctr" lIns="0" rIns="0" tIns="0" bIns="0">
            <a:spAutoFit/>
          </a:bodyPr>
          <a:lstStyle/>
          <a:p>
            <a:pPr algn="ctr">
              <a:lnSpc>
                <a:spcPct val="120000"/>
              </a:lnSpc>
            </a:pPr>
            <a:r>
              <a:rPr sz="1200" b="1" i="0">
                <a:solidFill>
                  <a:srgbClr val="3E5F5A"/>
                </a:solidFill>
                <a:latin typeface="Segoe UI"/>
              </a:rPr>
              <a:t>1</a:t>
            </a:r>
          </a:p>
        </p:txBody>
      </p:sp>
      <p:sp>
        <p:nvSpPr>
          <p:cNvPr id="10" name="TextBox 9"/>
          <p:cNvSpPr txBox="1"/>
          <p:nvPr/>
        </p:nvSpPr>
        <p:spPr>
          <a:xfrm>
            <a:off x="1280160" y="1783080"/>
            <a:ext cx="4389120" cy="822960"/>
          </a:xfrm>
          <a:prstGeom prst="rect">
            <a:avLst/>
          </a:prstGeom>
          <a:noFill/>
        </p:spPr>
        <p:txBody>
          <a:bodyPr wrap="square" anchor="t" lIns="0" rIns="0" tIns="0" bIns="0">
            <a:spAutoFit/>
          </a:bodyPr>
          <a:lstStyle/>
          <a:p>
            <a:pPr algn="l">
              <a:lnSpc>
                <a:spcPct val="115000"/>
              </a:lnSpc>
            </a:pPr>
            <a:r>
              <a:rPr sz="1350" b="1" i="0">
                <a:solidFill>
                  <a:srgbClr val="1F2421"/>
                </a:solidFill>
                <a:latin typeface="Segoe UI"/>
              </a:rPr>
              <a:t>Tag and sample</a:t>
            </a:r>
          </a:p>
          <a:p>
            <a:pPr algn="l">
              <a:lnSpc>
                <a:spcPct val="115000"/>
              </a:lnSpc>
            </a:pPr>
            <a:r>
              <a:rPr sz="1150" b="0" i="0">
                <a:solidFill>
                  <a:srgbClr val="5B625C"/>
                </a:solidFill>
                <a:latin typeface="Segoe UI"/>
              </a:rPr>
              <a:t>Each flow gets its router number; each file is sampled to 10% (4.8 M flows is too many to train repeatedly).</a:t>
            </a:r>
          </a:p>
        </p:txBody>
      </p:sp>
      <p:sp>
        <p:nvSpPr>
          <p:cNvPr id="11" name="Rounded Rectangle 10"/>
          <p:cNvSpPr/>
          <p:nvPr/>
        </p:nvSpPr>
        <p:spPr>
          <a:xfrm>
            <a:off x="731520" y="2670048"/>
            <a:ext cx="365760" cy="365760"/>
          </a:xfrm>
          <a:prstGeom prst="roundRect">
            <a:avLst>
              <a:gd name="adj" fmla="val 50000"/>
            </a:avLst>
          </a:prstGeom>
          <a:solidFill>
            <a:srgbClr val="E4EB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670048"/>
            <a:ext cx="365760" cy="365760"/>
          </a:xfrm>
          <a:prstGeom prst="rect">
            <a:avLst/>
          </a:prstGeom>
          <a:noFill/>
        </p:spPr>
        <p:txBody>
          <a:bodyPr wrap="square" anchor="ctr" lIns="0" rIns="0" tIns="0" bIns="0">
            <a:spAutoFit/>
          </a:bodyPr>
          <a:lstStyle/>
          <a:p>
            <a:pPr algn="ctr">
              <a:lnSpc>
                <a:spcPct val="120000"/>
              </a:lnSpc>
            </a:pPr>
            <a:r>
              <a:rPr sz="1200" b="1" i="0">
                <a:solidFill>
                  <a:srgbClr val="3E5F5A"/>
                </a:solidFill>
                <a:latin typeface="Segoe UI"/>
              </a:rPr>
              <a:t>2</a:t>
            </a:r>
          </a:p>
        </p:txBody>
      </p:sp>
      <p:sp>
        <p:nvSpPr>
          <p:cNvPr id="13" name="TextBox 12"/>
          <p:cNvSpPr txBox="1"/>
          <p:nvPr/>
        </p:nvSpPr>
        <p:spPr>
          <a:xfrm>
            <a:off x="1280160" y="2633472"/>
            <a:ext cx="4389120" cy="822960"/>
          </a:xfrm>
          <a:prstGeom prst="rect">
            <a:avLst/>
          </a:prstGeom>
          <a:noFill/>
        </p:spPr>
        <p:txBody>
          <a:bodyPr wrap="square" anchor="t" lIns="0" rIns="0" tIns="0" bIns="0">
            <a:spAutoFit/>
          </a:bodyPr>
          <a:lstStyle/>
          <a:p>
            <a:pPr algn="l">
              <a:lnSpc>
                <a:spcPct val="115000"/>
              </a:lnSpc>
            </a:pPr>
            <a:r>
              <a:rPr sz="1350" b="1" i="0">
                <a:solidFill>
                  <a:srgbClr val="1F2421"/>
                </a:solidFill>
                <a:latin typeface="Segoe UI"/>
              </a:rPr>
              <a:t>Remove identifiers</a:t>
            </a:r>
          </a:p>
          <a:p>
            <a:pPr algn="l">
              <a:lnSpc>
                <a:spcPct val="115000"/>
              </a:lnSpc>
            </a:pPr>
            <a:r>
              <a:rPr sz="1150" b="0" i="0">
                <a:solidFill>
                  <a:srgbClr val="5B625C"/>
                </a:solidFill>
                <a:latin typeface="Segoe UI"/>
              </a:rPr>
              <a:t>IPs, source port and timestamp dropped, so the model learns behaviour, not addresses.</a:t>
            </a:r>
          </a:p>
        </p:txBody>
      </p:sp>
      <p:sp>
        <p:nvSpPr>
          <p:cNvPr id="14" name="Rounded Rectangle 13"/>
          <p:cNvSpPr/>
          <p:nvPr/>
        </p:nvSpPr>
        <p:spPr>
          <a:xfrm>
            <a:off x="731520" y="3520440"/>
            <a:ext cx="365760" cy="365760"/>
          </a:xfrm>
          <a:prstGeom prst="roundRect">
            <a:avLst>
              <a:gd name="adj" fmla="val 50000"/>
            </a:avLst>
          </a:prstGeom>
          <a:solidFill>
            <a:srgbClr val="E4EB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520440"/>
            <a:ext cx="365760" cy="365760"/>
          </a:xfrm>
          <a:prstGeom prst="rect">
            <a:avLst/>
          </a:prstGeom>
          <a:noFill/>
        </p:spPr>
        <p:txBody>
          <a:bodyPr wrap="square" anchor="ctr" lIns="0" rIns="0" tIns="0" bIns="0">
            <a:spAutoFit/>
          </a:bodyPr>
          <a:lstStyle/>
          <a:p>
            <a:pPr algn="ctr">
              <a:lnSpc>
                <a:spcPct val="120000"/>
              </a:lnSpc>
            </a:pPr>
            <a:r>
              <a:rPr sz="1200" b="1" i="0">
                <a:solidFill>
                  <a:srgbClr val="3E5F5A"/>
                </a:solidFill>
                <a:latin typeface="Segoe UI"/>
              </a:rPr>
              <a:t>3</a:t>
            </a:r>
          </a:p>
        </p:txBody>
      </p:sp>
      <p:sp>
        <p:nvSpPr>
          <p:cNvPr id="16" name="TextBox 15"/>
          <p:cNvSpPr txBox="1"/>
          <p:nvPr/>
        </p:nvSpPr>
        <p:spPr>
          <a:xfrm>
            <a:off x="1280160" y="3483864"/>
            <a:ext cx="4389120" cy="822960"/>
          </a:xfrm>
          <a:prstGeom prst="rect">
            <a:avLst/>
          </a:prstGeom>
          <a:noFill/>
        </p:spPr>
        <p:txBody>
          <a:bodyPr wrap="square" anchor="t" lIns="0" rIns="0" tIns="0" bIns="0">
            <a:spAutoFit/>
          </a:bodyPr>
          <a:lstStyle/>
          <a:p>
            <a:pPr algn="l">
              <a:lnSpc>
                <a:spcPct val="115000"/>
              </a:lnSpc>
            </a:pPr>
            <a:r>
              <a:rPr sz="1350" b="1" i="0">
                <a:solidFill>
                  <a:srgbClr val="1F2421"/>
                </a:solidFill>
                <a:latin typeface="Segoe UI"/>
              </a:rPr>
              <a:t>Clean</a:t>
            </a:r>
          </a:p>
          <a:p>
            <a:pPr algn="l">
              <a:lnSpc>
                <a:spcPct val="115000"/>
              </a:lnSpc>
            </a:pPr>
            <a:r>
              <a:rPr sz="1150" b="0" i="0">
                <a:solidFill>
                  <a:srgbClr val="5B625C"/>
                </a:solidFill>
                <a:latin typeface="Segoe UI"/>
              </a:rPr>
              <a:t>Rows with inf / NaN values and 12 constant columns removed.</a:t>
            </a:r>
          </a:p>
        </p:txBody>
      </p:sp>
      <p:sp>
        <p:nvSpPr>
          <p:cNvPr id="17" name="Rounded Rectangle 16"/>
          <p:cNvSpPr/>
          <p:nvPr/>
        </p:nvSpPr>
        <p:spPr>
          <a:xfrm>
            <a:off x="731520" y="4370832"/>
            <a:ext cx="365760" cy="365760"/>
          </a:xfrm>
          <a:prstGeom prst="roundRect">
            <a:avLst>
              <a:gd name="adj" fmla="val 50000"/>
            </a:avLst>
          </a:prstGeom>
          <a:solidFill>
            <a:srgbClr val="E4EB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370832"/>
            <a:ext cx="365760" cy="365760"/>
          </a:xfrm>
          <a:prstGeom prst="rect">
            <a:avLst/>
          </a:prstGeom>
          <a:noFill/>
        </p:spPr>
        <p:txBody>
          <a:bodyPr wrap="square" anchor="ctr" lIns="0" rIns="0" tIns="0" bIns="0">
            <a:spAutoFit/>
          </a:bodyPr>
          <a:lstStyle/>
          <a:p>
            <a:pPr algn="ctr">
              <a:lnSpc>
                <a:spcPct val="120000"/>
              </a:lnSpc>
            </a:pPr>
            <a:r>
              <a:rPr sz="1200" b="1" i="0">
                <a:solidFill>
                  <a:srgbClr val="3E5F5A"/>
                </a:solidFill>
                <a:latin typeface="Segoe UI"/>
              </a:rPr>
              <a:t>4</a:t>
            </a:r>
          </a:p>
        </p:txBody>
      </p:sp>
      <p:sp>
        <p:nvSpPr>
          <p:cNvPr id="19" name="TextBox 18"/>
          <p:cNvSpPr txBox="1"/>
          <p:nvPr/>
        </p:nvSpPr>
        <p:spPr>
          <a:xfrm>
            <a:off x="1280160" y="4334256"/>
            <a:ext cx="4389120" cy="822960"/>
          </a:xfrm>
          <a:prstGeom prst="rect">
            <a:avLst/>
          </a:prstGeom>
          <a:noFill/>
        </p:spPr>
        <p:txBody>
          <a:bodyPr wrap="square" anchor="t" lIns="0" rIns="0" tIns="0" bIns="0">
            <a:spAutoFit/>
          </a:bodyPr>
          <a:lstStyle/>
          <a:p>
            <a:pPr algn="l">
              <a:lnSpc>
                <a:spcPct val="115000"/>
              </a:lnSpc>
            </a:pPr>
            <a:r>
              <a:rPr sz="1350" b="1" i="0">
                <a:solidFill>
                  <a:srgbClr val="1F2421"/>
                </a:solidFill>
                <a:latin typeface="Segoe UI"/>
              </a:rPr>
              <a:t>Scale</a:t>
            </a:r>
          </a:p>
          <a:p>
            <a:pPr algn="l">
              <a:lnSpc>
                <a:spcPct val="115000"/>
              </a:lnSpc>
            </a:pPr>
            <a:r>
              <a:rPr sz="1150" b="0" i="0">
                <a:solidFill>
                  <a:srgbClr val="5B625C"/>
                </a:solidFill>
                <a:latin typeface="Segoe UI"/>
              </a:rPr>
              <a:t>Signed log for huge ranges, then min-max to [0, 1], fitted on training data only.</a:t>
            </a:r>
          </a:p>
        </p:txBody>
      </p:sp>
      <p:sp>
        <p:nvSpPr>
          <p:cNvPr id="20" name="Rounded Rectangle 19"/>
          <p:cNvSpPr/>
          <p:nvPr/>
        </p:nvSpPr>
        <p:spPr>
          <a:xfrm>
            <a:off x="731520" y="5221224"/>
            <a:ext cx="365760" cy="365760"/>
          </a:xfrm>
          <a:prstGeom prst="roundRect">
            <a:avLst>
              <a:gd name="adj" fmla="val 50000"/>
            </a:avLst>
          </a:prstGeom>
          <a:solidFill>
            <a:srgbClr val="E4EB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221224"/>
            <a:ext cx="365760" cy="365760"/>
          </a:xfrm>
          <a:prstGeom prst="rect">
            <a:avLst/>
          </a:prstGeom>
          <a:noFill/>
        </p:spPr>
        <p:txBody>
          <a:bodyPr wrap="square" anchor="ctr" lIns="0" rIns="0" tIns="0" bIns="0">
            <a:spAutoFit/>
          </a:bodyPr>
          <a:lstStyle/>
          <a:p>
            <a:pPr algn="ctr">
              <a:lnSpc>
                <a:spcPct val="120000"/>
              </a:lnSpc>
            </a:pPr>
            <a:r>
              <a:rPr sz="1200" b="1" i="0">
                <a:solidFill>
                  <a:srgbClr val="3E5F5A"/>
                </a:solidFill>
                <a:latin typeface="Segoe UI"/>
              </a:rPr>
              <a:t>5</a:t>
            </a:r>
          </a:p>
        </p:txBody>
      </p:sp>
      <p:sp>
        <p:nvSpPr>
          <p:cNvPr id="22" name="TextBox 21"/>
          <p:cNvSpPr txBox="1"/>
          <p:nvPr/>
        </p:nvSpPr>
        <p:spPr>
          <a:xfrm>
            <a:off x="1280160" y="5184648"/>
            <a:ext cx="4389120" cy="822960"/>
          </a:xfrm>
          <a:prstGeom prst="rect">
            <a:avLst/>
          </a:prstGeom>
          <a:noFill/>
        </p:spPr>
        <p:txBody>
          <a:bodyPr wrap="square" anchor="t" lIns="0" rIns="0" tIns="0" bIns="0">
            <a:spAutoFit/>
          </a:bodyPr>
          <a:lstStyle/>
          <a:p>
            <a:pPr algn="l">
              <a:lnSpc>
                <a:spcPct val="115000"/>
              </a:lnSpc>
            </a:pPr>
            <a:r>
              <a:rPr sz="1350" b="1" i="0">
                <a:solidFill>
                  <a:srgbClr val="1F2421"/>
                </a:solidFill>
                <a:latin typeface="Segoe UI"/>
              </a:rPr>
              <a:t>Label</a:t>
            </a:r>
          </a:p>
          <a:p>
            <a:pPr algn="l">
              <a:lnSpc>
                <a:spcPct val="115000"/>
              </a:lnSpc>
            </a:pPr>
            <a:r>
              <a:rPr sz="1150" b="0" i="0">
                <a:solidFill>
                  <a:srgbClr val="5B625C"/>
                </a:solidFill>
                <a:latin typeface="Segoe UI"/>
              </a:rPr>
              <a:t>Normal = 0, any attack = 1; the attack name is kept for the 11-class model.</a:t>
            </a:r>
          </a:p>
        </p:txBody>
      </p:sp>
      <p:sp>
        <p:nvSpPr>
          <p:cNvPr id="23" name="Rectangle 22"/>
          <p:cNvSpPr/>
          <p:nvPr/>
        </p:nvSpPr>
        <p:spPr>
          <a:xfrm>
            <a:off x="5989320" y="1783080"/>
            <a:ext cx="5468112" cy="4160520"/>
          </a:xfrm>
          <a:prstGeom prst="rect">
            <a:avLst/>
          </a:prstGeom>
          <a:solidFill>
            <a:srgbClr val="FBFAF7"/>
          </a:solidFill>
          <a:ln w="9525">
            <a:solidFill>
              <a:srgbClr val="DDDA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89320" y="1783080"/>
            <a:ext cx="45720" cy="4160520"/>
          </a:xfrm>
          <a:prstGeom prst="rect">
            <a:avLst/>
          </a:prstGeom>
          <a:solidFill>
            <a:srgbClr val="3E5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17920" y="1892808"/>
            <a:ext cx="5102352" cy="228600"/>
          </a:xfrm>
          <a:prstGeom prst="rect">
            <a:avLst/>
          </a:prstGeom>
          <a:noFill/>
        </p:spPr>
        <p:txBody>
          <a:bodyPr wrap="square" anchor="t" lIns="0" rIns="0" tIns="0" bIns="0">
            <a:spAutoFit/>
          </a:bodyPr>
          <a:lstStyle/>
          <a:p>
            <a:pPr algn="l">
              <a:lnSpc>
                <a:spcPct val="120000"/>
              </a:lnSpc>
            </a:pPr>
            <a:r>
              <a:rPr sz="900" b="0" i="0">
                <a:solidFill>
                  <a:srgbClr val="8C918A"/>
                </a:solidFill>
                <a:latin typeface="Consolas"/>
              </a:rPr>
              <a:t>src/preprocess.py  (excerpt)</a:t>
            </a:r>
          </a:p>
        </p:txBody>
      </p:sp>
      <p:cxnSp>
        <p:nvCxnSpPr>
          <p:cNvPr id="26" name="Connector 25"/>
          <p:cNvCxnSpPr/>
          <p:nvPr/>
        </p:nvCxnSpPr>
        <p:spPr>
          <a:xfrm>
            <a:off x="6217920" y="2167128"/>
            <a:ext cx="5056632" cy="0"/>
          </a:xfrm>
          <a:prstGeom prst="line">
            <a:avLst/>
          </a:prstGeom>
          <a:ln w="6350">
            <a:solidFill>
              <a:srgbClr val="DDDAD2"/>
            </a:solidFill>
          </a:ln>
        </p:spPr>
      </p:cxnSp>
      <p:sp>
        <p:nvSpPr>
          <p:cNvPr id="27" name="TextBox 26"/>
          <p:cNvSpPr txBox="1"/>
          <p:nvPr/>
        </p:nvSpPr>
        <p:spPr>
          <a:xfrm>
            <a:off x="6217920" y="2286000"/>
            <a:ext cx="5148072" cy="3566160"/>
          </a:xfrm>
          <a:prstGeom prst="rect">
            <a:avLst/>
          </a:prstGeom>
          <a:noFill/>
        </p:spPr>
        <p:txBody>
          <a:bodyPr wrap="square" anchor="t" lIns="0" rIns="0" tIns="0" bIns="0">
            <a:spAutoFit/>
          </a:bodyPr>
          <a:lstStyle/>
          <a:p>
            <a:pPr algn="l">
              <a:lnSpc>
                <a:spcPct val="108000"/>
              </a:lnSpc>
            </a:pPr>
            <a:r>
              <a:rPr sz="950" b="0" i="0">
                <a:solidFill>
                  <a:srgbClr val="1F2421"/>
                </a:solidFill>
                <a:latin typeface="Consolas"/>
              </a:rPr>
              <a:t>DROP_COLUMNS</a:t>
            </a:r>
            <a:r>
              <a:rPr sz="950" b="0" i="0">
                <a:solidFill>
                  <a:srgbClr val="1F2421"/>
                </a:solidFill>
                <a:latin typeface="Consolas"/>
              </a:rPr>
              <a:t> </a:t>
            </a:r>
            <a:r>
              <a:rPr sz="950" b="0" i="0">
                <a:solidFill>
                  <a:srgbClr val="1F2421"/>
                </a:solidFill>
                <a:latin typeface="Consolas"/>
              </a:rPr>
              <a:t>=</a:t>
            </a:r>
            <a:r>
              <a:rPr sz="950" b="0" i="0">
                <a:solidFill>
                  <a:srgbClr val="1F2421"/>
                </a:solidFill>
                <a:latin typeface="Consolas"/>
              </a:rPr>
              <a:t> </a:t>
            </a:r>
            <a:r>
              <a:rPr sz="950" b="0" i="0">
                <a:solidFill>
                  <a:srgbClr val="1F2421"/>
                </a:solidFill>
                <a:latin typeface="Consolas"/>
              </a:rPr>
              <a:t>[</a:t>
            </a:r>
            <a:r>
              <a:rPr sz="950" b="0" i="0">
                <a:solidFill>
                  <a:srgbClr val="8E673F"/>
                </a:solidFill>
                <a:latin typeface="Consolas"/>
              </a:rPr>
              <a:t>"src_ip"</a:t>
            </a:r>
            <a:r>
              <a:rPr sz="950" b="0" i="0">
                <a:solidFill>
                  <a:srgbClr val="1F2421"/>
                </a:solidFill>
                <a:latin typeface="Consolas"/>
              </a:rPr>
              <a:t>,</a:t>
            </a:r>
            <a:r>
              <a:rPr sz="950" b="0" i="0">
                <a:solidFill>
                  <a:srgbClr val="1F2421"/>
                </a:solidFill>
                <a:latin typeface="Consolas"/>
              </a:rPr>
              <a:t> </a:t>
            </a:r>
            <a:r>
              <a:rPr sz="950" b="0" i="0">
                <a:solidFill>
                  <a:srgbClr val="8E673F"/>
                </a:solidFill>
                <a:latin typeface="Consolas"/>
              </a:rPr>
              <a:t>"dst_ip"</a:t>
            </a:r>
            <a:r>
              <a:rPr sz="950" b="0" i="0">
                <a:solidFill>
                  <a:srgbClr val="1F2421"/>
                </a:solidFill>
                <a:latin typeface="Consolas"/>
              </a:rPr>
              <a:t>,</a:t>
            </a:r>
            <a:r>
              <a:rPr sz="950" b="0" i="0">
                <a:solidFill>
                  <a:srgbClr val="1F2421"/>
                </a:solidFill>
                <a:latin typeface="Consolas"/>
              </a:rPr>
              <a:t> </a:t>
            </a:r>
            <a:r>
              <a:rPr sz="950" b="0" i="0">
                <a:solidFill>
                  <a:srgbClr val="8E673F"/>
                </a:solidFill>
                <a:latin typeface="Consolas"/>
              </a:rPr>
              <a:t>"src_port"</a:t>
            </a:r>
            <a:r>
              <a:rPr sz="950" b="0" i="0">
                <a:solidFill>
                  <a:srgbClr val="1F2421"/>
                </a:solidFill>
                <a:latin typeface="Consolas"/>
              </a:rPr>
              <a:t>,</a:t>
            </a:r>
            <a:r>
              <a:rPr sz="950" b="0" i="0">
                <a:solidFill>
                  <a:srgbClr val="1F2421"/>
                </a:solidFill>
                <a:latin typeface="Consolas"/>
              </a:rPr>
              <a:t> </a:t>
            </a:r>
            <a:r>
              <a:rPr sz="950" b="0" i="0">
                <a:solidFill>
                  <a:srgbClr val="8E673F"/>
                </a:solidFill>
                <a:latin typeface="Consolas"/>
              </a:rPr>
              <a:t>"timestamp"</a:t>
            </a:r>
            <a:r>
              <a:rPr sz="950" b="0" i="0">
                <a:solidFill>
                  <a:srgbClr val="1F2421"/>
                </a:solidFill>
                <a:latin typeface="Consolas"/>
              </a:rPr>
              <a:t>]</a:t>
            </a:r>
          </a:p>
          <a:p>
            <a:pPr algn="l">
              <a:lnSpc>
                <a:spcPct val="108000"/>
              </a:lnSpc>
            </a:pPr>
            <a:r>
              <a:rPr sz="950" b="0" i="0">
                <a:solidFill>
                  <a:srgbClr val="1F2421"/>
                </a:solidFill>
                <a:latin typeface="Consolas"/>
              </a:rPr>
              <a:t> </a:t>
            </a:r>
          </a:p>
          <a:p>
            <a:pPr algn="l">
              <a:lnSpc>
                <a:spcPct val="108000"/>
              </a:lnSpc>
            </a:pPr>
            <a:r>
              <a:rPr sz="950" b="1" i="0">
                <a:solidFill>
                  <a:srgbClr val="3E5F5A"/>
                </a:solidFill>
                <a:latin typeface="Consolas"/>
              </a:rPr>
              <a:t>def</a:t>
            </a:r>
            <a:r>
              <a:rPr sz="950" b="0" i="0">
                <a:solidFill>
                  <a:srgbClr val="1F2421"/>
                </a:solidFill>
                <a:latin typeface="Consolas"/>
              </a:rPr>
              <a:t> </a:t>
            </a:r>
            <a:r>
              <a:rPr sz="950" b="0" i="0">
                <a:solidFill>
                  <a:srgbClr val="1F2421"/>
                </a:solidFill>
                <a:latin typeface="Consolas"/>
              </a:rPr>
              <a:t>sample_file</a:t>
            </a:r>
            <a:r>
              <a:rPr sz="950" b="0" i="0">
                <a:solidFill>
                  <a:srgbClr val="1F2421"/>
                </a:solidFill>
                <a:latin typeface="Consolas"/>
              </a:rPr>
              <a:t>(</a:t>
            </a:r>
            <a:r>
              <a:rPr sz="950" b="0" i="0">
                <a:solidFill>
                  <a:srgbClr val="1F2421"/>
                </a:solidFill>
                <a:latin typeface="Consolas"/>
              </a:rPr>
              <a:t>path</a:t>
            </a:r>
            <a:r>
              <a:rPr sz="950" b="0" i="0">
                <a:solidFill>
                  <a:srgbClr val="1F2421"/>
                </a:solidFill>
                <a:latin typeface="Consolas"/>
              </a:rPr>
              <a:t>,</a:t>
            </a:r>
            <a:r>
              <a:rPr sz="950" b="0" i="0">
                <a:solidFill>
                  <a:srgbClr val="1F2421"/>
                </a:solidFill>
                <a:latin typeface="Consolas"/>
              </a:rPr>
              <a:t> </a:t>
            </a:r>
            <a:r>
              <a:rPr sz="950" b="0" i="0">
                <a:solidFill>
                  <a:srgbClr val="1F2421"/>
                </a:solidFill>
                <a:latin typeface="Consolas"/>
              </a:rPr>
              <a:t>rng</a:t>
            </a:r>
            <a:r>
              <a:rPr sz="950" b="0" i="0">
                <a:solidFill>
                  <a:srgbClr val="1F2421"/>
                </a:solidFill>
                <a:latin typeface="Consolas"/>
              </a:rPr>
              <a:t>)</a:t>
            </a:r>
            <a:r>
              <a:rPr sz="950" b="0" i="0">
                <a:solidFill>
                  <a:srgbClr val="1F2421"/>
                </a:solidFill>
                <a:latin typeface="Consolas"/>
              </a:rPr>
              <a:t>:</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1">
                <a:solidFill>
                  <a:srgbClr val="8C918A"/>
                </a:solidFill>
                <a:latin typeface="Consolas"/>
              </a:rPr>
              <a:t># 10%, at least 2,000 rows</a:t>
            </a:r>
          </a:p>
          <a:p>
            <a:pPr algn="l">
              <a:lnSpc>
                <a:spcPct val="108000"/>
              </a:lnSpc>
            </a:pP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df</a:t>
            </a:r>
            <a:r>
              <a:rPr sz="950" b="0" i="0">
                <a:solidFill>
                  <a:srgbClr val="1F2421"/>
                </a:solidFill>
                <a:latin typeface="Consolas"/>
              </a:rPr>
              <a:t> </a:t>
            </a:r>
            <a:r>
              <a:rPr sz="950" b="0" i="0">
                <a:solidFill>
                  <a:srgbClr val="1F2421"/>
                </a:solidFill>
                <a:latin typeface="Consolas"/>
              </a:rPr>
              <a:t>=</a:t>
            </a:r>
            <a:r>
              <a:rPr sz="950" b="0" i="0">
                <a:solidFill>
                  <a:srgbClr val="1F2421"/>
                </a:solidFill>
                <a:latin typeface="Consolas"/>
              </a:rPr>
              <a:t> </a:t>
            </a:r>
            <a:r>
              <a:rPr sz="950" b="0" i="0">
                <a:solidFill>
                  <a:srgbClr val="1F2421"/>
                </a:solidFill>
                <a:latin typeface="Consolas"/>
              </a:rPr>
              <a:t>pd</a:t>
            </a:r>
            <a:r>
              <a:rPr sz="950" b="0" i="0">
                <a:solidFill>
                  <a:srgbClr val="1F2421"/>
                </a:solidFill>
                <a:latin typeface="Consolas"/>
              </a:rPr>
              <a:t>.</a:t>
            </a:r>
            <a:r>
              <a:rPr sz="950" b="0" i="0">
                <a:solidFill>
                  <a:srgbClr val="1F2421"/>
                </a:solidFill>
                <a:latin typeface="Consolas"/>
              </a:rPr>
              <a:t>read_csv</a:t>
            </a:r>
            <a:r>
              <a:rPr sz="950" b="0" i="0">
                <a:solidFill>
                  <a:srgbClr val="1F2421"/>
                </a:solidFill>
                <a:latin typeface="Consolas"/>
              </a:rPr>
              <a:t>(</a:t>
            </a:r>
            <a:r>
              <a:rPr sz="950" b="0" i="0">
                <a:solidFill>
                  <a:srgbClr val="1F2421"/>
                </a:solidFill>
                <a:latin typeface="Consolas"/>
              </a:rPr>
              <a:t>path</a:t>
            </a:r>
            <a:r>
              <a:rPr sz="950" b="0" i="0">
                <a:solidFill>
                  <a:srgbClr val="1F2421"/>
                </a:solidFill>
                <a:latin typeface="Consolas"/>
              </a:rPr>
              <a:t>,</a:t>
            </a:r>
            <a:r>
              <a:rPr sz="950" b="0" i="0">
                <a:solidFill>
                  <a:srgbClr val="1F2421"/>
                </a:solidFill>
                <a:latin typeface="Consolas"/>
              </a:rPr>
              <a:t> </a:t>
            </a:r>
            <a:r>
              <a:rPr sz="950" b="0" i="0">
                <a:solidFill>
                  <a:srgbClr val="1F2421"/>
                </a:solidFill>
                <a:latin typeface="Consolas"/>
              </a:rPr>
              <a:t>low_memory</a:t>
            </a:r>
            <a:r>
              <a:rPr sz="950" b="0" i="0">
                <a:solidFill>
                  <a:srgbClr val="1F2421"/>
                </a:solidFill>
                <a:latin typeface="Consolas"/>
              </a:rPr>
              <a:t>=</a:t>
            </a:r>
            <a:r>
              <a:rPr sz="950" b="1" i="0">
                <a:solidFill>
                  <a:srgbClr val="3E5F5A"/>
                </a:solidFill>
                <a:latin typeface="Consolas"/>
              </a:rPr>
              <a:t>False</a:t>
            </a:r>
            <a:r>
              <a:rPr sz="950" b="0" i="0">
                <a:solidFill>
                  <a:srgbClr val="1F2421"/>
                </a:solidFill>
                <a:latin typeface="Consolas"/>
              </a:rPr>
              <a:t>)</a:t>
            </a:r>
          </a:p>
          <a:p>
            <a:pPr algn="l">
              <a:lnSpc>
                <a:spcPct val="108000"/>
              </a:lnSpc>
            </a:pP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keep</a:t>
            </a:r>
            <a:r>
              <a:rPr sz="950" b="0" i="0">
                <a:solidFill>
                  <a:srgbClr val="1F2421"/>
                </a:solidFill>
                <a:latin typeface="Consolas"/>
              </a:rPr>
              <a:t> </a:t>
            </a:r>
            <a:r>
              <a:rPr sz="950" b="0" i="0">
                <a:solidFill>
                  <a:srgbClr val="1F2421"/>
                </a:solidFill>
                <a:latin typeface="Consolas"/>
              </a:rPr>
              <a:t>=</a:t>
            </a:r>
            <a:r>
              <a:rPr sz="950" b="0" i="0">
                <a:solidFill>
                  <a:srgbClr val="1F2421"/>
                </a:solidFill>
                <a:latin typeface="Consolas"/>
              </a:rPr>
              <a:t> </a:t>
            </a:r>
            <a:r>
              <a:rPr sz="950" b="0" i="0">
                <a:solidFill>
                  <a:srgbClr val="1F2421"/>
                </a:solidFill>
                <a:latin typeface="Consolas"/>
              </a:rPr>
              <a:t>min</a:t>
            </a:r>
            <a:r>
              <a:rPr sz="950" b="0" i="0">
                <a:solidFill>
                  <a:srgbClr val="1F2421"/>
                </a:solidFill>
                <a:latin typeface="Consolas"/>
              </a:rPr>
              <a:t>(</a:t>
            </a:r>
            <a:r>
              <a:rPr sz="950" b="0" i="0">
                <a:solidFill>
                  <a:srgbClr val="1F2421"/>
                </a:solidFill>
                <a:latin typeface="Consolas"/>
              </a:rPr>
              <a:t>len</a:t>
            </a:r>
            <a:r>
              <a:rPr sz="950" b="0" i="0">
                <a:solidFill>
                  <a:srgbClr val="1F2421"/>
                </a:solidFill>
                <a:latin typeface="Consolas"/>
              </a:rPr>
              <a:t>(</a:t>
            </a:r>
            <a:r>
              <a:rPr sz="950" b="0" i="0">
                <a:solidFill>
                  <a:srgbClr val="1F2421"/>
                </a:solidFill>
                <a:latin typeface="Consolas"/>
              </a:rPr>
              <a:t>df</a:t>
            </a:r>
            <a:r>
              <a:rPr sz="950" b="0" i="0">
                <a:solidFill>
                  <a:srgbClr val="1F2421"/>
                </a:solidFill>
                <a:latin typeface="Consolas"/>
              </a:rPr>
              <a:t>)</a:t>
            </a:r>
            <a:r>
              <a:rPr sz="950" b="0" i="0">
                <a:solidFill>
                  <a:srgbClr val="1F2421"/>
                </a:solidFill>
                <a:latin typeface="Consolas"/>
              </a:rPr>
              <a:t>,</a:t>
            </a:r>
            <a:r>
              <a:rPr sz="950" b="0" i="0">
                <a:solidFill>
                  <a:srgbClr val="1F2421"/>
                </a:solidFill>
                <a:latin typeface="Consolas"/>
              </a:rPr>
              <a:t> </a:t>
            </a:r>
            <a:r>
              <a:rPr sz="950" b="0" i="0">
                <a:solidFill>
                  <a:srgbClr val="1F2421"/>
                </a:solidFill>
                <a:latin typeface="Consolas"/>
              </a:rPr>
              <a:t>max</a:t>
            </a:r>
            <a:r>
              <a:rPr sz="950" b="0" i="0">
                <a:solidFill>
                  <a:srgbClr val="1F2421"/>
                </a:solidFill>
                <a:latin typeface="Consolas"/>
              </a:rPr>
              <a:t>(</a:t>
            </a:r>
            <a:r>
              <a:rPr sz="950" b="0" i="0">
                <a:solidFill>
                  <a:srgbClr val="1F2421"/>
                </a:solidFill>
                <a:latin typeface="Consolas"/>
              </a:rPr>
              <a:t>2</a:t>
            </a:r>
            <a:r>
              <a:rPr sz="950" b="0" i="0">
                <a:solidFill>
                  <a:srgbClr val="1F2421"/>
                </a:solidFill>
                <a:latin typeface="Consolas"/>
              </a:rPr>
              <a:t>0</a:t>
            </a:r>
            <a:r>
              <a:rPr sz="950" b="0" i="0">
                <a:solidFill>
                  <a:srgbClr val="1F2421"/>
                </a:solidFill>
                <a:latin typeface="Consolas"/>
              </a:rPr>
              <a:t>0</a:t>
            </a:r>
            <a:r>
              <a:rPr sz="950" b="0" i="0">
                <a:solidFill>
                  <a:srgbClr val="1F2421"/>
                </a:solidFill>
                <a:latin typeface="Consolas"/>
              </a:rPr>
              <a:t>0</a:t>
            </a:r>
            <a:r>
              <a:rPr sz="950" b="0" i="0">
                <a:solidFill>
                  <a:srgbClr val="1F2421"/>
                </a:solidFill>
                <a:latin typeface="Consolas"/>
              </a:rPr>
              <a:t>,</a:t>
            </a:r>
            <a:r>
              <a:rPr sz="950" b="0" i="0">
                <a:solidFill>
                  <a:srgbClr val="1F2421"/>
                </a:solidFill>
                <a:latin typeface="Consolas"/>
              </a:rPr>
              <a:t> </a:t>
            </a:r>
            <a:r>
              <a:rPr sz="950" b="0" i="0">
                <a:solidFill>
                  <a:srgbClr val="1F2421"/>
                </a:solidFill>
                <a:latin typeface="Consolas"/>
              </a:rPr>
              <a:t>round</a:t>
            </a:r>
            <a:r>
              <a:rPr sz="950" b="0" i="0">
                <a:solidFill>
                  <a:srgbClr val="1F2421"/>
                </a:solidFill>
                <a:latin typeface="Consolas"/>
              </a:rPr>
              <a:t>(</a:t>
            </a:r>
            <a:r>
              <a:rPr sz="950" b="0" i="0">
                <a:solidFill>
                  <a:srgbClr val="1F2421"/>
                </a:solidFill>
                <a:latin typeface="Consolas"/>
              </a:rPr>
              <a:t>len</a:t>
            </a:r>
            <a:r>
              <a:rPr sz="950" b="0" i="0">
                <a:solidFill>
                  <a:srgbClr val="1F2421"/>
                </a:solidFill>
                <a:latin typeface="Consolas"/>
              </a:rPr>
              <a:t>(</a:t>
            </a:r>
            <a:r>
              <a:rPr sz="950" b="0" i="0">
                <a:solidFill>
                  <a:srgbClr val="1F2421"/>
                </a:solidFill>
                <a:latin typeface="Consolas"/>
              </a:rPr>
              <a:t>df</a:t>
            </a:r>
            <a:r>
              <a:rPr sz="950" b="0" i="0">
                <a:solidFill>
                  <a:srgbClr val="1F2421"/>
                </a:solidFill>
                <a:latin typeface="Consolas"/>
              </a:rPr>
              <a:t>)</a:t>
            </a:r>
            <a:r>
              <a:rPr sz="950" b="0" i="0">
                <a:solidFill>
                  <a:srgbClr val="1F2421"/>
                </a:solidFill>
                <a:latin typeface="Consolas"/>
              </a:rPr>
              <a:t> </a:t>
            </a:r>
            <a:r>
              <a:rPr sz="950" b="0" i="0">
                <a:solidFill>
                  <a:srgbClr val="1F2421"/>
                </a:solidFill>
                <a:latin typeface="Consolas"/>
              </a:rPr>
              <a:t>*</a:t>
            </a:r>
            <a:r>
              <a:rPr sz="950" b="0" i="0">
                <a:solidFill>
                  <a:srgbClr val="1F2421"/>
                </a:solidFill>
                <a:latin typeface="Consolas"/>
              </a:rPr>
              <a:t> </a:t>
            </a:r>
            <a:r>
              <a:rPr sz="950" b="0" i="0">
                <a:solidFill>
                  <a:srgbClr val="1F2421"/>
                </a:solidFill>
                <a:latin typeface="Consolas"/>
              </a:rPr>
              <a:t>0</a:t>
            </a:r>
            <a:r>
              <a:rPr sz="950" b="0" i="0">
                <a:solidFill>
                  <a:srgbClr val="1F2421"/>
                </a:solidFill>
                <a:latin typeface="Consolas"/>
              </a:rPr>
              <a:t>.</a:t>
            </a:r>
            <a:r>
              <a:rPr sz="950" b="0" i="0">
                <a:solidFill>
                  <a:srgbClr val="1F2421"/>
                </a:solidFill>
                <a:latin typeface="Consolas"/>
              </a:rPr>
              <a:t>1</a:t>
            </a:r>
            <a:r>
              <a:rPr sz="950" b="0" i="0">
                <a:solidFill>
                  <a:srgbClr val="1F2421"/>
                </a:solidFill>
                <a:latin typeface="Consolas"/>
              </a:rPr>
              <a:t>0</a:t>
            </a:r>
            <a:r>
              <a:rPr sz="950" b="0" i="0">
                <a:solidFill>
                  <a:srgbClr val="1F2421"/>
                </a:solidFill>
                <a:latin typeface="Consolas"/>
              </a:rPr>
              <a:t>)</a:t>
            </a:r>
            <a:r>
              <a:rPr sz="950" b="0" i="0">
                <a:solidFill>
                  <a:srgbClr val="1F2421"/>
                </a:solidFill>
                <a:latin typeface="Consolas"/>
              </a:rPr>
              <a:t>)</a:t>
            </a:r>
            <a:r>
              <a:rPr sz="950" b="0" i="0">
                <a:solidFill>
                  <a:srgbClr val="1F2421"/>
                </a:solidFill>
                <a:latin typeface="Consolas"/>
              </a:rPr>
              <a:t>)</a:t>
            </a:r>
          </a:p>
          <a:p>
            <a:pPr algn="l">
              <a:lnSpc>
                <a:spcPct val="108000"/>
              </a:lnSpc>
            </a:pP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a:t>
            </a:r>
            <a:r>
              <a:rPr sz="950" b="0" i="0">
                <a:solidFill>
                  <a:srgbClr val="1F2421"/>
                </a:solidFill>
                <a:latin typeface="Consolas"/>
              </a:rPr>
              <a:t>.</a:t>
            </a:r>
            <a:r>
              <a:rPr sz="950" b="0" i="0">
                <a:solidFill>
                  <a:srgbClr val="1F2421"/>
                </a:solidFill>
                <a:latin typeface="Consolas"/>
              </a:rPr>
              <a:t>.</a:t>
            </a:r>
          </a:p>
          <a:p>
            <a:pPr algn="l">
              <a:lnSpc>
                <a:spcPct val="108000"/>
              </a:lnSpc>
            </a:pPr>
            <a:r>
              <a:rPr sz="950" b="0" i="0">
                <a:solidFill>
                  <a:srgbClr val="1F2421"/>
                </a:solidFill>
                <a:latin typeface="Consolas"/>
              </a:rPr>
              <a:t>df</a:t>
            </a:r>
            <a:r>
              <a:rPr sz="950" b="0" i="0">
                <a:solidFill>
                  <a:srgbClr val="1F2421"/>
                </a:solidFill>
                <a:latin typeface="Consolas"/>
              </a:rPr>
              <a:t>[</a:t>
            </a:r>
            <a:r>
              <a:rPr sz="950" b="0" i="0">
                <a:solidFill>
                  <a:srgbClr val="8E673F"/>
                </a:solidFill>
                <a:latin typeface="Consolas"/>
              </a:rPr>
              <a:t>"router"</a:t>
            </a:r>
            <a:r>
              <a:rPr sz="950" b="0" i="0">
                <a:solidFill>
                  <a:srgbClr val="1F2421"/>
                </a:solidFill>
                <a:latin typeface="Consolas"/>
              </a:rPr>
              <a:t>]</a:t>
            </a:r>
            <a:r>
              <a:rPr sz="950" b="0" i="0">
                <a:solidFill>
                  <a:srgbClr val="1F2421"/>
                </a:solidFill>
                <a:latin typeface="Consolas"/>
              </a:rPr>
              <a:t> </a:t>
            </a:r>
            <a:r>
              <a:rPr sz="950" b="0" i="0">
                <a:solidFill>
                  <a:srgbClr val="1F2421"/>
                </a:solidFill>
                <a:latin typeface="Consolas"/>
              </a:rPr>
              <a:t>=</a:t>
            </a:r>
            <a:r>
              <a:rPr sz="950" b="0" i="0">
                <a:solidFill>
                  <a:srgbClr val="1F2421"/>
                </a:solidFill>
                <a:latin typeface="Consolas"/>
              </a:rPr>
              <a:t> </a:t>
            </a:r>
            <a:r>
              <a:rPr sz="950" b="0" i="0">
                <a:solidFill>
                  <a:srgbClr val="1F2421"/>
                </a:solidFill>
                <a:latin typeface="Consolas"/>
              </a:rPr>
              <a:t>int</a:t>
            </a:r>
            <a:r>
              <a:rPr sz="950" b="0" i="0">
                <a:solidFill>
                  <a:srgbClr val="1F2421"/>
                </a:solidFill>
                <a:latin typeface="Consolas"/>
              </a:rPr>
              <a:t>(</a:t>
            </a:r>
            <a:r>
              <a:rPr sz="950" b="0" i="0">
                <a:solidFill>
                  <a:srgbClr val="1F2421"/>
                </a:solidFill>
                <a:latin typeface="Consolas"/>
              </a:rPr>
              <a:t>ROUTER_PATTERN</a:t>
            </a:r>
            <a:r>
              <a:rPr sz="950" b="0" i="0">
                <a:solidFill>
                  <a:srgbClr val="1F2421"/>
                </a:solidFill>
                <a:latin typeface="Consolas"/>
              </a:rPr>
              <a:t>.</a:t>
            </a:r>
            <a:r>
              <a:rPr sz="950" b="0" i="0">
                <a:solidFill>
                  <a:srgbClr val="1F2421"/>
                </a:solidFill>
                <a:latin typeface="Consolas"/>
              </a:rPr>
              <a:t>search</a:t>
            </a:r>
            <a:r>
              <a:rPr sz="950" b="0" i="0">
                <a:solidFill>
                  <a:srgbClr val="1F2421"/>
                </a:solidFill>
                <a:latin typeface="Consolas"/>
              </a:rPr>
              <a:t>(</a:t>
            </a:r>
            <a:r>
              <a:rPr sz="950" b="0" i="0">
                <a:solidFill>
                  <a:srgbClr val="1F2421"/>
                </a:solidFill>
                <a:latin typeface="Consolas"/>
              </a:rPr>
              <a:t>name</a:t>
            </a:r>
            <a:r>
              <a:rPr sz="950" b="0" i="0">
                <a:solidFill>
                  <a:srgbClr val="1F2421"/>
                </a:solidFill>
                <a:latin typeface="Consolas"/>
              </a:rPr>
              <a:t>)</a:t>
            </a:r>
            <a:r>
              <a:rPr sz="950" b="0" i="0">
                <a:solidFill>
                  <a:srgbClr val="1F2421"/>
                </a:solidFill>
                <a:latin typeface="Consolas"/>
              </a:rPr>
              <a:t>.</a:t>
            </a:r>
            <a:r>
              <a:rPr sz="950" b="0" i="0">
                <a:solidFill>
                  <a:srgbClr val="1F2421"/>
                </a:solidFill>
                <a:latin typeface="Consolas"/>
              </a:rPr>
              <a:t>group</a:t>
            </a:r>
            <a:r>
              <a:rPr sz="950" b="0" i="0">
                <a:solidFill>
                  <a:srgbClr val="1F2421"/>
                </a:solidFill>
                <a:latin typeface="Consolas"/>
              </a:rPr>
              <a:t>(</a:t>
            </a:r>
            <a:r>
              <a:rPr sz="950" b="0" i="0">
                <a:solidFill>
                  <a:srgbClr val="1F2421"/>
                </a:solidFill>
                <a:latin typeface="Consolas"/>
              </a:rPr>
              <a:t>1</a:t>
            </a:r>
            <a:r>
              <a:rPr sz="950" b="0" i="0">
                <a:solidFill>
                  <a:srgbClr val="1F2421"/>
                </a:solidFill>
                <a:latin typeface="Consolas"/>
              </a:rPr>
              <a:t>)</a:t>
            </a:r>
            <a:r>
              <a:rPr sz="950" b="0" i="0">
                <a:solidFill>
                  <a:srgbClr val="1F2421"/>
                </a:solidFill>
                <a:latin typeface="Consolas"/>
              </a:rPr>
              <a:t>)</a:t>
            </a:r>
          </a:p>
          <a:p>
            <a:pPr algn="l">
              <a:lnSpc>
                <a:spcPct val="108000"/>
              </a:lnSpc>
            </a:pPr>
            <a:r>
              <a:rPr sz="950" b="0" i="0">
                <a:solidFill>
                  <a:srgbClr val="1F2421"/>
                </a:solidFill>
                <a:latin typeface="Consolas"/>
              </a:rPr>
              <a:t> </a:t>
            </a:r>
          </a:p>
          <a:p>
            <a:pPr algn="l">
              <a:lnSpc>
                <a:spcPct val="108000"/>
              </a:lnSpc>
            </a:pPr>
            <a:r>
              <a:rPr sz="950" b="0" i="0">
                <a:solidFill>
                  <a:srgbClr val="1F2421"/>
                </a:solidFill>
                <a:latin typeface="Consolas"/>
              </a:rPr>
              <a:t>features</a:t>
            </a:r>
            <a:r>
              <a:rPr sz="950" b="0" i="0">
                <a:solidFill>
                  <a:srgbClr val="1F2421"/>
                </a:solidFill>
                <a:latin typeface="Consolas"/>
              </a:rPr>
              <a:t> </a:t>
            </a:r>
            <a:r>
              <a:rPr sz="950" b="0" i="0">
                <a:solidFill>
                  <a:srgbClr val="1F2421"/>
                </a:solidFill>
                <a:latin typeface="Consolas"/>
              </a:rPr>
              <a:t>=</a:t>
            </a:r>
            <a:r>
              <a:rPr sz="950" b="0" i="0">
                <a:solidFill>
                  <a:srgbClr val="1F2421"/>
                </a:solidFill>
                <a:latin typeface="Consolas"/>
              </a:rPr>
              <a:t> </a:t>
            </a:r>
            <a:r>
              <a:rPr sz="950" b="0" i="0">
                <a:solidFill>
                  <a:srgbClr val="1F2421"/>
                </a:solidFill>
                <a:latin typeface="Consolas"/>
              </a:rPr>
              <a:t>features</a:t>
            </a:r>
            <a:r>
              <a:rPr sz="950" b="0" i="0">
                <a:solidFill>
                  <a:srgbClr val="1F2421"/>
                </a:solidFill>
                <a:latin typeface="Consolas"/>
              </a:rPr>
              <a:t>.</a:t>
            </a:r>
            <a:r>
              <a:rPr sz="950" b="0" i="0">
                <a:solidFill>
                  <a:srgbClr val="1F2421"/>
                </a:solidFill>
                <a:latin typeface="Consolas"/>
              </a:rPr>
              <a:t>replace</a:t>
            </a:r>
            <a:r>
              <a:rPr sz="950" b="0" i="0">
                <a:solidFill>
                  <a:srgbClr val="1F2421"/>
                </a:solidFill>
                <a:latin typeface="Consolas"/>
              </a:rPr>
              <a:t>(</a:t>
            </a:r>
            <a:r>
              <a:rPr sz="950" b="0" i="0">
                <a:solidFill>
                  <a:srgbClr val="1F2421"/>
                </a:solidFill>
                <a:latin typeface="Consolas"/>
              </a:rPr>
              <a:t>[</a:t>
            </a:r>
            <a:r>
              <a:rPr sz="950" b="0" i="0">
                <a:solidFill>
                  <a:srgbClr val="1F2421"/>
                </a:solidFill>
                <a:latin typeface="Consolas"/>
              </a:rPr>
              <a:t>np</a:t>
            </a:r>
            <a:r>
              <a:rPr sz="950" b="0" i="0">
                <a:solidFill>
                  <a:srgbClr val="1F2421"/>
                </a:solidFill>
                <a:latin typeface="Consolas"/>
              </a:rPr>
              <a:t>.</a:t>
            </a:r>
            <a:r>
              <a:rPr sz="950" b="0" i="0">
                <a:solidFill>
                  <a:srgbClr val="1F2421"/>
                </a:solidFill>
                <a:latin typeface="Consolas"/>
              </a:rPr>
              <a:t>inf</a:t>
            </a:r>
            <a:r>
              <a:rPr sz="950" b="0" i="0">
                <a:solidFill>
                  <a:srgbClr val="1F2421"/>
                </a:solidFill>
                <a:latin typeface="Consolas"/>
              </a:rPr>
              <a:t>,</a:t>
            </a:r>
            <a:r>
              <a:rPr sz="950" b="0" i="0">
                <a:solidFill>
                  <a:srgbClr val="1F2421"/>
                </a:solidFill>
                <a:latin typeface="Consolas"/>
              </a:rPr>
              <a:t> </a:t>
            </a:r>
            <a:r>
              <a:rPr sz="950" b="0" i="0">
                <a:solidFill>
                  <a:srgbClr val="1F2421"/>
                </a:solidFill>
                <a:latin typeface="Consolas"/>
              </a:rPr>
              <a:t>-</a:t>
            </a:r>
            <a:r>
              <a:rPr sz="950" b="0" i="0">
                <a:solidFill>
                  <a:srgbClr val="1F2421"/>
                </a:solidFill>
                <a:latin typeface="Consolas"/>
              </a:rPr>
              <a:t>np</a:t>
            </a:r>
            <a:r>
              <a:rPr sz="950" b="0" i="0">
                <a:solidFill>
                  <a:srgbClr val="1F2421"/>
                </a:solidFill>
                <a:latin typeface="Consolas"/>
              </a:rPr>
              <a:t>.</a:t>
            </a:r>
            <a:r>
              <a:rPr sz="950" b="0" i="0">
                <a:solidFill>
                  <a:srgbClr val="1F2421"/>
                </a:solidFill>
                <a:latin typeface="Consolas"/>
              </a:rPr>
              <a:t>inf</a:t>
            </a:r>
            <a:r>
              <a:rPr sz="950" b="0" i="0">
                <a:solidFill>
                  <a:srgbClr val="1F2421"/>
                </a:solidFill>
                <a:latin typeface="Consolas"/>
              </a:rPr>
              <a:t>]</a:t>
            </a:r>
            <a:r>
              <a:rPr sz="950" b="0" i="0">
                <a:solidFill>
                  <a:srgbClr val="1F2421"/>
                </a:solidFill>
                <a:latin typeface="Consolas"/>
              </a:rPr>
              <a:t>,</a:t>
            </a:r>
            <a:r>
              <a:rPr sz="950" b="0" i="0">
                <a:solidFill>
                  <a:srgbClr val="1F2421"/>
                </a:solidFill>
                <a:latin typeface="Consolas"/>
              </a:rPr>
              <a:t> </a:t>
            </a:r>
            <a:r>
              <a:rPr sz="950" b="0" i="0">
                <a:solidFill>
                  <a:srgbClr val="1F2421"/>
                </a:solidFill>
                <a:latin typeface="Consolas"/>
              </a:rPr>
              <a:t>np</a:t>
            </a:r>
            <a:r>
              <a:rPr sz="950" b="0" i="0">
                <a:solidFill>
                  <a:srgbClr val="1F2421"/>
                </a:solidFill>
                <a:latin typeface="Consolas"/>
              </a:rPr>
              <a:t>.</a:t>
            </a:r>
            <a:r>
              <a:rPr sz="950" b="0" i="0">
                <a:solidFill>
                  <a:srgbClr val="1F2421"/>
                </a:solidFill>
                <a:latin typeface="Consolas"/>
              </a:rPr>
              <a:t>nan</a:t>
            </a:r>
            <a:r>
              <a:rPr sz="950" b="0" i="0">
                <a:solidFill>
                  <a:srgbClr val="1F2421"/>
                </a:solidFill>
                <a:latin typeface="Consolas"/>
              </a:rPr>
              <a:t>)</a:t>
            </a:r>
          </a:p>
          <a:p>
            <a:pPr algn="l">
              <a:lnSpc>
                <a:spcPct val="108000"/>
              </a:lnSpc>
            </a:pPr>
            <a:r>
              <a:rPr sz="950" b="0" i="0">
                <a:solidFill>
                  <a:srgbClr val="1F2421"/>
                </a:solidFill>
                <a:latin typeface="Consolas"/>
              </a:rPr>
              <a:t>df</a:t>
            </a:r>
            <a:r>
              <a:rPr sz="950" b="0" i="0">
                <a:solidFill>
                  <a:srgbClr val="1F2421"/>
                </a:solidFill>
                <a:latin typeface="Consolas"/>
              </a:rPr>
              <a:t> </a:t>
            </a:r>
            <a:r>
              <a:rPr sz="950" b="0" i="0">
                <a:solidFill>
                  <a:srgbClr val="1F2421"/>
                </a:solidFill>
                <a:latin typeface="Consolas"/>
              </a:rPr>
              <a:t>=</a:t>
            </a:r>
            <a:r>
              <a:rPr sz="950" b="0" i="0">
                <a:solidFill>
                  <a:srgbClr val="1F2421"/>
                </a:solidFill>
                <a:latin typeface="Consolas"/>
              </a:rPr>
              <a:t> </a:t>
            </a:r>
            <a:r>
              <a:rPr sz="950" b="0" i="0">
                <a:solidFill>
                  <a:srgbClr val="1F2421"/>
                </a:solidFill>
                <a:latin typeface="Consolas"/>
              </a:rPr>
              <a:t>df</a:t>
            </a:r>
            <a:r>
              <a:rPr sz="950" b="0" i="0">
                <a:solidFill>
                  <a:srgbClr val="1F2421"/>
                </a:solidFill>
                <a:latin typeface="Consolas"/>
              </a:rPr>
              <a:t>.</a:t>
            </a:r>
            <a:r>
              <a:rPr sz="950" b="0" i="0">
                <a:solidFill>
                  <a:srgbClr val="1F2421"/>
                </a:solidFill>
                <a:latin typeface="Consolas"/>
              </a:rPr>
              <a:t>loc</a:t>
            </a:r>
            <a:r>
              <a:rPr sz="950" b="0" i="0">
                <a:solidFill>
                  <a:srgbClr val="1F2421"/>
                </a:solidFill>
                <a:latin typeface="Consolas"/>
              </a:rPr>
              <a:t>[</a:t>
            </a:r>
            <a:r>
              <a:rPr sz="950" b="0" i="0">
                <a:solidFill>
                  <a:srgbClr val="1F2421"/>
                </a:solidFill>
                <a:latin typeface="Consolas"/>
              </a:rPr>
              <a:t>~</a:t>
            </a:r>
            <a:r>
              <a:rPr sz="950" b="0" i="0">
                <a:solidFill>
                  <a:srgbClr val="1F2421"/>
                </a:solidFill>
                <a:latin typeface="Consolas"/>
              </a:rPr>
              <a:t>features</a:t>
            </a:r>
            <a:r>
              <a:rPr sz="950" b="0" i="0">
                <a:solidFill>
                  <a:srgbClr val="1F2421"/>
                </a:solidFill>
                <a:latin typeface="Consolas"/>
              </a:rPr>
              <a:t>.</a:t>
            </a:r>
            <a:r>
              <a:rPr sz="950" b="0" i="0">
                <a:solidFill>
                  <a:srgbClr val="1F2421"/>
                </a:solidFill>
                <a:latin typeface="Consolas"/>
              </a:rPr>
              <a:t>isna</a:t>
            </a:r>
            <a:r>
              <a:rPr sz="950" b="0" i="0">
                <a:solidFill>
                  <a:srgbClr val="1F2421"/>
                </a:solidFill>
                <a:latin typeface="Consolas"/>
              </a:rPr>
              <a:t>(</a:t>
            </a:r>
            <a:r>
              <a:rPr sz="950" b="0" i="0">
                <a:solidFill>
                  <a:srgbClr val="1F2421"/>
                </a:solidFill>
                <a:latin typeface="Consolas"/>
              </a:rPr>
              <a:t>)</a:t>
            </a:r>
            <a:r>
              <a:rPr sz="950" b="0" i="0">
                <a:solidFill>
                  <a:srgbClr val="1F2421"/>
                </a:solidFill>
                <a:latin typeface="Consolas"/>
              </a:rPr>
              <a:t>.</a:t>
            </a:r>
            <a:r>
              <a:rPr sz="950" b="0" i="0">
                <a:solidFill>
                  <a:srgbClr val="1F2421"/>
                </a:solidFill>
                <a:latin typeface="Consolas"/>
              </a:rPr>
              <a:t>any</a:t>
            </a:r>
            <a:r>
              <a:rPr sz="950" b="0" i="0">
                <a:solidFill>
                  <a:srgbClr val="1F2421"/>
                </a:solidFill>
                <a:latin typeface="Consolas"/>
              </a:rPr>
              <a:t>(</a:t>
            </a:r>
            <a:r>
              <a:rPr sz="950" b="0" i="0">
                <a:solidFill>
                  <a:srgbClr val="1F2421"/>
                </a:solidFill>
                <a:latin typeface="Consolas"/>
              </a:rPr>
              <a:t>axis</a:t>
            </a:r>
            <a:r>
              <a:rPr sz="950" b="0" i="0">
                <a:solidFill>
                  <a:srgbClr val="1F2421"/>
                </a:solidFill>
                <a:latin typeface="Consolas"/>
              </a:rPr>
              <a:t>=</a:t>
            </a:r>
            <a:r>
              <a:rPr sz="950" b="0" i="0">
                <a:solidFill>
                  <a:srgbClr val="1F2421"/>
                </a:solidFill>
                <a:latin typeface="Consolas"/>
              </a:rPr>
              <a:t>1</a:t>
            </a:r>
            <a:r>
              <a:rPr sz="950" b="0" i="0">
                <a:solidFill>
                  <a:srgbClr val="1F2421"/>
                </a:solidFill>
                <a:latin typeface="Consolas"/>
              </a:rPr>
              <a:t>)</a:t>
            </a:r>
            <a:r>
              <a:rPr sz="950" b="0" i="0">
                <a:solidFill>
                  <a:srgbClr val="1F2421"/>
                </a:solidFill>
                <a:latin typeface="Consolas"/>
              </a:rPr>
              <a:t>]</a:t>
            </a:r>
          </a:p>
          <a:p>
            <a:pPr algn="l">
              <a:lnSpc>
                <a:spcPct val="108000"/>
              </a:lnSpc>
            </a:pPr>
            <a:r>
              <a:rPr sz="950" b="0" i="0">
                <a:solidFill>
                  <a:srgbClr val="1F2421"/>
                </a:solidFill>
                <a:latin typeface="Consolas"/>
              </a:rPr>
              <a:t> </a:t>
            </a:r>
          </a:p>
          <a:p>
            <a:pPr algn="l">
              <a:lnSpc>
                <a:spcPct val="108000"/>
              </a:lnSpc>
            </a:pPr>
            <a:r>
              <a:rPr sz="950" b="1" i="0">
                <a:solidFill>
                  <a:srgbClr val="3E5F5A"/>
                </a:solidFill>
                <a:latin typeface="Consolas"/>
              </a:rPr>
              <a:t>def</a:t>
            </a:r>
            <a:r>
              <a:rPr sz="950" b="0" i="0">
                <a:solidFill>
                  <a:srgbClr val="1F2421"/>
                </a:solidFill>
                <a:latin typeface="Consolas"/>
              </a:rPr>
              <a:t> </a:t>
            </a:r>
            <a:r>
              <a:rPr sz="950" b="0" i="0">
                <a:solidFill>
                  <a:srgbClr val="1F2421"/>
                </a:solidFill>
                <a:latin typeface="Consolas"/>
              </a:rPr>
              <a:t>signed_log1p</a:t>
            </a:r>
            <a:r>
              <a:rPr sz="950" b="0" i="0">
                <a:solidFill>
                  <a:srgbClr val="1F2421"/>
                </a:solidFill>
                <a:latin typeface="Consolas"/>
              </a:rPr>
              <a:t>(</a:t>
            </a:r>
            <a:r>
              <a:rPr sz="950" b="0" i="0">
                <a:solidFill>
                  <a:srgbClr val="1F2421"/>
                </a:solidFill>
                <a:latin typeface="Consolas"/>
              </a:rPr>
              <a:t>x</a:t>
            </a:r>
            <a:r>
              <a:rPr sz="950" b="0" i="0">
                <a:solidFill>
                  <a:srgbClr val="1F2421"/>
                </a:solidFill>
                <a:latin typeface="Consolas"/>
              </a:rPr>
              <a:t>)</a:t>
            </a:r>
            <a:r>
              <a:rPr sz="950" b="0" i="0">
                <a:solidFill>
                  <a:srgbClr val="1F2421"/>
                </a:solidFill>
                <a:latin typeface="Consolas"/>
              </a:rPr>
              <a:t>:</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1">
                <a:solidFill>
                  <a:srgbClr val="8C918A"/>
                </a:solidFill>
                <a:latin typeface="Consolas"/>
              </a:rPr>
              <a:t># values span 1 to 1e9</a:t>
            </a:r>
          </a:p>
          <a:p>
            <a:pPr algn="l">
              <a:lnSpc>
                <a:spcPct val="108000"/>
              </a:lnSpc>
            </a:pP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1" i="0">
                <a:solidFill>
                  <a:srgbClr val="3E5F5A"/>
                </a:solidFill>
                <a:latin typeface="Consolas"/>
              </a:rPr>
              <a:t>return</a:t>
            </a:r>
            <a:r>
              <a:rPr sz="950" b="0" i="0">
                <a:solidFill>
                  <a:srgbClr val="1F2421"/>
                </a:solidFill>
                <a:latin typeface="Consolas"/>
              </a:rPr>
              <a:t> </a:t>
            </a:r>
            <a:r>
              <a:rPr sz="950" b="0" i="0">
                <a:solidFill>
                  <a:srgbClr val="1F2421"/>
                </a:solidFill>
                <a:latin typeface="Consolas"/>
              </a:rPr>
              <a:t>np</a:t>
            </a:r>
            <a:r>
              <a:rPr sz="950" b="0" i="0">
                <a:solidFill>
                  <a:srgbClr val="1F2421"/>
                </a:solidFill>
                <a:latin typeface="Consolas"/>
              </a:rPr>
              <a:t>.</a:t>
            </a:r>
            <a:r>
              <a:rPr sz="950" b="0" i="0">
                <a:solidFill>
                  <a:srgbClr val="1F2421"/>
                </a:solidFill>
                <a:latin typeface="Consolas"/>
              </a:rPr>
              <a:t>sign</a:t>
            </a:r>
            <a:r>
              <a:rPr sz="950" b="0" i="0">
                <a:solidFill>
                  <a:srgbClr val="1F2421"/>
                </a:solidFill>
                <a:latin typeface="Consolas"/>
              </a:rPr>
              <a:t>(</a:t>
            </a:r>
            <a:r>
              <a:rPr sz="950" b="0" i="0">
                <a:solidFill>
                  <a:srgbClr val="1F2421"/>
                </a:solidFill>
                <a:latin typeface="Consolas"/>
              </a:rPr>
              <a:t>x</a:t>
            </a:r>
            <a:r>
              <a:rPr sz="950" b="0" i="0">
                <a:solidFill>
                  <a:srgbClr val="1F2421"/>
                </a:solidFill>
                <a:latin typeface="Consolas"/>
              </a:rPr>
              <a:t>)</a:t>
            </a:r>
            <a:r>
              <a:rPr sz="950" b="0" i="0">
                <a:solidFill>
                  <a:srgbClr val="1F2421"/>
                </a:solidFill>
                <a:latin typeface="Consolas"/>
              </a:rPr>
              <a:t> </a:t>
            </a:r>
            <a:r>
              <a:rPr sz="950" b="0" i="0">
                <a:solidFill>
                  <a:srgbClr val="1F2421"/>
                </a:solidFill>
                <a:latin typeface="Consolas"/>
              </a:rPr>
              <a:t>*</a:t>
            </a:r>
            <a:r>
              <a:rPr sz="950" b="0" i="0">
                <a:solidFill>
                  <a:srgbClr val="1F2421"/>
                </a:solidFill>
                <a:latin typeface="Consolas"/>
              </a:rPr>
              <a:t> </a:t>
            </a:r>
            <a:r>
              <a:rPr sz="950" b="0" i="0">
                <a:solidFill>
                  <a:srgbClr val="1F2421"/>
                </a:solidFill>
                <a:latin typeface="Consolas"/>
              </a:rPr>
              <a:t>np</a:t>
            </a:r>
            <a:r>
              <a:rPr sz="950" b="0" i="0">
                <a:solidFill>
                  <a:srgbClr val="1F2421"/>
                </a:solidFill>
                <a:latin typeface="Consolas"/>
              </a:rPr>
              <a:t>.</a:t>
            </a:r>
            <a:r>
              <a:rPr sz="950" b="0" i="0">
                <a:solidFill>
                  <a:srgbClr val="1F2421"/>
                </a:solidFill>
                <a:latin typeface="Consolas"/>
              </a:rPr>
              <a:t>log1p</a:t>
            </a:r>
            <a:r>
              <a:rPr sz="950" b="0" i="0">
                <a:solidFill>
                  <a:srgbClr val="1F2421"/>
                </a:solidFill>
                <a:latin typeface="Consolas"/>
              </a:rPr>
              <a:t>(</a:t>
            </a:r>
            <a:r>
              <a:rPr sz="950" b="0" i="0">
                <a:solidFill>
                  <a:srgbClr val="1F2421"/>
                </a:solidFill>
                <a:latin typeface="Consolas"/>
              </a:rPr>
              <a:t>np</a:t>
            </a:r>
            <a:r>
              <a:rPr sz="950" b="0" i="0">
                <a:solidFill>
                  <a:srgbClr val="1F2421"/>
                </a:solidFill>
                <a:latin typeface="Consolas"/>
              </a:rPr>
              <a:t>.</a:t>
            </a:r>
            <a:r>
              <a:rPr sz="950" b="0" i="0">
                <a:solidFill>
                  <a:srgbClr val="1F2421"/>
                </a:solidFill>
                <a:latin typeface="Consolas"/>
              </a:rPr>
              <a:t>abs</a:t>
            </a:r>
            <a:r>
              <a:rPr sz="950" b="0" i="0">
                <a:solidFill>
                  <a:srgbClr val="1F2421"/>
                </a:solidFill>
                <a:latin typeface="Consolas"/>
              </a:rPr>
              <a:t>(</a:t>
            </a:r>
            <a:r>
              <a:rPr sz="950" b="0" i="0">
                <a:solidFill>
                  <a:srgbClr val="1F2421"/>
                </a:solidFill>
                <a:latin typeface="Consolas"/>
              </a:rPr>
              <a:t>x</a:t>
            </a:r>
            <a:r>
              <a:rPr sz="950" b="0" i="0">
                <a:solidFill>
                  <a:srgbClr val="1F2421"/>
                </a:solidFill>
                <a:latin typeface="Consolas"/>
              </a:rPr>
              <a:t>)</a:t>
            </a:r>
            <a:r>
              <a:rPr sz="950" b="0" i="0">
                <a:solidFill>
                  <a:srgbClr val="1F2421"/>
                </a:solidFill>
                <a:latin typeface="Consolas"/>
              </a:rPr>
              <a:t>)</a:t>
            </a:r>
          </a:p>
          <a:p>
            <a:pPr algn="l">
              <a:lnSpc>
                <a:spcPct val="108000"/>
              </a:lnSpc>
            </a:pPr>
            <a:r>
              <a:rPr sz="950" b="0" i="0">
                <a:solidFill>
                  <a:srgbClr val="1F2421"/>
                </a:solidFill>
                <a:latin typeface="Consolas"/>
              </a:rPr>
              <a:t> </a:t>
            </a:r>
          </a:p>
          <a:p>
            <a:pPr algn="l">
              <a:lnSpc>
                <a:spcPct val="108000"/>
              </a:lnSpc>
            </a:pPr>
            <a:r>
              <a:rPr sz="950" b="0" i="0">
                <a:solidFill>
                  <a:srgbClr val="1F2421"/>
                </a:solidFill>
                <a:latin typeface="Consolas"/>
              </a:rPr>
              <a:t>scaler</a:t>
            </a:r>
            <a:r>
              <a:rPr sz="950" b="0" i="0">
                <a:solidFill>
                  <a:srgbClr val="1F2421"/>
                </a:solidFill>
                <a:latin typeface="Consolas"/>
              </a:rPr>
              <a:t> </a:t>
            </a:r>
            <a:r>
              <a:rPr sz="950" b="0" i="0">
                <a:solidFill>
                  <a:srgbClr val="1F2421"/>
                </a:solidFill>
                <a:latin typeface="Consolas"/>
              </a:rPr>
              <a:t>=</a:t>
            </a:r>
            <a:r>
              <a:rPr sz="950" b="0" i="0">
                <a:solidFill>
                  <a:srgbClr val="1F2421"/>
                </a:solidFill>
                <a:latin typeface="Consolas"/>
              </a:rPr>
              <a:t> </a:t>
            </a:r>
            <a:r>
              <a:rPr sz="950" b="0" i="0">
                <a:solidFill>
                  <a:srgbClr val="1F2421"/>
                </a:solidFill>
                <a:latin typeface="Consolas"/>
              </a:rPr>
              <a:t>MinMaxScaler</a:t>
            </a:r>
            <a:r>
              <a:rPr sz="950" b="0" i="0">
                <a:solidFill>
                  <a:srgbClr val="1F2421"/>
                </a:solidFill>
                <a:latin typeface="Consolas"/>
              </a:rPr>
              <a:t>(</a:t>
            </a:r>
            <a:r>
              <a:rPr sz="950" b="0" i="0">
                <a:solidFill>
                  <a:srgbClr val="1F2421"/>
                </a:solidFill>
                <a:latin typeface="Consolas"/>
              </a:rPr>
              <a:t>)</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1">
                <a:solidFill>
                  <a:srgbClr val="8C918A"/>
                </a:solidFill>
                <a:latin typeface="Consolas"/>
              </a:rPr>
              <a:t># fitted on TRAIN only</a:t>
            </a:r>
          </a:p>
          <a:p>
            <a:pPr algn="l">
              <a:lnSpc>
                <a:spcPct val="108000"/>
              </a:lnSpc>
            </a:pPr>
            <a:r>
              <a:rPr sz="950" b="0" i="0">
                <a:solidFill>
                  <a:srgbClr val="1F2421"/>
                </a:solidFill>
                <a:latin typeface="Consolas"/>
              </a:rPr>
              <a:t>X_train</a:t>
            </a:r>
            <a:r>
              <a:rPr sz="950" b="0" i="0">
                <a:solidFill>
                  <a:srgbClr val="1F2421"/>
                </a:solidFill>
                <a:latin typeface="Consolas"/>
              </a:rPr>
              <a:t> </a:t>
            </a:r>
            <a:r>
              <a:rPr sz="950" b="0" i="0">
                <a:solidFill>
                  <a:srgbClr val="1F2421"/>
                </a:solidFill>
                <a:latin typeface="Consolas"/>
              </a:rPr>
              <a:t>=</a:t>
            </a:r>
            <a:r>
              <a:rPr sz="950" b="0" i="0">
                <a:solidFill>
                  <a:srgbClr val="1F2421"/>
                </a:solidFill>
                <a:latin typeface="Consolas"/>
              </a:rPr>
              <a:t> </a:t>
            </a:r>
            <a:r>
              <a:rPr sz="950" b="0" i="0">
                <a:solidFill>
                  <a:srgbClr val="1F2421"/>
                </a:solidFill>
                <a:latin typeface="Consolas"/>
              </a:rPr>
              <a:t>scaler</a:t>
            </a:r>
            <a:r>
              <a:rPr sz="950" b="0" i="0">
                <a:solidFill>
                  <a:srgbClr val="1F2421"/>
                </a:solidFill>
                <a:latin typeface="Consolas"/>
              </a:rPr>
              <a:t>.</a:t>
            </a:r>
            <a:r>
              <a:rPr sz="950" b="0" i="0">
                <a:solidFill>
                  <a:srgbClr val="1F2421"/>
                </a:solidFill>
                <a:latin typeface="Consolas"/>
              </a:rPr>
              <a:t>fit_transform</a:t>
            </a:r>
            <a:r>
              <a:rPr sz="950" b="0" i="0">
                <a:solidFill>
                  <a:srgbClr val="1F2421"/>
                </a:solidFill>
                <a:latin typeface="Consolas"/>
              </a:rPr>
              <a:t>(</a:t>
            </a:r>
            <a:r>
              <a:rPr sz="950" b="0" i="0">
                <a:solidFill>
                  <a:srgbClr val="1F2421"/>
                </a:solidFill>
                <a:latin typeface="Consolas"/>
              </a:rPr>
              <a:t>signed_log1p</a:t>
            </a:r>
            <a:r>
              <a:rPr sz="950" b="0" i="0">
                <a:solidFill>
                  <a:srgbClr val="1F2421"/>
                </a:solidFill>
                <a:latin typeface="Consolas"/>
              </a:rPr>
              <a:t>(</a:t>
            </a:r>
            <a:r>
              <a:rPr sz="950" b="0" i="0">
                <a:solidFill>
                  <a:srgbClr val="1F2421"/>
                </a:solidFill>
                <a:latin typeface="Consolas"/>
              </a:rPr>
              <a:t>train</a:t>
            </a:r>
            <a:r>
              <a:rPr sz="950" b="0" i="0">
                <a:solidFill>
                  <a:srgbClr val="1F2421"/>
                </a:solidFill>
                <a:latin typeface="Consolas"/>
              </a:rPr>
              <a:t>)</a:t>
            </a:r>
            <a:r>
              <a:rPr sz="950" b="0" i="0">
                <a:solidFill>
                  <a:srgbClr val="1F2421"/>
                </a:solidFill>
                <a:latin typeface="Consolas"/>
              </a:rPr>
              <a:t>)</a:t>
            </a:r>
          </a:p>
          <a:p>
            <a:pPr algn="l">
              <a:lnSpc>
                <a:spcPct val="108000"/>
              </a:lnSpc>
            </a:pPr>
            <a:r>
              <a:rPr sz="950" b="0" i="0">
                <a:solidFill>
                  <a:srgbClr val="1F2421"/>
                </a:solidFill>
                <a:latin typeface="Consolas"/>
              </a:rPr>
              <a:t>X_test</a:t>
            </a:r>
            <a:r>
              <a:rPr sz="950" b="0" i="0">
                <a:solidFill>
                  <a:srgbClr val="1F2421"/>
                </a:solidFill>
                <a:latin typeface="Consolas"/>
              </a:rPr>
              <a:t> </a:t>
            </a:r>
            <a:r>
              <a:rPr sz="950" b="0" i="0">
                <a:solidFill>
                  <a:srgbClr val="1F2421"/>
                </a:solidFill>
                <a:latin typeface="Consolas"/>
              </a:rPr>
              <a:t>=</a:t>
            </a:r>
            <a:r>
              <a:rPr sz="950" b="0" i="0">
                <a:solidFill>
                  <a:srgbClr val="1F2421"/>
                </a:solidFill>
                <a:latin typeface="Consolas"/>
              </a:rPr>
              <a:t> </a:t>
            </a:r>
            <a:r>
              <a:rPr sz="950" b="0" i="0">
                <a:solidFill>
                  <a:srgbClr val="1F2421"/>
                </a:solidFill>
                <a:latin typeface="Consolas"/>
              </a:rPr>
              <a:t>np</a:t>
            </a:r>
            <a:r>
              <a:rPr sz="950" b="0" i="0">
                <a:solidFill>
                  <a:srgbClr val="1F2421"/>
                </a:solidFill>
                <a:latin typeface="Consolas"/>
              </a:rPr>
              <a:t>.</a:t>
            </a:r>
            <a:r>
              <a:rPr sz="950" b="0" i="0">
                <a:solidFill>
                  <a:srgbClr val="1F2421"/>
                </a:solidFill>
                <a:latin typeface="Consolas"/>
              </a:rPr>
              <a:t>clip</a:t>
            </a:r>
            <a:r>
              <a:rPr sz="950" b="0" i="0">
                <a:solidFill>
                  <a:srgbClr val="1F2421"/>
                </a:solidFill>
                <a:latin typeface="Consolas"/>
              </a:rPr>
              <a:t>(</a:t>
            </a:r>
            <a:r>
              <a:rPr sz="950" b="0" i="0">
                <a:solidFill>
                  <a:srgbClr val="1F2421"/>
                </a:solidFill>
                <a:latin typeface="Consolas"/>
              </a:rPr>
              <a:t>scaler</a:t>
            </a:r>
            <a:r>
              <a:rPr sz="950" b="0" i="0">
                <a:solidFill>
                  <a:srgbClr val="1F2421"/>
                </a:solidFill>
                <a:latin typeface="Consolas"/>
              </a:rPr>
              <a:t>.</a:t>
            </a:r>
            <a:r>
              <a:rPr sz="950" b="0" i="0">
                <a:solidFill>
                  <a:srgbClr val="1F2421"/>
                </a:solidFill>
                <a:latin typeface="Consolas"/>
              </a:rPr>
              <a:t>transform</a:t>
            </a:r>
            <a:r>
              <a:rPr sz="950" b="0" i="0">
                <a:solidFill>
                  <a:srgbClr val="1F2421"/>
                </a:solidFill>
                <a:latin typeface="Consolas"/>
              </a:rPr>
              <a:t>(</a:t>
            </a:r>
            <a:r>
              <a:rPr sz="950" b="0" i="0">
                <a:solidFill>
                  <a:srgbClr val="1F2421"/>
                </a:solidFill>
                <a:latin typeface="Consolas"/>
              </a:rPr>
              <a:t>signed_log1p</a:t>
            </a:r>
            <a:r>
              <a:rPr sz="950" b="0" i="0">
                <a:solidFill>
                  <a:srgbClr val="1F2421"/>
                </a:solidFill>
                <a:latin typeface="Consolas"/>
              </a:rPr>
              <a:t>(</a:t>
            </a:r>
            <a:r>
              <a:rPr sz="950" b="0" i="0">
                <a:solidFill>
                  <a:srgbClr val="1F2421"/>
                </a:solidFill>
                <a:latin typeface="Consolas"/>
              </a:rPr>
              <a:t>test</a:t>
            </a:r>
            <a:r>
              <a:rPr sz="950" b="0" i="0">
                <a:solidFill>
                  <a:srgbClr val="1F2421"/>
                </a:solidFill>
                <a:latin typeface="Consolas"/>
              </a:rPr>
              <a:t>)</a:t>
            </a:r>
            <a:r>
              <a:rPr sz="950" b="0" i="0">
                <a:solidFill>
                  <a:srgbClr val="1F2421"/>
                </a:solidFill>
                <a:latin typeface="Consolas"/>
              </a:rPr>
              <a:t>)</a:t>
            </a:r>
            <a:r>
              <a:rPr sz="950" b="0" i="0">
                <a:solidFill>
                  <a:srgbClr val="1F2421"/>
                </a:solidFill>
                <a:latin typeface="Consolas"/>
              </a:rPr>
              <a:t>,</a:t>
            </a:r>
            <a:r>
              <a:rPr sz="950" b="0" i="0">
                <a:solidFill>
                  <a:srgbClr val="1F2421"/>
                </a:solidFill>
                <a:latin typeface="Consolas"/>
              </a:rPr>
              <a:t> </a:t>
            </a:r>
            <a:r>
              <a:rPr sz="950" b="0" i="0">
                <a:solidFill>
                  <a:srgbClr val="1F2421"/>
                </a:solidFill>
                <a:latin typeface="Consolas"/>
              </a:rPr>
              <a:t>0</a:t>
            </a:r>
            <a:r>
              <a:rPr sz="950" b="0" i="0">
                <a:solidFill>
                  <a:srgbClr val="1F2421"/>
                </a:solidFill>
                <a:latin typeface="Consolas"/>
              </a:rPr>
              <a:t>,</a:t>
            </a:r>
            <a:r>
              <a:rPr sz="950" b="0" i="0">
                <a:solidFill>
                  <a:srgbClr val="1F2421"/>
                </a:solidFill>
                <a:latin typeface="Consolas"/>
              </a:rPr>
              <a:t> </a:t>
            </a:r>
            <a:r>
              <a:rPr sz="950" b="0" i="0">
                <a:solidFill>
                  <a:srgbClr val="1F2421"/>
                </a:solidFill>
                <a:latin typeface="Consolas"/>
              </a:rPr>
              <a:t>1</a:t>
            </a:r>
            <a:r>
              <a:rPr sz="950" b="0" i="0">
                <a:solidFill>
                  <a:srgbClr val="1F2421"/>
                </a:solidFill>
                <a:latin typeface="Consolas"/>
              </a:rPr>
              <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7315200" cy="274320"/>
          </a:xfrm>
          <a:prstGeom prst="rect">
            <a:avLst/>
          </a:prstGeom>
          <a:noFill/>
        </p:spPr>
        <p:txBody>
          <a:bodyPr wrap="square" anchor="t" lIns="0" rIns="0" tIns="0" bIns="0">
            <a:spAutoFit/>
          </a:bodyPr>
          <a:lstStyle/>
          <a:p>
            <a:pPr algn="l">
              <a:lnSpc>
                <a:spcPct val="120000"/>
              </a:lnSpc>
            </a:pPr>
            <a:r>
              <a:rPr sz="1050" b="1" i="0">
                <a:solidFill>
                  <a:srgbClr val="3E5F5A"/>
                </a:solidFill>
                <a:latin typeface="Segoe UI"/>
              </a:rPr>
              <a:t>METHODOLOGY · 3 / 6</a:t>
            </a:r>
          </a:p>
        </p:txBody>
      </p:sp>
      <p:cxnSp>
        <p:nvCxnSpPr>
          <p:cNvPr id="4" name="Connector 3"/>
          <p:cNvCxnSpPr/>
          <p:nvPr/>
        </p:nvCxnSpPr>
        <p:spPr>
          <a:xfrm>
            <a:off x="731520" y="841248"/>
            <a:ext cx="457200" cy="0"/>
          </a:xfrm>
          <a:prstGeom prst="line">
            <a:avLst/>
          </a:prstGeom>
          <a:ln w="19050">
            <a:solidFill>
              <a:srgbClr val="3E5F5A"/>
            </a:solidFill>
          </a:ln>
        </p:spPr>
      </p:cxnSp>
      <p:sp>
        <p:nvSpPr>
          <p:cNvPr id="5" name="TextBox 4"/>
          <p:cNvSpPr txBox="1"/>
          <p:nvPr/>
        </p:nvSpPr>
        <p:spPr>
          <a:xfrm>
            <a:off x="731520" y="960120"/>
            <a:ext cx="10725912" cy="731520"/>
          </a:xfrm>
          <a:prstGeom prst="rect">
            <a:avLst/>
          </a:prstGeom>
          <a:noFill/>
        </p:spPr>
        <p:txBody>
          <a:bodyPr wrap="square" anchor="t" lIns="0" rIns="0" tIns="0" bIns="0">
            <a:spAutoFit/>
          </a:bodyPr>
          <a:lstStyle/>
          <a:p>
            <a:pPr algn="l">
              <a:lnSpc>
                <a:spcPct val="120000"/>
              </a:lnSpc>
            </a:pPr>
            <a:r>
              <a:rPr sz="2800" b="0" i="0">
                <a:solidFill>
                  <a:srgbClr val="1F2421"/>
                </a:solidFill>
                <a:latin typeface="Georgia"/>
              </a:rPr>
              <a:t>Clients: why uneven (non-IID) data matters</a:t>
            </a:r>
          </a:p>
        </p:txBody>
      </p:sp>
      <p:sp>
        <p:nvSpPr>
          <p:cNvPr id="6" name="TextBox 5"/>
          <p:cNvSpPr txBox="1"/>
          <p:nvPr/>
        </p:nvSpPr>
        <p:spPr>
          <a:xfrm>
            <a:off x="731520" y="6400800"/>
            <a:ext cx="5486400" cy="228600"/>
          </a:xfrm>
          <a:prstGeom prst="rect">
            <a:avLst/>
          </a:prstGeom>
          <a:noFill/>
        </p:spPr>
        <p:txBody>
          <a:bodyPr wrap="square" anchor="t" lIns="0" rIns="0" tIns="0" bIns="0">
            <a:spAutoFit/>
          </a:bodyPr>
          <a:lstStyle/>
          <a:p>
            <a:pPr algn="l">
              <a:lnSpc>
                <a:spcPct val="120000"/>
              </a:lnSpc>
            </a:pPr>
            <a:r>
              <a:rPr sz="900" b="0" i="0">
                <a:solidFill>
                  <a:srgbClr val="8C918A"/>
                </a:solidFill>
                <a:latin typeface="Segoe UI"/>
              </a:rPr>
              <a:t>Krypsis  ·  Final Review</a:t>
            </a:r>
          </a:p>
        </p:txBody>
      </p:sp>
      <p:sp>
        <p:nvSpPr>
          <p:cNvPr id="7" name="TextBox 6"/>
          <p:cNvSpPr txBox="1"/>
          <p:nvPr/>
        </p:nvSpPr>
        <p:spPr>
          <a:xfrm>
            <a:off x="10543032" y="6400800"/>
            <a:ext cx="914400" cy="228600"/>
          </a:xfrm>
          <a:prstGeom prst="rect">
            <a:avLst/>
          </a:prstGeom>
          <a:noFill/>
        </p:spPr>
        <p:txBody>
          <a:bodyPr wrap="square" anchor="t" lIns="0" rIns="0" tIns="0" bIns="0">
            <a:spAutoFit/>
          </a:bodyPr>
          <a:lstStyle/>
          <a:p>
            <a:pPr algn="r">
              <a:lnSpc>
                <a:spcPct val="120000"/>
              </a:lnSpc>
            </a:pPr>
            <a:r>
              <a:rPr sz="900" b="0" i="0">
                <a:solidFill>
                  <a:srgbClr val="8C918A"/>
                </a:solidFill>
                <a:latin typeface="Segoe UI"/>
              </a:rPr>
              <a:t>6</a:t>
            </a:r>
          </a:p>
        </p:txBody>
      </p:sp>
      <p:sp>
        <p:nvSpPr>
          <p:cNvPr id="8" name="TextBox 7"/>
          <p:cNvSpPr txBox="1"/>
          <p:nvPr/>
        </p:nvSpPr>
        <p:spPr>
          <a:xfrm>
            <a:off x="731520" y="1691640"/>
            <a:ext cx="10725912" cy="548640"/>
          </a:xfrm>
          <a:prstGeom prst="rect">
            <a:avLst/>
          </a:prstGeom>
          <a:noFill/>
        </p:spPr>
        <p:txBody>
          <a:bodyPr wrap="square" anchor="t" lIns="0" rIns="0" tIns="0" bIns="0">
            <a:spAutoFit/>
          </a:bodyPr>
          <a:lstStyle/>
          <a:p>
            <a:pPr algn="l">
              <a:lnSpc>
                <a:spcPct val="120000"/>
              </a:lnSpc>
            </a:pPr>
            <a:r>
              <a:rPr sz="1350" b="1" i="0">
                <a:solidFill>
                  <a:srgbClr val="3E5F5A"/>
                </a:solidFill>
                <a:latin typeface="Segoe UI"/>
              </a:rPr>
              <a:t>IID</a:t>
            </a:r>
            <a:r>
              <a:rPr sz="1350" b="0" i="0">
                <a:solidFill>
                  <a:srgbClr val="1F2421"/>
                </a:solidFill>
                <a:latin typeface="Segoe UI"/>
              </a:rPr>
              <a:t> = every client has a similar mix of traffic.     </a:t>
            </a:r>
            <a:r>
              <a:rPr sz="1350" b="1" i="0">
                <a:solidFill>
                  <a:srgbClr val="3E5F5A"/>
                </a:solidFill>
                <a:latin typeface="Segoe UI"/>
              </a:rPr>
              <a:t>Non-IID</a:t>
            </a:r>
            <a:r>
              <a:rPr sz="1350" b="0" i="0">
                <a:solidFill>
                  <a:srgbClr val="1F2421"/>
                </a:solidFill>
                <a:latin typeface="Segoe UI"/>
              </a:rPr>
              <a:t> = each client sees different traffic, as in real networks.</a:t>
            </a:r>
          </a:p>
        </p:txBody>
      </p:sp>
      <p:sp>
        <p:nvSpPr>
          <p:cNvPr id="9" name="TextBox 8"/>
          <p:cNvSpPr txBox="1"/>
          <p:nvPr/>
        </p:nvSpPr>
        <p:spPr>
          <a:xfrm>
            <a:off x="731520" y="2240280"/>
            <a:ext cx="5486400" cy="274320"/>
          </a:xfrm>
          <a:prstGeom prst="rect">
            <a:avLst/>
          </a:prstGeom>
          <a:noFill/>
        </p:spPr>
        <p:txBody>
          <a:bodyPr wrap="square" anchor="t" lIns="0" rIns="0" tIns="0" bIns="0">
            <a:spAutoFit/>
          </a:bodyPr>
          <a:lstStyle/>
          <a:p>
            <a:pPr algn="l">
              <a:lnSpc>
                <a:spcPct val="120000"/>
              </a:lnSpc>
            </a:pPr>
            <a:r>
              <a:rPr sz="1050" b="1" i="0">
                <a:solidFill>
                  <a:srgbClr val="3E5F5A"/>
                </a:solidFill>
                <a:latin typeface="Segoe UI"/>
              </a:rPr>
              <a:t>FLNET2023 · 10 REAL ROUTERS · ATTACK %</a:t>
            </a:r>
          </a:p>
        </p:txBody>
      </p:sp>
      <p:sp>
        <p:nvSpPr>
          <p:cNvPr id="10" name="Rectangle 9"/>
          <p:cNvSpPr/>
          <p:nvPr/>
        </p:nvSpPr>
        <p:spPr>
          <a:xfrm>
            <a:off x="822960" y="3249549"/>
            <a:ext cx="329184" cy="636651"/>
          </a:xfrm>
          <a:prstGeom prst="rect">
            <a:avLst/>
          </a:prstGeom>
          <a:solidFill>
            <a:srgbClr val="3E5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030093"/>
            <a:ext cx="512064" cy="201168"/>
          </a:xfrm>
          <a:prstGeom prst="rect">
            <a:avLst/>
          </a:prstGeom>
          <a:noFill/>
        </p:spPr>
        <p:txBody>
          <a:bodyPr wrap="square" anchor="t" lIns="0" rIns="0" tIns="0" bIns="0">
            <a:spAutoFit/>
          </a:bodyPr>
          <a:lstStyle/>
          <a:p>
            <a:pPr algn="ctr">
              <a:lnSpc>
                <a:spcPct val="120000"/>
              </a:lnSpc>
            </a:pPr>
            <a:r>
              <a:rPr sz="900" b="0" i="0">
                <a:solidFill>
                  <a:srgbClr val="5B625C"/>
                </a:solidFill>
                <a:latin typeface="Segoe UI"/>
              </a:rPr>
              <a:t>56</a:t>
            </a:r>
          </a:p>
        </p:txBody>
      </p:sp>
      <p:sp>
        <p:nvSpPr>
          <p:cNvPr id="12" name="TextBox 11"/>
          <p:cNvSpPr txBox="1"/>
          <p:nvPr/>
        </p:nvSpPr>
        <p:spPr>
          <a:xfrm>
            <a:off x="731520" y="3922776"/>
            <a:ext cx="512064" cy="201168"/>
          </a:xfrm>
          <a:prstGeom prst="rect">
            <a:avLst/>
          </a:prstGeom>
          <a:noFill/>
        </p:spPr>
        <p:txBody>
          <a:bodyPr wrap="square" anchor="t" lIns="0" rIns="0" tIns="0" bIns="0">
            <a:spAutoFit/>
          </a:bodyPr>
          <a:lstStyle/>
          <a:p>
            <a:pPr algn="ctr">
              <a:lnSpc>
                <a:spcPct val="120000"/>
              </a:lnSpc>
            </a:pPr>
            <a:r>
              <a:rPr sz="900" b="0" i="0">
                <a:solidFill>
                  <a:srgbClr val="8C918A"/>
                </a:solidFill>
                <a:latin typeface="Segoe UI"/>
              </a:rPr>
              <a:t>R1</a:t>
            </a:r>
          </a:p>
        </p:txBody>
      </p:sp>
      <p:sp>
        <p:nvSpPr>
          <p:cNvPr id="13" name="Rectangle 12"/>
          <p:cNvSpPr/>
          <p:nvPr/>
        </p:nvSpPr>
        <p:spPr>
          <a:xfrm>
            <a:off x="1330452" y="2935224"/>
            <a:ext cx="329184" cy="950976"/>
          </a:xfrm>
          <a:prstGeom prst="rect">
            <a:avLst/>
          </a:prstGeom>
          <a:solidFill>
            <a:srgbClr val="3E5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9012" y="2715768"/>
            <a:ext cx="512064" cy="201168"/>
          </a:xfrm>
          <a:prstGeom prst="rect">
            <a:avLst/>
          </a:prstGeom>
          <a:noFill/>
        </p:spPr>
        <p:txBody>
          <a:bodyPr wrap="square" anchor="t" lIns="0" rIns="0" tIns="0" bIns="0">
            <a:spAutoFit/>
          </a:bodyPr>
          <a:lstStyle/>
          <a:p>
            <a:pPr algn="ctr">
              <a:lnSpc>
                <a:spcPct val="120000"/>
              </a:lnSpc>
            </a:pPr>
            <a:r>
              <a:rPr sz="900" b="0" i="0">
                <a:solidFill>
                  <a:srgbClr val="5B625C"/>
                </a:solidFill>
                <a:latin typeface="Segoe UI"/>
              </a:rPr>
              <a:t>83</a:t>
            </a:r>
          </a:p>
        </p:txBody>
      </p:sp>
      <p:sp>
        <p:nvSpPr>
          <p:cNvPr id="15" name="TextBox 14"/>
          <p:cNvSpPr txBox="1"/>
          <p:nvPr/>
        </p:nvSpPr>
        <p:spPr>
          <a:xfrm>
            <a:off x="1239012" y="3922776"/>
            <a:ext cx="512064" cy="201168"/>
          </a:xfrm>
          <a:prstGeom prst="rect">
            <a:avLst/>
          </a:prstGeom>
          <a:noFill/>
        </p:spPr>
        <p:txBody>
          <a:bodyPr wrap="square" anchor="t" lIns="0" rIns="0" tIns="0" bIns="0">
            <a:spAutoFit/>
          </a:bodyPr>
          <a:lstStyle/>
          <a:p>
            <a:pPr algn="ctr">
              <a:lnSpc>
                <a:spcPct val="120000"/>
              </a:lnSpc>
            </a:pPr>
            <a:r>
              <a:rPr sz="900" b="0" i="0">
                <a:solidFill>
                  <a:srgbClr val="8C918A"/>
                </a:solidFill>
                <a:latin typeface="Segoe UI"/>
              </a:rPr>
              <a:t>R2</a:t>
            </a:r>
          </a:p>
        </p:txBody>
      </p:sp>
      <p:sp>
        <p:nvSpPr>
          <p:cNvPr id="16" name="Rectangle 15"/>
          <p:cNvSpPr/>
          <p:nvPr/>
        </p:nvSpPr>
        <p:spPr>
          <a:xfrm>
            <a:off x="1837944" y="3669030"/>
            <a:ext cx="329184" cy="217170"/>
          </a:xfrm>
          <a:prstGeom prst="rect">
            <a:avLst/>
          </a:prstGeom>
          <a:solidFill>
            <a:srgbClr val="3E5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746504" y="3449574"/>
            <a:ext cx="512064" cy="201168"/>
          </a:xfrm>
          <a:prstGeom prst="rect">
            <a:avLst/>
          </a:prstGeom>
          <a:noFill/>
        </p:spPr>
        <p:txBody>
          <a:bodyPr wrap="square" anchor="t" lIns="0" rIns="0" tIns="0" bIns="0">
            <a:spAutoFit/>
          </a:bodyPr>
          <a:lstStyle/>
          <a:p>
            <a:pPr algn="ctr">
              <a:lnSpc>
                <a:spcPct val="120000"/>
              </a:lnSpc>
            </a:pPr>
            <a:r>
              <a:rPr sz="900" b="0" i="0">
                <a:solidFill>
                  <a:srgbClr val="5B625C"/>
                </a:solidFill>
                <a:latin typeface="Segoe UI"/>
              </a:rPr>
              <a:t>19</a:t>
            </a:r>
          </a:p>
        </p:txBody>
      </p:sp>
      <p:sp>
        <p:nvSpPr>
          <p:cNvPr id="18" name="TextBox 17"/>
          <p:cNvSpPr txBox="1"/>
          <p:nvPr/>
        </p:nvSpPr>
        <p:spPr>
          <a:xfrm>
            <a:off x="1746504" y="3922776"/>
            <a:ext cx="512064" cy="201168"/>
          </a:xfrm>
          <a:prstGeom prst="rect">
            <a:avLst/>
          </a:prstGeom>
          <a:noFill/>
        </p:spPr>
        <p:txBody>
          <a:bodyPr wrap="square" anchor="t" lIns="0" rIns="0" tIns="0" bIns="0">
            <a:spAutoFit/>
          </a:bodyPr>
          <a:lstStyle/>
          <a:p>
            <a:pPr algn="ctr">
              <a:lnSpc>
                <a:spcPct val="120000"/>
              </a:lnSpc>
            </a:pPr>
            <a:r>
              <a:rPr sz="900" b="0" i="0">
                <a:solidFill>
                  <a:srgbClr val="8C918A"/>
                </a:solidFill>
                <a:latin typeface="Segoe UI"/>
              </a:rPr>
              <a:t>R3</a:t>
            </a:r>
          </a:p>
        </p:txBody>
      </p:sp>
      <p:sp>
        <p:nvSpPr>
          <p:cNvPr id="19" name="Rectangle 18"/>
          <p:cNvSpPr/>
          <p:nvPr/>
        </p:nvSpPr>
        <p:spPr>
          <a:xfrm>
            <a:off x="2345436" y="2833497"/>
            <a:ext cx="329184" cy="1052703"/>
          </a:xfrm>
          <a:prstGeom prst="rect">
            <a:avLst/>
          </a:prstGeom>
          <a:solidFill>
            <a:srgbClr val="3E5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253996" y="2614041"/>
            <a:ext cx="512064" cy="201168"/>
          </a:xfrm>
          <a:prstGeom prst="rect">
            <a:avLst/>
          </a:prstGeom>
          <a:noFill/>
        </p:spPr>
        <p:txBody>
          <a:bodyPr wrap="square" anchor="t" lIns="0" rIns="0" tIns="0" bIns="0">
            <a:spAutoFit/>
          </a:bodyPr>
          <a:lstStyle/>
          <a:p>
            <a:pPr algn="ctr">
              <a:lnSpc>
                <a:spcPct val="120000"/>
              </a:lnSpc>
            </a:pPr>
            <a:r>
              <a:rPr sz="900" b="0" i="0">
                <a:solidFill>
                  <a:srgbClr val="5B625C"/>
                </a:solidFill>
                <a:latin typeface="Segoe UI"/>
              </a:rPr>
              <a:t>92</a:t>
            </a:r>
          </a:p>
        </p:txBody>
      </p:sp>
      <p:sp>
        <p:nvSpPr>
          <p:cNvPr id="21" name="TextBox 20"/>
          <p:cNvSpPr txBox="1"/>
          <p:nvPr/>
        </p:nvSpPr>
        <p:spPr>
          <a:xfrm>
            <a:off x="2253996" y="3922776"/>
            <a:ext cx="512064" cy="201168"/>
          </a:xfrm>
          <a:prstGeom prst="rect">
            <a:avLst/>
          </a:prstGeom>
          <a:noFill/>
        </p:spPr>
        <p:txBody>
          <a:bodyPr wrap="square" anchor="t" lIns="0" rIns="0" tIns="0" bIns="0">
            <a:spAutoFit/>
          </a:bodyPr>
          <a:lstStyle/>
          <a:p>
            <a:pPr algn="ctr">
              <a:lnSpc>
                <a:spcPct val="120000"/>
              </a:lnSpc>
            </a:pPr>
            <a:r>
              <a:rPr sz="900" b="0" i="0">
                <a:solidFill>
                  <a:srgbClr val="8C918A"/>
                </a:solidFill>
                <a:latin typeface="Segoe UI"/>
              </a:rPr>
              <a:t>R4</a:t>
            </a:r>
          </a:p>
        </p:txBody>
      </p:sp>
      <p:sp>
        <p:nvSpPr>
          <p:cNvPr id="22" name="Rectangle 21"/>
          <p:cNvSpPr/>
          <p:nvPr/>
        </p:nvSpPr>
        <p:spPr>
          <a:xfrm>
            <a:off x="2852928" y="3014091"/>
            <a:ext cx="329184" cy="872109"/>
          </a:xfrm>
          <a:prstGeom prst="rect">
            <a:avLst/>
          </a:prstGeom>
          <a:solidFill>
            <a:srgbClr val="3E5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61488" y="2794635"/>
            <a:ext cx="512064" cy="201168"/>
          </a:xfrm>
          <a:prstGeom prst="rect">
            <a:avLst/>
          </a:prstGeom>
          <a:noFill/>
        </p:spPr>
        <p:txBody>
          <a:bodyPr wrap="square" anchor="t" lIns="0" rIns="0" tIns="0" bIns="0">
            <a:spAutoFit/>
          </a:bodyPr>
          <a:lstStyle/>
          <a:p>
            <a:pPr algn="ctr">
              <a:lnSpc>
                <a:spcPct val="120000"/>
              </a:lnSpc>
            </a:pPr>
            <a:r>
              <a:rPr sz="900" b="0" i="0">
                <a:solidFill>
                  <a:srgbClr val="5B625C"/>
                </a:solidFill>
                <a:latin typeface="Segoe UI"/>
              </a:rPr>
              <a:t>76</a:t>
            </a:r>
          </a:p>
        </p:txBody>
      </p:sp>
      <p:sp>
        <p:nvSpPr>
          <p:cNvPr id="24" name="TextBox 23"/>
          <p:cNvSpPr txBox="1"/>
          <p:nvPr/>
        </p:nvSpPr>
        <p:spPr>
          <a:xfrm>
            <a:off x="2761488" y="3922776"/>
            <a:ext cx="512064" cy="201168"/>
          </a:xfrm>
          <a:prstGeom prst="rect">
            <a:avLst/>
          </a:prstGeom>
          <a:noFill/>
        </p:spPr>
        <p:txBody>
          <a:bodyPr wrap="square" anchor="t" lIns="0" rIns="0" tIns="0" bIns="0">
            <a:spAutoFit/>
          </a:bodyPr>
          <a:lstStyle/>
          <a:p>
            <a:pPr algn="ctr">
              <a:lnSpc>
                <a:spcPct val="120000"/>
              </a:lnSpc>
            </a:pPr>
            <a:r>
              <a:rPr sz="900" b="0" i="0">
                <a:solidFill>
                  <a:srgbClr val="8C918A"/>
                </a:solidFill>
                <a:latin typeface="Segoe UI"/>
              </a:rPr>
              <a:t>R5</a:t>
            </a:r>
          </a:p>
        </p:txBody>
      </p:sp>
      <p:sp>
        <p:nvSpPr>
          <p:cNvPr id="25" name="Rectangle 24"/>
          <p:cNvSpPr/>
          <p:nvPr/>
        </p:nvSpPr>
        <p:spPr>
          <a:xfrm>
            <a:off x="3360420" y="3130677"/>
            <a:ext cx="329184" cy="755523"/>
          </a:xfrm>
          <a:prstGeom prst="rect">
            <a:avLst/>
          </a:prstGeom>
          <a:solidFill>
            <a:srgbClr val="3E5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68980" y="2911221"/>
            <a:ext cx="512064" cy="201168"/>
          </a:xfrm>
          <a:prstGeom prst="rect">
            <a:avLst/>
          </a:prstGeom>
          <a:noFill/>
        </p:spPr>
        <p:txBody>
          <a:bodyPr wrap="square" anchor="t" lIns="0" rIns="0" tIns="0" bIns="0">
            <a:spAutoFit/>
          </a:bodyPr>
          <a:lstStyle/>
          <a:p>
            <a:pPr algn="ctr">
              <a:lnSpc>
                <a:spcPct val="120000"/>
              </a:lnSpc>
            </a:pPr>
            <a:r>
              <a:rPr sz="900" b="0" i="0">
                <a:solidFill>
                  <a:srgbClr val="5B625C"/>
                </a:solidFill>
                <a:latin typeface="Segoe UI"/>
              </a:rPr>
              <a:t>66</a:t>
            </a:r>
          </a:p>
        </p:txBody>
      </p:sp>
      <p:sp>
        <p:nvSpPr>
          <p:cNvPr id="27" name="TextBox 26"/>
          <p:cNvSpPr txBox="1"/>
          <p:nvPr/>
        </p:nvSpPr>
        <p:spPr>
          <a:xfrm>
            <a:off x="3268980" y="3922776"/>
            <a:ext cx="512064" cy="201168"/>
          </a:xfrm>
          <a:prstGeom prst="rect">
            <a:avLst/>
          </a:prstGeom>
          <a:noFill/>
        </p:spPr>
        <p:txBody>
          <a:bodyPr wrap="square" anchor="t" lIns="0" rIns="0" tIns="0" bIns="0">
            <a:spAutoFit/>
          </a:bodyPr>
          <a:lstStyle/>
          <a:p>
            <a:pPr algn="ctr">
              <a:lnSpc>
                <a:spcPct val="120000"/>
              </a:lnSpc>
            </a:pPr>
            <a:r>
              <a:rPr sz="900" b="0" i="0">
                <a:solidFill>
                  <a:srgbClr val="8C918A"/>
                </a:solidFill>
                <a:latin typeface="Segoe UI"/>
              </a:rPr>
              <a:t>R6</a:t>
            </a:r>
          </a:p>
        </p:txBody>
      </p:sp>
      <p:sp>
        <p:nvSpPr>
          <p:cNvPr id="28" name="Rectangle 27"/>
          <p:cNvSpPr/>
          <p:nvPr/>
        </p:nvSpPr>
        <p:spPr>
          <a:xfrm>
            <a:off x="3867912" y="3403854"/>
            <a:ext cx="329184" cy="482346"/>
          </a:xfrm>
          <a:prstGeom prst="rect">
            <a:avLst/>
          </a:prstGeom>
          <a:solidFill>
            <a:srgbClr val="3E5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776472" y="3184398"/>
            <a:ext cx="512064" cy="201168"/>
          </a:xfrm>
          <a:prstGeom prst="rect">
            <a:avLst/>
          </a:prstGeom>
          <a:noFill/>
        </p:spPr>
        <p:txBody>
          <a:bodyPr wrap="square" anchor="t" lIns="0" rIns="0" tIns="0" bIns="0">
            <a:spAutoFit/>
          </a:bodyPr>
          <a:lstStyle/>
          <a:p>
            <a:pPr algn="ctr">
              <a:lnSpc>
                <a:spcPct val="120000"/>
              </a:lnSpc>
            </a:pPr>
            <a:r>
              <a:rPr sz="900" b="0" i="0">
                <a:solidFill>
                  <a:srgbClr val="5B625C"/>
                </a:solidFill>
                <a:latin typeface="Segoe UI"/>
              </a:rPr>
              <a:t>42</a:t>
            </a:r>
          </a:p>
        </p:txBody>
      </p:sp>
      <p:sp>
        <p:nvSpPr>
          <p:cNvPr id="30" name="TextBox 29"/>
          <p:cNvSpPr txBox="1"/>
          <p:nvPr/>
        </p:nvSpPr>
        <p:spPr>
          <a:xfrm>
            <a:off x="3776472" y="3922776"/>
            <a:ext cx="512064" cy="201168"/>
          </a:xfrm>
          <a:prstGeom prst="rect">
            <a:avLst/>
          </a:prstGeom>
          <a:noFill/>
        </p:spPr>
        <p:txBody>
          <a:bodyPr wrap="square" anchor="t" lIns="0" rIns="0" tIns="0" bIns="0">
            <a:spAutoFit/>
          </a:bodyPr>
          <a:lstStyle/>
          <a:p>
            <a:pPr algn="ctr">
              <a:lnSpc>
                <a:spcPct val="120000"/>
              </a:lnSpc>
            </a:pPr>
            <a:r>
              <a:rPr sz="900" b="0" i="0">
                <a:solidFill>
                  <a:srgbClr val="8C918A"/>
                </a:solidFill>
                <a:latin typeface="Segoe UI"/>
              </a:rPr>
              <a:t>R7</a:t>
            </a:r>
          </a:p>
        </p:txBody>
      </p:sp>
      <p:sp>
        <p:nvSpPr>
          <p:cNvPr id="31" name="Rectangle 30"/>
          <p:cNvSpPr/>
          <p:nvPr/>
        </p:nvSpPr>
        <p:spPr>
          <a:xfrm>
            <a:off x="4375404" y="3305556"/>
            <a:ext cx="329184" cy="580644"/>
          </a:xfrm>
          <a:prstGeom prst="rect">
            <a:avLst/>
          </a:prstGeom>
          <a:solidFill>
            <a:srgbClr val="3E5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283964" y="3086100"/>
            <a:ext cx="512064" cy="201168"/>
          </a:xfrm>
          <a:prstGeom prst="rect">
            <a:avLst/>
          </a:prstGeom>
          <a:noFill/>
        </p:spPr>
        <p:txBody>
          <a:bodyPr wrap="square" anchor="t" lIns="0" rIns="0" tIns="0" bIns="0">
            <a:spAutoFit/>
          </a:bodyPr>
          <a:lstStyle/>
          <a:p>
            <a:pPr algn="ctr">
              <a:lnSpc>
                <a:spcPct val="120000"/>
              </a:lnSpc>
            </a:pPr>
            <a:r>
              <a:rPr sz="900" b="0" i="0">
                <a:solidFill>
                  <a:srgbClr val="5B625C"/>
                </a:solidFill>
                <a:latin typeface="Segoe UI"/>
              </a:rPr>
              <a:t>51</a:t>
            </a:r>
          </a:p>
        </p:txBody>
      </p:sp>
      <p:sp>
        <p:nvSpPr>
          <p:cNvPr id="33" name="TextBox 32"/>
          <p:cNvSpPr txBox="1"/>
          <p:nvPr/>
        </p:nvSpPr>
        <p:spPr>
          <a:xfrm>
            <a:off x="4283964" y="3922776"/>
            <a:ext cx="512064" cy="201168"/>
          </a:xfrm>
          <a:prstGeom prst="rect">
            <a:avLst/>
          </a:prstGeom>
          <a:noFill/>
        </p:spPr>
        <p:txBody>
          <a:bodyPr wrap="square" anchor="t" lIns="0" rIns="0" tIns="0" bIns="0">
            <a:spAutoFit/>
          </a:bodyPr>
          <a:lstStyle/>
          <a:p>
            <a:pPr algn="ctr">
              <a:lnSpc>
                <a:spcPct val="120000"/>
              </a:lnSpc>
            </a:pPr>
            <a:r>
              <a:rPr sz="900" b="0" i="0">
                <a:solidFill>
                  <a:srgbClr val="8C918A"/>
                </a:solidFill>
                <a:latin typeface="Segoe UI"/>
              </a:rPr>
              <a:t>R8</a:t>
            </a:r>
          </a:p>
        </p:txBody>
      </p:sp>
      <p:sp>
        <p:nvSpPr>
          <p:cNvPr id="34" name="Rectangle 33"/>
          <p:cNvSpPr/>
          <p:nvPr/>
        </p:nvSpPr>
        <p:spPr>
          <a:xfrm>
            <a:off x="4882896" y="3059811"/>
            <a:ext cx="329184" cy="826389"/>
          </a:xfrm>
          <a:prstGeom prst="rect">
            <a:avLst/>
          </a:prstGeom>
          <a:solidFill>
            <a:srgbClr val="3E5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91456" y="2840355"/>
            <a:ext cx="512064" cy="201168"/>
          </a:xfrm>
          <a:prstGeom prst="rect">
            <a:avLst/>
          </a:prstGeom>
          <a:noFill/>
        </p:spPr>
        <p:txBody>
          <a:bodyPr wrap="square" anchor="t" lIns="0" rIns="0" tIns="0" bIns="0">
            <a:spAutoFit/>
          </a:bodyPr>
          <a:lstStyle/>
          <a:p>
            <a:pPr algn="ctr">
              <a:lnSpc>
                <a:spcPct val="120000"/>
              </a:lnSpc>
            </a:pPr>
            <a:r>
              <a:rPr sz="900" b="0" i="0">
                <a:solidFill>
                  <a:srgbClr val="5B625C"/>
                </a:solidFill>
                <a:latin typeface="Segoe UI"/>
              </a:rPr>
              <a:t>72</a:t>
            </a:r>
          </a:p>
        </p:txBody>
      </p:sp>
      <p:sp>
        <p:nvSpPr>
          <p:cNvPr id="36" name="TextBox 35"/>
          <p:cNvSpPr txBox="1"/>
          <p:nvPr/>
        </p:nvSpPr>
        <p:spPr>
          <a:xfrm>
            <a:off x="4791456" y="3922776"/>
            <a:ext cx="512064" cy="201168"/>
          </a:xfrm>
          <a:prstGeom prst="rect">
            <a:avLst/>
          </a:prstGeom>
          <a:noFill/>
        </p:spPr>
        <p:txBody>
          <a:bodyPr wrap="square" anchor="t" lIns="0" rIns="0" tIns="0" bIns="0">
            <a:spAutoFit/>
          </a:bodyPr>
          <a:lstStyle/>
          <a:p>
            <a:pPr algn="ctr">
              <a:lnSpc>
                <a:spcPct val="120000"/>
              </a:lnSpc>
            </a:pPr>
            <a:r>
              <a:rPr sz="900" b="0" i="0">
                <a:solidFill>
                  <a:srgbClr val="8C918A"/>
                </a:solidFill>
                <a:latin typeface="Segoe UI"/>
              </a:rPr>
              <a:t>R9</a:t>
            </a:r>
          </a:p>
        </p:txBody>
      </p:sp>
      <p:sp>
        <p:nvSpPr>
          <p:cNvPr id="37" name="Rectangle 36"/>
          <p:cNvSpPr/>
          <p:nvPr/>
        </p:nvSpPr>
        <p:spPr>
          <a:xfrm>
            <a:off x="5390388" y="3103245"/>
            <a:ext cx="329184" cy="782955"/>
          </a:xfrm>
          <a:prstGeom prst="rect">
            <a:avLst/>
          </a:prstGeom>
          <a:solidFill>
            <a:srgbClr val="3E5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298948" y="2883789"/>
            <a:ext cx="512064" cy="201168"/>
          </a:xfrm>
          <a:prstGeom prst="rect">
            <a:avLst/>
          </a:prstGeom>
          <a:noFill/>
        </p:spPr>
        <p:txBody>
          <a:bodyPr wrap="square" anchor="t" lIns="0" rIns="0" tIns="0" bIns="0">
            <a:spAutoFit/>
          </a:bodyPr>
          <a:lstStyle/>
          <a:p>
            <a:pPr algn="ctr">
              <a:lnSpc>
                <a:spcPct val="120000"/>
              </a:lnSpc>
            </a:pPr>
            <a:r>
              <a:rPr sz="900" b="0" i="0">
                <a:solidFill>
                  <a:srgbClr val="5B625C"/>
                </a:solidFill>
                <a:latin typeface="Segoe UI"/>
              </a:rPr>
              <a:t>68</a:t>
            </a:r>
          </a:p>
        </p:txBody>
      </p:sp>
      <p:sp>
        <p:nvSpPr>
          <p:cNvPr id="39" name="TextBox 38"/>
          <p:cNvSpPr txBox="1"/>
          <p:nvPr/>
        </p:nvSpPr>
        <p:spPr>
          <a:xfrm>
            <a:off x="5298948" y="3922776"/>
            <a:ext cx="512064" cy="201168"/>
          </a:xfrm>
          <a:prstGeom prst="rect">
            <a:avLst/>
          </a:prstGeom>
          <a:noFill/>
        </p:spPr>
        <p:txBody>
          <a:bodyPr wrap="square" anchor="t" lIns="0" rIns="0" tIns="0" bIns="0">
            <a:spAutoFit/>
          </a:bodyPr>
          <a:lstStyle/>
          <a:p>
            <a:pPr algn="ctr">
              <a:lnSpc>
                <a:spcPct val="120000"/>
              </a:lnSpc>
            </a:pPr>
            <a:r>
              <a:rPr sz="900" b="0" i="0">
                <a:solidFill>
                  <a:srgbClr val="8C918A"/>
                </a:solidFill>
                <a:latin typeface="Segoe UI"/>
              </a:rPr>
              <a:t>R10</a:t>
            </a:r>
          </a:p>
        </p:txBody>
      </p:sp>
      <p:cxnSp>
        <p:nvCxnSpPr>
          <p:cNvPr id="40" name="Connector 39"/>
          <p:cNvCxnSpPr/>
          <p:nvPr/>
        </p:nvCxnSpPr>
        <p:spPr>
          <a:xfrm>
            <a:off x="777240" y="3886200"/>
            <a:ext cx="5074920" cy="0"/>
          </a:xfrm>
          <a:prstGeom prst="line">
            <a:avLst/>
          </a:prstGeom>
          <a:ln w="9525">
            <a:solidFill>
              <a:srgbClr val="5B625C"/>
            </a:solidFill>
          </a:ln>
        </p:spPr>
      </p:cxnSp>
      <p:sp>
        <p:nvSpPr>
          <p:cNvPr id="41" name="TextBox 40"/>
          <p:cNvSpPr txBox="1"/>
          <p:nvPr/>
        </p:nvSpPr>
        <p:spPr>
          <a:xfrm>
            <a:off x="731520" y="4297680"/>
            <a:ext cx="5486400" cy="274320"/>
          </a:xfrm>
          <a:prstGeom prst="rect">
            <a:avLst/>
          </a:prstGeom>
          <a:noFill/>
        </p:spPr>
        <p:txBody>
          <a:bodyPr wrap="square" anchor="t" lIns="0" rIns="0" tIns="0" bIns="0">
            <a:spAutoFit/>
          </a:bodyPr>
          <a:lstStyle/>
          <a:p>
            <a:pPr algn="l">
              <a:lnSpc>
                <a:spcPct val="120000"/>
              </a:lnSpc>
            </a:pPr>
            <a:r>
              <a:rPr sz="1050" b="1" i="0">
                <a:solidFill>
                  <a:srgbClr val="3E5F5A"/>
                </a:solidFill>
                <a:latin typeface="Segoe UI"/>
              </a:rPr>
              <a:t>NSL-KDD · DIRICHLET SPLIT, ALPHA 0.5 · ATTACK %</a:t>
            </a:r>
          </a:p>
        </p:txBody>
      </p:sp>
      <p:sp>
        <p:nvSpPr>
          <p:cNvPr id="42" name="Rectangle 41"/>
          <p:cNvSpPr/>
          <p:nvPr/>
        </p:nvSpPr>
        <p:spPr>
          <a:xfrm>
            <a:off x="822960" y="5623560"/>
            <a:ext cx="329184" cy="320040"/>
          </a:xfrm>
          <a:prstGeom prst="rect">
            <a:avLst/>
          </a:prstGeom>
          <a:solidFill>
            <a:srgbClr val="8FA9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31520" y="5404104"/>
            <a:ext cx="512064" cy="201168"/>
          </a:xfrm>
          <a:prstGeom prst="rect">
            <a:avLst/>
          </a:prstGeom>
          <a:noFill/>
        </p:spPr>
        <p:txBody>
          <a:bodyPr wrap="square" anchor="t" lIns="0" rIns="0" tIns="0" bIns="0">
            <a:spAutoFit/>
          </a:bodyPr>
          <a:lstStyle/>
          <a:p>
            <a:pPr algn="ctr">
              <a:lnSpc>
                <a:spcPct val="120000"/>
              </a:lnSpc>
            </a:pPr>
            <a:r>
              <a:rPr sz="900" b="0" i="0">
                <a:solidFill>
                  <a:srgbClr val="5B625C"/>
                </a:solidFill>
                <a:latin typeface="Segoe UI"/>
              </a:rPr>
              <a:t>28</a:t>
            </a:r>
          </a:p>
        </p:txBody>
      </p:sp>
      <p:sp>
        <p:nvSpPr>
          <p:cNvPr id="44" name="TextBox 43"/>
          <p:cNvSpPr txBox="1"/>
          <p:nvPr/>
        </p:nvSpPr>
        <p:spPr>
          <a:xfrm>
            <a:off x="731520" y="5980176"/>
            <a:ext cx="512064" cy="201168"/>
          </a:xfrm>
          <a:prstGeom prst="rect">
            <a:avLst/>
          </a:prstGeom>
          <a:noFill/>
        </p:spPr>
        <p:txBody>
          <a:bodyPr wrap="square" anchor="t" lIns="0" rIns="0" tIns="0" bIns="0">
            <a:spAutoFit/>
          </a:bodyPr>
          <a:lstStyle/>
          <a:p>
            <a:pPr algn="ctr">
              <a:lnSpc>
                <a:spcPct val="120000"/>
              </a:lnSpc>
            </a:pPr>
            <a:r>
              <a:rPr sz="900" b="0" i="0">
                <a:solidFill>
                  <a:srgbClr val="8C918A"/>
                </a:solidFill>
                <a:latin typeface="Segoe UI"/>
              </a:rPr>
              <a:t>C1</a:t>
            </a:r>
          </a:p>
        </p:txBody>
      </p:sp>
      <p:sp>
        <p:nvSpPr>
          <p:cNvPr id="45" name="Rectangle 44"/>
          <p:cNvSpPr/>
          <p:nvPr/>
        </p:nvSpPr>
        <p:spPr>
          <a:xfrm>
            <a:off x="1330452" y="4800600"/>
            <a:ext cx="329184" cy="1143000"/>
          </a:xfrm>
          <a:prstGeom prst="rect">
            <a:avLst/>
          </a:prstGeom>
          <a:solidFill>
            <a:srgbClr val="8FA9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239012" y="4581144"/>
            <a:ext cx="512064" cy="201168"/>
          </a:xfrm>
          <a:prstGeom prst="rect">
            <a:avLst/>
          </a:prstGeom>
          <a:noFill/>
        </p:spPr>
        <p:txBody>
          <a:bodyPr wrap="square" anchor="t" lIns="0" rIns="0" tIns="0" bIns="0">
            <a:spAutoFit/>
          </a:bodyPr>
          <a:lstStyle/>
          <a:p>
            <a:pPr algn="ctr">
              <a:lnSpc>
                <a:spcPct val="120000"/>
              </a:lnSpc>
            </a:pPr>
            <a:r>
              <a:rPr sz="900" b="0" i="0">
                <a:solidFill>
                  <a:srgbClr val="5B625C"/>
                </a:solidFill>
                <a:latin typeface="Segoe UI"/>
              </a:rPr>
              <a:t>100</a:t>
            </a:r>
          </a:p>
        </p:txBody>
      </p:sp>
      <p:sp>
        <p:nvSpPr>
          <p:cNvPr id="47" name="TextBox 46"/>
          <p:cNvSpPr txBox="1"/>
          <p:nvPr/>
        </p:nvSpPr>
        <p:spPr>
          <a:xfrm>
            <a:off x="1239012" y="5980176"/>
            <a:ext cx="512064" cy="201168"/>
          </a:xfrm>
          <a:prstGeom prst="rect">
            <a:avLst/>
          </a:prstGeom>
          <a:noFill/>
        </p:spPr>
        <p:txBody>
          <a:bodyPr wrap="square" anchor="t" lIns="0" rIns="0" tIns="0" bIns="0">
            <a:spAutoFit/>
          </a:bodyPr>
          <a:lstStyle/>
          <a:p>
            <a:pPr algn="ctr">
              <a:lnSpc>
                <a:spcPct val="120000"/>
              </a:lnSpc>
            </a:pPr>
            <a:r>
              <a:rPr sz="900" b="0" i="0">
                <a:solidFill>
                  <a:srgbClr val="8C918A"/>
                </a:solidFill>
                <a:latin typeface="Segoe UI"/>
              </a:rPr>
              <a:t>C2</a:t>
            </a:r>
          </a:p>
        </p:txBody>
      </p:sp>
      <p:sp>
        <p:nvSpPr>
          <p:cNvPr id="48" name="Rectangle 47"/>
          <p:cNvSpPr/>
          <p:nvPr/>
        </p:nvSpPr>
        <p:spPr>
          <a:xfrm>
            <a:off x="1837944" y="4809744"/>
            <a:ext cx="329184" cy="1133856"/>
          </a:xfrm>
          <a:prstGeom prst="rect">
            <a:avLst/>
          </a:prstGeom>
          <a:solidFill>
            <a:srgbClr val="8FA9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746504" y="4590288"/>
            <a:ext cx="512064" cy="201168"/>
          </a:xfrm>
          <a:prstGeom prst="rect">
            <a:avLst/>
          </a:prstGeom>
          <a:noFill/>
        </p:spPr>
        <p:txBody>
          <a:bodyPr wrap="square" anchor="t" lIns="0" rIns="0" tIns="0" bIns="0">
            <a:spAutoFit/>
          </a:bodyPr>
          <a:lstStyle/>
          <a:p>
            <a:pPr algn="ctr">
              <a:lnSpc>
                <a:spcPct val="120000"/>
              </a:lnSpc>
            </a:pPr>
            <a:r>
              <a:rPr sz="900" b="0" i="0">
                <a:solidFill>
                  <a:srgbClr val="5B625C"/>
                </a:solidFill>
                <a:latin typeface="Segoe UI"/>
              </a:rPr>
              <a:t>99</a:t>
            </a:r>
          </a:p>
        </p:txBody>
      </p:sp>
      <p:sp>
        <p:nvSpPr>
          <p:cNvPr id="50" name="TextBox 49"/>
          <p:cNvSpPr txBox="1"/>
          <p:nvPr/>
        </p:nvSpPr>
        <p:spPr>
          <a:xfrm>
            <a:off x="1746504" y="5980176"/>
            <a:ext cx="512064" cy="201168"/>
          </a:xfrm>
          <a:prstGeom prst="rect">
            <a:avLst/>
          </a:prstGeom>
          <a:noFill/>
        </p:spPr>
        <p:txBody>
          <a:bodyPr wrap="square" anchor="t" lIns="0" rIns="0" tIns="0" bIns="0">
            <a:spAutoFit/>
          </a:bodyPr>
          <a:lstStyle/>
          <a:p>
            <a:pPr algn="ctr">
              <a:lnSpc>
                <a:spcPct val="120000"/>
              </a:lnSpc>
            </a:pPr>
            <a:r>
              <a:rPr sz="900" b="0" i="0">
                <a:solidFill>
                  <a:srgbClr val="8C918A"/>
                </a:solidFill>
                <a:latin typeface="Segoe UI"/>
              </a:rPr>
              <a:t>C3</a:t>
            </a:r>
          </a:p>
        </p:txBody>
      </p:sp>
      <p:sp>
        <p:nvSpPr>
          <p:cNvPr id="51" name="Rectangle 50"/>
          <p:cNvSpPr/>
          <p:nvPr/>
        </p:nvSpPr>
        <p:spPr>
          <a:xfrm>
            <a:off x="2345436" y="5733288"/>
            <a:ext cx="329184" cy="210312"/>
          </a:xfrm>
          <a:prstGeom prst="rect">
            <a:avLst/>
          </a:prstGeom>
          <a:solidFill>
            <a:srgbClr val="8FA9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253996" y="5513832"/>
            <a:ext cx="512064" cy="201168"/>
          </a:xfrm>
          <a:prstGeom prst="rect">
            <a:avLst/>
          </a:prstGeom>
          <a:noFill/>
        </p:spPr>
        <p:txBody>
          <a:bodyPr wrap="square" anchor="t" lIns="0" rIns="0" tIns="0" bIns="0">
            <a:spAutoFit/>
          </a:bodyPr>
          <a:lstStyle/>
          <a:p>
            <a:pPr algn="ctr">
              <a:lnSpc>
                <a:spcPct val="120000"/>
              </a:lnSpc>
            </a:pPr>
            <a:r>
              <a:rPr sz="900" b="0" i="0">
                <a:solidFill>
                  <a:srgbClr val="5B625C"/>
                </a:solidFill>
                <a:latin typeface="Segoe UI"/>
              </a:rPr>
              <a:t>18</a:t>
            </a:r>
          </a:p>
        </p:txBody>
      </p:sp>
      <p:sp>
        <p:nvSpPr>
          <p:cNvPr id="53" name="TextBox 52"/>
          <p:cNvSpPr txBox="1"/>
          <p:nvPr/>
        </p:nvSpPr>
        <p:spPr>
          <a:xfrm>
            <a:off x="2253996" y="5980176"/>
            <a:ext cx="512064" cy="201168"/>
          </a:xfrm>
          <a:prstGeom prst="rect">
            <a:avLst/>
          </a:prstGeom>
          <a:noFill/>
        </p:spPr>
        <p:txBody>
          <a:bodyPr wrap="square" anchor="t" lIns="0" rIns="0" tIns="0" bIns="0">
            <a:spAutoFit/>
          </a:bodyPr>
          <a:lstStyle/>
          <a:p>
            <a:pPr algn="ctr">
              <a:lnSpc>
                <a:spcPct val="120000"/>
              </a:lnSpc>
            </a:pPr>
            <a:r>
              <a:rPr sz="900" b="0" i="0">
                <a:solidFill>
                  <a:srgbClr val="8C918A"/>
                </a:solidFill>
                <a:latin typeface="Segoe UI"/>
              </a:rPr>
              <a:t>C4</a:t>
            </a:r>
          </a:p>
        </p:txBody>
      </p:sp>
      <p:sp>
        <p:nvSpPr>
          <p:cNvPr id="54" name="Rectangle 53"/>
          <p:cNvSpPr/>
          <p:nvPr/>
        </p:nvSpPr>
        <p:spPr>
          <a:xfrm>
            <a:off x="2852928" y="5484114"/>
            <a:ext cx="329184" cy="459486"/>
          </a:xfrm>
          <a:prstGeom prst="rect">
            <a:avLst/>
          </a:prstGeom>
          <a:solidFill>
            <a:srgbClr val="8FA9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761488" y="5264658"/>
            <a:ext cx="512064" cy="201168"/>
          </a:xfrm>
          <a:prstGeom prst="rect">
            <a:avLst/>
          </a:prstGeom>
          <a:noFill/>
        </p:spPr>
        <p:txBody>
          <a:bodyPr wrap="square" anchor="t" lIns="0" rIns="0" tIns="0" bIns="0">
            <a:spAutoFit/>
          </a:bodyPr>
          <a:lstStyle/>
          <a:p>
            <a:pPr algn="ctr">
              <a:lnSpc>
                <a:spcPct val="120000"/>
              </a:lnSpc>
            </a:pPr>
            <a:r>
              <a:rPr sz="900" b="0" i="0">
                <a:solidFill>
                  <a:srgbClr val="5B625C"/>
                </a:solidFill>
                <a:latin typeface="Segoe UI"/>
              </a:rPr>
              <a:t>40</a:t>
            </a:r>
          </a:p>
        </p:txBody>
      </p:sp>
      <p:sp>
        <p:nvSpPr>
          <p:cNvPr id="56" name="TextBox 55"/>
          <p:cNvSpPr txBox="1"/>
          <p:nvPr/>
        </p:nvSpPr>
        <p:spPr>
          <a:xfrm>
            <a:off x="2761488" y="5980176"/>
            <a:ext cx="512064" cy="201168"/>
          </a:xfrm>
          <a:prstGeom prst="rect">
            <a:avLst/>
          </a:prstGeom>
          <a:noFill/>
        </p:spPr>
        <p:txBody>
          <a:bodyPr wrap="square" anchor="t" lIns="0" rIns="0" tIns="0" bIns="0">
            <a:spAutoFit/>
          </a:bodyPr>
          <a:lstStyle/>
          <a:p>
            <a:pPr algn="ctr">
              <a:lnSpc>
                <a:spcPct val="120000"/>
              </a:lnSpc>
            </a:pPr>
            <a:r>
              <a:rPr sz="900" b="0" i="0">
                <a:solidFill>
                  <a:srgbClr val="8C918A"/>
                </a:solidFill>
                <a:latin typeface="Segoe UI"/>
              </a:rPr>
              <a:t>C5</a:t>
            </a:r>
          </a:p>
        </p:txBody>
      </p:sp>
      <p:sp>
        <p:nvSpPr>
          <p:cNvPr id="57" name="Rectangle 56"/>
          <p:cNvSpPr/>
          <p:nvPr/>
        </p:nvSpPr>
        <p:spPr>
          <a:xfrm>
            <a:off x="3360420" y="4828032"/>
            <a:ext cx="329184" cy="1115568"/>
          </a:xfrm>
          <a:prstGeom prst="rect">
            <a:avLst/>
          </a:prstGeom>
          <a:solidFill>
            <a:srgbClr val="8FA9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268980" y="4608576"/>
            <a:ext cx="512064" cy="201168"/>
          </a:xfrm>
          <a:prstGeom prst="rect">
            <a:avLst/>
          </a:prstGeom>
          <a:noFill/>
        </p:spPr>
        <p:txBody>
          <a:bodyPr wrap="square" anchor="t" lIns="0" rIns="0" tIns="0" bIns="0">
            <a:spAutoFit/>
          </a:bodyPr>
          <a:lstStyle/>
          <a:p>
            <a:pPr algn="ctr">
              <a:lnSpc>
                <a:spcPct val="120000"/>
              </a:lnSpc>
            </a:pPr>
            <a:r>
              <a:rPr sz="900" b="0" i="0">
                <a:solidFill>
                  <a:srgbClr val="5B625C"/>
                </a:solidFill>
                <a:latin typeface="Segoe UI"/>
              </a:rPr>
              <a:t>98</a:t>
            </a:r>
          </a:p>
        </p:txBody>
      </p:sp>
      <p:sp>
        <p:nvSpPr>
          <p:cNvPr id="59" name="TextBox 58"/>
          <p:cNvSpPr txBox="1"/>
          <p:nvPr/>
        </p:nvSpPr>
        <p:spPr>
          <a:xfrm>
            <a:off x="3268980" y="5980176"/>
            <a:ext cx="512064" cy="201168"/>
          </a:xfrm>
          <a:prstGeom prst="rect">
            <a:avLst/>
          </a:prstGeom>
          <a:noFill/>
        </p:spPr>
        <p:txBody>
          <a:bodyPr wrap="square" anchor="t" lIns="0" rIns="0" tIns="0" bIns="0">
            <a:spAutoFit/>
          </a:bodyPr>
          <a:lstStyle/>
          <a:p>
            <a:pPr algn="ctr">
              <a:lnSpc>
                <a:spcPct val="120000"/>
              </a:lnSpc>
            </a:pPr>
            <a:r>
              <a:rPr sz="900" b="0" i="0">
                <a:solidFill>
                  <a:srgbClr val="8C918A"/>
                </a:solidFill>
                <a:latin typeface="Segoe UI"/>
              </a:rPr>
              <a:t>C6</a:t>
            </a:r>
          </a:p>
        </p:txBody>
      </p:sp>
      <p:sp>
        <p:nvSpPr>
          <p:cNvPr id="60" name="Rectangle 59"/>
          <p:cNvSpPr/>
          <p:nvPr/>
        </p:nvSpPr>
        <p:spPr>
          <a:xfrm>
            <a:off x="3867912" y="5484114"/>
            <a:ext cx="329184" cy="459486"/>
          </a:xfrm>
          <a:prstGeom prst="rect">
            <a:avLst/>
          </a:prstGeom>
          <a:solidFill>
            <a:srgbClr val="8FA9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776472" y="5264658"/>
            <a:ext cx="512064" cy="201168"/>
          </a:xfrm>
          <a:prstGeom prst="rect">
            <a:avLst/>
          </a:prstGeom>
          <a:noFill/>
        </p:spPr>
        <p:txBody>
          <a:bodyPr wrap="square" anchor="t" lIns="0" rIns="0" tIns="0" bIns="0">
            <a:spAutoFit/>
          </a:bodyPr>
          <a:lstStyle/>
          <a:p>
            <a:pPr algn="ctr">
              <a:lnSpc>
                <a:spcPct val="120000"/>
              </a:lnSpc>
            </a:pPr>
            <a:r>
              <a:rPr sz="900" b="0" i="0">
                <a:solidFill>
                  <a:srgbClr val="5B625C"/>
                </a:solidFill>
                <a:latin typeface="Segoe UI"/>
              </a:rPr>
              <a:t>40</a:t>
            </a:r>
          </a:p>
        </p:txBody>
      </p:sp>
      <p:sp>
        <p:nvSpPr>
          <p:cNvPr id="62" name="TextBox 61"/>
          <p:cNvSpPr txBox="1"/>
          <p:nvPr/>
        </p:nvSpPr>
        <p:spPr>
          <a:xfrm>
            <a:off x="3776472" y="5980176"/>
            <a:ext cx="512064" cy="201168"/>
          </a:xfrm>
          <a:prstGeom prst="rect">
            <a:avLst/>
          </a:prstGeom>
          <a:noFill/>
        </p:spPr>
        <p:txBody>
          <a:bodyPr wrap="square" anchor="t" lIns="0" rIns="0" tIns="0" bIns="0">
            <a:spAutoFit/>
          </a:bodyPr>
          <a:lstStyle/>
          <a:p>
            <a:pPr algn="ctr">
              <a:lnSpc>
                <a:spcPct val="120000"/>
              </a:lnSpc>
            </a:pPr>
            <a:r>
              <a:rPr sz="900" b="0" i="0">
                <a:solidFill>
                  <a:srgbClr val="8C918A"/>
                </a:solidFill>
                <a:latin typeface="Segoe UI"/>
              </a:rPr>
              <a:t>C7</a:t>
            </a:r>
          </a:p>
        </p:txBody>
      </p:sp>
      <p:sp>
        <p:nvSpPr>
          <p:cNvPr id="63" name="Rectangle 62"/>
          <p:cNvSpPr/>
          <p:nvPr/>
        </p:nvSpPr>
        <p:spPr>
          <a:xfrm>
            <a:off x="4375404" y="5807583"/>
            <a:ext cx="329184" cy="136017"/>
          </a:xfrm>
          <a:prstGeom prst="rect">
            <a:avLst/>
          </a:prstGeom>
          <a:solidFill>
            <a:srgbClr val="8FA9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283964" y="5588127"/>
            <a:ext cx="512064" cy="201168"/>
          </a:xfrm>
          <a:prstGeom prst="rect">
            <a:avLst/>
          </a:prstGeom>
          <a:noFill/>
        </p:spPr>
        <p:txBody>
          <a:bodyPr wrap="square" anchor="t" lIns="0" rIns="0" tIns="0" bIns="0">
            <a:spAutoFit/>
          </a:bodyPr>
          <a:lstStyle/>
          <a:p>
            <a:pPr algn="ctr">
              <a:lnSpc>
                <a:spcPct val="120000"/>
              </a:lnSpc>
            </a:pPr>
            <a:r>
              <a:rPr sz="900" b="0" i="0">
                <a:solidFill>
                  <a:srgbClr val="5B625C"/>
                </a:solidFill>
                <a:latin typeface="Segoe UI"/>
              </a:rPr>
              <a:t>12</a:t>
            </a:r>
          </a:p>
        </p:txBody>
      </p:sp>
      <p:sp>
        <p:nvSpPr>
          <p:cNvPr id="65" name="TextBox 64"/>
          <p:cNvSpPr txBox="1"/>
          <p:nvPr/>
        </p:nvSpPr>
        <p:spPr>
          <a:xfrm>
            <a:off x="4283964" y="5980176"/>
            <a:ext cx="512064" cy="201168"/>
          </a:xfrm>
          <a:prstGeom prst="rect">
            <a:avLst/>
          </a:prstGeom>
          <a:noFill/>
        </p:spPr>
        <p:txBody>
          <a:bodyPr wrap="square" anchor="t" lIns="0" rIns="0" tIns="0" bIns="0">
            <a:spAutoFit/>
          </a:bodyPr>
          <a:lstStyle/>
          <a:p>
            <a:pPr algn="ctr">
              <a:lnSpc>
                <a:spcPct val="120000"/>
              </a:lnSpc>
            </a:pPr>
            <a:r>
              <a:rPr sz="900" b="0" i="0">
                <a:solidFill>
                  <a:srgbClr val="8C918A"/>
                </a:solidFill>
                <a:latin typeface="Segoe UI"/>
              </a:rPr>
              <a:t>C8</a:t>
            </a:r>
          </a:p>
        </p:txBody>
      </p:sp>
      <p:sp>
        <p:nvSpPr>
          <p:cNvPr id="66" name="Rectangle 65"/>
          <p:cNvSpPr/>
          <p:nvPr/>
        </p:nvSpPr>
        <p:spPr>
          <a:xfrm>
            <a:off x="4882896" y="4982337"/>
            <a:ext cx="329184" cy="961263"/>
          </a:xfrm>
          <a:prstGeom prst="rect">
            <a:avLst/>
          </a:prstGeom>
          <a:solidFill>
            <a:srgbClr val="8FA9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791456" y="4762881"/>
            <a:ext cx="512064" cy="201168"/>
          </a:xfrm>
          <a:prstGeom prst="rect">
            <a:avLst/>
          </a:prstGeom>
          <a:noFill/>
        </p:spPr>
        <p:txBody>
          <a:bodyPr wrap="square" anchor="t" lIns="0" rIns="0" tIns="0" bIns="0">
            <a:spAutoFit/>
          </a:bodyPr>
          <a:lstStyle/>
          <a:p>
            <a:pPr algn="ctr">
              <a:lnSpc>
                <a:spcPct val="120000"/>
              </a:lnSpc>
            </a:pPr>
            <a:r>
              <a:rPr sz="900" b="0" i="0">
                <a:solidFill>
                  <a:srgbClr val="5B625C"/>
                </a:solidFill>
                <a:latin typeface="Segoe UI"/>
              </a:rPr>
              <a:t>84</a:t>
            </a:r>
          </a:p>
        </p:txBody>
      </p:sp>
      <p:sp>
        <p:nvSpPr>
          <p:cNvPr id="68" name="TextBox 67"/>
          <p:cNvSpPr txBox="1"/>
          <p:nvPr/>
        </p:nvSpPr>
        <p:spPr>
          <a:xfrm>
            <a:off x="4791456" y="5980176"/>
            <a:ext cx="512064" cy="201168"/>
          </a:xfrm>
          <a:prstGeom prst="rect">
            <a:avLst/>
          </a:prstGeom>
          <a:noFill/>
        </p:spPr>
        <p:txBody>
          <a:bodyPr wrap="square" anchor="t" lIns="0" rIns="0" tIns="0" bIns="0">
            <a:spAutoFit/>
          </a:bodyPr>
          <a:lstStyle/>
          <a:p>
            <a:pPr algn="ctr">
              <a:lnSpc>
                <a:spcPct val="120000"/>
              </a:lnSpc>
            </a:pPr>
            <a:r>
              <a:rPr sz="900" b="0" i="0">
                <a:solidFill>
                  <a:srgbClr val="8C918A"/>
                </a:solidFill>
                <a:latin typeface="Segoe UI"/>
              </a:rPr>
              <a:t>C9</a:t>
            </a:r>
          </a:p>
        </p:txBody>
      </p:sp>
      <p:sp>
        <p:nvSpPr>
          <p:cNvPr id="69" name="Rectangle 68"/>
          <p:cNvSpPr/>
          <p:nvPr/>
        </p:nvSpPr>
        <p:spPr>
          <a:xfrm>
            <a:off x="5390388" y="5322951"/>
            <a:ext cx="329184" cy="620649"/>
          </a:xfrm>
          <a:prstGeom prst="rect">
            <a:avLst/>
          </a:prstGeom>
          <a:solidFill>
            <a:srgbClr val="8FA9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298948" y="5103495"/>
            <a:ext cx="512064" cy="201168"/>
          </a:xfrm>
          <a:prstGeom prst="rect">
            <a:avLst/>
          </a:prstGeom>
          <a:noFill/>
        </p:spPr>
        <p:txBody>
          <a:bodyPr wrap="square" anchor="t" lIns="0" rIns="0" tIns="0" bIns="0">
            <a:spAutoFit/>
          </a:bodyPr>
          <a:lstStyle/>
          <a:p>
            <a:pPr algn="ctr">
              <a:lnSpc>
                <a:spcPct val="120000"/>
              </a:lnSpc>
            </a:pPr>
            <a:r>
              <a:rPr sz="900" b="0" i="0">
                <a:solidFill>
                  <a:srgbClr val="5B625C"/>
                </a:solidFill>
                <a:latin typeface="Segoe UI"/>
              </a:rPr>
              <a:t>54</a:t>
            </a:r>
          </a:p>
        </p:txBody>
      </p:sp>
      <p:sp>
        <p:nvSpPr>
          <p:cNvPr id="71" name="TextBox 70"/>
          <p:cNvSpPr txBox="1"/>
          <p:nvPr/>
        </p:nvSpPr>
        <p:spPr>
          <a:xfrm>
            <a:off x="5298948" y="5980176"/>
            <a:ext cx="512064" cy="201168"/>
          </a:xfrm>
          <a:prstGeom prst="rect">
            <a:avLst/>
          </a:prstGeom>
          <a:noFill/>
        </p:spPr>
        <p:txBody>
          <a:bodyPr wrap="square" anchor="t" lIns="0" rIns="0" tIns="0" bIns="0">
            <a:spAutoFit/>
          </a:bodyPr>
          <a:lstStyle/>
          <a:p>
            <a:pPr algn="ctr">
              <a:lnSpc>
                <a:spcPct val="120000"/>
              </a:lnSpc>
            </a:pPr>
            <a:r>
              <a:rPr sz="900" b="0" i="0">
                <a:solidFill>
                  <a:srgbClr val="8C918A"/>
                </a:solidFill>
                <a:latin typeface="Segoe UI"/>
              </a:rPr>
              <a:t>C10</a:t>
            </a:r>
          </a:p>
        </p:txBody>
      </p:sp>
      <p:cxnSp>
        <p:nvCxnSpPr>
          <p:cNvPr id="72" name="Connector 71"/>
          <p:cNvCxnSpPr/>
          <p:nvPr/>
        </p:nvCxnSpPr>
        <p:spPr>
          <a:xfrm>
            <a:off x="777240" y="5943600"/>
            <a:ext cx="5074920" cy="0"/>
          </a:xfrm>
          <a:prstGeom prst="line">
            <a:avLst/>
          </a:prstGeom>
          <a:ln w="9525">
            <a:solidFill>
              <a:srgbClr val="5B625C"/>
            </a:solidFill>
          </a:ln>
        </p:spPr>
      </p:cxnSp>
      <p:sp>
        <p:nvSpPr>
          <p:cNvPr id="73" name="Rectangle 72"/>
          <p:cNvSpPr/>
          <p:nvPr/>
        </p:nvSpPr>
        <p:spPr>
          <a:xfrm>
            <a:off x="6172200" y="2240280"/>
            <a:ext cx="5285232" cy="3429000"/>
          </a:xfrm>
          <a:prstGeom prst="rect">
            <a:avLst/>
          </a:prstGeom>
          <a:solidFill>
            <a:srgbClr val="FBFAF7"/>
          </a:solidFill>
          <a:ln w="9525">
            <a:solidFill>
              <a:srgbClr val="DDDA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172200" y="2240280"/>
            <a:ext cx="45720" cy="3429000"/>
          </a:xfrm>
          <a:prstGeom prst="rect">
            <a:avLst/>
          </a:prstGeom>
          <a:solidFill>
            <a:srgbClr val="3E5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400800" y="2350008"/>
            <a:ext cx="4919472" cy="228600"/>
          </a:xfrm>
          <a:prstGeom prst="rect">
            <a:avLst/>
          </a:prstGeom>
          <a:noFill/>
        </p:spPr>
        <p:txBody>
          <a:bodyPr wrap="square" anchor="t" lIns="0" rIns="0" tIns="0" bIns="0">
            <a:spAutoFit/>
          </a:bodyPr>
          <a:lstStyle/>
          <a:p>
            <a:pPr algn="l">
              <a:lnSpc>
                <a:spcPct val="120000"/>
              </a:lnSpc>
            </a:pPr>
            <a:r>
              <a:rPr sz="900" b="0" i="0">
                <a:solidFill>
                  <a:srgbClr val="8C918A"/>
                </a:solidFill>
                <a:latin typeface="Consolas"/>
              </a:rPr>
              <a:t>src/preprocess_nslkdd.py</a:t>
            </a:r>
          </a:p>
        </p:txBody>
      </p:sp>
      <p:cxnSp>
        <p:nvCxnSpPr>
          <p:cNvPr id="76" name="Connector 75"/>
          <p:cNvCxnSpPr/>
          <p:nvPr/>
        </p:nvCxnSpPr>
        <p:spPr>
          <a:xfrm>
            <a:off x="6400800" y="2624328"/>
            <a:ext cx="4873752" cy="0"/>
          </a:xfrm>
          <a:prstGeom prst="line">
            <a:avLst/>
          </a:prstGeom>
          <a:ln w="6350">
            <a:solidFill>
              <a:srgbClr val="DDDAD2"/>
            </a:solidFill>
          </a:ln>
        </p:spPr>
      </p:cxnSp>
      <p:sp>
        <p:nvSpPr>
          <p:cNvPr id="77" name="TextBox 76"/>
          <p:cNvSpPr txBox="1"/>
          <p:nvPr/>
        </p:nvSpPr>
        <p:spPr>
          <a:xfrm>
            <a:off x="6400800" y="2743200"/>
            <a:ext cx="4965192" cy="2834640"/>
          </a:xfrm>
          <a:prstGeom prst="rect">
            <a:avLst/>
          </a:prstGeom>
          <a:noFill/>
        </p:spPr>
        <p:txBody>
          <a:bodyPr wrap="square" anchor="t" lIns="0" rIns="0" tIns="0" bIns="0">
            <a:spAutoFit/>
          </a:bodyPr>
          <a:lstStyle/>
          <a:p>
            <a:pPr algn="l">
              <a:lnSpc>
                <a:spcPct val="108000"/>
              </a:lnSpc>
            </a:pPr>
            <a:r>
              <a:rPr sz="950" b="1" i="0">
                <a:solidFill>
                  <a:srgbClr val="3E5F5A"/>
                </a:solidFill>
                <a:latin typeface="Consolas"/>
              </a:rPr>
              <a:t>def</a:t>
            </a:r>
            <a:r>
              <a:rPr sz="950" b="0" i="0">
                <a:solidFill>
                  <a:srgbClr val="1F2421"/>
                </a:solidFill>
                <a:latin typeface="Consolas"/>
              </a:rPr>
              <a:t> </a:t>
            </a:r>
            <a:r>
              <a:rPr sz="950" b="0" i="0">
                <a:solidFill>
                  <a:srgbClr val="1F2421"/>
                </a:solidFill>
                <a:latin typeface="Consolas"/>
              </a:rPr>
              <a:t>split_non_iid_dirichlet</a:t>
            </a:r>
            <a:r>
              <a:rPr sz="950" b="0" i="0">
                <a:solidFill>
                  <a:srgbClr val="1F2421"/>
                </a:solidFill>
                <a:latin typeface="Consolas"/>
              </a:rPr>
              <a:t>(</a:t>
            </a:r>
            <a:r>
              <a:rPr sz="950" b="0" i="0">
                <a:solidFill>
                  <a:srgbClr val="1F2421"/>
                </a:solidFill>
                <a:latin typeface="Consolas"/>
              </a:rPr>
              <a:t>labels</a:t>
            </a:r>
            <a:r>
              <a:rPr sz="950" b="0" i="0">
                <a:solidFill>
                  <a:srgbClr val="1F2421"/>
                </a:solidFill>
                <a:latin typeface="Consolas"/>
              </a:rPr>
              <a:t>,</a:t>
            </a:r>
            <a:r>
              <a:rPr sz="950" b="0" i="0">
                <a:solidFill>
                  <a:srgbClr val="1F2421"/>
                </a:solidFill>
                <a:latin typeface="Consolas"/>
              </a:rPr>
              <a:t> </a:t>
            </a:r>
            <a:r>
              <a:rPr sz="950" b="0" i="0">
                <a:solidFill>
                  <a:srgbClr val="1F2421"/>
                </a:solidFill>
                <a:latin typeface="Consolas"/>
              </a:rPr>
              <a:t>num_clients</a:t>
            </a:r>
            <a:r>
              <a:rPr sz="950" b="0" i="0">
                <a:solidFill>
                  <a:srgbClr val="1F2421"/>
                </a:solidFill>
                <a:latin typeface="Consolas"/>
              </a:rPr>
              <a:t>,</a:t>
            </a:r>
            <a:r>
              <a:rPr sz="950" b="0" i="0">
                <a:solidFill>
                  <a:srgbClr val="1F2421"/>
                </a:solidFill>
                <a:latin typeface="Consolas"/>
              </a:rPr>
              <a:t> </a:t>
            </a:r>
            <a:r>
              <a:rPr sz="950" b="0" i="0">
                <a:solidFill>
                  <a:srgbClr val="1F2421"/>
                </a:solidFill>
                <a:latin typeface="Consolas"/>
              </a:rPr>
              <a:t>alpha</a:t>
            </a:r>
            <a:r>
              <a:rPr sz="950" b="0" i="0">
                <a:solidFill>
                  <a:srgbClr val="1F2421"/>
                </a:solidFill>
                <a:latin typeface="Consolas"/>
              </a:rPr>
              <a:t>,</a:t>
            </a:r>
            <a:r>
              <a:rPr sz="950" b="0" i="0">
                <a:solidFill>
                  <a:srgbClr val="1F2421"/>
                </a:solidFill>
                <a:latin typeface="Consolas"/>
              </a:rPr>
              <a:t> </a:t>
            </a:r>
            <a:r>
              <a:rPr sz="950" b="0" i="0">
                <a:solidFill>
                  <a:srgbClr val="1F2421"/>
                </a:solidFill>
                <a:latin typeface="Consolas"/>
              </a:rPr>
              <a:t>seed</a:t>
            </a:r>
            <a:r>
              <a:rPr sz="950" b="0" i="0">
                <a:solidFill>
                  <a:srgbClr val="1F2421"/>
                </a:solidFill>
                <a:latin typeface="Consolas"/>
              </a:rPr>
              <a:t>)</a:t>
            </a:r>
            <a:r>
              <a:rPr sz="950" b="0" i="0">
                <a:solidFill>
                  <a:srgbClr val="1F2421"/>
                </a:solidFill>
                <a:latin typeface="Consolas"/>
              </a:rPr>
              <a:t>:</a:t>
            </a:r>
          </a:p>
          <a:p>
            <a:pPr algn="l">
              <a:lnSpc>
                <a:spcPct val="108000"/>
              </a:lnSpc>
            </a:pP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rng</a:t>
            </a:r>
            <a:r>
              <a:rPr sz="950" b="0" i="0">
                <a:solidFill>
                  <a:srgbClr val="1F2421"/>
                </a:solidFill>
                <a:latin typeface="Consolas"/>
              </a:rPr>
              <a:t> </a:t>
            </a:r>
            <a:r>
              <a:rPr sz="950" b="0" i="0">
                <a:solidFill>
                  <a:srgbClr val="1F2421"/>
                </a:solidFill>
                <a:latin typeface="Consolas"/>
              </a:rPr>
              <a:t>=</a:t>
            </a:r>
            <a:r>
              <a:rPr sz="950" b="0" i="0">
                <a:solidFill>
                  <a:srgbClr val="1F2421"/>
                </a:solidFill>
                <a:latin typeface="Consolas"/>
              </a:rPr>
              <a:t> </a:t>
            </a:r>
            <a:r>
              <a:rPr sz="950" b="0" i="0">
                <a:solidFill>
                  <a:srgbClr val="1F2421"/>
                </a:solidFill>
                <a:latin typeface="Consolas"/>
              </a:rPr>
              <a:t>np</a:t>
            </a:r>
            <a:r>
              <a:rPr sz="950" b="0" i="0">
                <a:solidFill>
                  <a:srgbClr val="1F2421"/>
                </a:solidFill>
                <a:latin typeface="Consolas"/>
              </a:rPr>
              <a:t>.</a:t>
            </a:r>
            <a:r>
              <a:rPr sz="950" b="0" i="0">
                <a:solidFill>
                  <a:srgbClr val="1F2421"/>
                </a:solidFill>
                <a:latin typeface="Consolas"/>
              </a:rPr>
              <a:t>random</a:t>
            </a:r>
            <a:r>
              <a:rPr sz="950" b="0" i="0">
                <a:solidFill>
                  <a:srgbClr val="1F2421"/>
                </a:solidFill>
                <a:latin typeface="Consolas"/>
              </a:rPr>
              <a:t>.</a:t>
            </a:r>
            <a:r>
              <a:rPr sz="950" b="0" i="0">
                <a:solidFill>
                  <a:srgbClr val="1F2421"/>
                </a:solidFill>
                <a:latin typeface="Consolas"/>
              </a:rPr>
              <a:t>default_rng</a:t>
            </a:r>
            <a:r>
              <a:rPr sz="950" b="0" i="0">
                <a:solidFill>
                  <a:srgbClr val="1F2421"/>
                </a:solidFill>
                <a:latin typeface="Consolas"/>
              </a:rPr>
              <a:t>(</a:t>
            </a:r>
            <a:r>
              <a:rPr sz="950" b="0" i="0">
                <a:solidFill>
                  <a:srgbClr val="1F2421"/>
                </a:solidFill>
                <a:latin typeface="Consolas"/>
              </a:rPr>
              <a:t>seed</a:t>
            </a:r>
            <a:r>
              <a:rPr sz="950" b="0" i="0">
                <a:solidFill>
                  <a:srgbClr val="1F2421"/>
                </a:solidFill>
                <a:latin typeface="Consolas"/>
              </a:rPr>
              <a:t>)</a:t>
            </a:r>
          </a:p>
          <a:p>
            <a:pPr algn="l">
              <a:lnSpc>
                <a:spcPct val="108000"/>
              </a:lnSpc>
            </a:pP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assignment</a:t>
            </a:r>
            <a:r>
              <a:rPr sz="950" b="0" i="0">
                <a:solidFill>
                  <a:srgbClr val="1F2421"/>
                </a:solidFill>
                <a:latin typeface="Consolas"/>
              </a:rPr>
              <a:t> </a:t>
            </a:r>
            <a:r>
              <a:rPr sz="950" b="0" i="0">
                <a:solidFill>
                  <a:srgbClr val="1F2421"/>
                </a:solidFill>
                <a:latin typeface="Consolas"/>
              </a:rPr>
              <a:t>=</a:t>
            </a:r>
            <a:r>
              <a:rPr sz="950" b="0" i="0">
                <a:solidFill>
                  <a:srgbClr val="1F2421"/>
                </a:solidFill>
                <a:latin typeface="Consolas"/>
              </a:rPr>
              <a:t> </a:t>
            </a:r>
            <a:r>
              <a:rPr sz="950" b="0" i="0">
                <a:solidFill>
                  <a:srgbClr val="1F2421"/>
                </a:solidFill>
                <a:latin typeface="Consolas"/>
              </a:rPr>
              <a:t>np</a:t>
            </a:r>
            <a:r>
              <a:rPr sz="950" b="0" i="0">
                <a:solidFill>
                  <a:srgbClr val="1F2421"/>
                </a:solidFill>
                <a:latin typeface="Consolas"/>
              </a:rPr>
              <a:t>.</a:t>
            </a:r>
            <a:r>
              <a:rPr sz="950" b="0" i="0">
                <a:solidFill>
                  <a:srgbClr val="1F2421"/>
                </a:solidFill>
                <a:latin typeface="Consolas"/>
              </a:rPr>
              <a:t>full</a:t>
            </a:r>
            <a:r>
              <a:rPr sz="950" b="0" i="0">
                <a:solidFill>
                  <a:srgbClr val="1F2421"/>
                </a:solidFill>
                <a:latin typeface="Consolas"/>
              </a:rPr>
              <a:t>(</a:t>
            </a:r>
            <a:r>
              <a:rPr sz="950" b="0" i="0">
                <a:solidFill>
                  <a:srgbClr val="1F2421"/>
                </a:solidFill>
                <a:latin typeface="Consolas"/>
              </a:rPr>
              <a:t>len</a:t>
            </a:r>
            <a:r>
              <a:rPr sz="950" b="0" i="0">
                <a:solidFill>
                  <a:srgbClr val="1F2421"/>
                </a:solidFill>
                <a:latin typeface="Consolas"/>
              </a:rPr>
              <a:t>(</a:t>
            </a:r>
            <a:r>
              <a:rPr sz="950" b="0" i="0">
                <a:solidFill>
                  <a:srgbClr val="1F2421"/>
                </a:solidFill>
                <a:latin typeface="Consolas"/>
              </a:rPr>
              <a:t>labels</a:t>
            </a:r>
            <a:r>
              <a:rPr sz="950" b="0" i="0">
                <a:solidFill>
                  <a:srgbClr val="1F2421"/>
                </a:solidFill>
                <a:latin typeface="Consolas"/>
              </a:rPr>
              <a:t>)</a:t>
            </a:r>
            <a:r>
              <a:rPr sz="950" b="0" i="0">
                <a:solidFill>
                  <a:srgbClr val="1F2421"/>
                </a:solidFill>
                <a:latin typeface="Consolas"/>
              </a:rPr>
              <a:t>,</a:t>
            </a:r>
            <a:r>
              <a:rPr sz="950" b="0" i="0">
                <a:solidFill>
                  <a:srgbClr val="1F2421"/>
                </a:solidFill>
                <a:latin typeface="Consolas"/>
              </a:rPr>
              <a:t> </a:t>
            </a:r>
            <a:r>
              <a:rPr sz="950" b="0" i="0">
                <a:solidFill>
                  <a:srgbClr val="1F2421"/>
                </a:solidFill>
                <a:latin typeface="Consolas"/>
              </a:rPr>
              <a:t>-</a:t>
            </a:r>
            <a:r>
              <a:rPr sz="950" b="0" i="0">
                <a:solidFill>
                  <a:srgbClr val="1F2421"/>
                </a:solidFill>
                <a:latin typeface="Consolas"/>
              </a:rPr>
              <a:t>1</a:t>
            </a:r>
            <a:r>
              <a:rPr sz="950" b="0" i="0">
                <a:solidFill>
                  <a:srgbClr val="1F2421"/>
                </a:solidFill>
                <a:latin typeface="Consolas"/>
              </a:rPr>
              <a:t>,</a:t>
            </a:r>
            <a:r>
              <a:rPr sz="950" b="0" i="0">
                <a:solidFill>
                  <a:srgbClr val="1F2421"/>
                </a:solidFill>
                <a:latin typeface="Consolas"/>
              </a:rPr>
              <a:t> </a:t>
            </a:r>
            <a:r>
              <a:rPr sz="950" b="0" i="0">
                <a:solidFill>
                  <a:srgbClr val="1F2421"/>
                </a:solidFill>
                <a:latin typeface="Consolas"/>
              </a:rPr>
              <a:t>dtype</a:t>
            </a:r>
            <a:r>
              <a:rPr sz="950" b="0" i="0">
                <a:solidFill>
                  <a:srgbClr val="1F2421"/>
                </a:solidFill>
                <a:latin typeface="Consolas"/>
              </a:rPr>
              <a:t>=</a:t>
            </a:r>
            <a:r>
              <a:rPr sz="950" b="0" i="0">
                <a:solidFill>
                  <a:srgbClr val="1F2421"/>
                </a:solidFill>
                <a:latin typeface="Consolas"/>
              </a:rPr>
              <a:t>int</a:t>
            </a:r>
            <a:r>
              <a:rPr sz="950" b="0" i="0">
                <a:solidFill>
                  <a:srgbClr val="1F2421"/>
                </a:solidFill>
                <a:latin typeface="Consolas"/>
              </a:rPr>
              <a:t>)</a:t>
            </a:r>
          </a:p>
          <a:p>
            <a:pPr algn="l">
              <a:lnSpc>
                <a:spcPct val="108000"/>
              </a:lnSpc>
            </a:pP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1" i="0">
                <a:solidFill>
                  <a:srgbClr val="3E5F5A"/>
                </a:solidFill>
                <a:latin typeface="Consolas"/>
              </a:rPr>
              <a:t>for</a:t>
            </a:r>
            <a:r>
              <a:rPr sz="950" b="0" i="0">
                <a:solidFill>
                  <a:srgbClr val="1F2421"/>
                </a:solidFill>
                <a:latin typeface="Consolas"/>
              </a:rPr>
              <a:t> </a:t>
            </a:r>
            <a:r>
              <a:rPr sz="950" b="0" i="0">
                <a:solidFill>
                  <a:srgbClr val="1F2421"/>
                </a:solidFill>
                <a:latin typeface="Consolas"/>
              </a:rPr>
              <a:t>category</a:t>
            </a:r>
            <a:r>
              <a:rPr sz="950" b="0" i="0">
                <a:solidFill>
                  <a:srgbClr val="1F2421"/>
                </a:solidFill>
                <a:latin typeface="Consolas"/>
              </a:rPr>
              <a:t> </a:t>
            </a:r>
            <a:r>
              <a:rPr sz="950" b="1" i="0">
                <a:solidFill>
                  <a:srgbClr val="3E5F5A"/>
                </a:solidFill>
                <a:latin typeface="Consolas"/>
              </a:rPr>
              <a:t>in</a:t>
            </a:r>
            <a:r>
              <a:rPr sz="950" b="0" i="0">
                <a:solidFill>
                  <a:srgbClr val="1F2421"/>
                </a:solidFill>
                <a:latin typeface="Consolas"/>
              </a:rPr>
              <a:t> </a:t>
            </a:r>
            <a:r>
              <a:rPr sz="950" b="0" i="0">
                <a:solidFill>
                  <a:srgbClr val="1F2421"/>
                </a:solidFill>
                <a:latin typeface="Consolas"/>
              </a:rPr>
              <a:t>np</a:t>
            </a:r>
            <a:r>
              <a:rPr sz="950" b="0" i="0">
                <a:solidFill>
                  <a:srgbClr val="1F2421"/>
                </a:solidFill>
                <a:latin typeface="Consolas"/>
              </a:rPr>
              <a:t>.</a:t>
            </a:r>
            <a:r>
              <a:rPr sz="950" b="0" i="0">
                <a:solidFill>
                  <a:srgbClr val="1F2421"/>
                </a:solidFill>
                <a:latin typeface="Consolas"/>
              </a:rPr>
              <a:t>unique</a:t>
            </a:r>
            <a:r>
              <a:rPr sz="950" b="0" i="0">
                <a:solidFill>
                  <a:srgbClr val="1F2421"/>
                </a:solidFill>
                <a:latin typeface="Consolas"/>
              </a:rPr>
              <a:t>(</a:t>
            </a:r>
            <a:r>
              <a:rPr sz="950" b="0" i="0">
                <a:solidFill>
                  <a:srgbClr val="1F2421"/>
                </a:solidFill>
                <a:latin typeface="Consolas"/>
              </a:rPr>
              <a:t>labels</a:t>
            </a:r>
            <a:r>
              <a:rPr sz="950" b="0" i="0">
                <a:solidFill>
                  <a:srgbClr val="1F2421"/>
                </a:solidFill>
                <a:latin typeface="Consolas"/>
              </a:rPr>
              <a:t>)</a:t>
            </a:r>
            <a:r>
              <a:rPr sz="950" b="0" i="0">
                <a:solidFill>
                  <a:srgbClr val="1F2421"/>
                </a:solidFill>
                <a:latin typeface="Consolas"/>
              </a:rPr>
              <a:t>:</a:t>
            </a:r>
          </a:p>
          <a:p>
            <a:pPr algn="l">
              <a:lnSpc>
                <a:spcPct val="108000"/>
              </a:lnSpc>
            </a:pP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idx</a:t>
            </a:r>
            <a:r>
              <a:rPr sz="950" b="0" i="0">
                <a:solidFill>
                  <a:srgbClr val="1F2421"/>
                </a:solidFill>
                <a:latin typeface="Consolas"/>
              </a:rPr>
              <a:t> </a:t>
            </a:r>
            <a:r>
              <a:rPr sz="950" b="0" i="0">
                <a:solidFill>
                  <a:srgbClr val="1F2421"/>
                </a:solidFill>
                <a:latin typeface="Consolas"/>
              </a:rPr>
              <a:t>=</a:t>
            </a:r>
            <a:r>
              <a:rPr sz="950" b="0" i="0">
                <a:solidFill>
                  <a:srgbClr val="1F2421"/>
                </a:solidFill>
                <a:latin typeface="Consolas"/>
              </a:rPr>
              <a:t> </a:t>
            </a:r>
            <a:r>
              <a:rPr sz="950" b="0" i="0">
                <a:solidFill>
                  <a:srgbClr val="1F2421"/>
                </a:solidFill>
                <a:latin typeface="Consolas"/>
              </a:rPr>
              <a:t>np</a:t>
            </a:r>
            <a:r>
              <a:rPr sz="950" b="0" i="0">
                <a:solidFill>
                  <a:srgbClr val="1F2421"/>
                </a:solidFill>
                <a:latin typeface="Consolas"/>
              </a:rPr>
              <a:t>.</a:t>
            </a:r>
            <a:r>
              <a:rPr sz="950" b="0" i="0">
                <a:solidFill>
                  <a:srgbClr val="1F2421"/>
                </a:solidFill>
                <a:latin typeface="Consolas"/>
              </a:rPr>
              <a:t>where</a:t>
            </a:r>
            <a:r>
              <a:rPr sz="950" b="0" i="0">
                <a:solidFill>
                  <a:srgbClr val="1F2421"/>
                </a:solidFill>
                <a:latin typeface="Consolas"/>
              </a:rPr>
              <a:t>(</a:t>
            </a:r>
            <a:r>
              <a:rPr sz="950" b="0" i="0">
                <a:solidFill>
                  <a:srgbClr val="1F2421"/>
                </a:solidFill>
                <a:latin typeface="Consolas"/>
              </a:rPr>
              <a:t>labels</a:t>
            </a:r>
            <a:r>
              <a:rPr sz="950" b="0" i="0">
                <a:solidFill>
                  <a:srgbClr val="1F2421"/>
                </a:solidFill>
                <a:latin typeface="Consolas"/>
              </a:rPr>
              <a:t> </a:t>
            </a:r>
            <a:r>
              <a:rPr sz="950" b="0" i="0">
                <a:solidFill>
                  <a:srgbClr val="1F2421"/>
                </a:solidFill>
                <a:latin typeface="Consolas"/>
              </a:rPr>
              <a:t>=</a:t>
            </a:r>
            <a:r>
              <a:rPr sz="950" b="0" i="0">
                <a:solidFill>
                  <a:srgbClr val="1F2421"/>
                </a:solidFill>
                <a:latin typeface="Consolas"/>
              </a:rPr>
              <a:t>=</a:t>
            </a:r>
            <a:r>
              <a:rPr sz="950" b="0" i="0">
                <a:solidFill>
                  <a:srgbClr val="1F2421"/>
                </a:solidFill>
                <a:latin typeface="Consolas"/>
              </a:rPr>
              <a:t> </a:t>
            </a:r>
            <a:r>
              <a:rPr sz="950" b="0" i="0">
                <a:solidFill>
                  <a:srgbClr val="1F2421"/>
                </a:solidFill>
                <a:latin typeface="Consolas"/>
              </a:rPr>
              <a:t>category</a:t>
            </a:r>
            <a:r>
              <a:rPr sz="950" b="0" i="0">
                <a:solidFill>
                  <a:srgbClr val="1F2421"/>
                </a:solidFill>
                <a:latin typeface="Consolas"/>
              </a:rPr>
              <a:t>)</a:t>
            </a:r>
            <a:r>
              <a:rPr sz="950" b="0" i="0">
                <a:solidFill>
                  <a:srgbClr val="1F2421"/>
                </a:solidFill>
                <a:latin typeface="Consolas"/>
              </a:rPr>
              <a:t>[</a:t>
            </a:r>
            <a:r>
              <a:rPr sz="950" b="0" i="0">
                <a:solidFill>
                  <a:srgbClr val="1F2421"/>
                </a:solidFill>
                <a:latin typeface="Consolas"/>
              </a:rPr>
              <a:t>0</a:t>
            </a:r>
            <a:r>
              <a:rPr sz="950" b="0" i="0">
                <a:solidFill>
                  <a:srgbClr val="1F2421"/>
                </a:solidFill>
                <a:latin typeface="Consolas"/>
              </a:rPr>
              <a:t>]</a:t>
            </a:r>
          </a:p>
          <a:p>
            <a:pPr algn="l">
              <a:lnSpc>
                <a:spcPct val="108000"/>
              </a:lnSpc>
            </a:pP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rng</a:t>
            </a:r>
            <a:r>
              <a:rPr sz="950" b="0" i="0">
                <a:solidFill>
                  <a:srgbClr val="1F2421"/>
                </a:solidFill>
                <a:latin typeface="Consolas"/>
              </a:rPr>
              <a:t>.</a:t>
            </a:r>
            <a:r>
              <a:rPr sz="950" b="0" i="0">
                <a:solidFill>
                  <a:srgbClr val="1F2421"/>
                </a:solidFill>
                <a:latin typeface="Consolas"/>
              </a:rPr>
              <a:t>shuffle</a:t>
            </a:r>
            <a:r>
              <a:rPr sz="950" b="0" i="0">
                <a:solidFill>
                  <a:srgbClr val="1F2421"/>
                </a:solidFill>
                <a:latin typeface="Consolas"/>
              </a:rPr>
              <a:t>(</a:t>
            </a:r>
            <a:r>
              <a:rPr sz="950" b="0" i="0">
                <a:solidFill>
                  <a:srgbClr val="1F2421"/>
                </a:solidFill>
                <a:latin typeface="Consolas"/>
              </a:rPr>
              <a:t>idx</a:t>
            </a:r>
            <a:r>
              <a:rPr sz="950" b="0" i="0">
                <a:solidFill>
                  <a:srgbClr val="1F2421"/>
                </a:solidFill>
                <a:latin typeface="Consolas"/>
              </a:rPr>
              <a:t>)</a:t>
            </a:r>
          </a:p>
          <a:p>
            <a:pPr algn="l">
              <a:lnSpc>
                <a:spcPct val="108000"/>
              </a:lnSpc>
            </a:pP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share</a:t>
            </a:r>
            <a:r>
              <a:rPr sz="950" b="0" i="0">
                <a:solidFill>
                  <a:srgbClr val="1F2421"/>
                </a:solidFill>
                <a:latin typeface="Consolas"/>
              </a:rPr>
              <a:t> </a:t>
            </a:r>
            <a:r>
              <a:rPr sz="950" b="0" i="0">
                <a:solidFill>
                  <a:srgbClr val="1F2421"/>
                </a:solidFill>
                <a:latin typeface="Consolas"/>
              </a:rPr>
              <a:t>=</a:t>
            </a:r>
            <a:r>
              <a:rPr sz="950" b="0" i="0">
                <a:solidFill>
                  <a:srgbClr val="1F2421"/>
                </a:solidFill>
                <a:latin typeface="Consolas"/>
              </a:rPr>
              <a:t> </a:t>
            </a:r>
            <a:r>
              <a:rPr sz="950" b="0" i="0">
                <a:solidFill>
                  <a:srgbClr val="1F2421"/>
                </a:solidFill>
                <a:latin typeface="Consolas"/>
              </a:rPr>
              <a:t>rng</a:t>
            </a:r>
            <a:r>
              <a:rPr sz="950" b="0" i="0">
                <a:solidFill>
                  <a:srgbClr val="1F2421"/>
                </a:solidFill>
                <a:latin typeface="Consolas"/>
              </a:rPr>
              <a:t>.</a:t>
            </a:r>
            <a:r>
              <a:rPr sz="950" b="0" i="0">
                <a:solidFill>
                  <a:srgbClr val="1F2421"/>
                </a:solidFill>
                <a:latin typeface="Consolas"/>
              </a:rPr>
              <a:t>dirichlet</a:t>
            </a:r>
            <a:r>
              <a:rPr sz="950" b="0" i="0">
                <a:solidFill>
                  <a:srgbClr val="1F2421"/>
                </a:solidFill>
                <a:latin typeface="Consolas"/>
              </a:rPr>
              <a:t>(</a:t>
            </a:r>
            <a:r>
              <a:rPr sz="950" b="0" i="0">
                <a:solidFill>
                  <a:srgbClr val="1F2421"/>
                </a:solidFill>
                <a:latin typeface="Consolas"/>
              </a:rPr>
              <a:t>alpha</a:t>
            </a:r>
            <a:r>
              <a:rPr sz="950" b="0" i="0">
                <a:solidFill>
                  <a:srgbClr val="1F2421"/>
                </a:solidFill>
                <a:latin typeface="Consolas"/>
              </a:rPr>
              <a:t> </a:t>
            </a:r>
            <a:r>
              <a:rPr sz="950" b="0" i="0">
                <a:solidFill>
                  <a:srgbClr val="1F2421"/>
                </a:solidFill>
                <a:latin typeface="Consolas"/>
              </a:rPr>
              <a:t>*</a:t>
            </a:r>
            <a:r>
              <a:rPr sz="950" b="0" i="0">
                <a:solidFill>
                  <a:srgbClr val="1F2421"/>
                </a:solidFill>
                <a:latin typeface="Consolas"/>
              </a:rPr>
              <a:t> </a:t>
            </a:r>
            <a:r>
              <a:rPr sz="950" b="0" i="0">
                <a:solidFill>
                  <a:srgbClr val="1F2421"/>
                </a:solidFill>
                <a:latin typeface="Consolas"/>
              </a:rPr>
              <a:t>np</a:t>
            </a:r>
            <a:r>
              <a:rPr sz="950" b="0" i="0">
                <a:solidFill>
                  <a:srgbClr val="1F2421"/>
                </a:solidFill>
                <a:latin typeface="Consolas"/>
              </a:rPr>
              <a:t>.</a:t>
            </a:r>
            <a:r>
              <a:rPr sz="950" b="0" i="0">
                <a:solidFill>
                  <a:srgbClr val="1F2421"/>
                </a:solidFill>
                <a:latin typeface="Consolas"/>
              </a:rPr>
              <a:t>ones</a:t>
            </a:r>
            <a:r>
              <a:rPr sz="950" b="0" i="0">
                <a:solidFill>
                  <a:srgbClr val="1F2421"/>
                </a:solidFill>
                <a:latin typeface="Consolas"/>
              </a:rPr>
              <a:t>(</a:t>
            </a:r>
            <a:r>
              <a:rPr sz="950" b="0" i="0">
                <a:solidFill>
                  <a:srgbClr val="1F2421"/>
                </a:solidFill>
                <a:latin typeface="Consolas"/>
              </a:rPr>
              <a:t>num_clients</a:t>
            </a:r>
            <a:r>
              <a:rPr sz="950" b="0" i="0">
                <a:solidFill>
                  <a:srgbClr val="1F2421"/>
                </a:solidFill>
                <a:latin typeface="Consolas"/>
              </a:rPr>
              <a:t>)</a:t>
            </a:r>
            <a:r>
              <a:rPr sz="950" b="0" i="0">
                <a:solidFill>
                  <a:srgbClr val="1F2421"/>
                </a:solidFill>
                <a:latin typeface="Consolas"/>
              </a:rPr>
              <a:t>)</a:t>
            </a:r>
          </a:p>
          <a:p>
            <a:pPr algn="l">
              <a:lnSpc>
                <a:spcPct val="108000"/>
              </a:lnSpc>
            </a:pP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sizes</a:t>
            </a:r>
            <a:r>
              <a:rPr sz="950" b="0" i="0">
                <a:solidFill>
                  <a:srgbClr val="1F2421"/>
                </a:solidFill>
                <a:latin typeface="Consolas"/>
              </a:rPr>
              <a:t> </a:t>
            </a:r>
            <a:r>
              <a:rPr sz="950" b="0" i="0">
                <a:solidFill>
                  <a:srgbClr val="1F2421"/>
                </a:solidFill>
                <a:latin typeface="Consolas"/>
              </a:rPr>
              <a:t>=</a:t>
            </a:r>
            <a:r>
              <a:rPr sz="950" b="0" i="0">
                <a:solidFill>
                  <a:srgbClr val="1F2421"/>
                </a:solidFill>
                <a:latin typeface="Consolas"/>
              </a:rPr>
              <a:t> </a:t>
            </a:r>
            <a:r>
              <a:rPr sz="950" b="0" i="0">
                <a:solidFill>
                  <a:srgbClr val="1F2421"/>
                </a:solidFill>
                <a:latin typeface="Consolas"/>
              </a:rPr>
              <a:t>(</a:t>
            </a:r>
            <a:r>
              <a:rPr sz="950" b="0" i="0">
                <a:solidFill>
                  <a:srgbClr val="1F2421"/>
                </a:solidFill>
                <a:latin typeface="Consolas"/>
              </a:rPr>
              <a:t>share</a:t>
            </a:r>
            <a:r>
              <a:rPr sz="950" b="0" i="0">
                <a:solidFill>
                  <a:srgbClr val="1F2421"/>
                </a:solidFill>
                <a:latin typeface="Consolas"/>
              </a:rPr>
              <a:t> </a:t>
            </a:r>
            <a:r>
              <a:rPr sz="950" b="0" i="0">
                <a:solidFill>
                  <a:srgbClr val="1F2421"/>
                </a:solidFill>
                <a:latin typeface="Consolas"/>
              </a:rPr>
              <a:t>*</a:t>
            </a:r>
            <a:r>
              <a:rPr sz="950" b="0" i="0">
                <a:solidFill>
                  <a:srgbClr val="1F2421"/>
                </a:solidFill>
                <a:latin typeface="Consolas"/>
              </a:rPr>
              <a:t> </a:t>
            </a:r>
            <a:r>
              <a:rPr sz="950" b="0" i="0">
                <a:solidFill>
                  <a:srgbClr val="1F2421"/>
                </a:solidFill>
                <a:latin typeface="Consolas"/>
              </a:rPr>
              <a:t>len</a:t>
            </a:r>
            <a:r>
              <a:rPr sz="950" b="0" i="0">
                <a:solidFill>
                  <a:srgbClr val="1F2421"/>
                </a:solidFill>
                <a:latin typeface="Consolas"/>
              </a:rPr>
              <a:t>(</a:t>
            </a:r>
            <a:r>
              <a:rPr sz="950" b="0" i="0">
                <a:solidFill>
                  <a:srgbClr val="1F2421"/>
                </a:solidFill>
                <a:latin typeface="Consolas"/>
              </a:rPr>
              <a:t>idx</a:t>
            </a:r>
            <a:r>
              <a:rPr sz="950" b="0" i="0">
                <a:solidFill>
                  <a:srgbClr val="1F2421"/>
                </a:solidFill>
                <a:latin typeface="Consolas"/>
              </a:rPr>
              <a:t>)</a:t>
            </a:r>
            <a:r>
              <a:rPr sz="950" b="0" i="0">
                <a:solidFill>
                  <a:srgbClr val="1F2421"/>
                </a:solidFill>
                <a:latin typeface="Consolas"/>
              </a:rPr>
              <a:t>)</a:t>
            </a:r>
            <a:r>
              <a:rPr sz="950" b="0" i="0">
                <a:solidFill>
                  <a:srgbClr val="1F2421"/>
                </a:solidFill>
                <a:latin typeface="Consolas"/>
              </a:rPr>
              <a:t>.</a:t>
            </a:r>
            <a:r>
              <a:rPr sz="950" b="0" i="0">
                <a:solidFill>
                  <a:srgbClr val="1F2421"/>
                </a:solidFill>
                <a:latin typeface="Consolas"/>
              </a:rPr>
              <a:t>astype</a:t>
            </a:r>
            <a:r>
              <a:rPr sz="950" b="0" i="0">
                <a:solidFill>
                  <a:srgbClr val="1F2421"/>
                </a:solidFill>
                <a:latin typeface="Consolas"/>
              </a:rPr>
              <a:t>(</a:t>
            </a:r>
            <a:r>
              <a:rPr sz="950" b="0" i="0">
                <a:solidFill>
                  <a:srgbClr val="1F2421"/>
                </a:solidFill>
                <a:latin typeface="Consolas"/>
              </a:rPr>
              <a:t>int</a:t>
            </a:r>
            <a:r>
              <a:rPr sz="950" b="0" i="0">
                <a:solidFill>
                  <a:srgbClr val="1F2421"/>
                </a:solidFill>
                <a:latin typeface="Consolas"/>
              </a:rPr>
              <a:t>)</a:t>
            </a:r>
          </a:p>
          <a:p>
            <a:pPr algn="l">
              <a:lnSpc>
                <a:spcPct val="108000"/>
              </a:lnSpc>
            </a:pP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sizes</a:t>
            </a:r>
            <a:r>
              <a:rPr sz="950" b="0" i="0">
                <a:solidFill>
                  <a:srgbClr val="1F2421"/>
                </a:solidFill>
                <a:latin typeface="Consolas"/>
              </a:rPr>
              <a:t>[</a:t>
            </a:r>
            <a:r>
              <a:rPr sz="950" b="0" i="0">
                <a:solidFill>
                  <a:srgbClr val="1F2421"/>
                </a:solidFill>
                <a:latin typeface="Consolas"/>
              </a:rPr>
              <a:t>-</a:t>
            </a:r>
            <a:r>
              <a:rPr sz="950" b="0" i="0">
                <a:solidFill>
                  <a:srgbClr val="1F2421"/>
                </a:solidFill>
                <a:latin typeface="Consolas"/>
              </a:rPr>
              <a:t>1</a:t>
            </a:r>
            <a:r>
              <a:rPr sz="950" b="0" i="0">
                <a:solidFill>
                  <a:srgbClr val="1F2421"/>
                </a:solidFill>
                <a:latin typeface="Consolas"/>
              </a:rPr>
              <a:t>]</a:t>
            </a:r>
            <a:r>
              <a:rPr sz="950" b="0" i="0">
                <a:solidFill>
                  <a:srgbClr val="1F2421"/>
                </a:solidFill>
                <a:latin typeface="Consolas"/>
              </a:rPr>
              <a:t> </a:t>
            </a:r>
            <a:r>
              <a:rPr sz="950" b="0" i="0">
                <a:solidFill>
                  <a:srgbClr val="1F2421"/>
                </a:solidFill>
                <a:latin typeface="Consolas"/>
              </a:rPr>
              <a:t>+</a:t>
            </a:r>
            <a:r>
              <a:rPr sz="950" b="0" i="0">
                <a:solidFill>
                  <a:srgbClr val="1F2421"/>
                </a:solidFill>
                <a:latin typeface="Consolas"/>
              </a:rPr>
              <a:t>=</a:t>
            </a:r>
            <a:r>
              <a:rPr sz="950" b="0" i="0">
                <a:solidFill>
                  <a:srgbClr val="1F2421"/>
                </a:solidFill>
                <a:latin typeface="Consolas"/>
              </a:rPr>
              <a:t> </a:t>
            </a:r>
            <a:r>
              <a:rPr sz="950" b="0" i="0">
                <a:solidFill>
                  <a:srgbClr val="1F2421"/>
                </a:solidFill>
                <a:latin typeface="Consolas"/>
              </a:rPr>
              <a:t>len</a:t>
            </a:r>
            <a:r>
              <a:rPr sz="950" b="0" i="0">
                <a:solidFill>
                  <a:srgbClr val="1F2421"/>
                </a:solidFill>
                <a:latin typeface="Consolas"/>
              </a:rPr>
              <a:t>(</a:t>
            </a:r>
            <a:r>
              <a:rPr sz="950" b="0" i="0">
                <a:solidFill>
                  <a:srgbClr val="1F2421"/>
                </a:solidFill>
                <a:latin typeface="Consolas"/>
              </a:rPr>
              <a:t>idx</a:t>
            </a:r>
            <a:r>
              <a:rPr sz="950" b="0" i="0">
                <a:solidFill>
                  <a:srgbClr val="1F2421"/>
                </a:solidFill>
                <a:latin typeface="Consolas"/>
              </a:rPr>
              <a:t>)</a:t>
            </a:r>
            <a:r>
              <a:rPr sz="950" b="0" i="0">
                <a:solidFill>
                  <a:srgbClr val="1F2421"/>
                </a:solidFill>
                <a:latin typeface="Consolas"/>
              </a:rPr>
              <a:t> </a:t>
            </a:r>
            <a:r>
              <a:rPr sz="950" b="0" i="0">
                <a:solidFill>
                  <a:srgbClr val="1F2421"/>
                </a:solidFill>
                <a:latin typeface="Consolas"/>
              </a:rPr>
              <a:t>-</a:t>
            </a:r>
            <a:r>
              <a:rPr sz="950" b="0" i="0">
                <a:solidFill>
                  <a:srgbClr val="1F2421"/>
                </a:solidFill>
                <a:latin typeface="Consolas"/>
              </a:rPr>
              <a:t> </a:t>
            </a:r>
            <a:r>
              <a:rPr sz="950" b="0" i="0">
                <a:solidFill>
                  <a:srgbClr val="1F2421"/>
                </a:solidFill>
                <a:latin typeface="Consolas"/>
              </a:rPr>
              <a:t>sizes</a:t>
            </a:r>
            <a:r>
              <a:rPr sz="950" b="0" i="0">
                <a:solidFill>
                  <a:srgbClr val="1F2421"/>
                </a:solidFill>
                <a:latin typeface="Consolas"/>
              </a:rPr>
              <a:t>.</a:t>
            </a:r>
            <a:r>
              <a:rPr sz="950" b="0" i="0">
                <a:solidFill>
                  <a:srgbClr val="1F2421"/>
                </a:solidFill>
                <a:latin typeface="Consolas"/>
              </a:rPr>
              <a:t>sum</a:t>
            </a:r>
            <a:r>
              <a:rPr sz="950" b="0" i="0">
                <a:solidFill>
                  <a:srgbClr val="1F2421"/>
                </a:solidFill>
                <a:latin typeface="Consolas"/>
              </a:rPr>
              <a:t>(</a:t>
            </a:r>
            <a:r>
              <a:rPr sz="950" b="0" i="0">
                <a:solidFill>
                  <a:srgbClr val="1F2421"/>
                </a:solidFill>
                <a:latin typeface="Consolas"/>
              </a:rPr>
              <a:t>)</a:t>
            </a:r>
          </a:p>
          <a:p>
            <a:pPr algn="l">
              <a:lnSpc>
                <a:spcPct val="108000"/>
              </a:lnSpc>
            </a:pP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start</a:t>
            </a:r>
            <a:r>
              <a:rPr sz="950" b="0" i="0">
                <a:solidFill>
                  <a:srgbClr val="1F2421"/>
                </a:solidFill>
                <a:latin typeface="Consolas"/>
              </a:rPr>
              <a:t> </a:t>
            </a:r>
            <a:r>
              <a:rPr sz="950" b="0" i="0">
                <a:solidFill>
                  <a:srgbClr val="1F2421"/>
                </a:solidFill>
                <a:latin typeface="Consolas"/>
              </a:rPr>
              <a:t>=</a:t>
            </a:r>
            <a:r>
              <a:rPr sz="950" b="0" i="0">
                <a:solidFill>
                  <a:srgbClr val="1F2421"/>
                </a:solidFill>
                <a:latin typeface="Consolas"/>
              </a:rPr>
              <a:t> </a:t>
            </a:r>
            <a:r>
              <a:rPr sz="950" b="0" i="0">
                <a:solidFill>
                  <a:srgbClr val="1F2421"/>
                </a:solidFill>
                <a:latin typeface="Consolas"/>
              </a:rPr>
              <a:t>0</a:t>
            </a:r>
          </a:p>
          <a:p>
            <a:pPr algn="l">
              <a:lnSpc>
                <a:spcPct val="108000"/>
              </a:lnSpc>
            </a:pP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1" i="0">
                <a:solidFill>
                  <a:srgbClr val="3E5F5A"/>
                </a:solidFill>
                <a:latin typeface="Consolas"/>
              </a:rPr>
              <a:t>for</a:t>
            </a:r>
            <a:r>
              <a:rPr sz="950" b="0" i="0">
                <a:solidFill>
                  <a:srgbClr val="1F2421"/>
                </a:solidFill>
                <a:latin typeface="Consolas"/>
              </a:rPr>
              <a:t> </a:t>
            </a:r>
            <a:r>
              <a:rPr sz="950" b="0" i="0">
                <a:solidFill>
                  <a:srgbClr val="1F2421"/>
                </a:solidFill>
                <a:latin typeface="Consolas"/>
              </a:rPr>
              <a:t>client_id</a:t>
            </a:r>
            <a:r>
              <a:rPr sz="950" b="0" i="0">
                <a:solidFill>
                  <a:srgbClr val="1F2421"/>
                </a:solidFill>
                <a:latin typeface="Consolas"/>
              </a:rPr>
              <a:t>,</a:t>
            </a:r>
            <a:r>
              <a:rPr sz="950" b="0" i="0">
                <a:solidFill>
                  <a:srgbClr val="1F2421"/>
                </a:solidFill>
                <a:latin typeface="Consolas"/>
              </a:rPr>
              <a:t> </a:t>
            </a:r>
            <a:r>
              <a:rPr sz="950" b="0" i="0">
                <a:solidFill>
                  <a:srgbClr val="1F2421"/>
                </a:solidFill>
                <a:latin typeface="Consolas"/>
              </a:rPr>
              <a:t>size</a:t>
            </a:r>
            <a:r>
              <a:rPr sz="950" b="0" i="0">
                <a:solidFill>
                  <a:srgbClr val="1F2421"/>
                </a:solidFill>
                <a:latin typeface="Consolas"/>
              </a:rPr>
              <a:t> </a:t>
            </a:r>
            <a:r>
              <a:rPr sz="950" b="1" i="0">
                <a:solidFill>
                  <a:srgbClr val="3E5F5A"/>
                </a:solidFill>
                <a:latin typeface="Consolas"/>
              </a:rPr>
              <a:t>in</a:t>
            </a:r>
            <a:r>
              <a:rPr sz="950" b="0" i="0">
                <a:solidFill>
                  <a:srgbClr val="1F2421"/>
                </a:solidFill>
                <a:latin typeface="Consolas"/>
              </a:rPr>
              <a:t> </a:t>
            </a:r>
            <a:r>
              <a:rPr sz="950" b="0" i="0">
                <a:solidFill>
                  <a:srgbClr val="1F2421"/>
                </a:solidFill>
                <a:latin typeface="Consolas"/>
              </a:rPr>
              <a:t>enumerate</a:t>
            </a:r>
            <a:r>
              <a:rPr sz="950" b="0" i="0">
                <a:solidFill>
                  <a:srgbClr val="1F2421"/>
                </a:solidFill>
                <a:latin typeface="Consolas"/>
              </a:rPr>
              <a:t>(</a:t>
            </a:r>
            <a:r>
              <a:rPr sz="950" b="0" i="0">
                <a:solidFill>
                  <a:srgbClr val="1F2421"/>
                </a:solidFill>
                <a:latin typeface="Consolas"/>
              </a:rPr>
              <a:t>sizes</a:t>
            </a:r>
            <a:r>
              <a:rPr sz="950" b="0" i="0">
                <a:solidFill>
                  <a:srgbClr val="1F2421"/>
                </a:solidFill>
                <a:latin typeface="Consolas"/>
              </a:rPr>
              <a:t>)</a:t>
            </a:r>
            <a:r>
              <a:rPr sz="950" b="0" i="0">
                <a:solidFill>
                  <a:srgbClr val="1F2421"/>
                </a:solidFill>
                <a:latin typeface="Consolas"/>
              </a:rPr>
              <a:t>:</a:t>
            </a:r>
          </a:p>
          <a:p>
            <a:pPr algn="l">
              <a:lnSpc>
                <a:spcPct val="108000"/>
              </a:lnSpc>
            </a:pP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assignment</a:t>
            </a:r>
            <a:r>
              <a:rPr sz="950" b="0" i="0">
                <a:solidFill>
                  <a:srgbClr val="1F2421"/>
                </a:solidFill>
                <a:latin typeface="Consolas"/>
              </a:rPr>
              <a:t>[</a:t>
            </a:r>
            <a:r>
              <a:rPr sz="950" b="0" i="0">
                <a:solidFill>
                  <a:srgbClr val="1F2421"/>
                </a:solidFill>
                <a:latin typeface="Consolas"/>
              </a:rPr>
              <a:t>idx</a:t>
            </a:r>
            <a:r>
              <a:rPr sz="950" b="0" i="0">
                <a:solidFill>
                  <a:srgbClr val="1F2421"/>
                </a:solidFill>
                <a:latin typeface="Consolas"/>
              </a:rPr>
              <a:t>[</a:t>
            </a:r>
            <a:r>
              <a:rPr sz="950" b="0" i="0">
                <a:solidFill>
                  <a:srgbClr val="1F2421"/>
                </a:solidFill>
                <a:latin typeface="Consolas"/>
              </a:rPr>
              <a:t>start</a:t>
            </a:r>
            <a:r>
              <a:rPr sz="950" b="0" i="0">
                <a:solidFill>
                  <a:srgbClr val="1F2421"/>
                </a:solidFill>
                <a:latin typeface="Consolas"/>
              </a:rPr>
              <a:t>:</a:t>
            </a:r>
            <a:r>
              <a:rPr sz="950" b="0" i="0">
                <a:solidFill>
                  <a:srgbClr val="1F2421"/>
                </a:solidFill>
                <a:latin typeface="Consolas"/>
              </a:rPr>
              <a:t>start</a:t>
            </a:r>
            <a:r>
              <a:rPr sz="950" b="0" i="0">
                <a:solidFill>
                  <a:srgbClr val="1F2421"/>
                </a:solidFill>
                <a:latin typeface="Consolas"/>
              </a:rPr>
              <a:t> </a:t>
            </a:r>
            <a:r>
              <a:rPr sz="950" b="0" i="0">
                <a:solidFill>
                  <a:srgbClr val="1F2421"/>
                </a:solidFill>
                <a:latin typeface="Consolas"/>
              </a:rPr>
              <a:t>+</a:t>
            </a:r>
            <a:r>
              <a:rPr sz="950" b="0" i="0">
                <a:solidFill>
                  <a:srgbClr val="1F2421"/>
                </a:solidFill>
                <a:latin typeface="Consolas"/>
              </a:rPr>
              <a:t> </a:t>
            </a:r>
            <a:r>
              <a:rPr sz="950" b="0" i="0">
                <a:solidFill>
                  <a:srgbClr val="1F2421"/>
                </a:solidFill>
                <a:latin typeface="Consolas"/>
              </a:rPr>
              <a:t>size</a:t>
            </a:r>
            <a:r>
              <a:rPr sz="950" b="0" i="0">
                <a:solidFill>
                  <a:srgbClr val="1F2421"/>
                </a:solidFill>
                <a:latin typeface="Consolas"/>
              </a:rPr>
              <a:t>]</a:t>
            </a:r>
            <a:r>
              <a:rPr sz="950" b="0" i="0">
                <a:solidFill>
                  <a:srgbClr val="1F2421"/>
                </a:solidFill>
                <a:latin typeface="Consolas"/>
              </a:rPr>
              <a:t>]</a:t>
            </a:r>
            <a:r>
              <a:rPr sz="950" b="0" i="0">
                <a:solidFill>
                  <a:srgbClr val="1F2421"/>
                </a:solidFill>
                <a:latin typeface="Consolas"/>
              </a:rPr>
              <a:t> </a:t>
            </a:r>
            <a:r>
              <a:rPr sz="950" b="0" i="0">
                <a:solidFill>
                  <a:srgbClr val="1F2421"/>
                </a:solidFill>
                <a:latin typeface="Consolas"/>
              </a:rPr>
              <a:t>=</a:t>
            </a:r>
            <a:r>
              <a:rPr sz="950" b="0" i="0">
                <a:solidFill>
                  <a:srgbClr val="1F2421"/>
                </a:solidFill>
                <a:latin typeface="Consolas"/>
              </a:rPr>
              <a:t> </a:t>
            </a:r>
            <a:r>
              <a:rPr sz="950" b="0" i="0">
                <a:solidFill>
                  <a:srgbClr val="1F2421"/>
                </a:solidFill>
                <a:latin typeface="Consolas"/>
              </a:rPr>
              <a:t>client_id</a:t>
            </a:r>
          </a:p>
          <a:p>
            <a:pPr algn="l">
              <a:lnSpc>
                <a:spcPct val="108000"/>
              </a:lnSpc>
            </a:pP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start</a:t>
            </a:r>
            <a:r>
              <a:rPr sz="950" b="0" i="0">
                <a:solidFill>
                  <a:srgbClr val="1F2421"/>
                </a:solidFill>
                <a:latin typeface="Consolas"/>
              </a:rPr>
              <a:t> </a:t>
            </a:r>
            <a:r>
              <a:rPr sz="950" b="0" i="0">
                <a:solidFill>
                  <a:srgbClr val="1F2421"/>
                </a:solidFill>
                <a:latin typeface="Consolas"/>
              </a:rPr>
              <a:t>+</a:t>
            </a:r>
            <a:r>
              <a:rPr sz="950" b="0" i="0">
                <a:solidFill>
                  <a:srgbClr val="1F2421"/>
                </a:solidFill>
                <a:latin typeface="Consolas"/>
              </a:rPr>
              <a:t>=</a:t>
            </a:r>
            <a:r>
              <a:rPr sz="950" b="0" i="0">
                <a:solidFill>
                  <a:srgbClr val="1F2421"/>
                </a:solidFill>
                <a:latin typeface="Consolas"/>
              </a:rPr>
              <a:t> </a:t>
            </a:r>
            <a:r>
              <a:rPr sz="950" b="0" i="0">
                <a:solidFill>
                  <a:srgbClr val="1F2421"/>
                </a:solidFill>
                <a:latin typeface="Consolas"/>
              </a:rPr>
              <a:t>size</a:t>
            </a:r>
          </a:p>
          <a:p>
            <a:pPr algn="l">
              <a:lnSpc>
                <a:spcPct val="108000"/>
              </a:lnSpc>
            </a:pP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0" i="0">
                <a:solidFill>
                  <a:srgbClr val="1F2421"/>
                </a:solidFill>
                <a:latin typeface="Consolas"/>
              </a:rPr>
              <a:t> </a:t>
            </a:r>
            <a:r>
              <a:rPr sz="950" b="1" i="0">
                <a:solidFill>
                  <a:srgbClr val="3E5F5A"/>
                </a:solidFill>
                <a:latin typeface="Consolas"/>
              </a:rPr>
              <a:t>return</a:t>
            </a:r>
            <a:r>
              <a:rPr sz="950" b="0" i="0">
                <a:solidFill>
                  <a:srgbClr val="1F2421"/>
                </a:solidFill>
                <a:latin typeface="Consolas"/>
              </a:rPr>
              <a:t> </a:t>
            </a:r>
            <a:r>
              <a:rPr sz="950" b="0" i="0">
                <a:solidFill>
                  <a:srgbClr val="1F2421"/>
                </a:solidFill>
                <a:latin typeface="Consolas"/>
              </a:rPr>
              <a:t>assignment</a:t>
            </a:r>
          </a:p>
        </p:txBody>
      </p:sp>
      <p:sp>
        <p:nvSpPr>
          <p:cNvPr id="78" name="TextBox 77"/>
          <p:cNvSpPr txBox="1"/>
          <p:nvPr/>
        </p:nvSpPr>
        <p:spPr>
          <a:xfrm>
            <a:off x="6172200" y="5760720"/>
            <a:ext cx="5285232" cy="457200"/>
          </a:xfrm>
          <a:prstGeom prst="rect">
            <a:avLst/>
          </a:prstGeom>
          <a:noFill/>
        </p:spPr>
        <p:txBody>
          <a:bodyPr wrap="square" anchor="t" lIns="0" rIns="0" tIns="0" bIns="0">
            <a:spAutoFit/>
          </a:bodyPr>
          <a:lstStyle/>
          <a:p>
            <a:pPr algn="l">
              <a:lnSpc>
                <a:spcPct val="120000"/>
              </a:lnSpc>
            </a:pPr>
            <a:r>
              <a:rPr sz="1050" b="0" i="0">
                <a:solidFill>
                  <a:srgbClr val="8C918A"/>
                </a:solidFill>
                <a:latin typeface="Segoe UI"/>
              </a:rPr>
              <a:t>Each attack type is shared out with random Dirichlet proportions; smaller α means more uneven clients.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7315200" cy="274320"/>
          </a:xfrm>
          <a:prstGeom prst="rect">
            <a:avLst/>
          </a:prstGeom>
          <a:noFill/>
        </p:spPr>
        <p:txBody>
          <a:bodyPr wrap="square" anchor="t" lIns="0" rIns="0" tIns="0" bIns="0">
            <a:spAutoFit/>
          </a:bodyPr>
          <a:lstStyle/>
          <a:p>
            <a:pPr algn="l">
              <a:lnSpc>
                <a:spcPct val="120000"/>
              </a:lnSpc>
            </a:pPr>
            <a:r>
              <a:rPr sz="1050" b="1" i="0">
                <a:solidFill>
                  <a:srgbClr val="3E5F5A"/>
                </a:solidFill>
                <a:latin typeface="Segoe UI"/>
              </a:rPr>
              <a:t>METHODOLOGY · 4 / 6</a:t>
            </a:r>
          </a:p>
        </p:txBody>
      </p:sp>
      <p:cxnSp>
        <p:nvCxnSpPr>
          <p:cNvPr id="4" name="Connector 3"/>
          <p:cNvCxnSpPr/>
          <p:nvPr/>
        </p:nvCxnSpPr>
        <p:spPr>
          <a:xfrm>
            <a:off x="731520" y="841248"/>
            <a:ext cx="457200" cy="0"/>
          </a:xfrm>
          <a:prstGeom prst="line">
            <a:avLst/>
          </a:prstGeom>
          <a:ln w="19050">
            <a:solidFill>
              <a:srgbClr val="3E5F5A"/>
            </a:solidFill>
          </a:ln>
        </p:spPr>
      </p:cxnSp>
      <p:sp>
        <p:nvSpPr>
          <p:cNvPr id="5" name="TextBox 4"/>
          <p:cNvSpPr txBox="1"/>
          <p:nvPr/>
        </p:nvSpPr>
        <p:spPr>
          <a:xfrm>
            <a:off x="731520" y="960120"/>
            <a:ext cx="10725912" cy="731520"/>
          </a:xfrm>
          <a:prstGeom prst="rect">
            <a:avLst/>
          </a:prstGeom>
          <a:noFill/>
        </p:spPr>
        <p:txBody>
          <a:bodyPr wrap="square" anchor="t" lIns="0" rIns="0" tIns="0" bIns="0">
            <a:spAutoFit/>
          </a:bodyPr>
          <a:lstStyle/>
          <a:p>
            <a:pPr algn="l">
              <a:lnSpc>
                <a:spcPct val="120000"/>
              </a:lnSpc>
            </a:pPr>
            <a:r>
              <a:rPr sz="2800" b="0" i="0">
                <a:solidFill>
                  <a:srgbClr val="1F2421"/>
                </a:solidFill>
                <a:latin typeface="Georgia"/>
              </a:rPr>
              <a:t>Model and federated training (FedAvg)</a:t>
            </a:r>
          </a:p>
        </p:txBody>
      </p:sp>
      <p:sp>
        <p:nvSpPr>
          <p:cNvPr id="6" name="TextBox 5"/>
          <p:cNvSpPr txBox="1"/>
          <p:nvPr/>
        </p:nvSpPr>
        <p:spPr>
          <a:xfrm>
            <a:off x="731520" y="6400800"/>
            <a:ext cx="5486400" cy="228600"/>
          </a:xfrm>
          <a:prstGeom prst="rect">
            <a:avLst/>
          </a:prstGeom>
          <a:noFill/>
        </p:spPr>
        <p:txBody>
          <a:bodyPr wrap="square" anchor="t" lIns="0" rIns="0" tIns="0" bIns="0">
            <a:spAutoFit/>
          </a:bodyPr>
          <a:lstStyle/>
          <a:p>
            <a:pPr algn="l">
              <a:lnSpc>
                <a:spcPct val="120000"/>
              </a:lnSpc>
            </a:pPr>
            <a:r>
              <a:rPr sz="900" b="0" i="0">
                <a:solidFill>
                  <a:srgbClr val="8C918A"/>
                </a:solidFill>
                <a:latin typeface="Segoe UI"/>
              </a:rPr>
              <a:t>Krypsis  ·  Final Review</a:t>
            </a:r>
          </a:p>
        </p:txBody>
      </p:sp>
      <p:sp>
        <p:nvSpPr>
          <p:cNvPr id="7" name="TextBox 6"/>
          <p:cNvSpPr txBox="1"/>
          <p:nvPr/>
        </p:nvSpPr>
        <p:spPr>
          <a:xfrm>
            <a:off x="10543032" y="6400800"/>
            <a:ext cx="914400" cy="228600"/>
          </a:xfrm>
          <a:prstGeom prst="rect">
            <a:avLst/>
          </a:prstGeom>
          <a:noFill/>
        </p:spPr>
        <p:txBody>
          <a:bodyPr wrap="square" anchor="t" lIns="0" rIns="0" tIns="0" bIns="0">
            <a:spAutoFit/>
          </a:bodyPr>
          <a:lstStyle/>
          <a:p>
            <a:pPr algn="r">
              <a:lnSpc>
                <a:spcPct val="120000"/>
              </a:lnSpc>
            </a:pPr>
            <a:r>
              <a:rPr sz="900" b="0" i="0">
                <a:solidFill>
                  <a:srgbClr val="8C918A"/>
                </a:solidFill>
                <a:latin typeface="Segoe UI"/>
              </a:rPr>
              <a:t>7</a:t>
            </a:r>
          </a:p>
        </p:txBody>
      </p:sp>
      <p:sp>
        <p:nvSpPr>
          <p:cNvPr id="8" name="Rounded Rectangle 7"/>
          <p:cNvSpPr/>
          <p:nvPr/>
        </p:nvSpPr>
        <p:spPr>
          <a:xfrm>
            <a:off x="731520" y="1737360"/>
            <a:ext cx="1783080" cy="731520"/>
          </a:xfrm>
          <a:prstGeom prst="roundRect">
            <a:avLst>
              <a:gd name="adj" fmla="val 8000"/>
            </a:avLst>
          </a:prstGeom>
          <a:solidFill>
            <a:srgbClr val="FFFFFF"/>
          </a:solidFill>
          <a:ln w="9525">
            <a:solidFill>
              <a:srgbClr val="DDDA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737360"/>
            <a:ext cx="1600200" cy="731520"/>
          </a:xfrm>
          <a:prstGeom prst="rect">
            <a:avLst/>
          </a:prstGeom>
          <a:noFill/>
        </p:spPr>
        <p:txBody>
          <a:bodyPr wrap="square" anchor="ctr" lIns="0" rIns="0" tIns="0" bIns="0">
            <a:spAutoFit/>
          </a:bodyPr>
          <a:lstStyle/>
          <a:p>
            <a:pPr algn="ctr">
              <a:lnSpc>
                <a:spcPct val="110000"/>
              </a:lnSpc>
            </a:pPr>
            <a:r>
              <a:rPr sz="1300" b="1" i="0">
                <a:solidFill>
                  <a:srgbClr val="1F2421"/>
                </a:solidFill>
                <a:latin typeface="Segoe UI"/>
              </a:rPr>
              <a:t>Input</a:t>
            </a:r>
          </a:p>
          <a:p>
            <a:pPr algn="ctr">
              <a:lnSpc>
                <a:spcPct val="110000"/>
              </a:lnSpc>
            </a:pPr>
            <a:r>
              <a:rPr sz="1100" b="0" i="0">
                <a:solidFill>
                  <a:srgbClr val="5B625C"/>
                </a:solidFill>
                <a:latin typeface="Segoe UI"/>
              </a:rPr>
              <a:t>66 features</a:t>
            </a:r>
          </a:p>
        </p:txBody>
      </p:sp>
      <p:cxnSp>
        <p:nvCxnSpPr>
          <p:cNvPr id="10" name="Connector 9"/>
          <p:cNvCxnSpPr/>
          <p:nvPr/>
        </p:nvCxnSpPr>
        <p:spPr>
          <a:xfrm>
            <a:off x="2551176" y="2103120"/>
            <a:ext cx="384048" cy="0"/>
          </a:xfrm>
          <a:prstGeom prst="line">
            <a:avLst/>
          </a:prstGeom>
          <a:ln w="15875">
            <a:solidFill>
              <a:srgbClr val="8C918A"/>
            </a:solidFill>
            <a:tailEnd type="triangle" w="med" len="med"/>
          </a:ln>
        </p:spPr>
      </p:cxnSp>
      <p:sp>
        <p:nvSpPr>
          <p:cNvPr id="11" name="Rounded Rectangle 10"/>
          <p:cNvSpPr/>
          <p:nvPr/>
        </p:nvSpPr>
        <p:spPr>
          <a:xfrm>
            <a:off x="2971800" y="1737360"/>
            <a:ext cx="1783080" cy="731520"/>
          </a:xfrm>
          <a:prstGeom prst="roundRect">
            <a:avLst>
              <a:gd name="adj" fmla="val 8000"/>
            </a:avLst>
          </a:prstGeom>
          <a:solidFill>
            <a:srgbClr val="E4EBE8"/>
          </a:solidFill>
          <a:ln w="9525">
            <a:solidFill>
              <a:srgbClr val="3E5F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63240" y="1737360"/>
            <a:ext cx="1600200" cy="731520"/>
          </a:xfrm>
          <a:prstGeom prst="rect">
            <a:avLst/>
          </a:prstGeom>
          <a:noFill/>
        </p:spPr>
        <p:txBody>
          <a:bodyPr wrap="square" anchor="ctr" lIns="0" rIns="0" tIns="0" bIns="0">
            <a:spAutoFit/>
          </a:bodyPr>
          <a:lstStyle/>
          <a:p>
            <a:pPr algn="ctr">
              <a:lnSpc>
                <a:spcPct val="110000"/>
              </a:lnSpc>
            </a:pPr>
            <a:r>
              <a:rPr sz="1300" b="1" i="0">
                <a:solidFill>
                  <a:srgbClr val="1F2421"/>
                </a:solidFill>
                <a:latin typeface="Segoe UI"/>
              </a:rPr>
              <a:t>256</a:t>
            </a:r>
          </a:p>
          <a:p>
            <a:pPr algn="ctr">
              <a:lnSpc>
                <a:spcPct val="110000"/>
              </a:lnSpc>
            </a:pPr>
            <a:r>
              <a:rPr sz="1100" b="0" i="0">
                <a:solidFill>
                  <a:srgbClr val="5B625C"/>
                </a:solidFill>
                <a:latin typeface="Segoe UI"/>
              </a:rPr>
              <a:t>Dense</a:t>
            </a:r>
          </a:p>
        </p:txBody>
      </p:sp>
      <p:cxnSp>
        <p:nvCxnSpPr>
          <p:cNvPr id="13" name="Connector 12"/>
          <p:cNvCxnSpPr/>
          <p:nvPr/>
        </p:nvCxnSpPr>
        <p:spPr>
          <a:xfrm>
            <a:off x="4791456" y="2103120"/>
            <a:ext cx="384048" cy="0"/>
          </a:xfrm>
          <a:prstGeom prst="line">
            <a:avLst/>
          </a:prstGeom>
          <a:ln w="15875">
            <a:solidFill>
              <a:srgbClr val="8C918A"/>
            </a:solidFill>
            <a:tailEnd type="triangle" w="med" len="med"/>
          </a:ln>
        </p:spPr>
      </p:cxnSp>
      <p:sp>
        <p:nvSpPr>
          <p:cNvPr id="14" name="Rounded Rectangle 13"/>
          <p:cNvSpPr/>
          <p:nvPr/>
        </p:nvSpPr>
        <p:spPr>
          <a:xfrm>
            <a:off x="5212080" y="1737360"/>
            <a:ext cx="1783080" cy="731520"/>
          </a:xfrm>
          <a:prstGeom prst="roundRect">
            <a:avLst>
              <a:gd name="adj" fmla="val 8000"/>
            </a:avLst>
          </a:prstGeom>
          <a:solidFill>
            <a:srgbClr val="E4EBE8"/>
          </a:solidFill>
          <a:ln w="9525">
            <a:solidFill>
              <a:srgbClr val="3E5F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03520" y="1737360"/>
            <a:ext cx="1600200" cy="731520"/>
          </a:xfrm>
          <a:prstGeom prst="rect">
            <a:avLst/>
          </a:prstGeom>
          <a:noFill/>
        </p:spPr>
        <p:txBody>
          <a:bodyPr wrap="square" anchor="ctr" lIns="0" rIns="0" tIns="0" bIns="0">
            <a:spAutoFit/>
          </a:bodyPr>
          <a:lstStyle/>
          <a:p>
            <a:pPr algn="ctr">
              <a:lnSpc>
                <a:spcPct val="110000"/>
              </a:lnSpc>
            </a:pPr>
            <a:r>
              <a:rPr sz="1300" b="1" i="0">
                <a:solidFill>
                  <a:srgbClr val="1F2421"/>
                </a:solidFill>
                <a:latin typeface="Segoe UI"/>
              </a:rPr>
              <a:t>128</a:t>
            </a:r>
          </a:p>
          <a:p>
            <a:pPr algn="ctr">
              <a:lnSpc>
                <a:spcPct val="110000"/>
              </a:lnSpc>
            </a:pPr>
            <a:r>
              <a:rPr sz="1100" b="0" i="0">
                <a:solidFill>
                  <a:srgbClr val="5B625C"/>
                </a:solidFill>
                <a:latin typeface="Segoe UI"/>
              </a:rPr>
              <a:t>Dense</a:t>
            </a:r>
          </a:p>
        </p:txBody>
      </p:sp>
      <p:cxnSp>
        <p:nvCxnSpPr>
          <p:cNvPr id="16" name="Connector 15"/>
          <p:cNvCxnSpPr/>
          <p:nvPr/>
        </p:nvCxnSpPr>
        <p:spPr>
          <a:xfrm>
            <a:off x="7031736" y="2103120"/>
            <a:ext cx="384048" cy="0"/>
          </a:xfrm>
          <a:prstGeom prst="line">
            <a:avLst/>
          </a:prstGeom>
          <a:ln w="15875">
            <a:solidFill>
              <a:srgbClr val="8C918A"/>
            </a:solidFill>
            <a:tailEnd type="triangle" w="med" len="med"/>
          </a:ln>
        </p:spPr>
      </p:cxnSp>
      <p:sp>
        <p:nvSpPr>
          <p:cNvPr id="17" name="Rounded Rectangle 16"/>
          <p:cNvSpPr/>
          <p:nvPr/>
        </p:nvSpPr>
        <p:spPr>
          <a:xfrm>
            <a:off x="7452360" y="1737360"/>
            <a:ext cx="1783080" cy="731520"/>
          </a:xfrm>
          <a:prstGeom prst="roundRect">
            <a:avLst>
              <a:gd name="adj" fmla="val 8000"/>
            </a:avLst>
          </a:prstGeom>
          <a:solidFill>
            <a:srgbClr val="E4EBE8"/>
          </a:solidFill>
          <a:ln w="9525">
            <a:solidFill>
              <a:srgbClr val="3E5F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43800" y="1737360"/>
            <a:ext cx="1600200" cy="731520"/>
          </a:xfrm>
          <a:prstGeom prst="rect">
            <a:avLst/>
          </a:prstGeom>
          <a:noFill/>
        </p:spPr>
        <p:txBody>
          <a:bodyPr wrap="square" anchor="ctr" lIns="0" rIns="0" tIns="0" bIns="0">
            <a:spAutoFit/>
          </a:bodyPr>
          <a:lstStyle/>
          <a:p>
            <a:pPr algn="ctr">
              <a:lnSpc>
                <a:spcPct val="110000"/>
              </a:lnSpc>
            </a:pPr>
            <a:r>
              <a:rPr sz="1300" b="1" i="0">
                <a:solidFill>
                  <a:srgbClr val="1F2421"/>
                </a:solidFill>
                <a:latin typeface="Segoe UI"/>
              </a:rPr>
              <a:t>64</a:t>
            </a:r>
          </a:p>
          <a:p>
            <a:pPr algn="ctr">
              <a:lnSpc>
                <a:spcPct val="110000"/>
              </a:lnSpc>
            </a:pPr>
            <a:r>
              <a:rPr sz="1100" b="0" i="0">
                <a:solidFill>
                  <a:srgbClr val="5B625C"/>
                </a:solidFill>
                <a:latin typeface="Segoe UI"/>
              </a:rPr>
              <a:t>Dense</a:t>
            </a:r>
          </a:p>
        </p:txBody>
      </p:sp>
      <p:cxnSp>
        <p:nvCxnSpPr>
          <p:cNvPr id="19" name="Connector 18"/>
          <p:cNvCxnSpPr/>
          <p:nvPr/>
        </p:nvCxnSpPr>
        <p:spPr>
          <a:xfrm>
            <a:off x="9272016" y="2103120"/>
            <a:ext cx="384048" cy="0"/>
          </a:xfrm>
          <a:prstGeom prst="line">
            <a:avLst/>
          </a:prstGeom>
          <a:ln w="15875">
            <a:solidFill>
              <a:srgbClr val="8C918A"/>
            </a:solidFill>
            <a:tailEnd type="triangle" w="med" len="med"/>
          </a:ln>
        </p:spPr>
      </p:cxnSp>
      <p:sp>
        <p:nvSpPr>
          <p:cNvPr id="20" name="Rounded Rectangle 19"/>
          <p:cNvSpPr/>
          <p:nvPr/>
        </p:nvSpPr>
        <p:spPr>
          <a:xfrm>
            <a:off x="9692640" y="1737360"/>
            <a:ext cx="1783080" cy="731520"/>
          </a:xfrm>
          <a:prstGeom prst="roundRect">
            <a:avLst>
              <a:gd name="adj" fmla="val 8000"/>
            </a:avLst>
          </a:prstGeom>
          <a:solidFill>
            <a:srgbClr val="FFFFFF"/>
          </a:solidFill>
          <a:ln w="9525">
            <a:solidFill>
              <a:srgbClr val="DDDA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0" y="1737360"/>
            <a:ext cx="1600200" cy="731520"/>
          </a:xfrm>
          <a:prstGeom prst="rect">
            <a:avLst/>
          </a:prstGeom>
          <a:noFill/>
        </p:spPr>
        <p:txBody>
          <a:bodyPr wrap="square" anchor="ctr" lIns="0" rIns="0" tIns="0" bIns="0">
            <a:spAutoFit/>
          </a:bodyPr>
          <a:lstStyle/>
          <a:p>
            <a:pPr algn="ctr">
              <a:lnSpc>
                <a:spcPct val="110000"/>
              </a:lnSpc>
            </a:pPr>
            <a:r>
              <a:rPr sz="1300" b="1" i="0">
                <a:solidFill>
                  <a:srgbClr val="1F2421"/>
                </a:solidFill>
                <a:latin typeface="Segoe UI"/>
              </a:rPr>
              <a:t>Output</a:t>
            </a:r>
          </a:p>
          <a:p>
            <a:pPr algn="ctr">
              <a:lnSpc>
                <a:spcPct val="110000"/>
              </a:lnSpc>
            </a:pPr>
            <a:r>
              <a:rPr sz="1100" b="0" i="0">
                <a:solidFill>
                  <a:srgbClr val="5B625C"/>
                </a:solidFill>
                <a:latin typeface="Segoe UI"/>
              </a:rPr>
              <a:t>normal / attack</a:t>
            </a:r>
          </a:p>
        </p:txBody>
      </p:sp>
      <p:sp>
        <p:nvSpPr>
          <p:cNvPr id="22" name="TextBox 21"/>
          <p:cNvSpPr txBox="1"/>
          <p:nvPr/>
        </p:nvSpPr>
        <p:spPr>
          <a:xfrm>
            <a:off x="731520" y="2578608"/>
            <a:ext cx="10725912" cy="274320"/>
          </a:xfrm>
          <a:prstGeom prst="rect">
            <a:avLst/>
          </a:prstGeom>
          <a:noFill/>
        </p:spPr>
        <p:txBody>
          <a:bodyPr wrap="square" anchor="t" lIns="0" rIns="0" tIns="0" bIns="0">
            <a:spAutoFit/>
          </a:bodyPr>
          <a:lstStyle/>
          <a:p>
            <a:pPr algn="ctr">
              <a:lnSpc>
                <a:spcPct val="120000"/>
              </a:lnSpc>
            </a:pPr>
            <a:r>
              <a:rPr sz="1100" b="0" i="0">
                <a:solidFill>
                  <a:srgbClr val="5B625C"/>
                </a:solidFill>
                <a:latin typeface="Segoe UI"/>
              </a:rPr>
              <a:t>ReLU + dropout + L2 · 58,369 parameters · Adam, binary cross-entropy · 15 rounds × 2 local epochs · centralized baseline uses the same model</a:t>
            </a:r>
          </a:p>
        </p:txBody>
      </p:sp>
      <p:sp>
        <p:nvSpPr>
          <p:cNvPr id="23" name="Rectangle 22"/>
          <p:cNvSpPr/>
          <p:nvPr/>
        </p:nvSpPr>
        <p:spPr>
          <a:xfrm>
            <a:off x="731520" y="3017520"/>
            <a:ext cx="5257800" cy="2971800"/>
          </a:xfrm>
          <a:prstGeom prst="rect">
            <a:avLst/>
          </a:prstGeom>
          <a:solidFill>
            <a:srgbClr val="FBFAF7"/>
          </a:solidFill>
          <a:ln w="9525">
            <a:solidFill>
              <a:srgbClr val="DDDA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1520" y="3017520"/>
            <a:ext cx="45720" cy="2971800"/>
          </a:xfrm>
          <a:prstGeom prst="rect">
            <a:avLst/>
          </a:prstGeom>
          <a:solidFill>
            <a:srgbClr val="3E5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0120" y="3127248"/>
            <a:ext cx="4892040" cy="228600"/>
          </a:xfrm>
          <a:prstGeom prst="rect">
            <a:avLst/>
          </a:prstGeom>
          <a:noFill/>
        </p:spPr>
        <p:txBody>
          <a:bodyPr wrap="square" anchor="t" lIns="0" rIns="0" tIns="0" bIns="0">
            <a:spAutoFit/>
          </a:bodyPr>
          <a:lstStyle/>
          <a:p>
            <a:pPr algn="l">
              <a:lnSpc>
                <a:spcPct val="120000"/>
              </a:lnSpc>
            </a:pPr>
            <a:r>
              <a:rPr sz="900" b="0" i="0">
                <a:solidFill>
                  <a:srgbClr val="8C918A"/>
                </a:solidFill>
                <a:latin typeface="Consolas"/>
              </a:rPr>
              <a:t>src/model.py  (layers = tf.keras.layers)</a:t>
            </a:r>
          </a:p>
        </p:txBody>
      </p:sp>
      <p:cxnSp>
        <p:nvCxnSpPr>
          <p:cNvPr id="26" name="Connector 25"/>
          <p:cNvCxnSpPr/>
          <p:nvPr/>
        </p:nvCxnSpPr>
        <p:spPr>
          <a:xfrm>
            <a:off x="960120" y="3401568"/>
            <a:ext cx="4846320" cy="0"/>
          </a:xfrm>
          <a:prstGeom prst="line">
            <a:avLst/>
          </a:prstGeom>
          <a:ln w="6350">
            <a:solidFill>
              <a:srgbClr val="DDDAD2"/>
            </a:solidFill>
          </a:ln>
        </p:spPr>
      </p:cxnSp>
      <p:sp>
        <p:nvSpPr>
          <p:cNvPr id="27" name="TextBox 26"/>
          <p:cNvSpPr txBox="1"/>
          <p:nvPr/>
        </p:nvSpPr>
        <p:spPr>
          <a:xfrm>
            <a:off x="960120" y="3520440"/>
            <a:ext cx="4937760" cy="2377440"/>
          </a:xfrm>
          <a:prstGeom prst="rect">
            <a:avLst/>
          </a:prstGeom>
          <a:noFill/>
        </p:spPr>
        <p:txBody>
          <a:bodyPr wrap="square" anchor="t" lIns="0" rIns="0" tIns="0" bIns="0">
            <a:spAutoFit/>
          </a:bodyPr>
          <a:lstStyle/>
          <a:p>
            <a:pPr algn="l">
              <a:lnSpc>
                <a:spcPct val="108000"/>
              </a:lnSpc>
            </a:pPr>
            <a:r>
              <a:rPr sz="900" b="1" i="0">
                <a:solidFill>
                  <a:srgbClr val="3E5F5A"/>
                </a:solidFill>
                <a:latin typeface="Consolas"/>
              </a:rPr>
              <a:t>def</a:t>
            </a:r>
            <a:r>
              <a:rPr sz="900" b="0" i="0">
                <a:solidFill>
                  <a:srgbClr val="1F2421"/>
                </a:solidFill>
                <a:latin typeface="Consolas"/>
              </a:rPr>
              <a:t> </a:t>
            </a:r>
            <a:r>
              <a:rPr sz="900" b="0" i="0">
                <a:solidFill>
                  <a:srgbClr val="1F2421"/>
                </a:solidFill>
                <a:latin typeface="Consolas"/>
              </a:rPr>
              <a:t>build_model</a:t>
            </a:r>
            <a:r>
              <a:rPr sz="900" b="0" i="0">
                <a:solidFill>
                  <a:srgbClr val="1F2421"/>
                </a:solidFill>
                <a:latin typeface="Consolas"/>
              </a:rPr>
              <a:t>(</a:t>
            </a:r>
            <a:r>
              <a:rPr sz="900" b="0" i="0">
                <a:solidFill>
                  <a:srgbClr val="1F2421"/>
                </a:solidFill>
                <a:latin typeface="Consolas"/>
              </a:rPr>
              <a:t>input_dim</a:t>
            </a:r>
            <a:r>
              <a:rPr sz="900" b="0" i="0">
                <a:solidFill>
                  <a:srgbClr val="1F2421"/>
                </a:solidFill>
                <a:latin typeface="Consolas"/>
              </a:rPr>
              <a:t>)</a:t>
            </a:r>
            <a:r>
              <a:rPr sz="900" b="0" i="0">
                <a:solidFill>
                  <a:srgbClr val="1F2421"/>
                </a:solidFill>
                <a:latin typeface="Consolas"/>
              </a:rPr>
              <a:t>:</a:t>
            </a:r>
          </a:p>
          <a:p>
            <a:pPr algn="l">
              <a:lnSpc>
                <a:spcPct val="108000"/>
              </a:lnSpc>
            </a:pP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l2</a:t>
            </a:r>
            <a:r>
              <a:rPr sz="900" b="0" i="0">
                <a:solidFill>
                  <a:srgbClr val="1F2421"/>
                </a:solidFill>
                <a:latin typeface="Consolas"/>
              </a:rPr>
              <a:t> </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tf</a:t>
            </a:r>
            <a:r>
              <a:rPr sz="900" b="0" i="0">
                <a:solidFill>
                  <a:srgbClr val="1F2421"/>
                </a:solidFill>
                <a:latin typeface="Consolas"/>
              </a:rPr>
              <a:t>.</a:t>
            </a:r>
            <a:r>
              <a:rPr sz="900" b="0" i="0">
                <a:solidFill>
                  <a:srgbClr val="1F2421"/>
                </a:solidFill>
                <a:latin typeface="Consolas"/>
              </a:rPr>
              <a:t>keras</a:t>
            </a:r>
            <a:r>
              <a:rPr sz="900" b="0" i="0">
                <a:solidFill>
                  <a:srgbClr val="1F2421"/>
                </a:solidFill>
                <a:latin typeface="Consolas"/>
              </a:rPr>
              <a:t>.</a:t>
            </a:r>
            <a:r>
              <a:rPr sz="900" b="0" i="0">
                <a:solidFill>
                  <a:srgbClr val="1F2421"/>
                </a:solidFill>
                <a:latin typeface="Consolas"/>
              </a:rPr>
              <a:t>regularizers</a:t>
            </a:r>
            <a:r>
              <a:rPr sz="900" b="0" i="0">
                <a:solidFill>
                  <a:srgbClr val="1F2421"/>
                </a:solidFill>
                <a:latin typeface="Consolas"/>
              </a:rPr>
              <a:t>.</a:t>
            </a:r>
            <a:r>
              <a:rPr sz="900" b="0" i="0">
                <a:solidFill>
                  <a:srgbClr val="1F2421"/>
                </a:solidFill>
                <a:latin typeface="Consolas"/>
              </a:rPr>
              <a:t>l2</a:t>
            </a:r>
            <a:r>
              <a:rPr sz="900" b="0" i="0">
                <a:solidFill>
                  <a:srgbClr val="1F2421"/>
                </a:solidFill>
                <a:latin typeface="Consolas"/>
              </a:rPr>
              <a:t>(</a:t>
            </a:r>
            <a:r>
              <a:rPr sz="900" b="0" i="0">
                <a:solidFill>
                  <a:srgbClr val="1F2421"/>
                </a:solidFill>
                <a:latin typeface="Consolas"/>
              </a:rPr>
              <a:t>1</a:t>
            </a:r>
            <a:r>
              <a:rPr sz="900" b="0" i="0">
                <a:solidFill>
                  <a:srgbClr val="1F2421"/>
                </a:solidFill>
                <a:latin typeface="Consolas"/>
              </a:rPr>
              <a:t>e</a:t>
            </a:r>
            <a:r>
              <a:rPr sz="900" b="0" i="0">
                <a:solidFill>
                  <a:srgbClr val="1F2421"/>
                </a:solidFill>
                <a:latin typeface="Consolas"/>
              </a:rPr>
              <a:t>-</a:t>
            </a:r>
            <a:r>
              <a:rPr sz="900" b="0" i="0">
                <a:solidFill>
                  <a:srgbClr val="1F2421"/>
                </a:solidFill>
                <a:latin typeface="Consolas"/>
              </a:rPr>
              <a:t>4</a:t>
            </a:r>
            <a:r>
              <a:rPr sz="900" b="0" i="0">
                <a:solidFill>
                  <a:srgbClr val="1F2421"/>
                </a:solidFill>
                <a:latin typeface="Consolas"/>
              </a:rPr>
              <a:t>)</a:t>
            </a:r>
          </a:p>
          <a:p>
            <a:pPr algn="l">
              <a:lnSpc>
                <a:spcPct val="108000"/>
              </a:lnSpc>
            </a:pP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model</a:t>
            </a:r>
            <a:r>
              <a:rPr sz="900" b="0" i="0">
                <a:solidFill>
                  <a:srgbClr val="1F2421"/>
                </a:solidFill>
                <a:latin typeface="Consolas"/>
              </a:rPr>
              <a:t> </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tf</a:t>
            </a:r>
            <a:r>
              <a:rPr sz="900" b="0" i="0">
                <a:solidFill>
                  <a:srgbClr val="1F2421"/>
                </a:solidFill>
                <a:latin typeface="Consolas"/>
              </a:rPr>
              <a:t>.</a:t>
            </a:r>
            <a:r>
              <a:rPr sz="900" b="0" i="0">
                <a:solidFill>
                  <a:srgbClr val="1F2421"/>
                </a:solidFill>
                <a:latin typeface="Consolas"/>
              </a:rPr>
              <a:t>keras</a:t>
            </a:r>
            <a:r>
              <a:rPr sz="900" b="0" i="0">
                <a:solidFill>
                  <a:srgbClr val="1F2421"/>
                </a:solidFill>
                <a:latin typeface="Consolas"/>
              </a:rPr>
              <a:t>.</a:t>
            </a:r>
            <a:r>
              <a:rPr sz="900" b="0" i="0">
                <a:solidFill>
                  <a:srgbClr val="1F2421"/>
                </a:solidFill>
                <a:latin typeface="Consolas"/>
              </a:rPr>
              <a:t>Sequential</a:t>
            </a:r>
            <a:r>
              <a:rPr sz="900" b="0" i="0">
                <a:solidFill>
                  <a:srgbClr val="1F2421"/>
                </a:solidFill>
                <a:latin typeface="Consolas"/>
              </a:rPr>
              <a:t>(</a:t>
            </a:r>
            <a:r>
              <a:rPr sz="900" b="0" i="0">
                <a:solidFill>
                  <a:srgbClr val="1F2421"/>
                </a:solidFill>
                <a:latin typeface="Consolas"/>
              </a:rPr>
              <a:t>[</a:t>
            </a:r>
          </a:p>
          <a:p>
            <a:pPr algn="l">
              <a:lnSpc>
                <a:spcPct val="108000"/>
              </a:lnSpc>
            </a:pP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layers</a:t>
            </a:r>
            <a:r>
              <a:rPr sz="900" b="0" i="0">
                <a:solidFill>
                  <a:srgbClr val="1F2421"/>
                </a:solidFill>
                <a:latin typeface="Consolas"/>
              </a:rPr>
              <a:t>.</a:t>
            </a:r>
            <a:r>
              <a:rPr sz="900" b="0" i="0">
                <a:solidFill>
                  <a:srgbClr val="1F2421"/>
                </a:solidFill>
                <a:latin typeface="Consolas"/>
              </a:rPr>
              <a:t>Input</a:t>
            </a:r>
            <a:r>
              <a:rPr sz="900" b="0" i="0">
                <a:solidFill>
                  <a:srgbClr val="1F2421"/>
                </a:solidFill>
                <a:latin typeface="Consolas"/>
              </a:rPr>
              <a:t>(</a:t>
            </a:r>
            <a:r>
              <a:rPr sz="900" b="0" i="0">
                <a:solidFill>
                  <a:srgbClr val="1F2421"/>
                </a:solidFill>
                <a:latin typeface="Consolas"/>
              </a:rPr>
              <a:t>shape</a:t>
            </a:r>
            <a:r>
              <a:rPr sz="900" b="0" i="0">
                <a:solidFill>
                  <a:srgbClr val="1F2421"/>
                </a:solidFill>
                <a:latin typeface="Consolas"/>
              </a:rPr>
              <a:t>=</a:t>
            </a:r>
            <a:r>
              <a:rPr sz="900" b="0" i="0">
                <a:solidFill>
                  <a:srgbClr val="1F2421"/>
                </a:solidFill>
                <a:latin typeface="Consolas"/>
              </a:rPr>
              <a:t>(</a:t>
            </a:r>
            <a:r>
              <a:rPr sz="900" b="0" i="0">
                <a:solidFill>
                  <a:srgbClr val="1F2421"/>
                </a:solidFill>
                <a:latin typeface="Consolas"/>
              </a:rPr>
              <a:t>input_dim</a:t>
            </a:r>
            <a:r>
              <a:rPr sz="900" b="0" i="0">
                <a:solidFill>
                  <a:srgbClr val="1F2421"/>
                </a:solidFill>
                <a:latin typeface="Consolas"/>
              </a:rPr>
              <a:t>,</a:t>
            </a:r>
            <a:r>
              <a:rPr sz="900" b="0" i="0">
                <a:solidFill>
                  <a:srgbClr val="1F2421"/>
                </a:solidFill>
                <a:latin typeface="Consolas"/>
              </a:rPr>
              <a:t>)</a:t>
            </a:r>
            <a:r>
              <a:rPr sz="900" b="0" i="0">
                <a:solidFill>
                  <a:srgbClr val="1F2421"/>
                </a:solidFill>
                <a:latin typeface="Consolas"/>
              </a:rPr>
              <a:t>)</a:t>
            </a:r>
            <a:r>
              <a:rPr sz="900" b="0" i="0">
                <a:solidFill>
                  <a:srgbClr val="1F2421"/>
                </a:solidFill>
                <a:latin typeface="Consolas"/>
              </a:rPr>
              <a:t>,</a:t>
            </a:r>
          </a:p>
          <a:p>
            <a:pPr algn="l">
              <a:lnSpc>
                <a:spcPct val="108000"/>
              </a:lnSpc>
            </a:pP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layers</a:t>
            </a:r>
            <a:r>
              <a:rPr sz="900" b="0" i="0">
                <a:solidFill>
                  <a:srgbClr val="1F2421"/>
                </a:solidFill>
                <a:latin typeface="Consolas"/>
              </a:rPr>
              <a:t>.</a:t>
            </a:r>
            <a:r>
              <a:rPr sz="900" b="0" i="0">
                <a:solidFill>
                  <a:srgbClr val="1F2421"/>
                </a:solidFill>
                <a:latin typeface="Consolas"/>
              </a:rPr>
              <a:t>Dense</a:t>
            </a:r>
            <a:r>
              <a:rPr sz="900" b="0" i="0">
                <a:solidFill>
                  <a:srgbClr val="1F2421"/>
                </a:solidFill>
                <a:latin typeface="Consolas"/>
              </a:rPr>
              <a:t>(</a:t>
            </a:r>
            <a:r>
              <a:rPr sz="900" b="0" i="0">
                <a:solidFill>
                  <a:srgbClr val="1F2421"/>
                </a:solidFill>
                <a:latin typeface="Consolas"/>
              </a:rPr>
              <a:t>2</a:t>
            </a:r>
            <a:r>
              <a:rPr sz="900" b="0" i="0">
                <a:solidFill>
                  <a:srgbClr val="1F2421"/>
                </a:solidFill>
                <a:latin typeface="Consolas"/>
              </a:rPr>
              <a:t>5</a:t>
            </a:r>
            <a:r>
              <a:rPr sz="900" b="0" i="0">
                <a:solidFill>
                  <a:srgbClr val="1F2421"/>
                </a:solidFill>
                <a:latin typeface="Consolas"/>
              </a:rPr>
              <a:t>6</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activation</a:t>
            </a:r>
            <a:r>
              <a:rPr sz="900" b="0" i="0">
                <a:solidFill>
                  <a:srgbClr val="1F2421"/>
                </a:solidFill>
                <a:latin typeface="Consolas"/>
              </a:rPr>
              <a:t>=</a:t>
            </a:r>
            <a:r>
              <a:rPr sz="900" b="0" i="0">
                <a:solidFill>
                  <a:srgbClr val="8E673F"/>
                </a:solidFill>
                <a:latin typeface="Consolas"/>
              </a:rPr>
              <a:t>"relu"</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kernel_regularizer</a:t>
            </a:r>
            <a:r>
              <a:rPr sz="900" b="0" i="0">
                <a:solidFill>
                  <a:srgbClr val="1F2421"/>
                </a:solidFill>
                <a:latin typeface="Consolas"/>
              </a:rPr>
              <a:t>=</a:t>
            </a:r>
            <a:r>
              <a:rPr sz="900" b="0" i="0">
                <a:solidFill>
                  <a:srgbClr val="1F2421"/>
                </a:solidFill>
                <a:latin typeface="Consolas"/>
              </a:rPr>
              <a:t>l2</a:t>
            </a:r>
            <a:r>
              <a:rPr sz="900" b="0" i="0">
                <a:solidFill>
                  <a:srgbClr val="1F2421"/>
                </a:solidFill>
                <a:latin typeface="Consolas"/>
              </a:rPr>
              <a:t>)</a:t>
            </a:r>
            <a:r>
              <a:rPr sz="900" b="0" i="0">
                <a:solidFill>
                  <a:srgbClr val="1F2421"/>
                </a:solidFill>
                <a:latin typeface="Consolas"/>
              </a:rPr>
              <a:t>,</a:t>
            </a:r>
          </a:p>
          <a:p>
            <a:pPr algn="l">
              <a:lnSpc>
                <a:spcPct val="108000"/>
              </a:lnSpc>
            </a:pP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layers</a:t>
            </a:r>
            <a:r>
              <a:rPr sz="900" b="0" i="0">
                <a:solidFill>
                  <a:srgbClr val="1F2421"/>
                </a:solidFill>
                <a:latin typeface="Consolas"/>
              </a:rPr>
              <a:t>.</a:t>
            </a:r>
            <a:r>
              <a:rPr sz="900" b="0" i="0">
                <a:solidFill>
                  <a:srgbClr val="1F2421"/>
                </a:solidFill>
                <a:latin typeface="Consolas"/>
              </a:rPr>
              <a:t>Dropout</a:t>
            </a:r>
            <a:r>
              <a:rPr sz="900" b="0" i="0">
                <a:solidFill>
                  <a:srgbClr val="1F2421"/>
                </a:solidFill>
                <a:latin typeface="Consolas"/>
              </a:rPr>
              <a:t>(</a:t>
            </a:r>
            <a:r>
              <a:rPr sz="900" b="0" i="0">
                <a:solidFill>
                  <a:srgbClr val="1F2421"/>
                </a:solidFill>
                <a:latin typeface="Consolas"/>
              </a:rPr>
              <a:t>0</a:t>
            </a:r>
            <a:r>
              <a:rPr sz="900" b="0" i="0">
                <a:solidFill>
                  <a:srgbClr val="1F2421"/>
                </a:solidFill>
                <a:latin typeface="Consolas"/>
              </a:rPr>
              <a:t>.</a:t>
            </a:r>
            <a:r>
              <a:rPr sz="900" b="0" i="0">
                <a:solidFill>
                  <a:srgbClr val="1F2421"/>
                </a:solidFill>
                <a:latin typeface="Consolas"/>
              </a:rPr>
              <a:t>3</a:t>
            </a:r>
            <a:r>
              <a:rPr sz="900" b="0" i="0">
                <a:solidFill>
                  <a:srgbClr val="1F2421"/>
                </a:solidFill>
                <a:latin typeface="Consolas"/>
              </a:rPr>
              <a:t>)</a:t>
            </a:r>
            <a:r>
              <a:rPr sz="900" b="0" i="0">
                <a:solidFill>
                  <a:srgbClr val="1F2421"/>
                </a:solidFill>
                <a:latin typeface="Consolas"/>
              </a:rPr>
              <a:t>,</a:t>
            </a:r>
          </a:p>
          <a:p>
            <a:pPr algn="l">
              <a:lnSpc>
                <a:spcPct val="108000"/>
              </a:lnSpc>
            </a:pP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layers</a:t>
            </a:r>
            <a:r>
              <a:rPr sz="900" b="0" i="0">
                <a:solidFill>
                  <a:srgbClr val="1F2421"/>
                </a:solidFill>
                <a:latin typeface="Consolas"/>
              </a:rPr>
              <a:t>.</a:t>
            </a:r>
            <a:r>
              <a:rPr sz="900" b="0" i="0">
                <a:solidFill>
                  <a:srgbClr val="1F2421"/>
                </a:solidFill>
                <a:latin typeface="Consolas"/>
              </a:rPr>
              <a:t>Dense</a:t>
            </a:r>
            <a:r>
              <a:rPr sz="900" b="0" i="0">
                <a:solidFill>
                  <a:srgbClr val="1F2421"/>
                </a:solidFill>
                <a:latin typeface="Consolas"/>
              </a:rPr>
              <a:t>(</a:t>
            </a:r>
            <a:r>
              <a:rPr sz="900" b="0" i="0">
                <a:solidFill>
                  <a:srgbClr val="1F2421"/>
                </a:solidFill>
                <a:latin typeface="Consolas"/>
              </a:rPr>
              <a:t>1</a:t>
            </a:r>
            <a:r>
              <a:rPr sz="900" b="0" i="0">
                <a:solidFill>
                  <a:srgbClr val="1F2421"/>
                </a:solidFill>
                <a:latin typeface="Consolas"/>
              </a:rPr>
              <a:t>2</a:t>
            </a:r>
            <a:r>
              <a:rPr sz="900" b="0" i="0">
                <a:solidFill>
                  <a:srgbClr val="1F2421"/>
                </a:solidFill>
                <a:latin typeface="Consolas"/>
              </a:rPr>
              <a:t>8</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activation</a:t>
            </a:r>
            <a:r>
              <a:rPr sz="900" b="0" i="0">
                <a:solidFill>
                  <a:srgbClr val="1F2421"/>
                </a:solidFill>
                <a:latin typeface="Consolas"/>
              </a:rPr>
              <a:t>=</a:t>
            </a:r>
            <a:r>
              <a:rPr sz="900" b="0" i="0">
                <a:solidFill>
                  <a:srgbClr val="8E673F"/>
                </a:solidFill>
                <a:latin typeface="Consolas"/>
              </a:rPr>
              <a:t>"relu"</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kernel_regularizer</a:t>
            </a:r>
            <a:r>
              <a:rPr sz="900" b="0" i="0">
                <a:solidFill>
                  <a:srgbClr val="1F2421"/>
                </a:solidFill>
                <a:latin typeface="Consolas"/>
              </a:rPr>
              <a:t>=</a:t>
            </a:r>
            <a:r>
              <a:rPr sz="900" b="0" i="0">
                <a:solidFill>
                  <a:srgbClr val="1F2421"/>
                </a:solidFill>
                <a:latin typeface="Consolas"/>
              </a:rPr>
              <a:t>l2</a:t>
            </a:r>
            <a:r>
              <a:rPr sz="900" b="0" i="0">
                <a:solidFill>
                  <a:srgbClr val="1F2421"/>
                </a:solidFill>
                <a:latin typeface="Consolas"/>
              </a:rPr>
              <a:t>)</a:t>
            </a:r>
            <a:r>
              <a:rPr sz="900" b="0" i="0">
                <a:solidFill>
                  <a:srgbClr val="1F2421"/>
                </a:solidFill>
                <a:latin typeface="Consolas"/>
              </a:rPr>
              <a:t>,</a:t>
            </a:r>
          </a:p>
          <a:p>
            <a:pPr algn="l">
              <a:lnSpc>
                <a:spcPct val="108000"/>
              </a:lnSpc>
            </a:pP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layers</a:t>
            </a:r>
            <a:r>
              <a:rPr sz="900" b="0" i="0">
                <a:solidFill>
                  <a:srgbClr val="1F2421"/>
                </a:solidFill>
                <a:latin typeface="Consolas"/>
              </a:rPr>
              <a:t>.</a:t>
            </a:r>
            <a:r>
              <a:rPr sz="900" b="0" i="0">
                <a:solidFill>
                  <a:srgbClr val="1F2421"/>
                </a:solidFill>
                <a:latin typeface="Consolas"/>
              </a:rPr>
              <a:t>Dropout</a:t>
            </a:r>
            <a:r>
              <a:rPr sz="900" b="0" i="0">
                <a:solidFill>
                  <a:srgbClr val="1F2421"/>
                </a:solidFill>
                <a:latin typeface="Consolas"/>
              </a:rPr>
              <a:t>(</a:t>
            </a:r>
            <a:r>
              <a:rPr sz="900" b="0" i="0">
                <a:solidFill>
                  <a:srgbClr val="1F2421"/>
                </a:solidFill>
                <a:latin typeface="Consolas"/>
              </a:rPr>
              <a:t>0</a:t>
            </a:r>
            <a:r>
              <a:rPr sz="900" b="0" i="0">
                <a:solidFill>
                  <a:srgbClr val="1F2421"/>
                </a:solidFill>
                <a:latin typeface="Consolas"/>
              </a:rPr>
              <a:t>.</a:t>
            </a:r>
            <a:r>
              <a:rPr sz="900" b="0" i="0">
                <a:solidFill>
                  <a:srgbClr val="1F2421"/>
                </a:solidFill>
                <a:latin typeface="Consolas"/>
              </a:rPr>
              <a:t>3</a:t>
            </a:r>
            <a:r>
              <a:rPr sz="900" b="0" i="0">
                <a:solidFill>
                  <a:srgbClr val="1F2421"/>
                </a:solidFill>
                <a:latin typeface="Consolas"/>
              </a:rPr>
              <a:t>)</a:t>
            </a:r>
            <a:r>
              <a:rPr sz="900" b="0" i="0">
                <a:solidFill>
                  <a:srgbClr val="1F2421"/>
                </a:solidFill>
                <a:latin typeface="Consolas"/>
              </a:rPr>
              <a:t>,</a:t>
            </a:r>
          </a:p>
          <a:p>
            <a:pPr algn="l">
              <a:lnSpc>
                <a:spcPct val="108000"/>
              </a:lnSpc>
            </a:pP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layers</a:t>
            </a:r>
            <a:r>
              <a:rPr sz="900" b="0" i="0">
                <a:solidFill>
                  <a:srgbClr val="1F2421"/>
                </a:solidFill>
                <a:latin typeface="Consolas"/>
              </a:rPr>
              <a:t>.</a:t>
            </a:r>
            <a:r>
              <a:rPr sz="900" b="0" i="0">
                <a:solidFill>
                  <a:srgbClr val="1F2421"/>
                </a:solidFill>
                <a:latin typeface="Consolas"/>
              </a:rPr>
              <a:t>Dense</a:t>
            </a:r>
            <a:r>
              <a:rPr sz="900" b="0" i="0">
                <a:solidFill>
                  <a:srgbClr val="1F2421"/>
                </a:solidFill>
                <a:latin typeface="Consolas"/>
              </a:rPr>
              <a:t>(</a:t>
            </a:r>
            <a:r>
              <a:rPr sz="900" b="0" i="0">
                <a:solidFill>
                  <a:srgbClr val="1F2421"/>
                </a:solidFill>
                <a:latin typeface="Consolas"/>
              </a:rPr>
              <a:t>6</a:t>
            </a:r>
            <a:r>
              <a:rPr sz="900" b="0" i="0">
                <a:solidFill>
                  <a:srgbClr val="1F2421"/>
                </a:solidFill>
                <a:latin typeface="Consolas"/>
              </a:rPr>
              <a:t>4</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activation</a:t>
            </a:r>
            <a:r>
              <a:rPr sz="900" b="0" i="0">
                <a:solidFill>
                  <a:srgbClr val="1F2421"/>
                </a:solidFill>
                <a:latin typeface="Consolas"/>
              </a:rPr>
              <a:t>=</a:t>
            </a:r>
            <a:r>
              <a:rPr sz="900" b="0" i="0">
                <a:solidFill>
                  <a:srgbClr val="8E673F"/>
                </a:solidFill>
                <a:latin typeface="Consolas"/>
              </a:rPr>
              <a:t>"relu"</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kernel_regularizer</a:t>
            </a:r>
            <a:r>
              <a:rPr sz="900" b="0" i="0">
                <a:solidFill>
                  <a:srgbClr val="1F2421"/>
                </a:solidFill>
                <a:latin typeface="Consolas"/>
              </a:rPr>
              <a:t>=</a:t>
            </a:r>
            <a:r>
              <a:rPr sz="900" b="0" i="0">
                <a:solidFill>
                  <a:srgbClr val="1F2421"/>
                </a:solidFill>
                <a:latin typeface="Consolas"/>
              </a:rPr>
              <a:t>l2</a:t>
            </a:r>
            <a:r>
              <a:rPr sz="900" b="0" i="0">
                <a:solidFill>
                  <a:srgbClr val="1F2421"/>
                </a:solidFill>
                <a:latin typeface="Consolas"/>
              </a:rPr>
              <a:t>)</a:t>
            </a:r>
            <a:r>
              <a:rPr sz="900" b="0" i="0">
                <a:solidFill>
                  <a:srgbClr val="1F2421"/>
                </a:solidFill>
                <a:latin typeface="Consolas"/>
              </a:rPr>
              <a:t>,</a:t>
            </a:r>
          </a:p>
          <a:p>
            <a:pPr algn="l">
              <a:lnSpc>
                <a:spcPct val="108000"/>
              </a:lnSpc>
            </a:pP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layers</a:t>
            </a:r>
            <a:r>
              <a:rPr sz="900" b="0" i="0">
                <a:solidFill>
                  <a:srgbClr val="1F2421"/>
                </a:solidFill>
                <a:latin typeface="Consolas"/>
              </a:rPr>
              <a:t>.</a:t>
            </a:r>
            <a:r>
              <a:rPr sz="900" b="0" i="0">
                <a:solidFill>
                  <a:srgbClr val="1F2421"/>
                </a:solidFill>
                <a:latin typeface="Consolas"/>
              </a:rPr>
              <a:t>Dropout</a:t>
            </a:r>
            <a:r>
              <a:rPr sz="900" b="0" i="0">
                <a:solidFill>
                  <a:srgbClr val="1F2421"/>
                </a:solidFill>
                <a:latin typeface="Consolas"/>
              </a:rPr>
              <a:t>(</a:t>
            </a:r>
            <a:r>
              <a:rPr sz="900" b="0" i="0">
                <a:solidFill>
                  <a:srgbClr val="1F2421"/>
                </a:solidFill>
                <a:latin typeface="Consolas"/>
              </a:rPr>
              <a:t>0</a:t>
            </a:r>
            <a:r>
              <a:rPr sz="900" b="0" i="0">
                <a:solidFill>
                  <a:srgbClr val="1F2421"/>
                </a:solidFill>
                <a:latin typeface="Consolas"/>
              </a:rPr>
              <a:t>.</a:t>
            </a:r>
            <a:r>
              <a:rPr sz="900" b="0" i="0">
                <a:solidFill>
                  <a:srgbClr val="1F2421"/>
                </a:solidFill>
                <a:latin typeface="Consolas"/>
              </a:rPr>
              <a:t>2</a:t>
            </a:r>
            <a:r>
              <a:rPr sz="900" b="0" i="0">
                <a:solidFill>
                  <a:srgbClr val="1F2421"/>
                </a:solidFill>
                <a:latin typeface="Consolas"/>
              </a:rPr>
              <a:t>)</a:t>
            </a:r>
            <a:r>
              <a:rPr sz="900" b="0" i="0">
                <a:solidFill>
                  <a:srgbClr val="1F2421"/>
                </a:solidFill>
                <a:latin typeface="Consolas"/>
              </a:rPr>
              <a:t>,</a:t>
            </a:r>
          </a:p>
          <a:p>
            <a:pPr algn="l">
              <a:lnSpc>
                <a:spcPct val="108000"/>
              </a:lnSpc>
            </a:pP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layers</a:t>
            </a:r>
            <a:r>
              <a:rPr sz="900" b="0" i="0">
                <a:solidFill>
                  <a:srgbClr val="1F2421"/>
                </a:solidFill>
                <a:latin typeface="Consolas"/>
              </a:rPr>
              <a:t>.</a:t>
            </a:r>
            <a:r>
              <a:rPr sz="900" b="0" i="0">
                <a:solidFill>
                  <a:srgbClr val="1F2421"/>
                </a:solidFill>
                <a:latin typeface="Consolas"/>
              </a:rPr>
              <a:t>Dense</a:t>
            </a:r>
            <a:r>
              <a:rPr sz="900" b="0" i="0">
                <a:solidFill>
                  <a:srgbClr val="1F2421"/>
                </a:solidFill>
                <a:latin typeface="Consolas"/>
              </a:rPr>
              <a:t>(</a:t>
            </a:r>
            <a:r>
              <a:rPr sz="900" b="0" i="0">
                <a:solidFill>
                  <a:srgbClr val="1F2421"/>
                </a:solidFill>
                <a:latin typeface="Consolas"/>
              </a:rPr>
              <a:t>1</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activation</a:t>
            </a:r>
            <a:r>
              <a:rPr sz="900" b="0" i="0">
                <a:solidFill>
                  <a:srgbClr val="1F2421"/>
                </a:solidFill>
                <a:latin typeface="Consolas"/>
              </a:rPr>
              <a:t>=</a:t>
            </a:r>
            <a:r>
              <a:rPr sz="900" b="0" i="0">
                <a:solidFill>
                  <a:srgbClr val="8E673F"/>
                </a:solidFill>
                <a:latin typeface="Consolas"/>
              </a:rPr>
              <a:t>"sigmoid"</a:t>
            </a:r>
            <a:r>
              <a:rPr sz="900" b="0" i="0">
                <a:solidFill>
                  <a:srgbClr val="1F2421"/>
                </a:solidFill>
                <a:latin typeface="Consolas"/>
              </a:rPr>
              <a:t>)</a:t>
            </a:r>
            <a:r>
              <a:rPr sz="900" b="0" i="0">
                <a:solidFill>
                  <a:srgbClr val="1F2421"/>
                </a:solidFill>
                <a:latin typeface="Consolas"/>
              </a:rPr>
              <a:t>]</a:t>
            </a:r>
            <a:r>
              <a:rPr sz="900" b="0" i="0">
                <a:solidFill>
                  <a:srgbClr val="1F2421"/>
                </a:solidFill>
                <a:latin typeface="Consolas"/>
              </a:rPr>
              <a:t>)</a:t>
            </a:r>
          </a:p>
          <a:p>
            <a:pPr algn="l">
              <a:lnSpc>
                <a:spcPct val="108000"/>
              </a:lnSpc>
            </a:pP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model</a:t>
            </a:r>
            <a:r>
              <a:rPr sz="900" b="0" i="0">
                <a:solidFill>
                  <a:srgbClr val="1F2421"/>
                </a:solidFill>
                <a:latin typeface="Consolas"/>
              </a:rPr>
              <a:t>.</a:t>
            </a:r>
            <a:r>
              <a:rPr sz="900" b="0" i="0">
                <a:solidFill>
                  <a:srgbClr val="1F2421"/>
                </a:solidFill>
                <a:latin typeface="Consolas"/>
              </a:rPr>
              <a:t>compile</a:t>
            </a:r>
            <a:r>
              <a:rPr sz="900" b="0" i="0">
                <a:solidFill>
                  <a:srgbClr val="1F2421"/>
                </a:solidFill>
                <a:latin typeface="Consolas"/>
              </a:rPr>
              <a:t>(</a:t>
            </a:r>
            <a:r>
              <a:rPr sz="900" b="0" i="0">
                <a:solidFill>
                  <a:srgbClr val="1F2421"/>
                </a:solidFill>
                <a:latin typeface="Consolas"/>
              </a:rPr>
              <a:t>optimizer</a:t>
            </a:r>
            <a:r>
              <a:rPr sz="900" b="0" i="0">
                <a:solidFill>
                  <a:srgbClr val="1F2421"/>
                </a:solidFill>
                <a:latin typeface="Consolas"/>
              </a:rPr>
              <a:t>=</a:t>
            </a:r>
            <a:r>
              <a:rPr sz="900" b="0" i="0">
                <a:solidFill>
                  <a:srgbClr val="8E673F"/>
                </a:solidFill>
                <a:latin typeface="Consolas"/>
              </a:rPr>
              <a:t>"adam"</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loss</a:t>
            </a:r>
            <a:r>
              <a:rPr sz="900" b="0" i="0">
                <a:solidFill>
                  <a:srgbClr val="1F2421"/>
                </a:solidFill>
                <a:latin typeface="Consolas"/>
              </a:rPr>
              <a:t>=</a:t>
            </a:r>
            <a:r>
              <a:rPr sz="900" b="0" i="0">
                <a:solidFill>
                  <a:srgbClr val="8E673F"/>
                </a:solidFill>
                <a:latin typeface="Consolas"/>
              </a:rPr>
              <a:t>"binary_crossentropy"</a:t>
            </a:r>
            <a:r>
              <a:rPr sz="900" b="0" i="0">
                <a:solidFill>
                  <a:srgbClr val="1F2421"/>
                </a:solidFill>
                <a:latin typeface="Consolas"/>
              </a:rPr>
              <a:t>)</a:t>
            </a:r>
          </a:p>
          <a:p>
            <a:pPr algn="l">
              <a:lnSpc>
                <a:spcPct val="108000"/>
              </a:lnSpc>
            </a:pP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1" i="0">
                <a:solidFill>
                  <a:srgbClr val="3E5F5A"/>
                </a:solidFill>
                <a:latin typeface="Consolas"/>
              </a:rPr>
              <a:t>return</a:t>
            </a:r>
            <a:r>
              <a:rPr sz="900" b="0" i="0">
                <a:solidFill>
                  <a:srgbClr val="1F2421"/>
                </a:solidFill>
                <a:latin typeface="Consolas"/>
              </a:rPr>
              <a:t> </a:t>
            </a:r>
            <a:r>
              <a:rPr sz="900" b="0" i="0">
                <a:solidFill>
                  <a:srgbClr val="1F2421"/>
                </a:solidFill>
                <a:latin typeface="Consolas"/>
              </a:rPr>
              <a:t>model</a:t>
            </a:r>
          </a:p>
        </p:txBody>
      </p:sp>
      <p:sp>
        <p:nvSpPr>
          <p:cNvPr id="28" name="Rectangle 27"/>
          <p:cNvSpPr/>
          <p:nvPr/>
        </p:nvSpPr>
        <p:spPr>
          <a:xfrm>
            <a:off x="6199632" y="3017520"/>
            <a:ext cx="5257800" cy="2971800"/>
          </a:xfrm>
          <a:prstGeom prst="rect">
            <a:avLst/>
          </a:prstGeom>
          <a:solidFill>
            <a:srgbClr val="FBFAF7"/>
          </a:solidFill>
          <a:ln w="9525">
            <a:solidFill>
              <a:srgbClr val="DDDA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99632" y="3017520"/>
            <a:ext cx="45720" cy="2971800"/>
          </a:xfrm>
          <a:prstGeom prst="rect">
            <a:avLst/>
          </a:prstGeom>
          <a:solidFill>
            <a:srgbClr val="3E5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28232" y="3127248"/>
            <a:ext cx="4892040" cy="228600"/>
          </a:xfrm>
          <a:prstGeom prst="rect">
            <a:avLst/>
          </a:prstGeom>
          <a:noFill/>
        </p:spPr>
        <p:txBody>
          <a:bodyPr wrap="square" anchor="t" lIns="0" rIns="0" tIns="0" bIns="0">
            <a:spAutoFit/>
          </a:bodyPr>
          <a:lstStyle/>
          <a:p>
            <a:pPr algn="l">
              <a:lnSpc>
                <a:spcPct val="120000"/>
              </a:lnSpc>
            </a:pPr>
            <a:r>
              <a:rPr sz="900" b="0" i="0">
                <a:solidFill>
                  <a:srgbClr val="8C918A"/>
                </a:solidFill>
                <a:latin typeface="Consolas"/>
              </a:rPr>
              <a:t>src/federated_training.py  (FedAvg)</a:t>
            </a:r>
          </a:p>
        </p:txBody>
      </p:sp>
      <p:cxnSp>
        <p:nvCxnSpPr>
          <p:cNvPr id="31" name="Connector 30"/>
          <p:cNvCxnSpPr/>
          <p:nvPr/>
        </p:nvCxnSpPr>
        <p:spPr>
          <a:xfrm>
            <a:off x="6428232" y="3401568"/>
            <a:ext cx="4846320" cy="0"/>
          </a:xfrm>
          <a:prstGeom prst="line">
            <a:avLst/>
          </a:prstGeom>
          <a:ln w="6350">
            <a:solidFill>
              <a:srgbClr val="DDDAD2"/>
            </a:solidFill>
          </a:ln>
        </p:spPr>
      </p:cxnSp>
      <p:sp>
        <p:nvSpPr>
          <p:cNvPr id="32" name="TextBox 31"/>
          <p:cNvSpPr txBox="1"/>
          <p:nvPr/>
        </p:nvSpPr>
        <p:spPr>
          <a:xfrm>
            <a:off x="6428232" y="3520440"/>
            <a:ext cx="4937760" cy="2377440"/>
          </a:xfrm>
          <a:prstGeom prst="rect">
            <a:avLst/>
          </a:prstGeom>
          <a:noFill/>
        </p:spPr>
        <p:txBody>
          <a:bodyPr wrap="square" anchor="t" lIns="0" rIns="0" tIns="0" bIns="0">
            <a:spAutoFit/>
          </a:bodyPr>
          <a:lstStyle/>
          <a:p>
            <a:pPr algn="l">
              <a:lnSpc>
                <a:spcPct val="108000"/>
              </a:lnSpc>
            </a:pPr>
            <a:r>
              <a:rPr sz="900" b="1" i="0">
                <a:solidFill>
                  <a:srgbClr val="3E5F5A"/>
                </a:solidFill>
                <a:latin typeface="Consolas"/>
              </a:rPr>
              <a:t>def</a:t>
            </a:r>
            <a:r>
              <a:rPr sz="900" b="0" i="0">
                <a:solidFill>
                  <a:srgbClr val="1F2421"/>
                </a:solidFill>
                <a:latin typeface="Consolas"/>
              </a:rPr>
              <a:t> </a:t>
            </a:r>
            <a:r>
              <a:rPr sz="900" b="0" i="0">
                <a:solidFill>
                  <a:srgbClr val="1F2421"/>
                </a:solidFill>
                <a:latin typeface="Consolas"/>
              </a:rPr>
              <a:t>federated_average</a:t>
            </a:r>
            <a:r>
              <a:rPr sz="900" b="0" i="0">
                <a:solidFill>
                  <a:srgbClr val="1F2421"/>
                </a:solidFill>
                <a:latin typeface="Consolas"/>
              </a:rPr>
              <a:t>(</a:t>
            </a:r>
            <a:r>
              <a:rPr sz="900" b="0" i="0">
                <a:solidFill>
                  <a:srgbClr val="1F2421"/>
                </a:solidFill>
                <a:latin typeface="Consolas"/>
              </a:rPr>
              <a:t>weight_list</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sample_counts</a:t>
            </a:r>
            <a:r>
              <a:rPr sz="900" b="0" i="0">
                <a:solidFill>
                  <a:srgbClr val="1F2421"/>
                </a:solidFill>
                <a:latin typeface="Consolas"/>
              </a:rPr>
              <a:t>)</a:t>
            </a:r>
            <a:r>
              <a:rPr sz="900" b="0" i="0">
                <a:solidFill>
                  <a:srgbClr val="1F2421"/>
                </a:solidFill>
                <a:latin typeface="Consolas"/>
              </a:rPr>
              <a:t>:</a:t>
            </a:r>
          </a:p>
          <a:p>
            <a:pPr algn="l">
              <a:lnSpc>
                <a:spcPct val="108000"/>
              </a:lnSpc>
            </a:pP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total</a:t>
            </a:r>
            <a:r>
              <a:rPr sz="900" b="0" i="0">
                <a:solidFill>
                  <a:srgbClr val="1F2421"/>
                </a:solidFill>
                <a:latin typeface="Consolas"/>
              </a:rPr>
              <a:t> </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sum</a:t>
            </a:r>
            <a:r>
              <a:rPr sz="900" b="0" i="0">
                <a:solidFill>
                  <a:srgbClr val="1F2421"/>
                </a:solidFill>
                <a:latin typeface="Consolas"/>
              </a:rPr>
              <a:t>(</a:t>
            </a:r>
            <a:r>
              <a:rPr sz="900" b="0" i="0">
                <a:solidFill>
                  <a:srgbClr val="1F2421"/>
                </a:solidFill>
                <a:latin typeface="Consolas"/>
              </a:rPr>
              <a:t>sample_counts</a:t>
            </a:r>
            <a:r>
              <a:rPr sz="900" b="0" i="0">
                <a:solidFill>
                  <a:srgbClr val="1F2421"/>
                </a:solidFill>
                <a:latin typeface="Consolas"/>
              </a:rPr>
              <a:t>)</a:t>
            </a:r>
          </a:p>
          <a:p>
            <a:pPr algn="l">
              <a:lnSpc>
                <a:spcPct val="108000"/>
              </a:lnSpc>
            </a:pP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averaged</a:t>
            </a:r>
            <a:r>
              <a:rPr sz="900" b="0" i="0">
                <a:solidFill>
                  <a:srgbClr val="1F2421"/>
                </a:solidFill>
                <a:latin typeface="Consolas"/>
              </a:rPr>
              <a:t> </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a:t>
            </a:r>
            <a:r>
              <a:rPr sz="900" b="0" i="0">
                <a:solidFill>
                  <a:srgbClr val="1F2421"/>
                </a:solidFill>
                <a:latin typeface="Consolas"/>
              </a:rPr>
              <a:t>]</a:t>
            </a:r>
          </a:p>
          <a:p>
            <a:pPr algn="l">
              <a:lnSpc>
                <a:spcPct val="108000"/>
              </a:lnSpc>
            </a:pP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1" i="0">
                <a:solidFill>
                  <a:srgbClr val="3E5F5A"/>
                </a:solidFill>
                <a:latin typeface="Consolas"/>
              </a:rPr>
              <a:t>for</a:t>
            </a:r>
            <a:r>
              <a:rPr sz="900" b="0" i="0">
                <a:solidFill>
                  <a:srgbClr val="1F2421"/>
                </a:solidFill>
                <a:latin typeface="Consolas"/>
              </a:rPr>
              <a:t> </a:t>
            </a:r>
            <a:r>
              <a:rPr sz="900" b="0" i="0">
                <a:solidFill>
                  <a:srgbClr val="1F2421"/>
                </a:solidFill>
                <a:latin typeface="Consolas"/>
              </a:rPr>
              <a:t>layer_idx</a:t>
            </a:r>
            <a:r>
              <a:rPr sz="900" b="0" i="0">
                <a:solidFill>
                  <a:srgbClr val="1F2421"/>
                </a:solidFill>
                <a:latin typeface="Consolas"/>
              </a:rPr>
              <a:t> </a:t>
            </a:r>
            <a:r>
              <a:rPr sz="900" b="1" i="0">
                <a:solidFill>
                  <a:srgbClr val="3E5F5A"/>
                </a:solidFill>
                <a:latin typeface="Consolas"/>
              </a:rPr>
              <a:t>in</a:t>
            </a:r>
            <a:r>
              <a:rPr sz="900" b="0" i="0">
                <a:solidFill>
                  <a:srgbClr val="1F2421"/>
                </a:solidFill>
                <a:latin typeface="Consolas"/>
              </a:rPr>
              <a:t> </a:t>
            </a:r>
            <a:r>
              <a:rPr sz="900" b="0" i="0">
                <a:solidFill>
                  <a:srgbClr val="1F2421"/>
                </a:solidFill>
                <a:latin typeface="Consolas"/>
              </a:rPr>
              <a:t>range</a:t>
            </a:r>
            <a:r>
              <a:rPr sz="900" b="0" i="0">
                <a:solidFill>
                  <a:srgbClr val="1F2421"/>
                </a:solidFill>
                <a:latin typeface="Consolas"/>
              </a:rPr>
              <a:t>(</a:t>
            </a:r>
            <a:r>
              <a:rPr sz="900" b="0" i="0">
                <a:solidFill>
                  <a:srgbClr val="1F2421"/>
                </a:solidFill>
                <a:latin typeface="Consolas"/>
              </a:rPr>
              <a:t>len</a:t>
            </a:r>
            <a:r>
              <a:rPr sz="900" b="0" i="0">
                <a:solidFill>
                  <a:srgbClr val="1F2421"/>
                </a:solidFill>
                <a:latin typeface="Consolas"/>
              </a:rPr>
              <a:t>(</a:t>
            </a:r>
            <a:r>
              <a:rPr sz="900" b="0" i="0">
                <a:solidFill>
                  <a:srgbClr val="1F2421"/>
                </a:solidFill>
                <a:latin typeface="Consolas"/>
              </a:rPr>
              <a:t>weight_list</a:t>
            </a:r>
            <a:r>
              <a:rPr sz="900" b="0" i="0">
                <a:solidFill>
                  <a:srgbClr val="1F2421"/>
                </a:solidFill>
                <a:latin typeface="Consolas"/>
              </a:rPr>
              <a:t>[</a:t>
            </a:r>
            <a:r>
              <a:rPr sz="900" b="0" i="0">
                <a:solidFill>
                  <a:srgbClr val="1F2421"/>
                </a:solidFill>
                <a:latin typeface="Consolas"/>
              </a:rPr>
              <a:t>0</a:t>
            </a:r>
            <a:r>
              <a:rPr sz="900" b="0" i="0">
                <a:solidFill>
                  <a:srgbClr val="1F2421"/>
                </a:solidFill>
                <a:latin typeface="Consolas"/>
              </a:rPr>
              <a:t>]</a:t>
            </a:r>
            <a:r>
              <a:rPr sz="900" b="0" i="0">
                <a:solidFill>
                  <a:srgbClr val="1F2421"/>
                </a:solidFill>
                <a:latin typeface="Consolas"/>
              </a:rPr>
              <a:t>)</a:t>
            </a:r>
            <a:r>
              <a:rPr sz="900" b="0" i="0">
                <a:solidFill>
                  <a:srgbClr val="1F2421"/>
                </a:solidFill>
                <a:latin typeface="Consolas"/>
              </a:rPr>
              <a:t>)</a:t>
            </a:r>
            <a:r>
              <a:rPr sz="900" b="0" i="0">
                <a:solidFill>
                  <a:srgbClr val="1F2421"/>
                </a:solidFill>
                <a:latin typeface="Consolas"/>
              </a:rPr>
              <a:t>:</a:t>
            </a:r>
          </a:p>
          <a:p>
            <a:pPr algn="l">
              <a:lnSpc>
                <a:spcPct val="108000"/>
              </a:lnSpc>
            </a:pP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layer_sum</a:t>
            </a:r>
            <a:r>
              <a:rPr sz="900" b="0" i="0">
                <a:solidFill>
                  <a:srgbClr val="1F2421"/>
                </a:solidFill>
                <a:latin typeface="Consolas"/>
              </a:rPr>
              <a:t> </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sum</a:t>
            </a:r>
            <a:r>
              <a:rPr sz="900" b="0" i="0">
                <a:solidFill>
                  <a:srgbClr val="1F2421"/>
                </a:solidFill>
                <a:latin typeface="Consolas"/>
              </a:rPr>
              <a:t>(</a:t>
            </a:r>
            <a:r>
              <a:rPr sz="900" b="0" i="0">
                <a:solidFill>
                  <a:srgbClr val="1F2421"/>
                </a:solidFill>
                <a:latin typeface="Consolas"/>
              </a:rPr>
              <a:t>weight_list</a:t>
            </a:r>
            <a:r>
              <a:rPr sz="900" b="0" i="0">
                <a:solidFill>
                  <a:srgbClr val="1F2421"/>
                </a:solidFill>
                <a:latin typeface="Consolas"/>
              </a:rPr>
              <a:t>[</a:t>
            </a:r>
            <a:r>
              <a:rPr sz="900" b="0" i="0">
                <a:solidFill>
                  <a:srgbClr val="1F2421"/>
                </a:solidFill>
                <a:latin typeface="Consolas"/>
              </a:rPr>
              <a:t>i</a:t>
            </a:r>
            <a:r>
              <a:rPr sz="900" b="0" i="0">
                <a:solidFill>
                  <a:srgbClr val="1F2421"/>
                </a:solidFill>
                <a:latin typeface="Consolas"/>
              </a:rPr>
              <a:t>]</a:t>
            </a:r>
            <a:r>
              <a:rPr sz="900" b="0" i="0">
                <a:solidFill>
                  <a:srgbClr val="1F2421"/>
                </a:solidFill>
                <a:latin typeface="Consolas"/>
              </a:rPr>
              <a:t>[</a:t>
            </a:r>
            <a:r>
              <a:rPr sz="900" b="0" i="0">
                <a:solidFill>
                  <a:srgbClr val="1F2421"/>
                </a:solidFill>
                <a:latin typeface="Consolas"/>
              </a:rPr>
              <a:t>layer_idx</a:t>
            </a:r>
            <a:r>
              <a:rPr sz="900" b="0" i="0">
                <a:solidFill>
                  <a:srgbClr val="1F2421"/>
                </a:solidFill>
                <a:latin typeface="Consolas"/>
              </a:rPr>
              <a:t>]</a:t>
            </a:r>
          </a:p>
          <a:p>
            <a:pPr algn="l">
              <a:lnSpc>
                <a:spcPct val="108000"/>
              </a:lnSpc>
            </a:pP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a:t>
            </a:r>
            <a:r>
              <a:rPr sz="900" b="0" i="0">
                <a:solidFill>
                  <a:srgbClr val="1F2421"/>
                </a:solidFill>
                <a:latin typeface="Consolas"/>
              </a:rPr>
              <a:t>sample_counts</a:t>
            </a:r>
            <a:r>
              <a:rPr sz="900" b="0" i="0">
                <a:solidFill>
                  <a:srgbClr val="1F2421"/>
                </a:solidFill>
                <a:latin typeface="Consolas"/>
              </a:rPr>
              <a:t>[</a:t>
            </a:r>
            <a:r>
              <a:rPr sz="900" b="0" i="0">
                <a:solidFill>
                  <a:srgbClr val="1F2421"/>
                </a:solidFill>
                <a:latin typeface="Consolas"/>
              </a:rPr>
              <a:t>i</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total</a:t>
            </a:r>
            <a:r>
              <a:rPr sz="900" b="0" i="0">
                <a:solidFill>
                  <a:srgbClr val="1F2421"/>
                </a:solidFill>
                <a:latin typeface="Consolas"/>
              </a:rPr>
              <a:t>)</a:t>
            </a:r>
          </a:p>
          <a:p>
            <a:pPr algn="l">
              <a:lnSpc>
                <a:spcPct val="108000"/>
              </a:lnSpc>
            </a:pP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1" i="0">
                <a:solidFill>
                  <a:srgbClr val="3E5F5A"/>
                </a:solidFill>
                <a:latin typeface="Consolas"/>
              </a:rPr>
              <a:t>for</a:t>
            </a:r>
            <a:r>
              <a:rPr sz="900" b="0" i="0">
                <a:solidFill>
                  <a:srgbClr val="1F2421"/>
                </a:solidFill>
                <a:latin typeface="Consolas"/>
              </a:rPr>
              <a:t> </a:t>
            </a:r>
            <a:r>
              <a:rPr sz="900" b="0" i="0">
                <a:solidFill>
                  <a:srgbClr val="1F2421"/>
                </a:solidFill>
                <a:latin typeface="Consolas"/>
              </a:rPr>
              <a:t>i</a:t>
            </a:r>
            <a:r>
              <a:rPr sz="900" b="0" i="0">
                <a:solidFill>
                  <a:srgbClr val="1F2421"/>
                </a:solidFill>
                <a:latin typeface="Consolas"/>
              </a:rPr>
              <a:t> </a:t>
            </a:r>
            <a:r>
              <a:rPr sz="900" b="1" i="0">
                <a:solidFill>
                  <a:srgbClr val="3E5F5A"/>
                </a:solidFill>
                <a:latin typeface="Consolas"/>
              </a:rPr>
              <a:t>in</a:t>
            </a:r>
            <a:r>
              <a:rPr sz="900" b="0" i="0">
                <a:solidFill>
                  <a:srgbClr val="1F2421"/>
                </a:solidFill>
                <a:latin typeface="Consolas"/>
              </a:rPr>
              <a:t> </a:t>
            </a:r>
            <a:r>
              <a:rPr sz="900" b="0" i="0">
                <a:solidFill>
                  <a:srgbClr val="1F2421"/>
                </a:solidFill>
                <a:latin typeface="Consolas"/>
              </a:rPr>
              <a:t>range</a:t>
            </a:r>
            <a:r>
              <a:rPr sz="900" b="0" i="0">
                <a:solidFill>
                  <a:srgbClr val="1F2421"/>
                </a:solidFill>
                <a:latin typeface="Consolas"/>
              </a:rPr>
              <a:t>(</a:t>
            </a:r>
            <a:r>
              <a:rPr sz="900" b="0" i="0">
                <a:solidFill>
                  <a:srgbClr val="1F2421"/>
                </a:solidFill>
                <a:latin typeface="Consolas"/>
              </a:rPr>
              <a:t>len</a:t>
            </a:r>
            <a:r>
              <a:rPr sz="900" b="0" i="0">
                <a:solidFill>
                  <a:srgbClr val="1F2421"/>
                </a:solidFill>
                <a:latin typeface="Consolas"/>
              </a:rPr>
              <a:t>(</a:t>
            </a:r>
            <a:r>
              <a:rPr sz="900" b="0" i="0">
                <a:solidFill>
                  <a:srgbClr val="1F2421"/>
                </a:solidFill>
                <a:latin typeface="Consolas"/>
              </a:rPr>
              <a:t>weight_list</a:t>
            </a:r>
            <a:r>
              <a:rPr sz="900" b="0" i="0">
                <a:solidFill>
                  <a:srgbClr val="1F2421"/>
                </a:solidFill>
                <a:latin typeface="Consolas"/>
              </a:rPr>
              <a:t>)</a:t>
            </a:r>
            <a:r>
              <a:rPr sz="900" b="0" i="0">
                <a:solidFill>
                  <a:srgbClr val="1F2421"/>
                </a:solidFill>
                <a:latin typeface="Consolas"/>
              </a:rPr>
              <a:t>)</a:t>
            </a:r>
            <a:r>
              <a:rPr sz="900" b="0" i="0">
                <a:solidFill>
                  <a:srgbClr val="1F2421"/>
                </a:solidFill>
                <a:latin typeface="Consolas"/>
              </a:rPr>
              <a:t>)</a:t>
            </a:r>
          </a:p>
          <a:p>
            <a:pPr algn="l">
              <a:lnSpc>
                <a:spcPct val="108000"/>
              </a:lnSpc>
            </a:pP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averaged</a:t>
            </a:r>
            <a:r>
              <a:rPr sz="900" b="0" i="0">
                <a:solidFill>
                  <a:srgbClr val="1F2421"/>
                </a:solidFill>
                <a:latin typeface="Consolas"/>
              </a:rPr>
              <a:t>.</a:t>
            </a:r>
            <a:r>
              <a:rPr sz="900" b="0" i="0">
                <a:solidFill>
                  <a:srgbClr val="1F2421"/>
                </a:solidFill>
                <a:latin typeface="Consolas"/>
              </a:rPr>
              <a:t>append</a:t>
            </a:r>
            <a:r>
              <a:rPr sz="900" b="0" i="0">
                <a:solidFill>
                  <a:srgbClr val="1F2421"/>
                </a:solidFill>
                <a:latin typeface="Consolas"/>
              </a:rPr>
              <a:t>(</a:t>
            </a:r>
            <a:r>
              <a:rPr sz="900" b="0" i="0">
                <a:solidFill>
                  <a:srgbClr val="1F2421"/>
                </a:solidFill>
                <a:latin typeface="Consolas"/>
              </a:rPr>
              <a:t>layer_sum</a:t>
            </a:r>
            <a:r>
              <a:rPr sz="900" b="0" i="0">
                <a:solidFill>
                  <a:srgbClr val="1F2421"/>
                </a:solidFill>
                <a:latin typeface="Consolas"/>
              </a:rPr>
              <a:t>)</a:t>
            </a:r>
          </a:p>
          <a:p>
            <a:pPr algn="l">
              <a:lnSpc>
                <a:spcPct val="108000"/>
              </a:lnSpc>
            </a:pP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1" i="0">
                <a:solidFill>
                  <a:srgbClr val="3E5F5A"/>
                </a:solidFill>
                <a:latin typeface="Consolas"/>
              </a:rPr>
              <a:t>return</a:t>
            </a:r>
            <a:r>
              <a:rPr sz="900" b="0" i="0">
                <a:solidFill>
                  <a:srgbClr val="1F2421"/>
                </a:solidFill>
                <a:latin typeface="Consolas"/>
              </a:rPr>
              <a:t> </a:t>
            </a:r>
            <a:r>
              <a:rPr sz="900" b="0" i="0">
                <a:solidFill>
                  <a:srgbClr val="1F2421"/>
                </a:solidFill>
                <a:latin typeface="Consolas"/>
              </a:rPr>
              <a:t>averaged</a:t>
            </a:r>
          </a:p>
          <a:p>
            <a:pPr algn="l">
              <a:lnSpc>
                <a:spcPct val="108000"/>
              </a:lnSpc>
            </a:pPr>
            <a:r>
              <a:rPr sz="900" b="0" i="0">
                <a:solidFill>
                  <a:srgbClr val="1F2421"/>
                </a:solidFill>
                <a:latin typeface="Consolas"/>
              </a:rPr>
              <a:t> </a:t>
            </a:r>
          </a:p>
          <a:p>
            <a:pPr algn="l">
              <a:lnSpc>
                <a:spcPct val="108000"/>
              </a:lnSpc>
            </a:pPr>
            <a:r>
              <a:rPr sz="900" b="1" i="0">
                <a:solidFill>
                  <a:srgbClr val="3E5F5A"/>
                </a:solidFill>
                <a:latin typeface="Consolas"/>
              </a:rPr>
              <a:t>for</a:t>
            </a:r>
            <a:r>
              <a:rPr sz="900" b="0" i="0">
                <a:solidFill>
                  <a:srgbClr val="1F2421"/>
                </a:solidFill>
                <a:latin typeface="Consolas"/>
              </a:rPr>
              <a:t> </a:t>
            </a:r>
            <a:r>
              <a:rPr sz="900" b="0" i="0">
                <a:solidFill>
                  <a:srgbClr val="1F2421"/>
                </a:solidFill>
                <a:latin typeface="Consolas"/>
              </a:rPr>
              <a:t>round_num</a:t>
            </a:r>
            <a:r>
              <a:rPr sz="900" b="0" i="0">
                <a:solidFill>
                  <a:srgbClr val="1F2421"/>
                </a:solidFill>
                <a:latin typeface="Consolas"/>
              </a:rPr>
              <a:t> </a:t>
            </a:r>
            <a:r>
              <a:rPr sz="900" b="1" i="0">
                <a:solidFill>
                  <a:srgbClr val="3E5F5A"/>
                </a:solidFill>
                <a:latin typeface="Consolas"/>
              </a:rPr>
              <a:t>in</a:t>
            </a:r>
            <a:r>
              <a:rPr sz="900" b="0" i="0">
                <a:solidFill>
                  <a:srgbClr val="1F2421"/>
                </a:solidFill>
                <a:latin typeface="Consolas"/>
              </a:rPr>
              <a:t> </a:t>
            </a:r>
            <a:r>
              <a:rPr sz="900" b="0" i="0">
                <a:solidFill>
                  <a:srgbClr val="1F2421"/>
                </a:solidFill>
                <a:latin typeface="Consolas"/>
              </a:rPr>
              <a:t>range</a:t>
            </a:r>
            <a:r>
              <a:rPr sz="900" b="0" i="0">
                <a:solidFill>
                  <a:srgbClr val="1F2421"/>
                </a:solidFill>
                <a:latin typeface="Consolas"/>
              </a:rPr>
              <a:t>(</a:t>
            </a:r>
            <a:r>
              <a:rPr sz="900" b="0" i="0">
                <a:solidFill>
                  <a:srgbClr val="1F2421"/>
                </a:solidFill>
                <a:latin typeface="Consolas"/>
              </a:rPr>
              <a:t>1</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num_rounds</a:t>
            </a:r>
            <a:r>
              <a:rPr sz="900" b="0" i="0">
                <a:solidFill>
                  <a:srgbClr val="1F2421"/>
                </a:solidFill>
                <a:latin typeface="Consolas"/>
              </a:rPr>
              <a:t> </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1</a:t>
            </a:r>
            <a:r>
              <a:rPr sz="900" b="0" i="0">
                <a:solidFill>
                  <a:srgbClr val="1F2421"/>
                </a:solidFill>
                <a:latin typeface="Consolas"/>
              </a:rPr>
              <a:t>)</a:t>
            </a:r>
            <a:r>
              <a:rPr sz="900" b="0" i="0">
                <a:solidFill>
                  <a:srgbClr val="1F2421"/>
                </a:solidFill>
                <a:latin typeface="Consolas"/>
              </a:rPr>
              <a:t>:</a:t>
            </a:r>
          </a:p>
          <a:p>
            <a:pPr algn="l">
              <a:lnSpc>
                <a:spcPct val="108000"/>
              </a:lnSpc>
            </a:pP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1" i="0">
                <a:solidFill>
                  <a:srgbClr val="3E5F5A"/>
                </a:solidFill>
                <a:latin typeface="Consolas"/>
              </a:rPr>
              <a:t>for</a:t>
            </a:r>
            <a:r>
              <a:rPr sz="900" b="0" i="0">
                <a:solidFill>
                  <a:srgbClr val="1F2421"/>
                </a:solidFill>
                <a:latin typeface="Consolas"/>
              </a:rPr>
              <a:t> </a:t>
            </a:r>
            <a:r>
              <a:rPr sz="900" b="0" i="0">
                <a:solidFill>
                  <a:srgbClr val="1F2421"/>
                </a:solidFill>
                <a:latin typeface="Consolas"/>
              </a:rPr>
              <a:t>client_id</a:t>
            </a:r>
            <a:r>
              <a:rPr sz="900" b="0" i="0">
                <a:solidFill>
                  <a:srgbClr val="1F2421"/>
                </a:solidFill>
                <a:latin typeface="Consolas"/>
              </a:rPr>
              <a:t> </a:t>
            </a:r>
            <a:r>
              <a:rPr sz="900" b="1" i="0">
                <a:solidFill>
                  <a:srgbClr val="3E5F5A"/>
                </a:solidFill>
                <a:latin typeface="Consolas"/>
              </a:rPr>
              <a:t>in</a:t>
            </a:r>
            <a:r>
              <a:rPr sz="900" b="0" i="0">
                <a:solidFill>
                  <a:srgbClr val="1F2421"/>
                </a:solidFill>
                <a:latin typeface="Consolas"/>
              </a:rPr>
              <a:t> </a:t>
            </a:r>
            <a:r>
              <a:rPr sz="900" b="0" i="0">
                <a:solidFill>
                  <a:srgbClr val="1F2421"/>
                </a:solidFill>
                <a:latin typeface="Consolas"/>
              </a:rPr>
              <a:t>range</a:t>
            </a:r>
            <a:r>
              <a:rPr sz="900" b="0" i="0">
                <a:solidFill>
                  <a:srgbClr val="1F2421"/>
                </a:solidFill>
                <a:latin typeface="Consolas"/>
              </a:rPr>
              <a:t>(</a:t>
            </a:r>
            <a:r>
              <a:rPr sz="900" b="0" i="0">
                <a:solidFill>
                  <a:srgbClr val="1F2421"/>
                </a:solidFill>
                <a:latin typeface="Consolas"/>
              </a:rPr>
              <a:t>num_clients</a:t>
            </a:r>
            <a:r>
              <a:rPr sz="900" b="0" i="0">
                <a:solidFill>
                  <a:srgbClr val="1F2421"/>
                </a:solidFill>
                <a:latin typeface="Consolas"/>
              </a:rPr>
              <a:t>)</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1">
                <a:solidFill>
                  <a:srgbClr val="8C918A"/>
                </a:solidFill>
                <a:latin typeface="Consolas"/>
              </a:rPr>
              <a:t># local training</a:t>
            </a:r>
          </a:p>
          <a:p>
            <a:pPr algn="l">
              <a:lnSpc>
                <a:spcPct val="108000"/>
              </a:lnSpc>
            </a:pP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local_model</a:t>
            </a:r>
            <a:r>
              <a:rPr sz="900" b="0" i="0">
                <a:solidFill>
                  <a:srgbClr val="1F2421"/>
                </a:solidFill>
                <a:latin typeface="Consolas"/>
              </a:rPr>
              <a:t>.</a:t>
            </a:r>
            <a:r>
              <a:rPr sz="900" b="0" i="0">
                <a:solidFill>
                  <a:srgbClr val="1F2421"/>
                </a:solidFill>
                <a:latin typeface="Consolas"/>
              </a:rPr>
              <a:t>set_weights</a:t>
            </a:r>
            <a:r>
              <a:rPr sz="900" b="0" i="0">
                <a:solidFill>
                  <a:srgbClr val="1F2421"/>
                </a:solidFill>
                <a:latin typeface="Consolas"/>
              </a:rPr>
              <a:t>(</a:t>
            </a:r>
            <a:r>
              <a:rPr sz="900" b="0" i="0">
                <a:solidFill>
                  <a:srgbClr val="1F2421"/>
                </a:solidFill>
                <a:latin typeface="Consolas"/>
              </a:rPr>
              <a:t>global_weights</a:t>
            </a:r>
            <a:r>
              <a:rPr sz="900" b="0" i="0">
                <a:solidFill>
                  <a:srgbClr val="1F2421"/>
                </a:solidFill>
                <a:latin typeface="Consolas"/>
              </a:rPr>
              <a:t>)</a:t>
            </a:r>
          </a:p>
          <a:p>
            <a:pPr algn="l">
              <a:lnSpc>
                <a:spcPct val="108000"/>
              </a:lnSpc>
            </a:pP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local_model</a:t>
            </a:r>
            <a:r>
              <a:rPr sz="900" b="0" i="0">
                <a:solidFill>
                  <a:srgbClr val="1F2421"/>
                </a:solidFill>
                <a:latin typeface="Consolas"/>
              </a:rPr>
              <a:t>.</a:t>
            </a:r>
            <a:r>
              <a:rPr sz="900" b="0" i="0">
                <a:solidFill>
                  <a:srgbClr val="1F2421"/>
                </a:solidFill>
                <a:latin typeface="Consolas"/>
              </a:rPr>
              <a:t>fit</a:t>
            </a:r>
            <a:r>
              <a:rPr sz="900" b="0" i="0">
                <a:solidFill>
                  <a:srgbClr val="1F2421"/>
                </a:solidFill>
                <a:latin typeface="Consolas"/>
              </a:rPr>
              <a:t>(</a:t>
            </a:r>
            <a:r>
              <a:rPr sz="900" b="0" i="0">
                <a:solidFill>
                  <a:srgbClr val="1F2421"/>
                </a:solidFill>
                <a:latin typeface="Consolas"/>
              </a:rPr>
              <a:t>X_client</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y_client</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epochs</a:t>
            </a:r>
            <a:r>
              <a:rPr sz="900" b="0" i="0">
                <a:solidFill>
                  <a:srgbClr val="1F2421"/>
                </a:solidFill>
                <a:latin typeface="Consolas"/>
              </a:rPr>
              <a:t>=</a:t>
            </a:r>
            <a:r>
              <a:rPr sz="900" b="0" i="0">
                <a:solidFill>
                  <a:srgbClr val="1F2421"/>
                </a:solidFill>
                <a:latin typeface="Consolas"/>
              </a:rPr>
              <a:t>2</a:t>
            </a:r>
            <a:r>
              <a:rPr sz="900" b="0" i="0">
                <a:solidFill>
                  <a:srgbClr val="1F2421"/>
                </a:solidFill>
                <a:latin typeface="Consolas"/>
              </a:rPr>
              <a:t>)</a:t>
            </a:r>
          </a:p>
          <a:p>
            <a:pPr algn="l">
              <a:lnSpc>
                <a:spcPct val="108000"/>
              </a:lnSpc>
            </a:pP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global_weights</a:t>
            </a:r>
            <a:r>
              <a:rPr sz="900" b="0" i="0">
                <a:solidFill>
                  <a:srgbClr val="1F2421"/>
                </a:solidFill>
                <a:latin typeface="Consolas"/>
              </a:rPr>
              <a:t> </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federated_average</a:t>
            </a:r>
            <a:r>
              <a:rPr sz="900" b="0" i="0">
                <a:solidFill>
                  <a:srgbClr val="1F2421"/>
                </a:solidFill>
                <a:latin typeface="Consolas"/>
              </a:rPr>
              <a:t>(</a:t>
            </a:r>
            <a:r>
              <a:rPr sz="900" b="0" i="0">
                <a:solidFill>
                  <a:srgbClr val="1F2421"/>
                </a:solidFill>
                <a:latin typeface="Consolas"/>
              </a:rPr>
              <a:t>local_weights</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counts</a:t>
            </a:r>
            <a:r>
              <a:rPr sz="900" b="0" i="0">
                <a:solidFill>
                  <a:srgbClr val="1F2421"/>
                </a:solidFill>
                <a:latin typeface="Consolas"/>
              </a:rP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7315200" cy="274320"/>
          </a:xfrm>
          <a:prstGeom prst="rect">
            <a:avLst/>
          </a:prstGeom>
          <a:noFill/>
        </p:spPr>
        <p:txBody>
          <a:bodyPr wrap="square" anchor="t" lIns="0" rIns="0" tIns="0" bIns="0">
            <a:spAutoFit/>
          </a:bodyPr>
          <a:lstStyle/>
          <a:p>
            <a:pPr algn="l">
              <a:lnSpc>
                <a:spcPct val="120000"/>
              </a:lnSpc>
            </a:pPr>
            <a:r>
              <a:rPr sz="1050" b="1" i="0">
                <a:solidFill>
                  <a:srgbClr val="3E5F5A"/>
                </a:solidFill>
                <a:latin typeface="Segoe UI"/>
              </a:rPr>
              <a:t>METHODOLOGY · 5 / 6</a:t>
            </a:r>
          </a:p>
        </p:txBody>
      </p:sp>
      <p:cxnSp>
        <p:nvCxnSpPr>
          <p:cNvPr id="4" name="Connector 3"/>
          <p:cNvCxnSpPr/>
          <p:nvPr/>
        </p:nvCxnSpPr>
        <p:spPr>
          <a:xfrm>
            <a:off x="731520" y="841248"/>
            <a:ext cx="457200" cy="0"/>
          </a:xfrm>
          <a:prstGeom prst="line">
            <a:avLst/>
          </a:prstGeom>
          <a:ln w="19050">
            <a:solidFill>
              <a:srgbClr val="3E5F5A"/>
            </a:solidFill>
          </a:ln>
        </p:spPr>
      </p:cxnSp>
      <p:sp>
        <p:nvSpPr>
          <p:cNvPr id="5" name="TextBox 4"/>
          <p:cNvSpPr txBox="1"/>
          <p:nvPr/>
        </p:nvSpPr>
        <p:spPr>
          <a:xfrm>
            <a:off x="731520" y="960120"/>
            <a:ext cx="10725912" cy="731520"/>
          </a:xfrm>
          <a:prstGeom prst="rect">
            <a:avLst/>
          </a:prstGeom>
          <a:noFill/>
        </p:spPr>
        <p:txBody>
          <a:bodyPr wrap="square" anchor="t" lIns="0" rIns="0" tIns="0" bIns="0">
            <a:spAutoFit/>
          </a:bodyPr>
          <a:lstStyle/>
          <a:p>
            <a:pPr algn="l">
              <a:lnSpc>
                <a:spcPct val="120000"/>
              </a:lnSpc>
            </a:pPr>
            <a:r>
              <a:rPr sz="2800" b="0" i="0">
                <a:solidFill>
                  <a:srgbClr val="1F2421"/>
                </a:solidFill>
                <a:latin typeface="Georgia"/>
              </a:rPr>
              <a:t>Federated round and the Krypsis message</a:t>
            </a:r>
          </a:p>
        </p:txBody>
      </p:sp>
      <p:sp>
        <p:nvSpPr>
          <p:cNvPr id="6" name="TextBox 5"/>
          <p:cNvSpPr txBox="1"/>
          <p:nvPr/>
        </p:nvSpPr>
        <p:spPr>
          <a:xfrm>
            <a:off x="731520" y="6400800"/>
            <a:ext cx="5486400" cy="228600"/>
          </a:xfrm>
          <a:prstGeom prst="rect">
            <a:avLst/>
          </a:prstGeom>
          <a:noFill/>
        </p:spPr>
        <p:txBody>
          <a:bodyPr wrap="square" anchor="t" lIns="0" rIns="0" tIns="0" bIns="0">
            <a:spAutoFit/>
          </a:bodyPr>
          <a:lstStyle/>
          <a:p>
            <a:pPr algn="l">
              <a:lnSpc>
                <a:spcPct val="120000"/>
              </a:lnSpc>
            </a:pPr>
            <a:r>
              <a:rPr sz="900" b="0" i="0">
                <a:solidFill>
                  <a:srgbClr val="8C918A"/>
                </a:solidFill>
                <a:latin typeface="Segoe UI"/>
              </a:rPr>
              <a:t>Krypsis  ·  Final Review</a:t>
            </a:r>
          </a:p>
        </p:txBody>
      </p:sp>
      <p:sp>
        <p:nvSpPr>
          <p:cNvPr id="7" name="TextBox 6"/>
          <p:cNvSpPr txBox="1"/>
          <p:nvPr/>
        </p:nvSpPr>
        <p:spPr>
          <a:xfrm>
            <a:off x="10543032" y="6400800"/>
            <a:ext cx="914400" cy="228600"/>
          </a:xfrm>
          <a:prstGeom prst="rect">
            <a:avLst/>
          </a:prstGeom>
          <a:noFill/>
        </p:spPr>
        <p:txBody>
          <a:bodyPr wrap="square" anchor="t" lIns="0" rIns="0" tIns="0" bIns="0">
            <a:spAutoFit/>
          </a:bodyPr>
          <a:lstStyle/>
          <a:p>
            <a:pPr algn="r">
              <a:lnSpc>
                <a:spcPct val="120000"/>
              </a:lnSpc>
            </a:pPr>
            <a:r>
              <a:rPr sz="900" b="0" i="0">
                <a:solidFill>
                  <a:srgbClr val="8C918A"/>
                </a:solidFill>
                <a:latin typeface="Segoe UI"/>
              </a:rPr>
              <a:t>8</a:t>
            </a:r>
          </a:p>
        </p:txBody>
      </p:sp>
      <p:sp>
        <p:nvSpPr>
          <p:cNvPr id="8" name="Rectangle 7"/>
          <p:cNvSpPr/>
          <p:nvPr/>
        </p:nvSpPr>
        <p:spPr>
          <a:xfrm>
            <a:off x="731520" y="1783080"/>
            <a:ext cx="1143000" cy="777240"/>
          </a:xfrm>
          <a:prstGeom prst="rect">
            <a:avLst/>
          </a:prstGeom>
          <a:solidFill>
            <a:srgbClr val="EEECE6"/>
          </a:solidFill>
          <a:ln w="9525">
            <a:solidFill>
              <a:srgbClr val="DDDA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856231"/>
            <a:ext cx="868680" cy="685800"/>
          </a:xfrm>
          <a:prstGeom prst="rect">
            <a:avLst/>
          </a:prstGeom>
          <a:noFill/>
        </p:spPr>
        <p:txBody>
          <a:bodyPr wrap="square" anchor="t" lIns="0" rIns="0" tIns="0" bIns="0">
            <a:spAutoFit/>
          </a:bodyPr>
          <a:lstStyle/>
          <a:p>
            <a:pPr algn="l">
              <a:lnSpc>
                <a:spcPct val="115000"/>
              </a:lnSpc>
            </a:pPr>
            <a:r>
              <a:rPr sz="1000" b="1" i="0">
                <a:solidFill>
                  <a:srgbClr val="3E5F5A"/>
                </a:solidFill>
                <a:latin typeface="Segoe UI"/>
              </a:rPr>
              <a:t>LENGTH</a:t>
            </a:r>
          </a:p>
          <a:p>
            <a:pPr algn="l">
              <a:lnSpc>
                <a:spcPct val="115000"/>
              </a:lnSpc>
            </a:pPr>
            <a:r>
              <a:rPr sz="1100" b="0" i="0">
                <a:solidFill>
                  <a:srgbClr val="1F2421"/>
                </a:solidFill>
                <a:latin typeface="Segoe UI"/>
              </a:rPr>
              <a:t>4 B</a:t>
            </a:r>
          </a:p>
        </p:txBody>
      </p:sp>
      <p:sp>
        <p:nvSpPr>
          <p:cNvPr id="10" name="Rectangle 9"/>
          <p:cNvSpPr/>
          <p:nvPr/>
        </p:nvSpPr>
        <p:spPr>
          <a:xfrm>
            <a:off x="1874520" y="1783080"/>
            <a:ext cx="3931920" cy="777240"/>
          </a:xfrm>
          <a:prstGeom prst="rect">
            <a:avLst/>
          </a:prstGeom>
          <a:solidFill>
            <a:srgbClr val="E4EBE8"/>
          </a:solidFill>
          <a:ln w="9525">
            <a:solidFill>
              <a:srgbClr val="DDDA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11680" y="1856231"/>
            <a:ext cx="3657600" cy="685800"/>
          </a:xfrm>
          <a:prstGeom prst="rect">
            <a:avLst/>
          </a:prstGeom>
          <a:noFill/>
        </p:spPr>
        <p:txBody>
          <a:bodyPr wrap="square" anchor="t" lIns="0" rIns="0" tIns="0" bIns="0">
            <a:spAutoFit/>
          </a:bodyPr>
          <a:lstStyle/>
          <a:p>
            <a:pPr algn="l">
              <a:lnSpc>
                <a:spcPct val="115000"/>
              </a:lnSpc>
            </a:pPr>
            <a:r>
              <a:rPr sz="1000" b="1" i="0">
                <a:solidFill>
                  <a:srgbClr val="3E5F5A"/>
                </a:solidFill>
                <a:latin typeface="Segoe UI"/>
              </a:rPr>
              <a:t>HEADER + FINGERPRINT</a:t>
            </a:r>
          </a:p>
          <a:p>
            <a:pPr algn="l">
              <a:lnSpc>
                <a:spcPct val="115000"/>
              </a:lnSpc>
            </a:pPr>
            <a:r>
              <a:rPr sz="1100" b="0" i="0">
                <a:solidFill>
                  <a:srgbClr val="1F2421"/>
                </a:solidFill>
                <a:latin typeface="Segoe UI"/>
              </a:rPr>
              <a:t>client · round · samples · L2 norm · layer norms · 64-number sketch</a:t>
            </a:r>
          </a:p>
        </p:txBody>
      </p:sp>
      <p:sp>
        <p:nvSpPr>
          <p:cNvPr id="12" name="Rectangle 11"/>
          <p:cNvSpPr/>
          <p:nvPr/>
        </p:nvSpPr>
        <p:spPr>
          <a:xfrm>
            <a:off x="5806440" y="1783080"/>
            <a:ext cx="3566160" cy="777240"/>
          </a:xfrm>
          <a:prstGeom prst="rect">
            <a:avLst/>
          </a:prstGeom>
          <a:solidFill>
            <a:srgbClr val="FFFFFF"/>
          </a:solidFill>
          <a:ln w="9525">
            <a:solidFill>
              <a:srgbClr val="DDDA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0" y="1856231"/>
            <a:ext cx="3291840" cy="685800"/>
          </a:xfrm>
          <a:prstGeom prst="rect">
            <a:avLst/>
          </a:prstGeom>
          <a:noFill/>
        </p:spPr>
        <p:txBody>
          <a:bodyPr wrap="square" anchor="t" lIns="0" rIns="0" tIns="0" bIns="0">
            <a:spAutoFit/>
          </a:bodyPr>
          <a:lstStyle/>
          <a:p>
            <a:pPr algn="l">
              <a:lnSpc>
                <a:spcPct val="115000"/>
              </a:lnSpc>
            </a:pPr>
            <a:r>
              <a:rPr sz="1000" b="1" i="0">
                <a:solidFill>
                  <a:srgbClr val="3E5F5A"/>
                </a:solidFill>
                <a:latin typeface="Segoe UI"/>
              </a:rPr>
              <a:t>PAYLOAD</a:t>
            </a:r>
          </a:p>
          <a:p>
            <a:pPr algn="l">
              <a:lnSpc>
                <a:spcPct val="115000"/>
              </a:lnSpc>
            </a:pPr>
            <a:r>
              <a:rPr sz="1100" b="0" i="0">
                <a:solidFill>
                  <a:srgbClr val="1F2421"/>
                </a:solidFill>
                <a:latin typeface="Segoe UI"/>
              </a:rPr>
              <a:t>update Δw · 233,476 B (float32)</a:t>
            </a:r>
          </a:p>
        </p:txBody>
      </p:sp>
      <p:sp>
        <p:nvSpPr>
          <p:cNvPr id="14" name="Rectangle 13"/>
          <p:cNvSpPr/>
          <p:nvPr/>
        </p:nvSpPr>
        <p:spPr>
          <a:xfrm>
            <a:off x="9372600" y="1783080"/>
            <a:ext cx="2084831" cy="777240"/>
          </a:xfrm>
          <a:prstGeom prst="rect">
            <a:avLst/>
          </a:prstGeom>
          <a:solidFill>
            <a:srgbClr val="F2EBE2"/>
          </a:solidFill>
          <a:ln w="9525">
            <a:solidFill>
              <a:srgbClr val="DDDA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09760" y="1856231"/>
            <a:ext cx="1810511" cy="685800"/>
          </a:xfrm>
          <a:prstGeom prst="rect">
            <a:avLst/>
          </a:prstGeom>
          <a:noFill/>
        </p:spPr>
        <p:txBody>
          <a:bodyPr wrap="square" anchor="t" lIns="0" rIns="0" tIns="0" bIns="0">
            <a:spAutoFit/>
          </a:bodyPr>
          <a:lstStyle/>
          <a:p>
            <a:pPr algn="l">
              <a:lnSpc>
                <a:spcPct val="115000"/>
              </a:lnSpc>
            </a:pPr>
            <a:r>
              <a:rPr sz="1000" b="1" i="0">
                <a:solidFill>
                  <a:srgbClr val="3E5F5A"/>
                </a:solidFill>
                <a:latin typeface="Segoe UI"/>
              </a:rPr>
              <a:t>TAG</a:t>
            </a:r>
          </a:p>
          <a:p>
            <a:pPr algn="l">
              <a:lnSpc>
                <a:spcPct val="115000"/>
              </a:lnSpc>
            </a:pPr>
            <a:r>
              <a:rPr sz="1100" b="0" i="0">
                <a:solidFill>
                  <a:srgbClr val="1F2421"/>
                </a:solidFill>
                <a:latin typeface="Segoe UI"/>
              </a:rPr>
              <a:t>HMAC-SHA256 · 32 B</a:t>
            </a:r>
          </a:p>
        </p:txBody>
      </p:sp>
      <p:sp>
        <p:nvSpPr>
          <p:cNvPr id="16" name="Rectangle 15"/>
          <p:cNvSpPr/>
          <p:nvPr/>
        </p:nvSpPr>
        <p:spPr>
          <a:xfrm>
            <a:off x="731520" y="2788920"/>
            <a:ext cx="5257800" cy="3017520"/>
          </a:xfrm>
          <a:prstGeom prst="rect">
            <a:avLst/>
          </a:prstGeom>
          <a:solidFill>
            <a:srgbClr val="FBFAF7"/>
          </a:solidFill>
          <a:ln w="9525">
            <a:solidFill>
              <a:srgbClr val="DDDA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2788920"/>
            <a:ext cx="45720" cy="3017520"/>
          </a:xfrm>
          <a:prstGeom prst="rect">
            <a:avLst/>
          </a:prstGeom>
          <a:solidFill>
            <a:srgbClr val="3E5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2898648"/>
            <a:ext cx="4892040" cy="228600"/>
          </a:xfrm>
          <a:prstGeom prst="rect">
            <a:avLst/>
          </a:prstGeom>
          <a:noFill/>
        </p:spPr>
        <p:txBody>
          <a:bodyPr wrap="square" anchor="t" lIns="0" rIns="0" tIns="0" bIns="0">
            <a:spAutoFit/>
          </a:bodyPr>
          <a:lstStyle/>
          <a:p>
            <a:pPr algn="l">
              <a:lnSpc>
                <a:spcPct val="120000"/>
              </a:lnSpc>
            </a:pPr>
            <a:r>
              <a:rPr sz="900" b="0" i="0">
                <a:solidFill>
                  <a:srgbClr val="8C918A"/>
                </a:solidFill>
                <a:latin typeface="Consolas"/>
              </a:rPr>
              <a:t>src/demo.py  ·  one federated round</a:t>
            </a:r>
          </a:p>
        </p:txBody>
      </p:sp>
      <p:cxnSp>
        <p:nvCxnSpPr>
          <p:cNvPr id="19" name="Connector 18"/>
          <p:cNvCxnSpPr/>
          <p:nvPr/>
        </p:nvCxnSpPr>
        <p:spPr>
          <a:xfrm>
            <a:off x="960120" y="3172968"/>
            <a:ext cx="4846320" cy="0"/>
          </a:xfrm>
          <a:prstGeom prst="line">
            <a:avLst/>
          </a:prstGeom>
          <a:ln w="6350">
            <a:solidFill>
              <a:srgbClr val="DDDAD2"/>
            </a:solidFill>
          </a:ln>
        </p:spPr>
      </p:cxnSp>
      <p:sp>
        <p:nvSpPr>
          <p:cNvPr id="20" name="TextBox 19"/>
          <p:cNvSpPr txBox="1"/>
          <p:nvPr/>
        </p:nvSpPr>
        <p:spPr>
          <a:xfrm>
            <a:off x="960120" y="3291840"/>
            <a:ext cx="4937760" cy="2423160"/>
          </a:xfrm>
          <a:prstGeom prst="rect">
            <a:avLst/>
          </a:prstGeom>
          <a:noFill/>
        </p:spPr>
        <p:txBody>
          <a:bodyPr wrap="square" anchor="t" lIns="0" rIns="0" tIns="0" bIns="0">
            <a:spAutoFit/>
          </a:bodyPr>
          <a:lstStyle/>
          <a:p>
            <a:pPr algn="l">
              <a:lnSpc>
                <a:spcPct val="108000"/>
              </a:lnSpc>
            </a:pPr>
            <a:r>
              <a:rPr sz="900" b="1" i="0">
                <a:solidFill>
                  <a:srgbClr val="3E5F5A"/>
                </a:solidFill>
                <a:latin typeface="Consolas"/>
              </a:rPr>
              <a:t>for</a:t>
            </a:r>
            <a:r>
              <a:rPr sz="900" b="0" i="0">
                <a:solidFill>
                  <a:srgbClr val="1F2421"/>
                </a:solidFill>
                <a:latin typeface="Consolas"/>
              </a:rPr>
              <a:t> </a:t>
            </a:r>
            <a:r>
              <a:rPr sz="900" b="0" i="0">
                <a:solidFill>
                  <a:srgbClr val="1F2421"/>
                </a:solidFill>
                <a:latin typeface="Consolas"/>
              </a:rPr>
              <a:t>rnd</a:t>
            </a:r>
            <a:r>
              <a:rPr sz="900" b="0" i="0">
                <a:solidFill>
                  <a:srgbClr val="1F2421"/>
                </a:solidFill>
                <a:latin typeface="Consolas"/>
              </a:rPr>
              <a:t> </a:t>
            </a:r>
            <a:r>
              <a:rPr sz="900" b="1" i="0">
                <a:solidFill>
                  <a:srgbClr val="3E5F5A"/>
                </a:solidFill>
                <a:latin typeface="Consolas"/>
              </a:rPr>
              <a:t>in</a:t>
            </a:r>
            <a:r>
              <a:rPr sz="900" b="0" i="0">
                <a:solidFill>
                  <a:srgbClr val="1F2421"/>
                </a:solidFill>
                <a:latin typeface="Consolas"/>
              </a:rPr>
              <a:t> </a:t>
            </a:r>
            <a:r>
              <a:rPr sz="900" b="0" i="0">
                <a:solidFill>
                  <a:srgbClr val="1F2421"/>
                </a:solidFill>
                <a:latin typeface="Consolas"/>
              </a:rPr>
              <a:t>range</a:t>
            </a:r>
            <a:r>
              <a:rPr sz="900" b="0" i="0">
                <a:solidFill>
                  <a:srgbClr val="1F2421"/>
                </a:solidFill>
                <a:latin typeface="Consolas"/>
              </a:rPr>
              <a:t>(</a:t>
            </a:r>
            <a:r>
              <a:rPr sz="900" b="0" i="0">
                <a:solidFill>
                  <a:srgbClr val="1F2421"/>
                </a:solidFill>
                <a:latin typeface="Consolas"/>
              </a:rPr>
              <a:t>1</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ROUNDS</a:t>
            </a:r>
            <a:r>
              <a:rPr sz="900" b="0" i="0">
                <a:solidFill>
                  <a:srgbClr val="1F2421"/>
                </a:solidFill>
                <a:latin typeface="Consolas"/>
              </a:rPr>
              <a:t> </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1</a:t>
            </a:r>
            <a:r>
              <a:rPr sz="900" b="0" i="0">
                <a:solidFill>
                  <a:srgbClr val="1F2421"/>
                </a:solidFill>
                <a:latin typeface="Consolas"/>
              </a:rPr>
              <a:t>)</a:t>
            </a:r>
            <a:r>
              <a:rPr sz="900" b="0" i="0">
                <a:solidFill>
                  <a:srgbClr val="1F2421"/>
                </a:solidFill>
                <a:latin typeface="Consolas"/>
              </a:rPr>
              <a:t>:</a:t>
            </a:r>
          </a:p>
          <a:p>
            <a:pPr algn="l">
              <a:lnSpc>
                <a:spcPct val="108000"/>
              </a:lnSpc>
            </a:pP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1" i="0">
                <a:solidFill>
                  <a:srgbClr val="3E5F5A"/>
                </a:solidFill>
                <a:latin typeface="Consolas"/>
              </a:rPr>
              <a:t>for</a:t>
            </a:r>
            <a:r>
              <a:rPr sz="900" b="0" i="0">
                <a:solidFill>
                  <a:srgbClr val="1F2421"/>
                </a:solidFill>
                <a:latin typeface="Consolas"/>
              </a:rPr>
              <a:t> </a:t>
            </a:r>
            <a:r>
              <a:rPr sz="900" b="0" i="0">
                <a:solidFill>
                  <a:srgbClr val="1F2421"/>
                </a:solidFill>
                <a:latin typeface="Consolas"/>
              </a:rPr>
              <a:t>c</a:t>
            </a:r>
            <a:r>
              <a:rPr sz="900" b="0" i="0">
                <a:solidFill>
                  <a:srgbClr val="1F2421"/>
                </a:solidFill>
                <a:latin typeface="Consolas"/>
              </a:rPr>
              <a:t> </a:t>
            </a:r>
            <a:r>
              <a:rPr sz="900" b="1" i="0">
                <a:solidFill>
                  <a:srgbClr val="3E5F5A"/>
                </a:solidFill>
                <a:latin typeface="Consolas"/>
              </a:rPr>
              <a:t>in</a:t>
            </a:r>
            <a:r>
              <a:rPr sz="900" b="0" i="0">
                <a:solidFill>
                  <a:srgbClr val="1F2421"/>
                </a:solidFill>
                <a:latin typeface="Consolas"/>
              </a:rPr>
              <a:t> </a:t>
            </a:r>
            <a:r>
              <a:rPr sz="900" b="0" i="0">
                <a:solidFill>
                  <a:srgbClr val="1F2421"/>
                </a:solidFill>
                <a:latin typeface="Consolas"/>
              </a:rPr>
              <a:t>clients</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1">
                <a:solidFill>
                  <a:srgbClr val="8C918A"/>
                </a:solidFill>
                <a:latin typeface="Consolas"/>
              </a:rPr>
              <a:t># on each router</a:t>
            </a:r>
          </a:p>
          <a:p>
            <a:pPr algn="l">
              <a:lnSpc>
                <a:spcPct val="108000"/>
              </a:lnSpc>
            </a:pP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local</a:t>
            </a:r>
            <a:r>
              <a:rPr sz="900" b="0" i="0">
                <a:solidFill>
                  <a:srgbClr val="1F2421"/>
                </a:solidFill>
                <a:latin typeface="Consolas"/>
              </a:rPr>
              <a:t>.</a:t>
            </a:r>
            <a:r>
              <a:rPr sz="900" b="0" i="0">
                <a:solidFill>
                  <a:srgbClr val="1F2421"/>
                </a:solidFill>
                <a:latin typeface="Consolas"/>
              </a:rPr>
              <a:t>set_weights</a:t>
            </a:r>
            <a:r>
              <a:rPr sz="900" b="0" i="0">
                <a:solidFill>
                  <a:srgbClr val="1F2421"/>
                </a:solidFill>
                <a:latin typeface="Consolas"/>
              </a:rPr>
              <a:t>(</a:t>
            </a:r>
            <a:r>
              <a:rPr sz="900" b="0" i="0">
                <a:solidFill>
                  <a:srgbClr val="1F2421"/>
                </a:solidFill>
                <a:latin typeface="Consolas"/>
              </a:rPr>
              <a:t>unflatten</a:t>
            </a:r>
            <a:r>
              <a:rPr sz="900" b="0" i="0">
                <a:solidFill>
                  <a:srgbClr val="1F2421"/>
                </a:solidFill>
                <a:latin typeface="Consolas"/>
              </a:rPr>
              <a:t>(</a:t>
            </a:r>
            <a:r>
              <a:rPr sz="900" b="0" i="0">
                <a:solidFill>
                  <a:srgbClr val="1F2421"/>
                </a:solidFill>
                <a:latin typeface="Consolas"/>
              </a:rPr>
              <a:t>g</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like</a:t>
            </a:r>
            <a:r>
              <a:rPr sz="900" b="0" i="0">
                <a:solidFill>
                  <a:srgbClr val="1F2421"/>
                </a:solidFill>
                <a:latin typeface="Consolas"/>
              </a:rPr>
              <a:t>)</a:t>
            </a:r>
            <a:r>
              <a:rPr sz="900" b="0" i="0">
                <a:solidFill>
                  <a:srgbClr val="1F2421"/>
                </a:solidFill>
                <a:latin typeface="Consolas"/>
              </a:rPr>
              <a:t>)</a:t>
            </a:r>
          </a:p>
          <a:p>
            <a:pPr algn="l">
              <a:lnSpc>
                <a:spcPct val="108000"/>
              </a:lnSpc>
            </a:pP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local</a:t>
            </a:r>
            <a:r>
              <a:rPr sz="900" b="0" i="0">
                <a:solidFill>
                  <a:srgbClr val="1F2421"/>
                </a:solidFill>
                <a:latin typeface="Consolas"/>
              </a:rPr>
              <a:t>.</a:t>
            </a:r>
            <a:r>
              <a:rPr sz="900" b="0" i="0">
                <a:solidFill>
                  <a:srgbClr val="1F2421"/>
                </a:solidFill>
                <a:latin typeface="Consolas"/>
              </a:rPr>
              <a:t>fit</a:t>
            </a:r>
            <a:r>
              <a:rPr sz="900" b="0" i="0">
                <a:solidFill>
                  <a:srgbClr val="1F2421"/>
                </a:solidFill>
                <a:latin typeface="Consolas"/>
              </a:rPr>
              <a:t>(</a:t>
            </a:r>
            <a:r>
              <a:rPr sz="900" b="0" i="0">
                <a:solidFill>
                  <a:srgbClr val="1F2421"/>
                </a:solidFill>
                <a:latin typeface="Consolas"/>
              </a:rPr>
              <a:t>X</a:t>
            </a:r>
            <a:r>
              <a:rPr sz="900" b="0" i="0">
                <a:solidFill>
                  <a:srgbClr val="1F2421"/>
                </a:solidFill>
                <a:latin typeface="Consolas"/>
              </a:rPr>
              <a:t>[</a:t>
            </a:r>
            <a:r>
              <a:rPr sz="900" b="0" i="0">
                <a:solidFill>
                  <a:srgbClr val="1F2421"/>
                </a:solidFill>
                <a:latin typeface="Consolas"/>
              </a:rPr>
              <a:t>a</a:t>
            </a:r>
            <a:r>
              <a:rPr sz="900" b="0" i="0">
                <a:solidFill>
                  <a:srgbClr val="1F2421"/>
                </a:solidFill>
                <a:latin typeface="Consolas"/>
              </a:rPr>
              <a:t> </a:t>
            </a:r>
            <a:r>
              <a:rPr sz="900" b="0" i="0">
                <a:solidFill>
                  <a:srgbClr val="1F2421"/>
                </a:solidFill>
                <a:latin typeface="Consolas"/>
              </a:rPr>
              <a:t>=</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c</a:t>
            </a:r>
            <a:r>
              <a:rPr sz="900" b="0" i="0">
                <a:solidFill>
                  <a:srgbClr val="1F2421"/>
                </a:solidFill>
                <a:latin typeface="Consolas"/>
              </a:rPr>
              <a:t>]</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y</a:t>
            </a:r>
            <a:r>
              <a:rPr sz="900" b="0" i="0">
                <a:solidFill>
                  <a:srgbClr val="1F2421"/>
                </a:solidFill>
                <a:latin typeface="Consolas"/>
              </a:rPr>
              <a:t>[</a:t>
            </a:r>
            <a:r>
              <a:rPr sz="900" b="0" i="0">
                <a:solidFill>
                  <a:srgbClr val="1F2421"/>
                </a:solidFill>
                <a:latin typeface="Consolas"/>
              </a:rPr>
              <a:t>a</a:t>
            </a:r>
            <a:r>
              <a:rPr sz="900" b="0" i="0">
                <a:solidFill>
                  <a:srgbClr val="1F2421"/>
                </a:solidFill>
                <a:latin typeface="Consolas"/>
              </a:rPr>
              <a:t> </a:t>
            </a:r>
            <a:r>
              <a:rPr sz="900" b="0" i="0">
                <a:solidFill>
                  <a:srgbClr val="1F2421"/>
                </a:solidFill>
                <a:latin typeface="Consolas"/>
              </a:rPr>
              <a:t>=</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c</a:t>
            </a:r>
            <a:r>
              <a:rPr sz="900" b="0" i="0">
                <a:solidFill>
                  <a:srgbClr val="1F2421"/>
                </a:solidFill>
                <a:latin typeface="Consolas"/>
              </a:rPr>
              <a:t>]</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epochs</a:t>
            </a:r>
            <a:r>
              <a:rPr sz="900" b="0" i="0">
                <a:solidFill>
                  <a:srgbClr val="1F2421"/>
                </a:solidFill>
                <a:latin typeface="Consolas"/>
              </a:rPr>
              <a:t>=</a:t>
            </a:r>
            <a:r>
              <a:rPr sz="900" b="0" i="0">
                <a:solidFill>
                  <a:srgbClr val="1F2421"/>
                </a:solidFill>
                <a:latin typeface="Consolas"/>
              </a:rPr>
              <a:t>1</a:t>
            </a:r>
            <a:r>
              <a:rPr sz="900" b="0" i="0">
                <a:solidFill>
                  <a:srgbClr val="1F2421"/>
                </a:solidFill>
                <a:latin typeface="Consolas"/>
              </a:rPr>
              <a:t>,</a:t>
            </a:r>
          </a:p>
          <a:p>
            <a:pPr algn="l">
              <a:lnSpc>
                <a:spcPct val="108000"/>
              </a:lnSpc>
            </a:pP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batch_size</a:t>
            </a:r>
            <a:r>
              <a:rPr sz="900" b="0" i="0">
                <a:solidFill>
                  <a:srgbClr val="1F2421"/>
                </a:solidFill>
                <a:latin typeface="Consolas"/>
              </a:rPr>
              <a:t>=</a:t>
            </a:r>
            <a:r>
              <a:rPr sz="900" b="0" i="0">
                <a:solidFill>
                  <a:srgbClr val="1F2421"/>
                </a:solidFill>
                <a:latin typeface="Consolas"/>
              </a:rPr>
              <a:t>2</a:t>
            </a:r>
            <a:r>
              <a:rPr sz="900" b="0" i="0">
                <a:solidFill>
                  <a:srgbClr val="1F2421"/>
                </a:solidFill>
                <a:latin typeface="Consolas"/>
              </a:rPr>
              <a:t>5</a:t>
            </a:r>
            <a:r>
              <a:rPr sz="900" b="0" i="0">
                <a:solidFill>
                  <a:srgbClr val="1F2421"/>
                </a:solidFill>
                <a:latin typeface="Consolas"/>
              </a:rPr>
              <a:t>6</a:t>
            </a:r>
            <a:r>
              <a:rPr sz="900" b="0" i="0">
                <a:solidFill>
                  <a:srgbClr val="1F2421"/>
                </a:solidFill>
                <a:latin typeface="Consolas"/>
              </a:rPr>
              <a:t>)</a:t>
            </a:r>
          </a:p>
          <a:p>
            <a:pPr algn="l">
              <a:lnSpc>
                <a:spcPct val="108000"/>
              </a:lnSpc>
            </a:pP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d</a:t>
            </a:r>
            <a:r>
              <a:rPr sz="900" b="0" i="0">
                <a:solidFill>
                  <a:srgbClr val="1F2421"/>
                </a:solidFill>
                <a:latin typeface="Consolas"/>
              </a:rPr>
              <a:t> </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flatten</a:t>
            </a:r>
            <a:r>
              <a:rPr sz="900" b="0" i="0">
                <a:solidFill>
                  <a:srgbClr val="1F2421"/>
                </a:solidFill>
                <a:latin typeface="Consolas"/>
              </a:rPr>
              <a:t>(</a:t>
            </a:r>
            <a:r>
              <a:rPr sz="900" b="0" i="0">
                <a:solidFill>
                  <a:srgbClr val="1F2421"/>
                </a:solidFill>
                <a:latin typeface="Consolas"/>
              </a:rPr>
              <a:t>local</a:t>
            </a:r>
            <a:r>
              <a:rPr sz="900" b="0" i="0">
                <a:solidFill>
                  <a:srgbClr val="1F2421"/>
                </a:solidFill>
                <a:latin typeface="Consolas"/>
              </a:rPr>
              <a:t>.</a:t>
            </a:r>
            <a:r>
              <a:rPr sz="900" b="0" i="0">
                <a:solidFill>
                  <a:srgbClr val="1F2421"/>
                </a:solidFill>
                <a:latin typeface="Consolas"/>
              </a:rPr>
              <a:t>get_weights</a:t>
            </a:r>
            <a:r>
              <a:rPr sz="900" b="0" i="0">
                <a:solidFill>
                  <a:srgbClr val="1F2421"/>
                </a:solidFill>
                <a:latin typeface="Consolas"/>
              </a:rPr>
              <a:t>(</a:t>
            </a:r>
            <a:r>
              <a:rPr sz="900" b="0" i="0">
                <a:solidFill>
                  <a:srgbClr val="1F2421"/>
                </a:solidFill>
                <a:latin typeface="Consolas"/>
              </a:rPr>
              <a:t>)</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g</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1">
                <a:solidFill>
                  <a:srgbClr val="8C918A"/>
                </a:solidFill>
                <a:latin typeface="Consolas"/>
              </a:rPr>
              <a:t># update Δw</a:t>
            </a:r>
          </a:p>
          <a:p>
            <a:pPr algn="l">
              <a:lnSpc>
                <a:spcPct val="108000"/>
              </a:lnSpc>
            </a:pP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msg</a:t>
            </a:r>
            <a:r>
              <a:rPr sz="900" b="0" i="0">
                <a:solidFill>
                  <a:srgbClr val="1F2421"/>
                </a:solidFill>
                <a:latin typeface="Consolas"/>
              </a:rPr>
              <a:t> </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pack</a:t>
            </a:r>
            <a:r>
              <a:rPr sz="900" b="0" i="0">
                <a:solidFill>
                  <a:srgbClr val="1F2421"/>
                </a:solidFill>
                <a:latin typeface="Consolas"/>
              </a:rPr>
              <a:t>(</a:t>
            </a:r>
            <a:r>
              <a:rPr sz="900" b="0" i="0">
                <a:solidFill>
                  <a:srgbClr val="1F2421"/>
                </a:solidFill>
                <a:latin typeface="Consolas"/>
              </a:rPr>
              <a:t>c</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rnd</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n</a:t>
            </a:r>
            <a:r>
              <a:rPr sz="900" b="0" i="0">
                <a:solidFill>
                  <a:srgbClr val="1F2421"/>
                </a:solidFill>
                <a:latin typeface="Consolas"/>
              </a:rPr>
              <a:t>[</a:t>
            </a:r>
            <a:r>
              <a:rPr sz="900" b="0" i="0">
                <a:solidFill>
                  <a:srgbClr val="1F2421"/>
                </a:solidFill>
                <a:latin typeface="Consolas"/>
              </a:rPr>
              <a:t>c</a:t>
            </a:r>
            <a:r>
              <a:rPr sz="900" b="0" i="0">
                <a:solidFill>
                  <a:srgbClr val="1F2421"/>
                </a:solidFill>
                <a:latin typeface="Consolas"/>
              </a:rPr>
              <a:t>]</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d</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keys</a:t>
            </a:r>
            <a:r>
              <a:rPr sz="900" b="0" i="0">
                <a:solidFill>
                  <a:srgbClr val="1F2421"/>
                </a:solidFill>
                <a:latin typeface="Consolas"/>
              </a:rPr>
              <a:t>[</a:t>
            </a:r>
            <a:r>
              <a:rPr sz="900" b="0" i="0">
                <a:solidFill>
                  <a:srgbClr val="1F2421"/>
                </a:solidFill>
                <a:latin typeface="Consolas"/>
              </a:rPr>
              <a:t>c</a:t>
            </a:r>
            <a:r>
              <a:rPr sz="900" b="0" i="0">
                <a:solidFill>
                  <a:srgbClr val="1F2421"/>
                </a:solidFill>
                <a:latin typeface="Consolas"/>
              </a:rPr>
              <a:t>]</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fp</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 </a:t>
            </a:r>
            <a:r>
              <a:rPr sz="900" b="0" i="1">
                <a:solidFill>
                  <a:srgbClr val="8C918A"/>
                </a:solidFill>
                <a:latin typeface="Consolas"/>
              </a:rPr>
              <a:t># → server</a:t>
            </a:r>
          </a:p>
          <a:p>
            <a:pPr algn="l">
              <a:lnSpc>
                <a:spcPct val="108000"/>
              </a:lnSpc>
            </a:pP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header</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d</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reason</a:t>
            </a:r>
            <a:r>
              <a:rPr sz="900" b="0" i="0">
                <a:solidFill>
                  <a:srgbClr val="1F2421"/>
                </a:solidFill>
                <a:latin typeface="Consolas"/>
              </a:rPr>
              <a:t> </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unpack</a:t>
            </a:r>
            <a:r>
              <a:rPr sz="900" b="0" i="0">
                <a:solidFill>
                  <a:srgbClr val="1F2421"/>
                </a:solidFill>
                <a:latin typeface="Consolas"/>
              </a:rPr>
              <a:t>(</a:t>
            </a:r>
            <a:r>
              <a:rPr sz="900" b="0" i="0">
                <a:solidFill>
                  <a:srgbClr val="1F2421"/>
                </a:solidFill>
                <a:latin typeface="Consolas"/>
              </a:rPr>
              <a:t>msg</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keys</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fp</a:t>
            </a:r>
            <a:r>
              <a:rPr sz="900" b="0" i="0">
                <a:solidFill>
                  <a:srgbClr val="1F2421"/>
                </a:solidFill>
                <a:latin typeface="Consolas"/>
              </a:rPr>
              <a:t>)</a:t>
            </a:r>
          </a:p>
          <a:p>
            <a:pPr algn="l">
              <a:lnSpc>
                <a:spcPct val="108000"/>
              </a:lnSpc>
            </a:pP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a:t>
            </a:r>
            <a:r>
              <a:rPr sz="900" b="0" i="0">
                <a:solidFill>
                  <a:srgbClr val="1F2421"/>
                </a:solidFill>
                <a:latin typeface="Consolas"/>
              </a:rPr>
              <a:t>.</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1">
                <a:solidFill>
                  <a:srgbClr val="8C918A"/>
                </a:solidFill>
                <a:latin typeface="Consolas"/>
              </a:rPr>
              <a:t># score, filter (next slide)</a:t>
            </a:r>
          </a:p>
          <a:p>
            <a:pPr algn="l">
              <a:lnSpc>
                <a:spcPct val="108000"/>
              </a:lnSpc>
            </a:pP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w</a:t>
            </a:r>
            <a:r>
              <a:rPr sz="900" b="0" i="0">
                <a:solidFill>
                  <a:srgbClr val="1F2421"/>
                </a:solidFill>
                <a:latin typeface="Consolas"/>
              </a:rPr>
              <a:t> </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capped_weights</a:t>
            </a:r>
            <a:r>
              <a:rPr sz="900" b="0" i="0">
                <a:solidFill>
                  <a:srgbClr val="1F2421"/>
                </a:solidFill>
                <a:latin typeface="Consolas"/>
              </a:rPr>
              <a:t>(</a:t>
            </a:r>
            <a:r>
              <a:rPr sz="900" b="0" i="0">
                <a:solidFill>
                  <a:srgbClr val="1F2421"/>
                </a:solidFill>
                <a:latin typeface="Consolas"/>
              </a:rPr>
              <a:t>counts</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1</a:t>
            </a:r>
            <a:r>
              <a:rPr sz="900" b="0" i="0">
                <a:solidFill>
                  <a:srgbClr val="1F2421"/>
                </a:solidFill>
                <a:latin typeface="Consolas"/>
              </a:rPr>
              <a:t>.</a:t>
            </a:r>
            <a:r>
              <a:rPr sz="900" b="0" i="0">
                <a:solidFill>
                  <a:srgbClr val="1F2421"/>
                </a:solidFill>
                <a:latin typeface="Consolas"/>
              </a:rPr>
              <a:t>5</a:t>
            </a:r>
            <a:r>
              <a:rPr sz="900" b="0" i="0">
                <a:solidFill>
                  <a:srgbClr val="1F2421"/>
                </a:solidFill>
                <a:latin typeface="Consolas"/>
              </a:rPr>
              <a:t>)</a:t>
            </a:r>
          </a:p>
          <a:p>
            <a:pPr algn="l">
              <a:lnSpc>
                <a:spcPct val="108000"/>
              </a:lnSpc>
            </a:pP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g</a:t>
            </a:r>
            <a:r>
              <a:rPr sz="900" b="0" i="0">
                <a:solidFill>
                  <a:srgbClr val="1F2421"/>
                </a:solidFill>
                <a:latin typeface="Consolas"/>
              </a:rPr>
              <a:t> </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g</a:t>
            </a:r>
            <a:r>
              <a:rPr sz="900" b="0" i="0">
                <a:solidFill>
                  <a:srgbClr val="1F2421"/>
                </a:solidFill>
                <a:latin typeface="Consolas"/>
              </a:rPr>
              <a:t> </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sum</a:t>
            </a:r>
            <a:r>
              <a:rPr sz="900" b="0" i="0">
                <a:solidFill>
                  <a:srgbClr val="1F2421"/>
                </a:solidFill>
                <a:latin typeface="Consolas"/>
              </a:rPr>
              <a:t>(</a:t>
            </a:r>
            <a:r>
              <a:rPr sz="900" b="0" i="0">
                <a:solidFill>
                  <a:srgbClr val="1F2421"/>
                </a:solidFill>
                <a:latin typeface="Consolas"/>
              </a:rPr>
              <a:t>accepted</a:t>
            </a:r>
            <a:r>
              <a:rPr sz="900" b="0" i="0">
                <a:solidFill>
                  <a:srgbClr val="1F2421"/>
                </a:solidFill>
                <a:latin typeface="Consolas"/>
              </a:rPr>
              <a:t>[</a:t>
            </a:r>
            <a:r>
              <a:rPr sz="900" b="0" i="0">
                <a:solidFill>
                  <a:srgbClr val="1F2421"/>
                </a:solidFill>
                <a:latin typeface="Consolas"/>
              </a:rPr>
              <a:t>c</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w</a:t>
            </a:r>
            <a:r>
              <a:rPr sz="900" b="0" i="0">
                <a:solidFill>
                  <a:srgbClr val="1F2421"/>
                </a:solidFill>
                <a:latin typeface="Consolas"/>
              </a:rPr>
              <a:t>[</a:t>
            </a:r>
            <a:r>
              <a:rPr sz="900" b="0" i="0">
                <a:solidFill>
                  <a:srgbClr val="1F2421"/>
                </a:solidFill>
                <a:latin typeface="Consolas"/>
              </a:rPr>
              <a:t>c</a:t>
            </a:r>
            <a:r>
              <a:rPr sz="900" b="0" i="0">
                <a:solidFill>
                  <a:srgbClr val="1F2421"/>
                </a:solidFill>
                <a:latin typeface="Consolas"/>
              </a:rPr>
              <a:t>]</a:t>
            </a:r>
            <a:r>
              <a:rPr sz="900" b="0" i="0">
                <a:solidFill>
                  <a:srgbClr val="1F2421"/>
                </a:solidFill>
                <a:latin typeface="Consolas"/>
              </a:rPr>
              <a:t> </a:t>
            </a:r>
            <a:r>
              <a:rPr sz="900" b="1" i="0">
                <a:solidFill>
                  <a:srgbClr val="3E5F5A"/>
                </a:solidFill>
                <a:latin typeface="Consolas"/>
              </a:rPr>
              <a:t>for</a:t>
            </a:r>
            <a:r>
              <a:rPr sz="900" b="0" i="0">
                <a:solidFill>
                  <a:srgbClr val="1F2421"/>
                </a:solidFill>
                <a:latin typeface="Consolas"/>
              </a:rPr>
              <a:t> </a:t>
            </a:r>
            <a:r>
              <a:rPr sz="900" b="0" i="0">
                <a:solidFill>
                  <a:srgbClr val="1F2421"/>
                </a:solidFill>
                <a:latin typeface="Consolas"/>
              </a:rPr>
              <a:t>c</a:t>
            </a:r>
            <a:r>
              <a:rPr sz="900" b="0" i="0">
                <a:solidFill>
                  <a:srgbClr val="1F2421"/>
                </a:solidFill>
                <a:latin typeface="Consolas"/>
              </a:rPr>
              <a:t> </a:t>
            </a:r>
            <a:r>
              <a:rPr sz="900" b="1" i="0">
                <a:solidFill>
                  <a:srgbClr val="3E5F5A"/>
                </a:solidFill>
                <a:latin typeface="Consolas"/>
              </a:rPr>
              <a:t>in</a:t>
            </a:r>
            <a:r>
              <a:rPr sz="900" b="0" i="0">
                <a:solidFill>
                  <a:srgbClr val="1F2421"/>
                </a:solidFill>
                <a:latin typeface="Consolas"/>
              </a:rPr>
              <a:t> </a:t>
            </a:r>
            <a:r>
              <a:rPr sz="900" b="0" i="0">
                <a:solidFill>
                  <a:srgbClr val="1F2421"/>
                </a:solidFill>
                <a:latin typeface="Consolas"/>
              </a:rPr>
              <a:t>accepted</a:t>
            </a:r>
            <a:r>
              <a:rPr sz="900" b="0" i="0">
                <a:solidFill>
                  <a:srgbClr val="1F2421"/>
                </a:solidFill>
                <a:latin typeface="Consolas"/>
              </a:rPr>
              <a:t>)</a:t>
            </a:r>
          </a:p>
        </p:txBody>
      </p:sp>
      <p:sp>
        <p:nvSpPr>
          <p:cNvPr id="21" name="Rectangle 20"/>
          <p:cNvSpPr/>
          <p:nvPr/>
        </p:nvSpPr>
        <p:spPr>
          <a:xfrm>
            <a:off x="6199632" y="2788920"/>
            <a:ext cx="5257800" cy="3017520"/>
          </a:xfrm>
          <a:prstGeom prst="rect">
            <a:avLst/>
          </a:prstGeom>
          <a:solidFill>
            <a:srgbClr val="FBFAF7"/>
          </a:solidFill>
          <a:ln w="9525">
            <a:solidFill>
              <a:srgbClr val="DDDA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99632" y="2788920"/>
            <a:ext cx="45720" cy="3017520"/>
          </a:xfrm>
          <a:prstGeom prst="rect">
            <a:avLst/>
          </a:prstGeom>
          <a:solidFill>
            <a:srgbClr val="3E5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28232" y="2898648"/>
            <a:ext cx="4892040" cy="228600"/>
          </a:xfrm>
          <a:prstGeom prst="rect">
            <a:avLst/>
          </a:prstGeom>
          <a:noFill/>
        </p:spPr>
        <p:txBody>
          <a:bodyPr wrap="square" anchor="t" lIns="0" rIns="0" tIns="0" bIns="0">
            <a:spAutoFit/>
          </a:bodyPr>
          <a:lstStyle/>
          <a:p>
            <a:pPr algn="l">
              <a:lnSpc>
                <a:spcPct val="120000"/>
              </a:lnSpc>
            </a:pPr>
            <a:r>
              <a:rPr sz="900" b="0" i="0">
                <a:solidFill>
                  <a:srgbClr val="8C918A"/>
                </a:solidFill>
                <a:latin typeface="Consolas"/>
              </a:rPr>
              <a:t>src/protocol.py  (excerpt)</a:t>
            </a:r>
          </a:p>
        </p:txBody>
      </p:sp>
      <p:cxnSp>
        <p:nvCxnSpPr>
          <p:cNvPr id="24" name="Connector 23"/>
          <p:cNvCxnSpPr/>
          <p:nvPr/>
        </p:nvCxnSpPr>
        <p:spPr>
          <a:xfrm>
            <a:off x="6428232" y="3172968"/>
            <a:ext cx="4846320" cy="0"/>
          </a:xfrm>
          <a:prstGeom prst="line">
            <a:avLst/>
          </a:prstGeom>
          <a:ln w="6350">
            <a:solidFill>
              <a:srgbClr val="DDDAD2"/>
            </a:solidFill>
          </a:ln>
        </p:spPr>
      </p:cxnSp>
      <p:sp>
        <p:nvSpPr>
          <p:cNvPr id="25" name="TextBox 24"/>
          <p:cNvSpPr txBox="1"/>
          <p:nvPr/>
        </p:nvSpPr>
        <p:spPr>
          <a:xfrm>
            <a:off x="6428232" y="3291840"/>
            <a:ext cx="4937760" cy="2423160"/>
          </a:xfrm>
          <a:prstGeom prst="rect">
            <a:avLst/>
          </a:prstGeom>
          <a:noFill/>
        </p:spPr>
        <p:txBody>
          <a:bodyPr wrap="square" anchor="t" lIns="0" rIns="0" tIns="0" bIns="0">
            <a:spAutoFit/>
          </a:bodyPr>
          <a:lstStyle/>
          <a:p>
            <a:pPr algn="l">
              <a:lnSpc>
                <a:spcPct val="108000"/>
              </a:lnSpc>
            </a:pPr>
            <a:r>
              <a:rPr sz="900" b="1" i="0">
                <a:solidFill>
                  <a:srgbClr val="3E5F5A"/>
                </a:solidFill>
                <a:latin typeface="Consolas"/>
              </a:rPr>
              <a:t>def</a:t>
            </a:r>
            <a:r>
              <a:rPr sz="900" b="0" i="0">
                <a:solidFill>
                  <a:srgbClr val="1F2421"/>
                </a:solidFill>
                <a:latin typeface="Consolas"/>
              </a:rPr>
              <a:t> </a:t>
            </a:r>
            <a:r>
              <a:rPr sz="900" b="0" i="0">
                <a:solidFill>
                  <a:srgbClr val="1F2421"/>
                </a:solidFill>
                <a:latin typeface="Consolas"/>
              </a:rPr>
              <a:t>compute</a:t>
            </a:r>
            <a:r>
              <a:rPr sz="900" b="0" i="0">
                <a:solidFill>
                  <a:srgbClr val="1F2421"/>
                </a:solidFill>
                <a:latin typeface="Consolas"/>
              </a:rPr>
              <a:t>(</a:t>
            </a:r>
            <a:r>
              <a:rPr sz="900" b="0" i="0">
                <a:solidFill>
                  <a:srgbClr val="1F2421"/>
                </a:solidFill>
                <a:latin typeface="Consolas"/>
              </a:rPr>
              <a:t>self</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delta</a:t>
            </a:r>
            <a:r>
              <a:rPr sz="900" b="0" i="0">
                <a:solidFill>
                  <a:srgbClr val="1F2421"/>
                </a:solidFill>
                <a:latin typeface="Consolas"/>
              </a:rPr>
              <a:t>)</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1">
                <a:solidFill>
                  <a:srgbClr val="8C918A"/>
                </a:solidFill>
                <a:latin typeface="Consolas"/>
              </a:rPr>
              <a:t># the fingerprint</a:t>
            </a:r>
          </a:p>
          <a:p>
            <a:pPr algn="l">
              <a:lnSpc>
                <a:spcPct val="108000"/>
              </a:lnSpc>
            </a:pP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1" i="0">
                <a:solidFill>
                  <a:srgbClr val="3E5F5A"/>
                </a:solidFill>
                <a:latin typeface="Consolas"/>
              </a:rPr>
              <a:t>return</a:t>
            </a:r>
            <a:r>
              <a:rPr sz="900" b="0" i="0">
                <a:solidFill>
                  <a:srgbClr val="1F2421"/>
                </a:solidFill>
                <a:latin typeface="Consolas"/>
              </a:rPr>
              <a:t> </a:t>
            </a:r>
            <a:r>
              <a:rPr sz="900" b="0" i="0">
                <a:solidFill>
                  <a:srgbClr val="1F2421"/>
                </a:solidFill>
                <a:latin typeface="Consolas"/>
              </a:rPr>
              <a:t>{</a:t>
            </a:r>
            <a:r>
              <a:rPr sz="900" b="0" i="0">
                <a:solidFill>
                  <a:srgbClr val="8E673F"/>
                </a:solidFill>
                <a:latin typeface="Consolas"/>
              </a:rPr>
              <a:t>"l2"</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norm</a:t>
            </a:r>
            <a:r>
              <a:rPr sz="900" b="0" i="0">
                <a:solidFill>
                  <a:srgbClr val="1F2421"/>
                </a:solidFill>
                <a:latin typeface="Consolas"/>
              </a:rPr>
              <a:t>(</a:t>
            </a:r>
            <a:r>
              <a:rPr sz="900" b="0" i="0">
                <a:solidFill>
                  <a:srgbClr val="1F2421"/>
                </a:solidFill>
                <a:latin typeface="Consolas"/>
              </a:rPr>
              <a:t>delta</a:t>
            </a:r>
            <a:r>
              <a:rPr sz="900" b="0" i="0">
                <a:solidFill>
                  <a:srgbClr val="1F2421"/>
                </a:solidFill>
                <a:latin typeface="Consolas"/>
              </a:rPr>
              <a:t>)</a:t>
            </a:r>
            <a:r>
              <a:rPr sz="900" b="0" i="0">
                <a:solidFill>
                  <a:srgbClr val="1F2421"/>
                </a:solidFill>
                <a:latin typeface="Consolas"/>
              </a:rPr>
              <a:t>,</a:t>
            </a:r>
          </a:p>
          <a:p>
            <a:pPr algn="l">
              <a:lnSpc>
                <a:spcPct val="108000"/>
              </a:lnSpc>
            </a:pP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8E673F"/>
                </a:solidFill>
                <a:latin typeface="Consolas"/>
              </a:rPr>
              <a:t>"layer_l2"</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a:t>
            </a:r>
            <a:r>
              <a:rPr sz="900" b="0" i="0">
                <a:solidFill>
                  <a:srgbClr val="1F2421"/>
                </a:solidFill>
                <a:latin typeface="Consolas"/>
              </a:rPr>
              <a:t>norm</a:t>
            </a:r>
            <a:r>
              <a:rPr sz="900" b="0" i="0">
                <a:solidFill>
                  <a:srgbClr val="1F2421"/>
                </a:solidFill>
                <a:latin typeface="Consolas"/>
              </a:rPr>
              <a:t>(</a:t>
            </a:r>
            <a:r>
              <a:rPr sz="900" b="0" i="0">
                <a:solidFill>
                  <a:srgbClr val="1F2421"/>
                </a:solidFill>
                <a:latin typeface="Consolas"/>
              </a:rPr>
              <a:t>delta</a:t>
            </a:r>
            <a:r>
              <a:rPr sz="900" b="0" i="0">
                <a:solidFill>
                  <a:srgbClr val="1F2421"/>
                </a:solidFill>
                <a:latin typeface="Consolas"/>
              </a:rPr>
              <a:t>[</a:t>
            </a:r>
            <a:r>
              <a:rPr sz="900" b="0" i="0">
                <a:solidFill>
                  <a:srgbClr val="1F2421"/>
                </a:solidFill>
                <a:latin typeface="Consolas"/>
              </a:rPr>
              <a:t>s</a:t>
            </a:r>
            <a:r>
              <a:rPr sz="900" b="0" i="0">
                <a:solidFill>
                  <a:srgbClr val="1F2421"/>
                </a:solidFill>
                <a:latin typeface="Consolas"/>
              </a:rPr>
              <a:t>]</a:t>
            </a:r>
            <a:r>
              <a:rPr sz="900" b="0" i="0">
                <a:solidFill>
                  <a:srgbClr val="1F2421"/>
                </a:solidFill>
                <a:latin typeface="Consolas"/>
              </a:rPr>
              <a:t>)</a:t>
            </a:r>
            <a:r>
              <a:rPr sz="900" b="0" i="0">
                <a:solidFill>
                  <a:srgbClr val="1F2421"/>
                </a:solidFill>
                <a:latin typeface="Consolas"/>
              </a:rPr>
              <a:t> </a:t>
            </a:r>
            <a:r>
              <a:rPr sz="900" b="1" i="0">
                <a:solidFill>
                  <a:srgbClr val="3E5F5A"/>
                </a:solidFill>
                <a:latin typeface="Consolas"/>
              </a:rPr>
              <a:t>for</a:t>
            </a:r>
            <a:r>
              <a:rPr sz="900" b="0" i="0">
                <a:solidFill>
                  <a:srgbClr val="1F2421"/>
                </a:solidFill>
                <a:latin typeface="Consolas"/>
              </a:rPr>
              <a:t> </a:t>
            </a:r>
            <a:r>
              <a:rPr sz="900" b="0" i="0">
                <a:solidFill>
                  <a:srgbClr val="1F2421"/>
                </a:solidFill>
                <a:latin typeface="Consolas"/>
              </a:rPr>
              <a:t>s</a:t>
            </a:r>
            <a:r>
              <a:rPr sz="900" b="0" i="0">
                <a:solidFill>
                  <a:srgbClr val="1F2421"/>
                </a:solidFill>
                <a:latin typeface="Consolas"/>
              </a:rPr>
              <a:t> </a:t>
            </a:r>
            <a:r>
              <a:rPr sz="900" b="1" i="0">
                <a:solidFill>
                  <a:srgbClr val="3E5F5A"/>
                </a:solidFill>
                <a:latin typeface="Consolas"/>
              </a:rPr>
              <a:t>in</a:t>
            </a:r>
            <a:r>
              <a:rPr sz="900" b="0" i="0">
                <a:solidFill>
                  <a:srgbClr val="1F2421"/>
                </a:solidFill>
                <a:latin typeface="Consolas"/>
              </a:rPr>
              <a:t> </a:t>
            </a:r>
            <a:r>
              <a:rPr sz="900" b="0" i="0">
                <a:solidFill>
                  <a:srgbClr val="1F2421"/>
                </a:solidFill>
                <a:latin typeface="Consolas"/>
              </a:rPr>
              <a:t>self</a:t>
            </a:r>
            <a:r>
              <a:rPr sz="900" b="0" i="0">
                <a:solidFill>
                  <a:srgbClr val="1F2421"/>
                </a:solidFill>
                <a:latin typeface="Consolas"/>
              </a:rPr>
              <a:t>.</a:t>
            </a:r>
            <a:r>
              <a:rPr sz="900" b="0" i="0">
                <a:solidFill>
                  <a:srgbClr val="1F2421"/>
                </a:solidFill>
                <a:latin typeface="Consolas"/>
              </a:rPr>
              <a:t>layer_slices</a:t>
            </a:r>
            <a:r>
              <a:rPr sz="900" b="0" i="0">
                <a:solidFill>
                  <a:srgbClr val="1F2421"/>
                </a:solidFill>
                <a:latin typeface="Consolas"/>
              </a:rPr>
              <a:t>]</a:t>
            </a:r>
            <a:r>
              <a:rPr sz="900" b="0" i="0">
                <a:solidFill>
                  <a:srgbClr val="1F2421"/>
                </a:solidFill>
                <a:latin typeface="Consolas"/>
              </a:rPr>
              <a:t>,</a:t>
            </a:r>
          </a:p>
          <a:p>
            <a:pPr algn="l">
              <a:lnSpc>
                <a:spcPct val="108000"/>
              </a:lnSpc>
            </a:pP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8E673F"/>
                </a:solidFill>
                <a:latin typeface="Consolas"/>
              </a:rPr>
              <a:t>"sketch"</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a:t>
            </a:r>
            <a:r>
              <a:rPr sz="900" b="0" i="0">
                <a:solidFill>
                  <a:srgbClr val="1F2421"/>
                </a:solidFill>
                <a:latin typeface="Consolas"/>
              </a:rPr>
              <a:t>self</a:t>
            </a:r>
            <a:r>
              <a:rPr sz="900" b="0" i="0">
                <a:solidFill>
                  <a:srgbClr val="1F2421"/>
                </a:solidFill>
                <a:latin typeface="Consolas"/>
              </a:rPr>
              <a:t>.</a:t>
            </a:r>
            <a:r>
              <a:rPr sz="900" b="0" i="0">
                <a:solidFill>
                  <a:srgbClr val="1F2421"/>
                </a:solidFill>
                <a:latin typeface="Consolas"/>
              </a:rPr>
              <a:t>projection</a:t>
            </a:r>
            <a:r>
              <a:rPr sz="900" b="0" i="0">
                <a:solidFill>
                  <a:srgbClr val="1F2421"/>
                </a:solidFill>
                <a:latin typeface="Consolas"/>
              </a:rPr>
              <a:t> </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delta</a:t>
            </a:r>
            <a:r>
              <a:rPr sz="900" b="0" i="0">
                <a:solidFill>
                  <a:srgbClr val="1F2421"/>
                </a:solidFill>
                <a:latin typeface="Consolas"/>
              </a:rPr>
              <a:t>)</a:t>
            </a:r>
            <a:r>
              <a:rPr sz="900" b="0" i="0">
                <a:solidFill>
                  <a:srgbClr val="1F2421"/>
                </a:solidFill>
                <a:latin typeface="Consolas"/>
              </a:rPr>
              <a:t>.</a:t>
            </a:r>
            <a:r>
              <a:rPr sz="900" b="0" i="0">
                <a:solidFill>
                  <a:srgbClr val="1F2421"/>
                </a:solidFill>
                <a:latin typeface="Consolas"/>
              </a:rPr>
              <a:t>tolist</a:t>
            </a:r>
            <a:r>
              <a:rPr sz="900" b="0" i="0">
                <a:solidFill>
                  <a:srgbClr val="1F2421"/>
                </a:solidFill>
                <a:latin typeface="Consolas"/>
              </a:rPr>
              <a:t>(</a:t>
            </a:r>
            <a:r>
              <a:rPr sz="900" b="0" i="0">
                <a:solidFill>
                  <a:srgbClr val="1F2421"/>
                </a:solidFill>
                <a:latin typeface="Consolas"/>
              </a:rPr>
              <a:t>)</a:t>
            </a:r>
            <a:r>
              <a:rPr sz="900" b="0" i="0">
                <a:solidFill>
                  <a:srgbClr val="1F2421"/>
                </a:solidFill>
                <a:latin typeface="Consolas"/>
              </a:rPr>
              <a:t>}</a:t>
            </a:r>
          </a:p>
          <a:p>
            <a:pPr algn="l">
              <a:lnSpc>
                <a:spcPct val="108000"/>
              </a:lnSpc>
            </a:pPr>
            <a:r>
              <a:rPr sz="900" b="0" i="0">
                <a:solidFill>
                  <a:srgbClr val="1F2421"/>
                </a:solidFill>
                <a:latin typeface="Consolas"/>
              </a:rPr>
              <a:t> </a:t>
            </a:r>
          </a:p>
          <a:p>
            <a:pPr algn="l">
              <a:lnSpc>
                <a:spcPct val="108000"/>
              </a:lnSpc>
            </a:pPr>
            <a:r>
              <a:rPr sz="900" b="1" i="0">
                <a:solidFill>
                  <a:srgbClr val="3E5F5A"/>
                </a:solidFill>
                <a:latin typeface="Consolas"/>
              </a:rPr>
              <a:t>def</a:t>
            </a:r>
            <a:r>
              <a:rPr sz="900" b="0" i="0">
                <a:solidFill>
                  <a:srgbClr val="1F2421"/>
                </a:solidFill>
                <a:latin typeface="Consolas"/>
              </a:rPr>
              <a:t> </a:t>
            </a:r>
            <a:r>
              <a:rPr sz="900" b="0" i="0">
                <a:solidFill>
                  <a:srgbClr val="1F2421"/>
                </a:solidFill>
                <a:latin typeface="Consolas"/>
              </a:rPr>
              <a:t>pack</a:t>
            </a:r>
            <a:r>
              <a:rPr sz="900" b="0" i="0">
                <a:solidFill>
                  <a:srgbClr val="1F2421"/>
                </a:solidFill>
                <a:latin typeface="Consolas"/>
              </a:rPr>
              <a:t>(</a:t>
            </a:r>
            <a:r>
              <a:rPr sz="900" b="0" i="0">
                <a:solidFill>
                  <a:srgbClr val="1F2421"/>
                </a:solidFill>
                <a:latin typeface="Consolas"/>
              </a:rPr>
              <a:t>client_id</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round_num</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num_samples</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delta</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key</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fp</a:t>
            </a:r>
            <a:r>
              <a:rPr sz="900" b="0" i="0">
                <a:solidFill>
                  <a:srgbClr val="1F2421"/>
                </a:solidFill>
                <a:latin typeface="Consolas"/>
              </a:rPr>
              <a:t>)</a:t>
            </a:r>
            <a:r>
              <a:rPr sz="900" b="0" i="0">
                <a:solidFill>
                  <a:srgbClr val="1F2421"/>
                </a:solidFill>
                <a:latin typeface="Consolas"/>
              </a:rPr>
              <a:t>:</a:t>
            </a:r>
          </a:p>
          <a:p>
            <a:pPr algn="l">
              <a:lnSpc>
                <a:spcPct val="108000"/>
              </a:lnSpc>
            </a:pP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header</a:t>
            </a:r>
            <a:r>
              <a:rPr sz="900" b="0" i="0">
                <a:solidFill>
                  <a:srgbClr val="1F2421"/>
                </a:solidFill>
                <a:latin typeface="Consolas"/>
              </a:rPr>
              <a:t> </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json</a:t>
            </a:r>
            <a:r>
              <a:rPr sz="900" b="0" i="0">
                <a:solidFill>
                  <a:srgbClr val="1F2421"/>
                </a:solidFill>
                <a:latin typeface="Consolas"/>
              </a:rPr>
              <a:t>.</a:t>
            </a:r>
            <a:r>
              <a:rPr sz="900" b="0" i="0">
                <a:solidFill>
                  <a:srgbClr val="1F2421"/>
                </a:solidFill>
                <a:latin typeface="Consolas"/>
              </a:rPr>
              <a:t>dumps</a:t>
            </a:r>
            <a:r>
              <a:rPr sz="900" b="0" i="0">
                <a:solidFill>
                  <a:srgbClr val="1F2421"/>
                </a:solidFill>
                <a:latin typeface="Consolas"/>
              </a:rPr>
              <a:t>(</a:t>
            </a:r>
            <a:r>
              <a:rPr sz="900" b="0" i="0">
                <a:solidFill>
                  <a:srgbClr val="1F2421"/>
                </a:solidFill>
                <a:latin typeface="Consolas"/>
              </a:rPr>
              <a:t>{</a:t>
            </a:r>
            <a:r>
              <a:rPr sz="900" b="0" i="0">
                <a:solidFill>
                  <a:srgbClr val="8E673F"/>
                </a:solidFill>
                <a:latin typeface="Consolas"/>
              </a:rPr>
              <a:t>"client"</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client_id</a:t>
            </a:r>
            <a:r>
              <a:rPr sz="900" b="0" i="0">
                <a:solidFill>
                  <a:srgbClr val="1F2421"/>
                </a:solidFill>
                <a:latin typeface="Consolas"/>
              </a:rPr>
              <a:t>,</a:t>
            </a:r>
            <a:r>
              <a:rPr sz="900" b="0" i="0">
                <a:solidFill>
                  <a:srgbClr val="1F2421"/>
                </a:solidFill>
                <a:latin typeface="Consolas"/>
              </a:rPr>
              <a:t> </a:t>
            </a:r>
            <a:r>
              <a:rPr sz="900" b="0" i="0">
                <a:solidFill>
                  <a:srgbClr val="8E673F"/>
                </a:solidFill>
                <a:latin typeface="Consolas"/>
              </a:rPr>
              <a:t>"round"</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round_num</a:t>
            </a:r>
            <a:r>
              <a:rPr sz="900" b="0" i="0">
                <a:solidFill>
                  <a:srgbClr val="1F2421"/>
                </a:solidFill>
                <a:latin typeface="Consolas"/>
              </a:rPr>
              <a:t>,</a:t>
            </a:r>
          </a:p>
          <a:p>
            <a:pPr algn="l">
              <a:lnSpc>
                <a:spcPct val="108000"/>
              </a:lnSpc>
            </a:pP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8E673F"/>
                </a:solidFill>
                <a:latin typeface="Consolas"/>
              </a:rPr>
              <a:t>"n"</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num_samples</a:t>
            </a:r>
            <a:r>
              <a:rPr sz="900" b="0" i="0">
                <a:solidFill>
                  <a:srgbClr val="1F2421"/>
                </a:solidFill>
                <a:latin typeface="Consolas"/>
              </a:rPr>
              <a:t>,</a:t>
            </a:r>
            <a:r>
              <a:rPr sz="900" b="0" i="0">
                <a:solidFill>
                  <a:srgbClr val="1F2421"/>
                </a:solidFill>
                <a:latin typeface="Consolas"/>
              </a:rPr>
              <a:t> </a:t>
            </a:r>
            <a:r>
              <a:rPr sz="900" b="0" i="0">
                <a:solidFill>
                  <a:srgbClr val="8E673F"/>
                </a:solidFill>
                <a:latin typeface="Consolas"/>
              </a:rPr>
              <a:t>"fp"</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fp</a:t>
            </a:r>
            <a:r>
              <a:rPr sz="900" b="0" i="0">
                <a:solidFill>
                  <a:srgbClr val="1F2421"/>
                </a:solidFill>
                <a:latin typeface="Consolas"/>
              </a:rPr>
              <a:t>.</a:t>
            </a:r>
            <a:r>
              <a:rPr sz="900" b="0" i="0">
                <a:solidFill>
                  <a:srgbClr val="1F2421"/>
                </a:solidFill>
                <a:latin typeface="Consolas"/>
              </a:rPr>
              <a:t>compute</a:t>
            </a:r>
            <a:r>
              <a:rPr sz="900" b="0" i="0">
                <a:solidFill>
                  <a:srgbClr val="1F2421"/>
                </a:solidFill>
                <a:latin typeface="Consolas"/>
              </a:rPr>
              <a:t>(</a:t>
            </a:r>
            <a:r>
              <a:rPr sz="900" b="0" i="0">
                <a:solidFill>
                  <a:srgbClr val="1F2421"/>
                </a:solidFill>
                <a:latin typeface="Consolas"/>
              </a:rPr>
              <a:t>delta</a:t>
            </a:r>
            <a:r>
              <a:rPr sz="900" b="0" i="0">
                <a:solidFill>
                  <a:srgbClr val="1F2421"/>
                </a:solidFill>
                <a:latin typeface="Consolas"/>
              </a:rPr>
              <a:t>)</a:t>
            </a:r>
            <a:r>
              <a:rPr sz="900" b="0" i="0">
                <a:solidFill>
                  <a:srgbClr val="1F2421"/>
                </a:solidFill>
                <a:latin typeface="Consolas"/>
              </a:rPr>
              <a:t>}</a:t>
            </a:r>
            <a:r>
              <a:rPr sz="900" b="0" i="0">
                <a:solidFill>
                  <a:srgbClr val="1F2421"/>
                </a:solidFill>
                <a:latin typeface="Consolas"/>
              </a:rPr>
              <a:t>,</a:t>
            </a:r>
          </a:p>
          <a:p>
            <a:pPr algn="l">
              <a:lnSpc>
                <a:spcPct val="108000"/>
              </a:lnSpc>
            </a:pP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separators</a:t>
            </a:r>
            <a:r>
              <a:rPr sz="900" b="0" i="0">
                <a:solidFill>
                  <a:srgbClr val="1F2421"/>
                </a:solidFill>
                <a:latin typeface="Consolas"/>
              </a:rPr>
              <a:t>=</a:t>
            </a:r>
            <a:r>
              <a:rPr sz="900" b="0" i="0">
                <a:solidFill>
                  <a:srgbClr val="1F2421"/>
                </a:solidFill>
                <a:latin typeface="Consolas"/>
              </a:rPr>
              <a:t>(</a:t>
            </a:r>
            <a:r>
              <a:rPr sz="900" b="0" i="0">
                <a:solidFill>
                  <a:srgbClr val="8E673F"/>
                </a:solidFill>
                <a:latin typeface="Consolas"/>
              </a:rPr>
              <a:t>","</a:t>
            </a:r>
            <a:r>
              <a:rPr sz="900" b="0" i="0">
                <a:solidFill>
                  <a:srgbClr val="1F2421"/>
                </a:solidFill>
                <a:latin typeface="Consolas"/>
              </a:rPr>
              <a:t>,</a:t>
            </a:r>
            <a:r>
              <a:rPr sz="900" b="0" i="0">
                <a:solidFill>
                  <a:srgbClr val="1F2421"/>
                </a:solidFill>
                <a:latin typeface="Consolas"/>
              </a:rPr>
              <a:t> </a:t>
            </a:r>
            <a:r>
              <a:rPr sz="900" b="0" i="0">
                <a:solidFill>
                  <a:srgbClr val="8E673F"/>
                </a:solidFill>
                <a:latin typeface="Consolas"/>
              </a:rPr>
              <a:t>":"</a:t>
            </a:r>
            <a:r>
              <a:rPr sz="900" b="0" i="0">
                <a:solidFill>
                  <a:srgbClr val="1F2421"/>
                </a:solidFill>
                <a:latin typeface="Consolas"/>
              </a:rPr>
              <a:t>)</a:t>
            </a:r>
            <a:r>
              <a:rPr sz="900" b="0" i="0">
                <a:solidFill>
                  <a:srgbClr val="1F2421"/>
                </a:solidFill>
                <a:latin typeface="Consolas"/>
              </a:rPr>
              <a:t>)</a:t>
            </a:r>
            <a:r>
              <a:rPr sz="900" b="0" i="0">
                <a:solidFill>
                  <a:srgbClr val="1F2421"/>
                </a:solidFill>
                <a:latin typeface="Consolas"/>
              </a:rPr>
              <a:t>.</a:t>
            </a:r>
            <a:r>
              <a:rPr sz="900" b="0" i="0">
                <a:solidFill>
                  <a:srgbClr val="1F2421"/>
                </a:solidFill>
                <a:latin typeface="Consolas"/>
              </a:rPr>
              <a:t>encode</a:t>
            </a:r>
            <a:r>
              <a:rPr sz="900" b="0" i="0">
                <a:solidFill>
                  <a:srgbClr val="1F2421"/>
                </a:solidFill>
                <a:latin typeface="Consolas"/>
              </a:rPr>
              <a:t>(</a:t>
            </a:r>
            <a:r>
              <a:rPr sz="900" b="0" i="0">
                <a:solidFill>
                  <a:srgbClr val="1F2421"/>
                </a:solidFill>
                <a:latin typeface="Consolas"/>
              </a:rPr>
              <a:t>)</a:t>
            </a:r>
          </a:p>
          <a:p>
            <a:pPr algn="l">
              <a:lnSpc>
                <a:spcPct val="108000"/>
              </a:lnSpc>
            </a:pP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payload</a:t>
            </a:r>
            <a:r>
              <a:rPr sz="900" b="0" i="0">
                <a:solidFill>
                  <a:srgbClr val="1F2421"/>
                </a:solidFill>
                <a:latin typeface="Consolas"/>
              </a:rPr>
              <a:t> </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delta</a:t>
            </a:r>
            <a:r>
              <a:rPr sz="900" b="0" i="0">
                <a:solidFill>
                  <a:srgbClr val="1F2421"/>
                </a:solidFill>
                <a:latin typeface="Consolas"/>
              </a:rPr>
              <a:t>.</a:t>
            </a:r>
            <a:r>
              <a:rPr sz="900" b="0" i="0">
                <a:solidFill>
                  <a:srgbClr val="1F2421"/>
                </a:solidFill>
                <a:latin typeface="Consolas"/>
              </a:rPr>
              <a:t>astype</a:t>
            </a:r>
            <a:r>
              <a:rPr sz="900" b="0" i="0">
                <a:solidFill>
                  <a:srgbClr val="1F2421"/>
                </a:solidFill>
                <a:latin typeface="Consolas"/>
              </a:rPr>
              <a:t>(</a:t>
            </a:r>
            <a:r>
              <a:rPr sz="900" b="0" i="0">
                <a:solidFill>
                  <a:srgbClr val="1F2421"/>
                </a:solidFill>
                <a:latin typeface="Consolas"/>
              </a:rPr>
              <a:t>np</a:t>
            </a:r>
            <a:r>
              <a:rPr sz="900" b="0" i="0">
                <a:solidFill>
                  <a:srgbClr val="1F2421"/>
                </a:solidFill>
                <a:latin typeface="Consolas"/>
              </a:rPr>
              <a:t>.</a:t>
            </a:r>
            <a:r>
              <a:rPr sz="900" b="0" i="0">
                <a:solidFill>
                  <a:srgbClr val="1F2421"/>
                </a:solidFill>
                <a:latin typeface="Consolas"/>
              </a:rPr>
              <a:t>float32</a:t>
            </a:r>
            <a:r>
              <a:rPr sz="900" b="0" i="0">
                <a:solidFill>
                  <a:srgbClr val="1F2421"/>
                </a:solidFill>
                <a:latin typeface="Consolas"/>
              </a:rPr>
              <a:t>)</a:t>
            </a:r>
            <a:r>
              <a:rPr sz="900" b="0" i="0">
                <a:solidFill>
                  <a:srgbClr val="1F2421"/>
                </a:solidFill>
                <a:latin typeface="Consolas"/>
              </a:rPr>
              <a:t>.</a:t>
            </a:r>
            <a:r>
              <a:rPr sz="900" b="0" i="0">
                <a:solidFill>
                  <a:srgbClr val="1F2421"/>
                </a:solidFill>
                <a:latin typeface="Consolas"/>
              </a:rPr>
              <a:t>tobytes</a:t>
            </a:r>
            <a:r>
              <a:rPr sz="900" b="0" i="0">
                <a:solidFill>
                  <a:srgbClr val="1F2421"/>
                </a:solidFill>
                <a:latin typeface="Consolas"/>
              </a:rPr>
              <a:t>(</a:t>
            </a:r>
            <a:r>
              <a:rPr sz="900" b="0" i="0">
                <a:solidFill>
                  <a:srgbClr val="1F2421"/>
                </a:solidFill>
                <a:latin typeface="Consolas"/>
              </a:rPr>
              <a:t>)</a:t>
            </a:r>
          </a:p>
          <a:p>
            <a:pPr algn="l">
              <a:lnSpc>
                <a:spcPct val="108000"/>
              </a:lnSpc>
            </a:pP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tag</a:t>
            </a:r>
            <a:r>
              <a:rPr sz="900" b="0" i="0">
                <a:solidFill>
                  <a:srgbClr val="1F2421"/>
                </a:solidFill>
                <a:latin typeface="Consolas"/>
              </a:rPr>
              <a:t> </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hmac</a:t>
            </a:r>
            <a:r>
              <a:rPr sz="900" b="0" i="0">
                <a:solidFill>
                  <a:srgbClr val="1F2421"/>
                </a:solidFill>
                <a:latin typeface="Consolas"/>
              </a:rPr>
              <a:t>.</a:t>
            </a:r>
            <a:r>
              <a:rPr sz="900" b="0" i="0">
                <a:solidFill>
                  <a:srgbClr val="1F2421"/>
                </a:solidFill>
                <a:latin typeface="Consolas"/>
              </a:rPr>
              <a:t>new</a:t>
            </a:r>
            <a:r>
              <a:rPr sz="900" b="0" i="0">
                <a:solidFill>
                  <a:srgbClr val="1F2421"/>
                </a:solidFill>
                <a:latin typeface="Consolas"/>
              </a:rPr>
              <a:t>(</a:t>
            </a:r>
            <a:r>
              <a:rPr sz="900" b="0" i="0">
                <a:solidFill>
                  <a:srgbClr val="1F2421"/>
                </a:solidFill>
                <a:latin typeface="Consolas"/>
              </a:rPr>
              <a:t>key</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header</a:t>
            </a:r>
            <a:r>
              <a:rPr sz="900" b="0" i="0">
                <a:solidFill>
                  <a:srgbClr val="1F2421"/>
                </a:solidFill>
                <a:latin typeface="Consolas"/>
              </a:rPr>
              <a:t> </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payload</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hashlib</a:t>
            </a:r>
            <a:r>
              <a:rPr sz="900" b="0" i="0">
                <a:solidFill>
                  <a:srgbClr val="1F2421"/>
                </a:solidFill>
                <a:latin typeface="Consolas"/>
              </a:rPr>
              <a:t>.</a:t>
            </a:r>
            <a:r>
              <a:rPr sz="900" b="0" i="0">
                <a:solidFill>
                  <a:srgbClr val="1F2421"/>
                </a:solidFill>
                <a:latin typeface="Consolas"/>
              </a:rPr>
              <a:t>sha256</a:t>
            </a:r>
            <a:r>
              <a:rPr sz="900" b="0" i="0">
                <a:solidFill>
                  <a:srgbClr val="1F2421"/>
                </a:solidFill>
                <a:latin typeface="Consolas"/>
              </a:rPr>
              <a:t>)</a:t>
            </a:r>
            <a:r>
              <a:rPr sz="900" b="0" i="0">
                <a:solidFill>
                  <a:srgbClr val="1F2421"/>
                </a:solidFill>
                <a:latin typeface="Consolas"/>
              </a:rPr>
              <a:t>.</a:t>
            </a:r>
            <a:r>
              <a:rPr sz="900" b="0" i="0">
                <a:solidFill>
                  <a:srgbClr val="1F2421"/>
                </a:solidFill>
                <a:latin typeface="Consolas"/>
              </a:rPr>
              <a:t>digest</a:t>
            </a:r>
            <a:r>
              <a:rPr sz="900" b="0" i="0">
                <a:solidFill>
                  <a:srgbClr val="1F2421"/>
                </a:solidFill>
                <a:latin typeface="Consolas"/>
              </a:rPr>
              <a:t>(</a:t>
            </a:r>
            <a:r>
              <a:rPr sz="900" b="0" i="0">
                <a:solidFill>
                  <a:srgbClr val="1F2421"/>
                </a:solidFill>
                <a:latin typeface="Consolas"/>
              </a:rPr>
              <a:t>)</a:t>
            </a:r>
          </a:p>
          <a:p>
            <a:pPr algn="l">
              <a:lnSpc>
                <a:spcPct val="108000"/>
              </a:lnSpc>
            </a:pP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1" i="0">
                <a:solidFill>
                  <a:srgbClr val="3E5F5A"/>
                </a:solidFill>
                <a:latin typeface="Consolas"/>
              </a:rPr>
              <a:t>return</a:t>
            </a:r>
            <a:r>
              <a:rPr sz="900" b="0" i="0">
                <a:solidFill>
                  <a:srgbClr val="1F2421"/>
                </a:solidFill>
                <a:latin typeface="Consolas"/>
              </a:rPr>
              <a:t> </a:t>
            </a:r>
            <a:r>
              <a:rPr sz="900" b="0" i="0">
                <a:solidFill>
                  <a:srgbClr val="1F2421"/>
                </a:solidFill>
                <a:latin typeface="Consolas"/>
              </a:rPr>
              <a:t>len</a:t>
            </a:r>
            <a:r>
              <a:rPr sz="900" b="0" i="0">
                <a:solidFill>
                  <a:srgbClr val="1F2421"/>
                </a:solidFill>
                <a:latin typeface="Consolas"/>
              </a:rPr>
              <a:t>(</a:t>
            </a:r>
            <a:r>
              <a:rPr sz="900" b="0" i="0">
                <a:solidFill>
                  <a:srgbClr val="1F2421"/>
                </a:solidFill>
                <a:latin typeface="Consolas"/>
              </a:rPr>
              <a:t>header</a:t>
            </a:r>
            <a:r>
              <a:rPr sz="900" b="0" i="0">
                <a:solidFill>
                  <a:srgbClr val="1F2421"/>
                </a:solidFill>
                <a:latin typeface="Consolas"/>
              </a:rPr>
              <a:t>)</a:t>
            </a:r>
            <a:r>
              <a:rPr sz="900" b="0" i="0">
                <a:solidFill>
                  <a:srgbClr val="1F2421"/>
                </a:solidFill>
                <a:latin typeface="Consolas"/>
              </a:rPr>
              <a:t>.</a:t>
            </a:r>
            <a:r>
              <a:rPr sz="900" b="0" i="0">
                <a:solidFill>
                  <a:srgbClr val="1F2421"/>
                </a:solidFill>
                <a:latin typeface="Consolas"/>
              </a:rPr>
              <a:t>to_bytes</a:t>
            </a:r>
            <a:r>
              <a:rPr sz="900" b="0" i="0">
                <a:solidFill>
                  <a:srgbClr val="1F2421"/>
                </a:solidFill>
                <a:latin typeface="Consolas"/>
              </a:rPr>
              <a:t>(</a:t>
            </a:r>
            <a:r>
              <a:rPr sz="900" b="0" i="0">
                <a:solidFill>
                  <a:srgbClr val="1F2421"/>
                </a:solidFill>
                <a:latin typeface="Consolas"/>
              </a:rPr>
              <a:t>4</a:t>
            </a:r>
            <a:r>
              <a:rPr sz="900" b="0" i="0">
                <a:solidFill>
                  <a:srgbClr val="1F2421"/>
                </a:solidFill>
                <a:latin typeface="Consolas"/>
              </a:rPr>
              <a:t>,</a:t>
            </a:r>
            <a:r>
              <a:rPr sz="900" b="0" i="0">
                <a:solidFill>
                  <a:srgbClr val="1F2421"/>
                </a:solidFill>
                <a:latin typeface="Consolas"/>
              </a:rPr>
              <a:t> </a:t>
            </a:r>
            <a:r>
              <a:rPr sz="900" b="0" i="0">
                <a:solidFill>
                  <a:srgbClr val="8E673F"/>
                </a:solidFill>
                <a:latin typeface="Consolas"/>
              </a:rPr>
              <a:t>"big"</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header</a:t>
            </a:r>
            <a:r>
              <a:rPr sz="900" b="0" i="0">
                <a:solidFill>
                  <a:srgbClr val="1F2421"/>
                </a:solidFill>
                <a:latin typeface="Consolas"/>
              </a:rPr>
              <a:t> </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payload</a:t>
            </a:r>
            <a:r>
              <a:rPr sz="900" b="0" i="0">
                <a:solidFill>
                  <a:srgbClr val="1F2421"/>
                </a:solidFill>
                <a:latin typeface="Consolas"/>
              </a:rPr>
              <a:t> </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tag</a:t>
            </a:r>
          </a:p>
        </p:txBody>
      </p:sp>
      <p:sp>
        <p:nvSpPr>
          <p:cNvPr id="26" name="TextBox 25"/>
          <p:cNvSpPr txBox="1"/>
          <p:nvPr/>
        </p:nvSpPr>
        <p:spPr>
          <a:xfrm>
            <a:off x="731520" y="5897880"/>
            <a:ext cx="10725912" cy="365760"/>
          </a:xfrm>
          <a:prstGeom prst="rect">
            <a:avLst/>
          </a:prstGeom>
          <a:noFill/>
        </p:spPr>
        <p:txBody>
          <a:bodyPr wrap="square" anchor="t" lIns="0" rIns="0" tIns="0" bIns="0">
            <a:spAutoFit/>
          </a:bodyPr>
          <a:lstStyle/>
          <a:p>
            <a:pPr algn="l">
              <a:lnSpc>
                <a:spcPct val="120000"/>
              </a:lnSpc>
            </a:pPr>
            <a:r>
              <a:rPr sz="1050" b="0" i="0">
                <a:solidFill>
                  <a:srgbClr val="8C918A"/>
                </a:solidFill>
                <a:latin typeface="Segoe UI"/>
              </a:rPr>
              <a:t>The sketch is a fixed random projection (public seed 2023) of the update to 64 numbers. Whole message: +1,559 B (0.67%) over the bare update.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7315200" cy="274320"/>
          </a:xfrm>
          <a:prstGeom prst="rect">
            <a:avLst/>
          </a:prstGeom>
          <a:noFill/>
        </p:spPr>
        <p:txBody>
          <a:bodyPr wrap="square" anchor="t" lIns="0" rIns="0" tIns="0" bIns="0">
            <a:spAutoFit/>
          </a:bodyPr>
          <a:lstStyle/>
          <a:p>
            <a:pPr algn="l">
              <a:lnSpc>
                <a:spcPct val="120000"/>
              </a:lnSpc>
            </a:pPr>
            <a:r>
              <a:rPr sz="1050" b="1" i="0">
                <a:solidFill>
                  <a:srgbClr val="3E5F5A"/>
                </a:solidFill>
                <a:latin typeface="Segoe UI"/>
              </a:rPr>
              <a:t>METHODOLOGY · 6 / 6</a:t>
            </a:r>
          </a:p>
        </p:txBody>
      </p:sp>
      <p:cxnSp>
        <p:nvCxnSpPr>
          <p:cNvPr id="4" name="Connector 3"/>
          <p:cNvCxnSpPr/>
          <p:nvPr/>
        </p:nvCxnSpPr>
        <p:spPr>
          <a:xfrm>
            <a:off x="731520" y="841248"/>
            <a:ext cx="457200" cy="0"/>
          </a:xfrm>
          <a:prstGeom prst="line">
            <a:avLst/>
          </a:prstGeom>
          <a:ln w="19050">
            <a:solidFill>
              <a:srgbClr val="3E5F5A"/>
            </a:solidFill>
          </a:ln>
        </p:spPr>
      </p:cxnSp>
      <p:sp>
        <p:nvSpPr>
          <p:cNvPr id="5" name="TextBox 4"/>
          <p:cNvSpPr txBox="1"/>
          <p:nvPr/>
        </p:nvSpPr>
        <p:spPr>
          <a:xfrm>
            <a:off x="731520" y="960120"/>
            <a:ext cx="10725912" cy="731520"/>
          </a:xfrm>
          <a:prstGeom prst="rect">
            <a:avLst/>
          </a:prstGeom>
          <a:noFill/>
        </p:spPr>
        <p:txBody>
          <a:bodyPr wrap="square" anchor="t" lIns="0" rIns="0" tIns="0" bIns="0">
            <a:spAutoFit/>
          </a:bodyPr>
          <a:lstStyle/>
          <a:p>
            <a:pPr algn="l">
              <a:lnSpc>
                <a:spcPct val="120000"/>
              </a:lnSpc>
            </a:pPr>
            <a:r>
              <a:rPr sz="2800" b="0" i="0">
                <a:solidFill>
                  <a:srgbClr val="1F2421"/>
                </a:solidFill>
                <a:latin typeface="Georgia"/>
              </a:rPr>
              <a:t>Server checks before aggregation</a:t>
            </a:r>
          </a:p>
        </p:txBody>
      </p:sp>
      <p:sp>
        <p:nvSpPr>
          <p:cNvPr id="6" name="TextBox 5"/>
          <p:cNvSpPr txBox="1"/>
          <p:nvPr/>
        </p:nvSpPr>
        <p:spPr>
          <a:xfrm>
            <a:off x="731520" y="6400800"/>
            <a:ext cx="5486400" cy="228600"/>
          </a:xfrm>
          <a:prstGeom prst="rect">
            <a:avLst/>
          </a:prstGeom>
          <a:noFill/>
        </p:spPr>
        <p:txBody>
          <a:bodyPr wrap="square" anchor="t" lIns="0" rIns="0" tIns="0" bIns="0">
            <a:spAutoFit/>
          </a:bodyPr>
          <a:lstStyle/>
          <a:p>
            <a:pPr algn="l">
              <a:lnSpc>
                <a:spcPct val="120000"/>
              </a:lnSpc>
            </a:pPr>
            <a:r>
              <a:rPr sz="900" b="0" i="0">
                <a:solidFill>
                  <a:srgbClr val="8C918A"/>
                </a:solidFill>
                <a:latin typeface="Segoe UI"/>
              </a:rPr>
              <a:t>Krypsis  ·  Final Review</a:t>
            </a:r>
          </a:p>
        </p:txBody>
      </p:sp>
      <p:sp>
        <p:nvSpPr>
          <p:cNvPr id="7" name="TextBox 6"/>
          <p:cNvSpPr txBox="1"/>
          <p:nvPr/>
        </p:nvSpPr>
        <p:spPr>
          <a:xfrm>
            <a:off x="10543032" y="6400800"/>
            <a:ext cx="914400" cy="228600"/>
          </a:xfrm>
          <a:prstGeom prst="rect">
            <a:avLst/>
          </a:prstGeom>
          <a:noFill/>
        </p:spPr>
        <p:txBody>
          <a:bodyPr wrap="square" anchor="t" lIns="0" rIns="0" tIns="0" bIns="0">
            <a:spAutoFit/>
          </a:bodyPr>
          <a:lstStyle/>
          <a:p>
            <a:pPr algn="r">
              <a:lnSpc>
                <a:spcPct val="120000"/>
              </a:lnSpc>
            </a:pPr>
            <a:r>
              <a:rPr sz="900" b="0" i="0">
                <a:solidFill>
                  <a:srgbClr val="8C918A"/>
                </a:solidFill>
                <a:latin typeface="Segoe UI"/>
              </a:rPr>
              <a:t>9</a:t>
            </a:r>
          </a:p>
        </p:txBody>
      </p:sp>
      <p:sp>
        <p:nvSpPr>
          <p:cNvPr id="8" name="Rounded Rectangle 7"/>
          <p:cNvSpPr/>
          <p:nvPr/>
        </p:nvSpPr>
        <p:spPr>
          <a:xfrm>
            <a:off x="731520" y="1783080"/>
            <a:ext cx="1371600" cy="640080"/>
          </a:xfrm>
          <a:prstGeom prst="roundRect">
            <a:avLst>
              <a:gd name="adj" fmla="val 10000"/>
            </a:avLst>
          </a:prstGeom>
          <a:solidFill>
            <a:srgbClr val="FFFFFF"/>
          </a:solidFill>
          <a:ln w="9525">
            <a:solidFill>
              <a:srgbClr val="DDDA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783080"/>
            <a:ext cx="1371600" cy="45720"/>
          </a:xfrm>
          <a:prstGeom prst="rect">
            <a:avLst/>
          </a:prstGeom>
          <a:solidFill>
            <a:srgbClr val="8E6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783080"/>
            <a:ext cx="1371600" cy="640080"/>
          </a:xfrm>
          <a:prstGeom prst="rect">
            <a:avLst/>
          </a:prstGeom>
          <a:noFill/>
        </p:spPr>
        <p:txBody>
          <a:bodyPr wrap="square" anchor="ctr" lIns="0" rIns="0" tIns="0" bIns="0">
            <a:spAutoFit/>
          </a:bodyPr>
          <a:lstStyle/>
          <a:p>
            <a:pPr algn="ctr">
              <a:lnSpc>
                <a:spcPct val="105000"/>
              </a:lnSpc>
            </a:pPr>
            <a:r>
              <a:rPr sz="1050" b="1" i="0">
                <a:solidFill>
                  <a:srgbClr val="1F2421"/>
                </a:solidFill>
                <a:latin typeface="Segoe UI"/>
              </a:rPr>
              <a:t>Verify tag</a:t>
            </a:r>
          </a:p>
          <a:p>
            <a:pPr algn="ctr">
              <a:lnSpc>
                <a:spcPct val="105000"/>
              </a:lnSpc>
            </a:pPr>
            <a:r>
              <a:rPr sz="950" b="0" i="0">
                <a:solidFill>
                  <a:srgbClr val="5B625C"/>
                </a:solidFill>
                <a:latin typeface="Segoe UI"/>
              </a:rPr>
              <a:t>reject</a:t>
            </a:r>
          </a:p>
        </p:txBody>
      </p:sp>
      <p:cxnSp>
        <p:nvCxnSpPr>
          <p:cNvPr id="11" name="Connector 10"/>
          <p:cNvCxnSpPr/>
          <p:nvPr/>
        </p:nvCxnSpPr>
        <p:spPr>
          <a:xfrm>
            <a:off x="2121408" y="2103120"/>
            <a:ext cx="150876" cy="0"/>
          </a:xfrm>
          <a:prstGeom prst="line">
            <a:avLst/>
          </a:prstGeom>
          <a:ln w="12700">
            <a:solidFill>
              <a:srgbClr val="8C918A"/>
            </a:solidFill>
            <a:tailEnd type="triangle" w="med" len="med"/>
          </a:ln>
        </p:spPr>
      </p:cxnSp>
      <p:sp>
        <p:nvSpPr>
          <p:cNvPr id="12" name="Rounded Rectangle 11"/>
          <p:cNvSpPr/>
          <p:nvPr/>
        </p:nvSpPr>
        <p:spPr>
          <a:xfrm>
            <a:off x="2290572" y="1783080"/>
            <a:ext cx="1371600" cy="640080"/>
          </a:xfrm>
          <a:prstGeom prst="roundRect">
            <a:avLst>
              <a:gd name="adj" fmla="val 10000"/>
            </a:avLst>
          </a:prstGeom>
          <a:solidFill>
            <a:srgbClr val="FFFFFF"/>
          </a:solidFill>
          <a:ln w="9525">
            <a:solidFill>
              <a:srgbClr val="DDDA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90572" y="1783080"/>
            <a:ext cx="1371600" cy="45720"/>
          </a:xfrm>
          <a:prstGeom prst="rect">
            <a:avLst/>
          </a:prstGeom>
          <a:solidFill>
            <a:srgbClr val="8E6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290572" y="1783080"/>
            <a:ext cx="1371600" cy="640080"/>
          </a:xfrm>
          <a:prstGeom prst="rect">
            <a:avLst/>
          </a:prstGeom>
          <a:noFill/>
        </p:spPr>
        <p:txBody>
          <a:bodyPr wrap="square" anchor="ctr" lIns="0" rIns="0" tIns="0" bIns="0">
            <a:spAutoFit/>
          </a:bodyPr>
          <a:lstStyle/>
          <a:p>
            <a:pPr algn="ctr">
              <a:lnSpc>
                <a:spcPct val="105000"/>
              </a:lnSpc>
            </a:pPr>
            <a:r>
              <a:rPr sz="1050" b="1" i="0">
                <a:solidFill>
                  <a:srgbClr val="1F2421"/>
                </a:solidFill>
                <a:latin typeface="Segoe UI"/>
              </a:rPr>
              <a:t>Verify fingerprint</a:t>
            </a:r>
          </a:p>
          <a:p>
            <a:pPr algn="ctr">
              <a:lnSpc>
                <a:spcPct val="105000"/>
              </a:lnSpc>
            </a:pPr>
            <a:r>
              <a:rPr sz="950" b="0" i="0">
                <a:solidFill>
                  <a:srgbClr val="5B625C"/>
                </a:solidFill>
                <a:latin typeface="Segoe UI"/>
              </a:rPr>
              <a:t>reject</a:t>
            </a:r>
          </a:p>
        </p:txBody>
      </p:sp>
      <p:cxnSp>
        <p:nvCxnSpPr>
          <p:cNvPr id="15" name="Connector 14"/>
          <p:cNvCxnSpPr/>
          <p:nvPr/>
        </p:nvCxnSpPr>
        <p:spPr>
          <a:xfrm>
            <a:off x="3680460" y="2103120"/>
            <a:ext cx="150876" cy="0"/>
          </a:xfrm>
          <a:prstGeom prst="line">
            <a:avLst/>
          </a:prstGeom>
          <a:ln w="12700">
            <a:solidFill>
              <a:srgbClr val="8C918A"/>
            </a:solidFill>
            <a:tailEnd type="triangle" w="med" len="med"/>
          </a:ln>
        </p:spPr>
      </p:cxnSp>
      <p:sp>
        <p:nvSpPr>
          <p:cNvPr id="16" name="Rounded Rectangle 15"/>
          <p:cNvSpPr/>
          <p:nvPr/>
        </p:nvSpPr>
        <p:spPr>
          <a:xfrm>
            <a:off x="3849624" y="1783080"/>
            <a:ext cx="1371600" cy="640080"/>
          </a:xfrm>
          <a:prstGeom prst="roundRect">
            <a:avLst>
              <a:gd name="adj" fmla="val 10000"/>
            </a:avLst>
          </a:prstGeom>
          <a:solidFill>
            <a:srgbClr val="FFFFFF"/>
          </a:solidFill>
          <a:ln w="9525">
            <a:solidFill>
              <a:srgbClr val="DDDA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49624" y="1783080"/>
            <a:ext cx="1371600" cy="45720"/>
          </a:xfrm>
          <a:prstGeom prst="rect">
            <a:avLst/>
          </a:prstGeom>
          <a:solidFill>
            <a:srgbClr val="3E5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49624" y="1783080"/>
            <a:ext cx="1371600" cy="640080"/>
          </a:xfrm>
          <a:prstGeom prst="rect">
            <a:avLst/>
          </a:prstGeom>
          <a:noFill/>
        </p:spPr>
        <p:txBody>
          <a:bodyPr wrap="square" anchor="ctr" lIns="0" rIns="0" tIns="0" bIns="0">
            <a:spAutoFit/>
          </a:bodyPr>
          <a:lstStyle/>
          <a:p>
            <a:pPr algn="ctr">
              <a:lnSpc>
                <a:spcPct val="105000"/>
              </a:lnSpc>
            </a:pPr>
            <a:r>
              <a:rPr sz="1050" b="1" i="0">
                <a:solidFill>
                  <a:srgbClr val="1F2421"/>
                </a:solidFill>
                <a:latin typeface="Segoe UI"/>
              </a:rPr>
              <a:t>Score</a:t>
            </a:r>
          </a:p>
          <a:p>
            <a:pPr algn="ctr">
              <a:lnSpc>
                <a:spcPct val="105000"/>
              </a:lnSpc>
            </a:pPr>
            <a:r>
              <a:rPr sz="950" b="0" i="0">
                <a:solidFill>
                  <a:srgbClr val="5B625C"/>
                </a:solidFill>
                <a:latin typeface="Segoe UI"/>
              </a:rPr>
              <a:t>3 scores</a:t>
            </a:r>
          </a:p>
        </p:txBody>
      </p:sp>
      <p:cxnSp>
        <p:nvCxnSpPr>
          <p:cNvPr id="19" name="Connector 18"/>
          <p:cNvCxnSpPr/>
          <p:nvPr/>
        </p:nvCxnSpPr>
        <p:spPr>
          <a:xfrm>
            <a:off x="5239512" y="2103120"/>
            <a:ext cx="150876" cy="0"/>
          </a:xfrm>
          <a:prstGeom prst="line">
            <a:avLst/>
          </a:prstGeom>
          <a:ln w="12700">
            <a:solidFill>
              <a:srgbClr val="8C918A"/>
            </a:solidFill>
            <a:tailEnd type="triangle" w="med" len="med"/>
          </a:ln>
        </p:spPr>
      </p:cxnSp>
      <p:sp>
        <p:nvSpPr>
          <p:cNvPr id="20" name="Rounded Rectangle 19"/>
          <p:cNvSpPr/>
          <p:nvPr/>
        </p:nvSpPr>
        <p:spPr>
          <a:xfrm>
            <a:off x="5408676" y="1783080"/>
            <a:ext cx="1371600" cy="640080"/>
          </a:xfrm>
          <a:prstGeom prst="roundRect">
            <a:avLst>
              <a:gd name="adj" fmla="val 10000"/>
            </a:avLst>
          </a:prstGeom>
          <a:solidFill>
            <a:srgbClr val="FFFFFF"/>
          </a:solidFill>
          <a:ln w="9525">
            <a:solidFill>
              <a:srgbClr val="DDDA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08676" y="1783080"/>
            <a:ext cx="1371600" cy="45720"/>
          </a:xfrm>
          <a:prstGeom prst="rect">
            <a:avLst/>
          </a:prstGeom>
          <a:solidFill>
            <a:srgbClr val="3E5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08676" y="1783080"/>
            <a:ext cx="1371600" cy="640080"/>
          </a:xfrm>
          <a:prstGeom prst="rect">
            <a:avLst/>
          </a:prstGeom>
          <a:noFill/>
        </p:spPr>
        <p:txBody>
          <a:bodyPr wrap="square" anchor="ctr" lIns="0" rIns="0" tIns="0" bIns="0">
            <a:spAutoFit/>
          </a:bodyPr>
          <a:lstStyle/>
          <a:p>
            <a:pPr algn="ctr">
              <a:lnSpc>
                <a:spcPct val="105000"/>
              </a:lnSpc>
            </a:pPr>
            <a:r>
              <a:rPr sz="1050" b="1" i="0">
                <a:solidFill>
                  <a:srgbClr val="1F2421"/>
                </a:solidFill>
                <a:latin typeface="Segoe UI"/>
              </a:rPr>
              <a:t>Standardize</a:t>
            </a:r>
          </a:p>
          <a:p>
            <a:pPr algn="ctr">
              <a:lnSpc>
                <a:spcPct val="105000"/>
              </a:lnSpc>
            </a:pPr>
            <a:r>
              <a:rPr sz="950" b="0" i="0">
                <a:solidFill>
                  <a:srgbClr val="5B625C"/>
                </a:solidFill>
                <a:latin typeface="Segoe UI"/>
              </a:rPr>
              <a:t>robust z</a:t>
            </a:r>
          </a:p>
        </p:txBody>
      </p:sp>
      <p:cxnSp>
        <p:nvCxnSpPr>
          <p:cNvPr id="23" name="Connector 22"/>
          <p:cNvCxnSpPr/>
          <p:nvPr/>
        </p:nvCxnSpPr>
        <p:spPr>
          <a:xfrm>
            <a:off x="6798564" y="2103120"/>
            <a:ext cx="150876" cy="0"/>
          </a:xfrm>
          <a:prstGeom prst="line">
            <a:avLst/>
          </a:prstGeom>
          <a:ln w="12700">
            <a:solidFill>
              <a:srgbClr val="8C918A"/>
            </a:solidFill>
            <a:tailEnd type="triangle" w="med" len="med"/>
          </a:ln>
        </p:spPr>
      </p:cxnSp>
      <p:sp>
        <p:nvSpPr>
          <p:cNvPr id="24" name="Rounded Rectangle 23"/>
          <p:cNvSpPr/>
          <p:nvPr/>
        </p:nvSpPr>
        <p:spPr>
          <a:xfrm>
            <a:off x="6967728" y="1783080"/>
            <a:ext cx="1371600" cy="640080"/>
          </a:xfrm>
          <a:prstGeom prst="roundRect">
            <a:avLst>
              <a:gd name="adj" fmla="val 10000"/>
            </a:avLst>
          </a:prstGeom>
          <a:solidFill>
            <a:srgbClr val="FFFFFF"/>
          </a:solidFill>
          <a:ln w="9525">
            <a:solidFill>
              <a:srgbClr val="DDDA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967728" y="1783080"/>
            <a:ext cx="1371600" cy="45720"/>
          </a:xfrm>
          <a:prstGeom prst="rect">
            <a:avLst/>
          </a:prstGeom>
          <a:solidFill>
            <a:srgbClr val="3E5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67728" y="1783080"/>
            <a:ext cx="1371600" cy="640080"/>
          </a:xfrm>
          <a:prstGeom prst="rect">
            <a:avLst/>
          </a:prstGeom>
          <a:noFill/>
        </p:spPr>
        <p:txBody>
          <a:bodyPr wrap="square" anchor="ctr" lIns="0" rIns="0" tIns="0" bIns="0">
            <a:spAutoFit/>
          </a:bodyPr>
          <a:lstStyle/>
          <a:p>
            <a:pPr algn="ctr">
              <a:lnSpc>
                <a:spcPct val="105000"/>
              </a:lnSpc>
            </a:pPr>
            <a:r>
              <a:rPr sz="1050" b="1" i="0">
                <a:solidFill>
                  <a:srgbClr val="1F2421"/>
                </a:solidFill>
                <a:latin typeface="Segoe UI"/>
              </a:rPr>
              <a:t>Threshold</a:t>
            </a:r>
          </a:p>
          <a:p>
            <a:pPr algn="ctr">
              <a:lnSpc>
                <a:spcPct val="105000"/>
              </a:lnSpc>
            </a:pPr>
            <a:r>
              <a:rPr sz="950" b="0" i="0">
                <a:solidFill>
                  <a:srgbClr val="5B625C"/>
                </a:solidFill>
                <a:latin typeface="Segoe UI"/>
              </a:rPr>
              <a:t>conformal</a:t>
            </a:r>
          </a:p>
        </p:txBody>
      </p:sp>
      <p:cxnSp>
        <p:nvCxnSpPr>
          <p:cNvPr id="27" name="Connector 26"/>
          <p:cNvCxnSpPr/>
          <p:nvPr/>
        </p:nvCxnSpPr>
        <p:spPr>
          <a:xfrm>
            <a:off x="8357616" y="2103120"/>
            <a:ext cx="150876" cy="0"/>
          </a:xfrm>
          <a:prstGeom prst="line">
            <a:avLst/>
          </a:prstGeom>
          <a:ln w="12700">
            <a:solidFill>
              <a:srgbClr val="8C918A"/>
            </a:solidFill>
            <a:tailEnd type="triangle" w="med" len="med"/>
          </a:ln>
        </p:spPr>
      </p:cxnSp>
      <p:sp>
        <p:nvSpPr>
          <p:cNvPr id="28" name="Rounded Rectangle 27"/>
          <p:cNvSpPr/>
          <p:nvPr/>
        </p:nvSpPr>
        <p:spPr>
          <a:xfrm>
            <a:off x="8526780" y="1783080"/>
            <a:ext cx="1371600" cy="640080"/>
          </a:xfrm>
          <a:prstGeom prst="roundRect">
            <a:avLst>
              <a:gd name="adj" fmla="val 10000"/>
            </a:avLst>
          </a:prstGeom>
          <a:solidFill>
            <a:srgbClr val="FFFFFF"/>
          </a:solidFill>
          <a:ln w="9525">
            <a:solidFill>
              <a:srgbClr val="DDDA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526780" y="1783080"/>
            <a:ext cx="1371600" cy="45720"/>
          </a:xfrm>
          <a:prstGeom prst="rect">
            <a:avLst/>
          </a:prstGeom>
          <a:solidFill>
            <a:srgbClr val="3E5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26780" y="1783080"/>
            <a:ext cx="1371600" cy="640080"/>
          </a:xfrm>
          <a:prstGeom prst="rect">
            <a:avLst/>
          </a:prstGeom>
          <a:noFill/>
        </p:spPr>
        <p:txBody>
          <a:bodyPr wrap="square" anchor="ctr" lIns="0" rIns="0" tIns="0" bIns="0">
            <a:spAutoFit/>
          </a:bodyPr>
          <a:lstStyle/>
          <a:p>
            <a:pPr algn="ctr">
              <a:lnSpc>
                <a:spcPct val="105000"/>
              </a:lnSpc>
            </a:pPr>
            <a:r>
              <a:rPr sz="1050" b="1" i="0">
                <a:solidFill>
                  <a:srgbClr val="1F2421"/>
                </a:solidFill>
                <a:latin typeface="Segoe UI"/>
              </a:rPr>
              <a:t>Second check</a:t>
            </a:r>
          </a:p>
          <a:p>
            <a:pPr algn="ctr">
              <a:lnSpc>
                <a:spcPct val="105000"/>
              </a:lnSpc>
            </a:pPr>
            <a:r>
              <a:rPr sz="950" b="0" i="0">
                <a:solidFill>
                  <a:srgbClr val="5B625C"/>
                </a:solidFill>
                <a:latin typeface="Segoe UI"/>
              </a:rPr>
              <a:t>trimmed mean</a:t>
            </a:r>
          </a:p>
        </p:txBody>
      </p:sp>
      <p:cxnSp>
        <p:nvCxnSpPr>
          <p:cNvPr id="31" name="Connector 30"/>
          <p:cNvCxnSpPr/>
          <p:nvPr/>
        </p:nvCxnSpPr>
        <p:spPr>
          <a:xfrm>
            <a:off x="9916668" y="2103120"/>
            <a:ext cx="150876" cy="0"/>
          </a:xfrm>
          <a:prstGeom prst="line">
            <a:avLst/>
          </a:prstGeom>
          <a:ln w="12700">
            <a:solidFill>
              <a:srgbClr val="8C918A"/>
            </a:solidFill>
            <a:tailEnd type="triangle" w="med" len="med"/>
          </a:ln>
        </p:spPr>
      </p:cxnSp>
      <p:sp>
        <p:nvSpPr>
          <p:cNvPr id="32" name="Rounded Rectangle 31"/>
          <p:cNvSpPr/>
          <p:nvPr/>
        </p:nvSpPr>
        <p:spPr>
          <a:xfrm>
            <a:off x="10085832" y="1783080"/>
            <a:ext cx="1371600" cy="640080"/>
          </a:xfrm>
          <a:prstGeom prst="roundRect">
            <a:avLst>
              <a:gd name="adj" fmla="val 10000"/>
            </a:avLst>
          </a:prstGeom>
          <a:solidFill>
            <a:srgbClr val="FFFFFF"/>
          </a:solidFill>
          <a:ln w="9525">
            <a:solidFill>
              <a:srgbClr val="DDDA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085832" y="1783080"/>
            <a:ext cx="1371600" cy="45720"/>
          </a:xfrm>
          <a:prstGeom prst="rect">
            <a:avLst/>
          </a:prstGeom>
          <a:solidFill>
            <a:srgbClr val="1F24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85832" y="1783080"/>
            <a:ext cx="1371600" cy="640080"/>
          </a:xfrm>
          <a:prstGeom prst="rect">
            <a:avLst/>
          </a:prstGeom>
          <a:noFill/>
        </p:spPr>
        <p:txBody>
          <a:bodyPr wrap="square" anchor="ctr" lIns="0" rIns="0" tIns="0" bIns="0">
            <a:spAutoFit/>
          </a:bodyPr>
          <a:lstStyle/>
          <a:p>
            <a:pPr algn="ctr">
              <a:lnSpc>
                <a:spcPct val="105000"/>
              </a:lnSpc>
            </a:pPr>
            <a:r>
              <a:rPr sz="1050" b="1" i="0">
                <a:solidFill>
                  <a:srgbClr val="1F2421"/>
                </a:solidFill>
                <a:latin typeface="Segoe UI"/>
              </a:rPr>
              <a:t>Capped FedAvg</a:t>
            </a:r>
          </a:p>
          <a:p>
            <a:pPr algn="ctr">
              <a:lnSpc>
                <a:spcPct val="105000"/>
              </a:lnSpc>
            </a:pPr>
            <a:r>
              <a:rPr sz="950" b="0" i="0">
                <a:solidFill>
                  <a:srgbClr val="5B625C"/>
                </a:solidFill>
                <a:latin typeface="Segoe UI"/>
              </a:rPr>
              <a:t>≤ 15% each</a:t>
            </a:r>
          </a:p>
        </p:txBody>
      </p:sp>
      <p:sp>
        <p:nvSpPr>
          <p:cNvPr id="35" name="Rectangle 34"/>
          <p:cNvSpPr/>
          <p:nvPr/>
        </p:nvSpPr>
        <p:spPr>
          <a:xfrm>
            <a:off x="731520" y="2651760"/>
            <a:ext cx="5257800" cy="3154680"/>
          </a:xfrm>
          <a:prstGeom prst="rect">
            <a:avLst/>
          </a:prstGeom>
          <a:solidFill>
            <a:srgbClr val="FBFAF7"/>
          </a:solidFill>
          <a:ln w="9525">
            <a:solidFill>
              <a:srgbClr val="DDDA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31520" y="2651760"/>
            <a:ext cx="45720" cy="3154680"/>
          </a:xfrm>
          <a:prstGeom prst="rect">
            <a:avLst/>
          </a:prstGeom>
          <a:solidFill>
            <a:srgbClr val="3E5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60120" y="2761488"/>
            <a:ext cx="4892040" cy="228600"/>
          </a:xfrm>
          <a:prstGeom prst="rect">
            <a:avLst/>
          </a:prstGeom>
          <a:noFill/>
        </p:spPr>
        <p:txBody>
          <a:bodyPr wrap="square" anchor="t" lIns="0" rIns="0" tIns="0" bIns="0">
            <a:spAutoFit/>
          </a:bodyPr>
          <a:lstStyle/>
          <a:p>
            <a:pPr algn="l">
              <a:lnSpc>
                <a:spcPct val="120000"/>
              </a:lnSpc>
            </a:pPr>
            <a:r>
              <a:rPr sz="900" b="0" i="0">
                <a:solidFill>
                  <a:srgbClr val="8C918A"/>
                </a:solidFill>
                <a:latin typeface="Consolas"/>
              </a:rPr>
              <a:t>src/protocol.py  ·  step 1-2</a:t>
            </a:r>
          </a:p>
        </p:txBody>
      </p:sp>
      <p:cxnSp>
        <p:nvCxnSpPr>
          <p:cNvPr id="38" name="Connector 37"/>
          <p:cNvCxnSpPr/>
          <p:nvPr/>
        </p:nvCxnSpPr>
        <p:spPr>
          <a:xfrm>
            <a:off x="960120" y="3035808"/>
            <a:ext cx="4846320" cy="0"/>
          </a:xfrm>
          <a:prstGeom prst="line">
            <a:avLst/>
          </a:prstGeom>
          <a:ln w="6350">
            <a:solidFill>
              <a:srgbClr val="DDDAD2"/>
            </a:solidFill>
          </a:ln>
        </p:spPr>
      </p:cxnSp>
      <p:sp>
        <p:nvSpPr>
          <p:cNvPr id="39" name="TextBox 38"/>
          <p:cNvSpPr txBox="1"/>
          <p:nvPr/>
        </p:nvSpPr>
        <p:spPr>
          <a:xfrm>
            <a:off x="960120" y="3154680"/>
            <a:ext cx="4937760" cy="2560320"/>
          </a:xfrm>
          <a:prstGeom prst="rect">
            <a:avLst/>
          </a:prstGeom>
          <a:noFill/>
        </p:spPr>
        <p:txBody>
          <a:bodyPr wrap="square" anchor="t" lIns="0" rIns="0" tIns="0" bIns="0">
            <a:spAutoFit/>
          </a:bodyPr>
          <a:lstStyle/>
          <a:p>
            <a:pPr algn="l">
              <a:lnSpc>
                <a:spcPct val="108000"/>
              </a:lnSpc>
            </a:pPr>
            <a:r>
              <a:rPr sz="900" b="1" i="0">
                <a:solidFill>
                  <a:srgbClr val="3E5F5A"/>
                </a:solidFill>
                <a:latin typeface="Consolas"/>
              </a:rPr>
              <a:t>def</a:t>
            </a:r>
            <a:r>
              <a:rPr sz="900" b="0" i="0">
                <a:solidFill>
                  <a:srgbClr val="1F2421"/>
                </a:solidFill>
                <a:latin typeface="Consolas"/>
              </a:rPr>
              <a:t> </a:t>
            </a:r>
            <a:r>
              <a:rPr sz="900" b="0" i="0">
                <a:solidFill>
                  <a:srgbClr val="1F2421"/>
                </a:solidFill>
                <a:latin typeface="Consolas"/>
              </a:rPr>
              <a:t>unpack</a:t>
            </a:r>
            <a:r>
              <a:rPr sz="900" b="0" i="0">
                <a:solidFill>
                  <a:srgbClr val="1F2421"/>
                </a:solidFill>
                <a:latin typeface="Consolas"/>
              </a:rPr>
              <a:t>(</a:t>
            </a:r>
            <a:r>
              <a:rPr sz="900" b="0" i="0">
                <a:solidFill>
                  <a:srgbClr val="1F2421"/>
                </a:solidFill>
                <a:latin typeface="Consolas"/>
              </a:rPr>
              <a:t>message</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keys</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fp</a:t>
            </a:r>
            <a:r>
              <a:rPr sz="900" b="0" i="0">
                <a:solidFill>
                  <a:srgbClr val="1F2421"/>
                </a:solidFill>
                <a:latin typeface="Consolas"/>
              </a:rPr>
              <a:t>)</a:t>
            </a:r>
            <a:r>
              <a:rPr sz="900" b="0" i="0">
                <a:solidFill>
                  <a:srgbClr val="1F2421"/>
                </a:solidFill>
                <a:latin typeface="Consolas"/>
              </a:rPr>
              <a:t>:</a:t>
            </a:r>
          </a:p>
          <a:p>
            <a:pPr algn="l">
              <a:lnSpc>
                <a:spcPct val="108000"/>
              </a:lnSpc>
            </a:pP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a:t>
            </a:r>
            <a:r>
              <a:rPr sz="900" b="0" i="0">
                <a:solidFill>
                  <a:srgbClr val="1F2421"/>
                </a:solidFill>
                <a:latin typeface="Consolas"/>
              </a:rPr>
              <a:t>.</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1">
                <a:solidFill>
                  <a:srgbClr val="8C918A"/>
                </a:solidFill>
                <a:latin typeface="Consolas"/>
              </a:rPr>
              <a:t># split header/payload/tag</a:t>
            </a:r>
          </a:p>
          <a:p>
            <a:pPr algn="l">
              <a:lnSpc>
                <a:spcPct val="108000"/>
              </a:lnSpc>
            </a:pP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expected</a:t>
            </a:r>
            <a:r>
              <a:rPr sz="900" b="0" i="0">
                <a:solidFill>
                  <a:srgbClr val="1F2421"/>
                </a:solidFill>
                <a:latin typeface="Consolas"/>
              </a:rPr>
              <a:t> </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hmac</a:t>
            </a:r>
            <a:r>
              <a:rPr sz="900" b="0" i="0">
                <a:solidFill>
                  <a:srgbClr val="1F2421"/>
                </a:solidFill>
                <a:latin typeface="Consolas"/>
              </a:rPr>
              <a:t>.</a:t>
            </a:r>
            <a:r>
              <a:rPr sz="900" b="0" i="0">
                <a:solidFill>
                  <a:srgbClr val="1F2421"/>
                </a:solidFill>
                <a:latin typeface="Consolas"/>
              </a:rPr>
              <a:t>new</a:t>
            </a:r>
            <a:r>
              <a:rPr sz="900" b="0" i="0">
                <a:solidFill>
                  <a:srgbClr val="1F2421"/>
                </a:solidFill>
                <a:latin typeface="Consolas"/>
              </a:rPr>
              <a:t>(</a:t>
            </a:r>
            <a:r>
              <a:rPr sz="900" b="0" i="0">
                <a:solidFill>
                  <a:srgbClr val="1F2421"/>
                </a:solidFill>
                <a:latin typeface="Consolas"/>
              </a:rPr>
              <a:t>key</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header_bytes</a:t>
            </a:r>
            <a:r>
              <a:rPr sz="900" b="0" i="0">
                <a:solidFill>
                  <a:srgbClr val="1F2421"/>
                </a:solidFill>
                <a:latin typeface="Consolas"/>
              </a:rPr>
              <a:t> </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payload</a:t>
            </a:r>
            <a:r>
              <a:rPr sz="900" b="0" i="0">
                <a:solidFill>
                  <a:srgbClr val="1F2421"/>
                </a:solidFill>
                <a:latin typeface="Consolas"/>
              </a:rPr>
              <a:t>,</a:t>
            </a:r>
          </a:p>
          <a:p>
            <a:pPr algn="l">
              <a:lnSpc>
                <a:spcPct val="108000"/>
              </a:lnSpc>
            </a:pP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hashlib</a:t>
            </a:r>
            <a:r>
              <a:rPr sz="900" b="0" i="0">
                <a:solidFill>
                  <a:srgbClr val="1F2421"/>
                </a:solidFill>
                <a:latin typeface="Consolas"/>
              </a:rPr>
              <a:t>.</a:t>
            </a:r>
            <a:r>
              <a:rPr sz="900" b="0" i="0">
                <a:solidFill>
                  <a:srgbClr val="1F2421"/>
                </a:solidFill>
                <a:latin typeface="Consolas"/>
              </a:rPr>
              <a:t>sha256</a:t>
            </a:r>
            <a:r>
              <a:rPr sz="900" b="0" i="0">
                <a:solidFill>
                  <a:srgbClr val="1F2421"/>
                </a:solidFill>
                <a:latin typeface="Consolas"/>
              </a:rPr>
              <a:t>)</a:t>
            </a:r>
            <a:r>
              <a:rPr sz="900" b="0" i="0">
                <a:solidFill>
                  <a:srgbClr val="1F2421"/>
                </a:solidFill>
                <a:latin typeface="Consolas"/>
              </a:rPr>
              <a:t>.</a:t>
            </a:r>
            <a:r>
              <a:rPr sz="900" b="0" i="0">
                <a:solidFill>
                  <a:srgbClr val="1F2421"/>
                </a:solidFill>
                <a:latin typeface="Consolas"/>
              </a:rPr>
              <a:t>digest</a:t>
            </a:r>
            <a:r>
              <a:rPr sz="900" b="0" i="0">
                <a:solidFill>
                  <a:srgbClr val="1F2421"/>
                </a:solidFill>
                <a:latin typeface="Consolas"/>
              </a:rPr>
              <a:t>(</a:t>
            </a:r>
            <a:r>
              <a:rPr sz="900" b="0" i="0">
                <a:solidFill>
                  <a:srgbClr val="1F2421"/>
                </a:solidFill>
                <a:latin typeface="Consolas"/>
              </a:rPr>
              <a:t>)</a:t>
            </a:r>
          </a:p>
          <a:p>
            <a:pPr algn="l">
              <a:lnSpc>
                <a:spcPct val="108000"/>
              </a:lnSpc>
            </a:pP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1" i="0">
                <a:solidFill>
                  <a:srgbClr val="3E5F5A"/>
                </a:solidFill>
                <a:latin typeface="Consolas"/>
              </a:rPr>
              <a:t>if</a:t>
            </a:r>
            <a:r>
              <a:rPr sz="900" b="0" i="0">
                <a:solidFill>
                  <a:srgbClr val="1F2421"/>
                </a:solidFill>
                <a:latin typeface="Consolas"/>
              </a:rPr>
              <a:t> </a:t>
            </a:r>
            <a:r>
              <a:rPr sz="900" b="1" i="0">
                <a:solidFill>
                  <a:srgbClr val="3E5F5A"/>
                </a:solidFill>
                <a:latin typeface="Consolas"/>
              </a:rPr>
              <a:t>not</a:t>
            </a:r>
            <a:r>
              <a:rPr sz="900" b="0" i="0">
                <a:solidFill>
                  <a:srgbClr val="1F2421"/>
                </a:solidFill>
                <a:latin typeface="Consolas"/>
              </a:rPr>
              <a:t> </a:t>
            </a:r>
            <a:r>
              <a:rPr sz="900" b="0" i="0">
                <a:solidFill>
                  <a:srgbClr val="1F2421"/>
                </a:solidFill>
                <a:latin typeface="Consolas"/>
              </a:rPr>
              <a:t>hmac</a:t>
            </a:r>
            <a:r>
              <a:rPr sz="900" b="0" i="0">
                <a:solidFill>
                  <a:srgbClr val="1F2421"/>
                </a:solidFill>
                <a:latin typeface="Consolas"/>
              </a:rPr>
              <a:t>.</a:t>
            </a:r>
            <a:r>
              <a:rPr sz="900" b="0" i="0">
                <a:solidFill>
                  <a:srgbClr val="1F2421"/>
                </a:solidFill>
                <a:latin typeface="Consolas"/>
              </a:rPr>
              <a:t>compare_digest</a:t>
            </a:r>
            <a:r>
              <a:rPr sz="900" b="0" i="0">
                <a:solidFill>
                  <a:srgbClr val="1F2421"/>
                </a:solidFill>
                <a:latin typeface="Consolas"/>
              </a:rPr>
              <a:t>(</a:t>
            </a:r>
            <a:r>
              <a:rPr sz="900" b="0" i="0">
                <a:solidFill>
                  <a:srgbClr val="1F2421"/>
                </a:solidFill>
                <a:latin typeface="Consolas"/>
              </a:rPr>
              <a:t>tag</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expected</a:t>
            </a:r>
            <a:r>
              <a:rPr sz="900" b="0" i="0">
                <a:solidFill>
                  <a:srgbClr val="1F2421"/>
                </a:solidFill>
                <a:latin typeface="Consolas"/>
              </a:rPr>
              <a:t>)</a:t>
            </a:r>
            <a:r>
              <a:rPr sz="900" b="0" i="0">
                <a:solidFill>
                  <a:srgbClr val="1F2421"/>
                </a:solidFill>
                <a:latin typeface="Consolas"/>
              </a:rPr>
              <a:t>:</a:t>
            </a:r>
          </a:p>
          <a:p>
            <a:pPr algn="l">
              <a:lnSpc>
                <a:spcPct val="108000"/>
              </a:lnSpc>
            </a:pP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1" i="0">
                <a:solidFill>
                  <a:srgbClr val="3E5F5A"/>
                </a:solidFill>
                <a:latin typeface="Consolas"/>
              </a:rPr>
              <a:t>return</a:t>
            </a:r>
            <a:r>
              <a:rPr sz="900" b="0" i="0">
                <a:solidFill>
                  <a:srgbClr val="1F2421"/>
                </a:solidFill>
                <a:latin typeface="Consolas"/>
              </a:rPr>
              <a:t> </a:t>
            </a:r>
            <a:r>
              <a:rPr sz="900" b="0" i="0">
                <a:solidFill>
                  <a:srgbClr val="1F2421"/>
                </a:solidFill>
                <a:latin typeface="Consolas"/>
              </a:rPr>
              <a:t>header</a:t>
            </a:r>
            <a:r>
              <a:rPr sz="900" b="0" i="0">
                <a:solidFill>
                  <a:srgbClr val="1F2421"/>
                </a:solidFill>
                <a:latin typeface="Consolas"/>
              </a:rPr>
              <a:t>,</a:t>
            </a:r>
            <a:r>
              <a:rPr sz="900" b="0" i="0">
                <a:solidFill>
                  <a:srgbClr val="1F2421"/>
                </a:solidFill>
                <a:latin typeface="Consolas"/>
              </a:rPr>
              <a:t> </a:t>
            </a:r>
            <a:r>
              <a:rPr sz="900" b="1" i="0">
                <a:solidFill>
                  <a:srgbClr val="3E5F5A"/>
                </a:solidFill>
                <a:latin typeface="Consolas"/>
              </a:rPr>
              <a:t>None</a:t>
            </a:r>
            <a:r>
              <a:rPr sz="900" b="0" i="0">
                <a:solidFill>
                  <a:srgbClr val="1F2421"/>
                </a:solidFill>
                <a:latin typeface="Consolas"/>
              </a:rPr>
              <a:t>,</a:t>
            </a:r>
            <a:r>
              <a:rPr sz="900" b="0" i="0">
                <a:solidFill>
                  <a:srgbClr val="1F2421"/>
                </a:solidFill>
                <a:latin typeface="Consolas"/>
              </a:rPr>
              <a:t> </a:t>
            </a:r>
            <a:r>
              <a:rPr sz="900" b="0" i="0">
                <a:solidFill>
                  <a:srgbClr val="8E673F"/>
                </a:solidFill>
                <a:latin typeface="Consolas"/>
              </a:rPr>
              <a:t>"bad_tag"</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1">
                <a:solidFill>
                  <a:srgbClr val="8C918A"/>
                </a:solidFill>
                <a:latin typeface="Consolas"/>
              </a:rPr>
              <a:t># tampered</a:t>
            </a:r>
          </a:p>
          <a:p>
            <a:pPr algn="l">
              <a:lnSpc>
                <a:spcPct val="108000"/>
              </a:lnSpc>
            </a:pP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delta</a:t>
            </a:r>
            <a:r>
              <a:rPr sz="900" b="0" i="0">
                <a:solidFill>
                  <a:srgbClr val="1F2421"/>
                </a:solidFill>
                <a:latin typeface="Consolas"/>
              </a:rPr>
              <a:t> </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np</a:t>
            </a:r>
            <a:r>
              <a:rPr sz="900" b="0" i="0">
                <a:solidFill>
                  <a:srgbClr val="1F2421"/>
                </a:solidFill>
                <a:latin typeface="Consolas"/>
              </a:rPr>
              <a:t>.</a:t>
            </a:r>
            <a:r>
              <a:rPr sz="900" b="0" i="0">
                <a:solidFill>
                  <a:srgbClr val="1F2421"/>
                </a:solidFill>
                <a:latin typeface="Consolas"/>
              </a:rPr>
              <a:t>frombuffer</a:t>
            </a:r>
            <a:r>
              <a:rPr sz="900" b="0" i="0">
                <a:solidFill>
                  <a:srgbClr val="1F2421"/>
                </a:solidFill>
                <a:latin typeface="Consolas"/>
              </a:rPr>
              <a:t>(</a:t>
            </a:r>
            <a:r>
              <a:rPr sz="900" b="0" i="0">
                <a:solidFill>
                  <a:srgbClr val="1F2421"/>
                </a:solidFill>
                <a:latin typeface="Consolas"/>
              </a:rPr>
              <a:t>payload</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dtype</a:t>
            </a:r>
            <a:r>
              <a:rPr sz="900" b="0" i="0">
                <a:solidFill>
                  <a:srgbClr val="1F2421"/>
                </a:solidFill>
                <a:latin typeface="Consolas"/>
              </a:rPr>
              <a:t>=</a:t>
            </a:r>
            <a:r>
              <a:rPr sz="900" b="0" i="0">
                <a:solidFill>
                  <a:srgbClr val="1F2421"/>
                </a:solidFill>
                <a:latin typeface="Consolas"/>
              </a:rPr>
              <a:t>np</a:t>
            </a:r>
            <a:r>
              <a:rPr sz="900" b="0" i="0">
                <a:solidFill>
                  <a:srgbClr val="1F2421"/>
                </a:solidFill>
                <a:latin typeface="Consolas"/>
              </a:rPr>
              <a:t>.</a:t>
            </a:r>
            <a:r>
              <a:rPr sz="900" b="0" i="0">
                <a:solidFill>
                  <a:srgbClr val="1F2421"/>
                </a:solidFill>
                <a:latin typeface="Consolas"/>
              </a:rPr>
              <a:t>float32</a:t>
            </a:r>
            <a:r>
              <a:rPr sz="900" b="0" i="0">
                <a:solidFill>
                  <a:srgbClr val="1F2421"/>
                </a:solidFill>
                <a:latin typeface="Consolas"/>
              </a:rPr>
              <a:t>)</a:t>
            </a:r>
          </a:p>
          <a:p>
            <a:pPr algn="l">
              <a:lnSpc>
                <a:spcPct val="108000"/>
              </a:lnSpc>
            </a:pP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actual</a:t>
            </a:r>
            <a:r>
              <a:rPr sz="900" b="0" i="0">
                <a:solidFill>
                  <a:srgbClr val="1F2421"/>
                </a:solidFill>
                <a:latin typeface="Consolas"/>
              </a:rPr>
              <a:t> </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fp</a:t>
            </a:r>
            <a:r>
              <a:rPr sz="900" b="0" i="0">
                <a:solidFill>
                  <a:srgbClr val="1F2421"/>
                </a:solidFill>
                <a:latin typeface="Consolas"/>
              </a:rPr>
              <a:t>.</a:t>
            </a:r>
            <a:r>
              <a:rPr sz="900" b="0" i="0">
                <a:solidFill>
                  <a:srgbClr val="1F2421"/>
                </a:solidFill>
                <a:latin typeface="Consolas"/>
              </a:rPr>
              <a:t>compute</a:t>
            </a:r>
            <a:r>
              <a:rPr sz="900" b="0" i="0">
                <a:solidFill>
                  <a:srgbClr val="1F2421"/>
                </a:solidFill>
                <a:latin typeface="Consolas"/>
              </a:rPr>
              <a:t>(</a:t>
            </a:r>
            <a:r>
              <a:rPr sz="900" b="0" i="0">
                <a:solidFill>
                  <a:srgbClr val="1F2421"/>
                </a:solidFill>
                <a:latin typeface="Consolas"/>
              </a:rPr>
              <a:t>delta</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1">
                <a:solidFill>
                  <a:srgbClr val="8C918A"/>
                </a:solidFill>
                <a:latin typeface="Consolas"/>
              </a:rPr>
              <a:t># recompute, never trust</a:t>
            </a:r>
          </a:p>
          <a:p>
            <a:pPr algn="l">
              <a:lnSpc>
                <a:spcPct val="108000"/>
              </a:lnSpc>
            </a:pP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1" i="0">
                <a:solidFill>
                  <a:srgbClr val="3E5F5A"/>
                </a:solidFill>
                <a:latin typeface="Consolas"/>
              </a:rPr>
              <a:t>if</a:t>
            </a:r>
            <a:r>
              <a:rPr sz="900" b="0" i="0">
                <a:solidFill>
                  <a:srgbClr val="1F2421"/>
                </a:solidFill>
                <a:latin typeface="Consolas"/>
              </a:rPr>
              <a:t> </a:t>
            </a:r>
            <a:r>
              <a:rPr sz="900" b="1" i="0">
                <a:solidFill>
                  <a:srgbClr val="3E5F5A"/>
                </a:solidFill>
                <a:latin typeface="Consolas"/>
              </a:rPr>
              <a:t>not</a:t>
            </a:r>
            <a:r>
              <a:rPr sz="900" b="0" i="0">
                <a:solidFill>
                  <a:srgbClr val="1F2421"/>
                </a:solidFill>
                <a:latin typeface="Consolas"/>
              </a:rPr>
              <a:t> </a:t>
            </a:r>
            <a:r>
              <a:rPr sz="900" b="0" i="0">
                <a:solidFill>
                  <a:srgbClr val="1F2421"/>
                </a:solidFill>
                <a:latin typeface="Consolas"/>
              </a:rPr>
              <a:t>np</a:t>
            </a:r>
            <a:r>
              <a:rPr sz="900" b="0" i="0">
                <a:solidFill>
                  <a:srgbClr val="1F2421"/>
                </a:solidFill>
                <a:latin typeface="Consolas"/>
              </a:rPr>
              <a:t>.</a:t>
            </a:r>
            <a:r>
              <a:rPr sz="900" b="0" i="0">
                <a:solidFill>
                  <a:srgbClr val="1F2421"/>
                </a:solidFill>
                <a:latin typeface="Consolas"/>
              </a:rPr>
              <a:t>allclose</a:t>
            </a:r>
            <a:r>
              <a:rPr sz="900" b="0" i="0">
                <a:solidFill>
                  <a:srgbClr val="1F2421"/>
                </a:solidFill>
                <a:latin typeface="Consolas"/>
              </a:rPr>
              <a:t>(</a:t>
            </a:r>
            <a:r>
              <a:rPr sz="900" b="0" i="0">
                <a:solidFill>
                  <a:srgbClr val="1F2421"/>
                </a:solidFill>
                <a:latin typeface="Consolas"/>
              </a:rPr>
              <a:t>actual</a:t>
            </a:r>
            <a:r>
              <a:rPr sz="900" b="0" i="0">
                <a:solidFill>
                  <a:srgbClr val="1F2421"/>
                </a:solidFill>
                <a:latin typeface="Consolas"/>
              </a:rPr>
              <a:t>[</a:t>
            </a:r>
            <a:r>
              <a:rPr sz="900" b="0" i="0">
                <a:solidFill>
                  <a:srgbClr val="8E673F"/>
                </a:solidFill>
                <a:latin typeface="Consolas"/>
              </a:rPr>
              <a:t>"sketch"</a:t>
            </a:r>
            <a:r>
              <a:rPr sz="900" b="0" i="0">
                <a:solidFill>
                  <a:srgbClr val="1F2421"/>
                </a:solidFill>
                <a:latin typeface="Consolas"/>
              </a:rPr>
              <a:t>]</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header</a:t>
            </a:r>
            <a:r>
              <a:rPr sz="900" b="0" i="0">
                <a:solidFill>
                  <a:srgbClr val="1F2421"/>
                </a:solidFill>
                <a:latin typeface="Consolas"/>
              </a:rPr>
              <a:t>[</a:t>
            </a:r>
            <a:r>
              <a:rPr sz="900" b="0" i="0">
                <a:solidFill>
                  <a:srgbClr val="8E673F"/>
                </a:solidFill>
                <a:latin typeface="Consolas"/>
              </a:rPr>
              <a:t>"fp"</a:t>
            </a:r>
            <a:r>
              <a:rPr sz="900" b="0" i="0">
                <a:solidFill>
                  <a:srgbClr val="1F2421"/>
                </a:solidFill>
                <a:latin typeface="Consolas"/>
              </a:rPr>
              <a:t>]</a:t>
            </a:r>
            <a:r>
              <a:rPr sz="900" b="0" i="0">
                <a:solidFill>
                  <a:srgbClr val="1F2421"/>
                </a:solidFill>
                <a:latin typeface="Consolas"/>
              </a:rPr>
              <a:t>[</a:t>
            </a:r>
            <a:r>
              <a:rPr sz="900" b="0" i="0">
                <a:solidFill>
                  <a:srgbClr val="8E673F"/>
                </a:solidFill>
                <a:latin typeface="Consolas"/>
              </a:rPr>
              <a:t>"sketch"</a:t>
            </a:r>
            <a:r>
              <a:rPr sz="900" b="0" i="0">
                <a:solidFill>
                  <a:srgbClr val="1F2421"/>
                </a:solidFill>
                <a:latin typeface="Consolas"/>
              </a:rPr>
              <a:t>]</a:t>
            </a:r>
            <a:r>
              <a:rPr sz="900" b="0" i="0">
                <a:solidFill>
                  <a:srgbClr val="1F2421"/>
                </a:solidFill>
                <a:latin typeface="Consolas"/>
              </a:rPr>
              <a:t>,</a:t>
            </a:r>
          </a:p>
          <a:p>
            <a:pPr algn="l">
              <a:lnSpc>
                <a:spcPct val="108000"/>
              </a:lnSpc>
            </a:pP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rtol</a:t>
            </a:r>
            <a:r>
              <a:rPr sz="900" b="0" i="0">
                <a:solidFill>
                  <a:srgbClr val="1F2421"/>
                </a:solidFill>
                <a:latin typeface="Consolas"/>
              </a:rPr>
              <a:t>=</a:t>
            </a:r>
            <a:r>
              <a:rPr sz="900" b="0" i="0">
                <a:solidFill>
                  <a:srgbClr val="1F2421"/>
                </a:solidFill>
                <a:latin typeface="Consolas"/>
              </a:rPr>
              <a:t>1</a:t>
            </a:r>
            <a:r>
              <a:rPr sz="900" b="0" i="0">
                <a:solidFill>
                  <a:srgbClr val="1F2421"/>
                </a:solidFill>
                <a:latin typeface="Consolas"/>
              </a:rPr>
              <a:t>e</a:t>
            </a:r>
            <a:r>
              <a:rPr sz="900" b="0" i="0">
                <a:solidFill>
                  <a:srgbClr val="1F2421"/>
                </a:solidFill>
                <a:latin typeface="Consolas"/>
              </a:rPr>
              <a:t>-</a:t>
            </a:r>
            <a:r>
              <a:rPr sz="900" b="0" i="0">
                <a:solidFill>
                  <a:srgbClr val="1F2421"/>
                </a:solidFill>
                <a:latin typeface="Consolas"/>
              </a:rPr>
              <a:t>3</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atol</a:t>
            </a:r>
            <a:r>
              <a:rPr sz="900" b="0" i="0">
                <a:solidFill>
                  <a:srgbClr val="1F2421"/>
                </a:solidFill>
                <a:latin typeface="Consolas"/>
              </a:rPr>
              <a:t>=</a:t>
            </a:r>
            <a:r>
              <a:rPr sz="900" b="0" i="0">
                <a:solidFill>
                  <a:srgbClr val="1F2421"/>
                </a:solidFill>
                <a:latin typeface="Consolas"/>
              </a:rPr>
              <a:t>1</a:t>
            </a:r>
            <a:r>
              <a:rPr sz="900" b="0" i="0">
                <a:solidFill>
                  <a:srgbClr val="1F2421"/>
                </a:solidFill>
                <a:latin typeface="Consolas"/>
              </a:rPr>
              <a:t>e</a:t>
            </a:r>
            <a:r>
              <a:rPr sz="900" b="0" i="0">
                <a:solidFill>
                  <a:srgbClr val="1F2421"/>
                </a:solidFill>
                <a:latin typeface="Consolas"/>
              </a:rPr>
              <a:t>-</a:t>
            </a:r>
            <a:r>
              <a:rPr sz="900" b="0" i="0">
                <a:solidFill>
                  <a:srgbClr val="1F2421"/>
                </a:solidFill>
                <a:latin typeface="Consolas"/>
              </a:rPr>
              <a:t>5</a:t>
            </a:r>
            <a:r>
              <a:rPr sz="900" b="0" i="0">
                <a:solidFill>
                  <a:srgbClr val="1F2421"/>
                </a:solidFill>
                <a:latin typeface="Consolas"/>
              </a:rPr>
              <a:t>)</a:t>
            </a:r>
            <a:r>
              <a:rPr sz="900" b="0" i="0">
                <a:solidFill>
                  <a:srgbClr val="1F2421"/>
                </a:solidFill>
                <a:latin typeface="Consolas"/>
              </a:rPr>
              <a:t>:</a:t>
            </a:r>
          </a:p>
          <a:p>
            <a:pPr algn="l">
              <a:lnSpc>
                <a:spcPct val="108000"/>
              </a:lnSpc>
            </a:pP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1" i="0">
                <a:solidFill>
                  <a:srgbClr val="3E5F5A"/>
                </a:solidFill>
                <a:latin typeface="Consolas"/>
              </a:rPr>
              <a:t>return</a:t>
            </a:r>
            <a:r>
              <a:rPr sz="900" b="0" i="0">
                <a:solidFill>
                  <a:srgbClr val="1F2421"/>
                </a:solidFill>
                <a:latin typeface="Consolas"/>
              </a:rPr>
              <a:t> </a:t>
            </a:r>
            <a:r>
              <a:rPr sz="900" b="0" i="0">
                <a:solidFill>
                  <a:srgbClr val="1F2421"/>
                </a:solidFill>
                <a:latin typeface="Consolas"/>
              </a:rPr>
              <a:t>header</a:t>
            </a:r>
            <a:r>
              <a:rPr sz="900" b="0" i="0">
                <a:solidFill>
                  <a:srgbClr val="1F2421"/>
                </a:solidFill>
                <a:latin typeface="Consolas"/>
              </a:rPr>
              <a:t>,</a:t>
            </a:r>
            <a:r>
              <a:rPr sz="900" b="0" i="0">
                <a:solidFill>
                  <a:srgbClr val="1F2421"/>
                </a:solidFill>
                <a:latin typeface="Consolas"/>
              </a:rPr>
              <a:t> </a:t>
            </a:r>
            <a:r>
              <a:rPr sz="900" b="1" i="0">
                <a:solidFill>
                  <a:srgbClr val="3E5F5A"/>
                </a:solidFill>
                <a:latin typeface="Consolas"/>
              </a:rPr>
              <a:t>None</a:t>
            </a:r>
            <a:r>
              <a:rPr sz="900" b="0" i="0">
                <a:solidFill>
                  <a:srgbClr val="1F2421"/>
                </a:solidFill>
                <a:latin typeface="Consolas"/>
              </a:rPr>
              <a:t>,</a:t>
            </a:r>
            <a:r>
              <a:rPr sz="900" b="0" i="0">
                <a:solidFill>
                  <a:srgbClr val="1F2421"/>
                </a:solidFill>
                <a:latin typeface="Consolas"/>
              </a:rPr>
              <a:t> </a:t>
            </a:r>
            <a:r>
              <a:rPr sz="900" b="0" i="0">
                <a:solidFill>
                  <a:srgbClr val="8E673F"/>
                </a:solidFill>
                <a:latin typeface="Consolas"/>
              </a:rPr>
              <a:t>"fingerprint_mismatch"</a:t>
            </a:r>
          </a:p>
          <a:p>
            <a:pPr algn="l">
              <a:lnSpc>
                <a:spcPct val="108000"/>
              </a:lnSpc>
            </a:pP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1" i="0">
                <a:solidFill>
                  <a:srgbClr val="3E5F5A"/>
                </a:solidFill>
                <a:latin typeface="Consolas"/>
              </a:rPr>
              <a:t>return</a:t>
            </a:r>
            <a:r>
              <a:rPr sz="900" b="0" i="0">
                <a:solidFill>
                  <a:srgbClr val="1F2421"/>
                </a:solidFill>
                <a:latin typeface="Consolas"/>
              </a:rPr>
              <a:t> </a:t>
            </a:r>
            <a:r>
              <a:rPr sz="900" b="0" i="0">
                <a:solidFill>
                  <a:srgbClr val="1F2421"/>
                </a:solidFill>
                <a:latin typeface="Consolas"/>
              </a:rPr>
              <a:t>header</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delta</a:t>
            </a:r>
            <a:r>
              <a:rPr sz="900" b="0" i="0">
                <a:solidFill>
                  <a:srgbClr val="1F2421"/>
                </a:solidFill>
                <a:latin typeface="Consolas"/>
              </a:rPr>
              <a:t>,</a:t>
            </a:r>
            <a:r>
              <a:rPr sz="900" b="0" i="0">
                <a:solidFill>
                  <a:srgbClr val="1F2421"/>
                </a:solidFill>
                <a:latin typeface="Consolas"/>
              </a:rPr>
              <a:t> </a:t>
            </a:r>
            <a:r>
              <a:rPr sz="900" b="1" i="0">
                <a:solidFill>
                  <a:srgbClr val="3E5F5A"/>
                </a:solidFill>
                <a:latin typeface="Consolas"/>
              </a:rPr>
              <a:t>None</a:t>
            </a:r>
          </a:p>
        </p:txBody>
      </p:sp>
      <p:sp>
        <p:nvSpPr>
          <p:cNvPr id="40" name="Rectangle 39"/>
          <p:cNvSpPr/>
          <p:nvPr/>
        </p:nvSpPr>
        <p:spPr>
          <a:xfrm>
            <a:off x="6199632" y="2651760"/>
            <a:ext cx="5257800" cy="3154680"/>
          </a:xfrm>
          <a:prstGeom prst="rect">
            <a:avLst/>
          </a:prstGeom>
          <a:solidFill>
            <a:srgbClr val="FBFAF7"/>
          </a:solidFill>
          <a:ln w="9525">
            <a:solidFill>
              <a:srgbClr val="DDDA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99632" y="2651760"/>
            <a:ext cx="45720" cy="3154680"/>
          </a:xfrm>
          <a:prstGeom prst="rect">
            <a:avLst/>
          </a:prstGeom>
          <a:solidFill>
            <a:srgbClr val="3E5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28232" y="2761488"/>
            <a:ext cx="4892040" cy="228600"/>
          </a:xfrm>
          <a:prstGeom prst="rect">
            <a:avLst/>
          </a:prstGeom>
          <a:noFill/>
        </p:spPr>
        <p:txBody>
          <a:bodyPr wrap="square" anchor="t" lIns="0" rIns="0" tIns="0" bIns="0">
            <a:spAutoFit/>
          </a:bodyPr>
          <a:lstStyle/>
          <a:p>
            <a:pPr algn="l">
              <a:lnSpc>
                <a:spcPct val="120000"/>
              </a:lnSpc>
            </a:pPr>
            <a:r>
              <a:rPr sz="900" b="0" i="0">
                <a:solidFill>
                  <a:srgbClr val="8C918A"/>
                </a:solidFill>
                <a:latin typeface="Consolas"/>
              </a:rPr>
              <a:t>src/protocol.py  ·  steps 3-7 (condensed)</a:t>
            </a:r>
          </a:p>
        </p:txBody>
      </p:sp>
      <p:cxnSp>
        <p:nvCxnSpPr>
          <p:cNvPr id="43" name="Connector 42"/>
          <p:cNvCxnSpPr/>
          <p:nvPr/>
        </p:nvCxnSpPr>
        <p:spPr>
          <a:xfrm>
            <a:off x="6428232" y="3035808"/>
            <a:ext cx="4846320" cy="0"/>
          </a:xfrm>
          <a:prstGeom prst="line">
            <a:avLst/>
          </a:prstGeom>
          <a:ln w="6350">
            <a:solidFill>
              <a:srgbClr val="DDDAD2"/>
            </a:solidFill>
          </a:ln>
        </p:spPr>
      </p:cxnSp>
      <p:sp>
        <p:nvSpPr>
          <p:cNvPr id="44" name="TextBox 43"/>
          <p:cNvSpPr txBox="1"/>
          <p:nvPr/>
        </p:nvSpPr>
        <p:spPr>
          <a:xfrm>
            <a:off x="6428232" y="3154680"/>
            <a:ext cx="4937760" cy="2560320"/>
          </a:xfrm>
          <a:prstGeom prst="rect">
            <a:avLst/>
          </a:prstGeom>
          <a:noFill/>
        </p:spPr>
        <p:txBody>
          <a:bodyPr wrap="square" anchor="t" lIns="0" rIns="0" tIns="0" bIns="0">
            <a:spAutoFit/>
          </a:bodyPr>
          <a:lstStyle/>
          <a:p>
            <a:pPr algn="l">
              <a:lnSpc>
                <a:spcPct val="108000"/>
              </a:lnSpc>
            </a:pPr>
            <a:r>
              <a:rPr sz="900" b="0" i="0">
                <a:solidFill>
                  <a:srgbClr val="1F2421"/>
                </a:solidFill>
                <a:latin typeface="Consolas"/>
              </a:rPr>
              <a:t>consensus</a:t>
            </a:r>
            <a:r>
              <a:rPr sz="900" b="0" i="0">
                <a:solidFill>
                  <a:srgbClr val="1F2421"/>
                </a:solidFill>
                <a:latin typeface="Consolas"/>
              </a:rPr>
              <a:t> </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np</a:t>
            </a:r>
            <a:r>
              <a:rPr sz="900" b="0" i="0">
                <a:solidFill>
                  <a:srgbClr val="1F2421"/>
                </a:solidFill>
                <a:latin typeface="Consolas"/>
              </a:rPr>
              <a:t>.</a:t>
            </a:r>
            <a:r>
              <a:rPr sz="900" b="0" i="0">
                <a:solidFill>
                  <a:srgbClr val="1F2421"/>
                </a:solidFill>
                <a:latin typeface="Consolas"/>
              </a:rPr>
              <a:t>median</a:t>
            </a:r>
            <a:r>
              <a:rPr sz="900" b="0" i="0">
                <a:solidFill>
                  <a:srgbClr val="1F2421"/>
                </a:solidFill>
                <a:latin typeface="Consolas"/>
              </a:rPr>
              <a:t>(</a:t>
            </a:r>
            <a:r>
              <a:rPr sz="900" b="0" i="0">
                <a:solidFill>
                  <a:srgbClr val="1F2421"/>
                </a:solidFill>
                <a:latin typeface="Consolas"/>
              </a:rPr>
              <a:t>sketches</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axis</a:t>
            </a:r>
            <a:r>
              <a:rPr sz="900" b="0" i="0">
                <a:solidFill>
                  <a:srgbClr val="1F2421"/>
                </a:solidFill>
                <a:latin typeface="Consolas"/>
              </a:rPr>
              <a:t>=</a:t>
            </a:r>
            <a:r>
              <a:rPr sz="900" b="0" i="0">
                <a:solidFill>
                  <a:srgbClr val="1F2421"/>
                </a:solidFill>
                <a:latin typeface="Consolas"/>
              </a:rPr>
              <a:t>0</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1">
                <a:solidFill>
                  <a:srgbClr val="8C918A"/>
                </a:solidFill>
                <a:latin typeface="Consolas"/>
              </a:rPr>
              <a:t># attackers can't drag it</a:t>
            </a:r>
          </a:p>
          <a:p>
            <a:pPr algn="l">
              <a:lnSpc>
                <a:spcPct val="108000"/>
              </a:lnSpc>
            </a:pPr>
            <a:r>
              <a:rPr sz="900" b="0" i="0">
                <a:solidFill>
                  <a:srgbClr val="1F2421"/>
                </a:solidFill>
                <a:latin typeface="Consolas"/>
              </a:rPr>
              <a:t>scores</a:t>
            </a:r>
            <a:r>
              <a:rPr sz="900" b="0" i="0">
                <a:solidFill>
                  <a:srgbClr val="1F2421"/>
                </a:solidFill>
                <a:latin typeface="Consolas"/>
              </a:rPr>
              <a:t>[</a:t>
            </a:r>
            <a:r>
              <a:rPr sz="900" b="0" i="0">
                <a:solidFill>
                  <a:srgbClr val="1F2421"/>
                </a:solidFill>
                <a:latin typeface="Consolas"/>
              </a:rPr>
              <a:t>c</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a:t>
            </a:r>
          </a:p>
          <a:p>
            <a:pPr algn="l">
              <a:lnSpc>
                <a:spcPct val="108000"/>
              </a:lnSpc>
            </a:pP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8E673F"/>
                </a:solidFill>
                <a:latin typeface="Consolas"/>
              </a:rPr>
              <a:t>"norm"</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abs</a:t>
            </a:r>
            <a:r>
              <a:rPr sz="900" b="0" i="0">
                <a:solidFill>
                  <a:srgbClr val="1F2421"/>
                </a:solidFill>
                <a:latin typeface="Consolas"/>
              </a:rPr>
              <a:t>(</a:t>
            </a:r>
            <a:r>
              <a:rPr sz="900" b="0" i="0">
                <a:solidFill>
                  <a:srgbClr val="1F2421"/>
                </a:solidFill>
                <a:latin typeface="Consolas"/>
              </a:rPr>
              <a:t>log</a:t>
            </a:r>
            <a:r>
              <a:rPr sz="900" b="0" i="0">
                <a:solidFill>
                  <a:srgbClr val="1F2421"/>
                </a:solidFill>
                <a:latin typeface="Consolas"/>
              </a:rPr>
              <a:t>(</a:t>
            </a:r>
            <a:r>
              <a:rPr sz="900" b="0" i="0">
                <a:solidFill>
                  <a:srgbClr val="1F2421"/>
                </a:solidFill>
                <a:latin typeface="Consolas"/>
              </a:rPr>
              <a:t>l2</a:t>
            </a:r>
            <a:r>
              <a:rPr sz="900" b="0" i="0">
                <a:solidFill>
                  <a:srgbClr val="1F2421"/>
                </a:solidFill>
                <a:latin typeface="Consolas"/>
              </a:rPr>
              <a:t>[</a:t>
            </a:r>
            <a:r>
              <a:rPr sz="900" b="0" i="0">
                <a:solidFill>
                  <a:srgbClr val="1F2421"/>
                </a:solidFill>
                <a:latin typeface="Consolas"/>
              </a:rPr>
              <a:t>c</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median_norm</a:t>
            </a:r>
            <a:r>
              <a:rPr sz="900" b="0" i="0">
                <a:solidFill>
                  <a:srgbClr val="1F2421"/>
                </a:solidFill>
                <a:latin typeface="Consolas"/>
              </a:rPr>
              <a:t>)</a:t>
            </a:r>
            <a:r>
              <a:rPr sz="900" b="0" i="0">
                <a:solidFill>
                  <a:srgbClr val="1F2421"/>
                </a:solidFill>
                <a:latin typeface="Consolas"/>
              </a:rPr>
              <a:t>)</a:t>
            </a:r>
            <a:r>
              <a:rPr sz="900" b="0" i="0">
                <a:solidFill>
                  <a:srgbClr val="1F2421"/>
                </a:solidFill>
                <a:latin typeface="Consolas"/>
              </a:rPr>
              <a:t>,</a:t>
            </a:r>
          </a:p>
          <a:p>
            <a:pPr algn="l">
              <a:lnSpc>
                <a:spcPct val="108000"/>
              </a:lnSpc>
            </a:pP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8E673F"/>
                </a:solidFill>
                <a:latin typeface="Consolas"/>
              </a:rPr>
              <a:t>"consensus"</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1</a:t>
            </a:r>
            <a:r>
              <a:rPr sz="900" b="0" i="0">
                <a:solidFill>
                  <a:srgbClr val="1F2421"/>
                </a:solidFill>
                <a:latin typeface="Consolas"/>
              </a:rPr>
              <a:t> </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cosine</a:t>
            </a:r>
            <a:r>
              <a:rPr sz="900" b="0" i="0">
                <a:solidFill>
                  <a:srgbClr val="1F2421"/>
                </a:solidFill>
                <a:latin typeface="Consolas"/>
              </a:rPr>
              <a:t>(</a:t>
            </a:r>
            <a:r>
              <a:rPr sz="900" b="0" i="0">
                <a:solidFill>
                  <a:srgbClr val="1F2421"/>
                </a:solidFill>
                <a:latin typeface="Consolas"/>
              </a:rPr>
              <a:t>sketch</a:t>
            </a:r>
            <a:r>
              <a:rPr sz="900" b="0" i="0">
                <a:solidFill>
                  <a:srgbClr val="1F2421"/>
                </a:solidFill>
                <a:latin typeface="Consolas"/>
              </a:rPr>
              <a:t>[</a:t>
            </a:r>
            <a:r>
              <a:rPr sz="900" b="0" i="0">
                <a:solidFill>
                  <a:srgbClr val="1F2421"/>
                </a:solidFill>
                <a:latin typeface="Consolas"/>
              </a:rPr>
              <a:t>c</a:t>
            </a:r>
            <a:r>
              <a:rPr sz="900" b="0" i="0">
                <a:solidFill>
                  <a:srgbClr val="1F2421"/>
                </a:solidFill>
                <a:latin typeface="Consolas"/>
              </a:rPr>
              <a:t>]</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consensus</a:t>
            </a:r>
            <a:r>
              <a:rPr sz="900" b="0" i="0">
                <a:solidFill>
                  <a:srgbClr val="1F2421"/>
                </a:solidFill>
                <a:latin typeface="Consolas"/>
              </a:rPr>
              <a:t>)</a:t>
            </a:r>
            <a:r>
              <a:rPr sz="900" b="0" i="0">
                <a:solidFill>
                  <a:srgbClr val="1F2421"/>
                </a:solidFill>
                <a:latin typeface="Consolas"/>
              </a:rPr>
              <a:t>,</a:t>
            </a:r>
          </a:p>
          <a:p>
            <a:pPr algn="l">
              <a:lnSpc>
                <a:spcPct val="108000"/>
              </a:lnSpc>
            </a:pP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8E673F"/>
                </a:solidFill>
                <a:latin typeface="Consolas"/>
              </a:rPr>
              <a:t>"history"</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1</a:t>
            </a:r>
            <a:r>
              <a:rPr sz="900" b="0" i="0">
                <a:solidFill>
                  <a:srgbClr val="1F2421"/>
                </a:solidFill>
                <a:latin typeface="Consolas"/>
              </a:rPr>
              <a:t> </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cosine</a:t>
            </a:r>
            <a:r>
              <a:rPr sz="900" b="0" i="0">
                <a:solidFill>
                  <a:srgbClr val="1F2421"/>
                </a:solidFill>
                <a:latin typeface="Consolas"/>
              </a:rPr>
              <a:t>(</a:t>
            </a:r>
            <a:r>
              <a:rPr sz="900" b="0" i="0">
                <a:solidFill>
                  <a:srgbClr val="1F2421"/>
                </a:solidFill>
                <a:latin typeface="Consolas"/>
              </a:rPr>
              <a:t>sketch</a:t>
            </a:r>
            <a:r>
              <a:rPr sz="900" b="0" i="0">
                <a:solidFill>
                  <a:srgbClr val="1F2421"/>
                </a:solidFill>
                <a:latin typeface="Consolas"/>
              </a:rPr>
              <a:t>[</a:t>
            </a:r>
            <a:r>
              <a:rPr sz="900" b="0" i="0">
                <a:solidFill>
                  <a:srgbClr val="1F2421"/>
                </a:solidFill>
                <a:latin typeface="Consolas"/>
              </a:rPr>
              <a:t>c</a:t>
            </a:r>
            <a:r>
              <a:rPr sz="900" b="0" i="0">
                <a:solidFill>
                  <a:srgbClr val="1F2421"/>
                </a:solidFill>
                <a:latin typeface="Consolas"/>
              </a:rPr>
              <a:t>]</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prev_sketch</a:t>
            </a:r>
            <a:r>
              <a:rPr sz="900" b="0" i="0">
                <a:solidFill>
                  <a:srgbClr val="1F2421"/>
                </a:solidFill>
                <a:latin typeface="Consolas"/>
              </a:rPr>
              <a:t>[</a:t>
            </a:r>
            <a:r>
              <a:rPr sz="900" b="0" i="0">
                <a:solidFill>
                  <a:srgbClr val="1F2421"/>
                </a:solidFill>
                <a:latin typeface="Consolas"/>
              </a:rPr>
              <a:t>c</a:t>
            </a:r>
            <a:r>
              <a:rPr sz="900" b="0" i="0">
                <a:solidFill>
                  <a:srgbClr val="1F2421"/>
                </a:solidFill>
                <a:latin typeface="Consolas"/>
              </a:rPr>
              <a:t>]</a:t>
            </a:r>
            <a:r>
              <a:rPr sz="900" b="0" i="0">
                <a:solidFill>
                  <a:srgbClr val="1F2421"/>
                </a:solidFill>
                <a:latin typeface="Consolas"/>
              </a:rPr>
              <a:t>)</a:t>
            </a:r>
            <a:r>
              <a:rPr sz="900" b="0" i="0">
                <a:solidFill>
                  <a:srgbClr val="1F2421"/>
                </a:solidFill>
                <a:latin typeface="Consolas"/>
              </a:rPr>
              <a:t>,</a:t>
            </a:r>
          </a:p>
          <a:p>
            <a:pPr algn="l">
              <a:lnSpc>
                <a:spcPct val="108000"/>
              </a:lnSpc>
            </a:pPr>
            <a:r>
              <a:rPr sz="900" b="0" i="0">
                <a:solidFill>
                  <a:srgbClr val="1F2421"/>
                </a:solidFill>
                <a:latin typeface="Consolas"/>
              </a:rPr>
              <a:t>}</a:t>
            </a:r>
          </a:p>
          <a:p>
            <a:pPr algn="l">
              <a:lnSpc>
                <a:spcPct val="108000"/>
              </a:lnSpc>
            </a:pPr>
            <a:r>
              <a:rPr sz="900" b="0" i="0">
                <a:solidFill>
                  <a:srgbClr val="1F2421"/>
                </a:solidFill>
                <a:latin typeface="Consolas"/>
              </a:rPr>
              <a:t>z</a:t>
            </a:r>
            <a:r>
              <a:rPr sz="900" b="0" i="0">
                <a:solidFill>
                  <a:srgbClr val="1F2421"/>
                </a:solidFill>
                <a:latin typeface="Consolas"/>
              </a:rPr>
              <a:t> </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a:t>
            </a:r>
            <a:r>
              <a:rPr sz="900" b="0" i="0">
                <a:solidFill>
                  <a:srgbClr val="1F2421"/>
                </a:solidFill>
                <a:latin typeface="Consolas"/>
              </a:rPr>
              <a:t>score</a:t>
            </a:r>
            <a:r>
              <a:rPr sz="900" b="0" i="0">
                <a:solidFill>
                  <a:srgbClr val="1F2421"/>
                </a:solidFill>
                <a:latin typeface="Consolas"/>
              </a:rPr>
              <a:t> </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median</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a:t>
            </a:r>
            <a:r>
              <a:rPr sz="900" b="0" i="0">
                <a:solidFill>
                  <a:srgbClr val="1F2421"/>
                </a:solidFill>
                <a:latin typeface="Consolas"/>
              </a:rPr>
              <a:t>1</a:t>
            </a:r>
            <a:r>
              <a:rPr sz="900" b="0" i="0">
                <a:solidFill>
                  <a:srgbClr val="1F2421"/>
                </a:solidFill>
                <a:latin typeface="Consolas"/>
              </a:rPr>
              <a:t>.</a:t>
            </a:r>
            <a:r>
              <a:rPr sz="900" b="0" i="0">
                <a:solidFill>
                  <a:srgbClr val="1F2421"/>
                </a:solidFill>
                <a:latin typeface="Consolas"/>
              </a:rPr>
              <a:t>4</a:t>
            </a:r>
            <a:r>
              <a:rPr sz="900" b="0" i="0">
                <a:solidFill>
                  <a:srgbClr val="1F2421"/>
                </a:solidFill>
                <a:latin typeface="Consolas"/>
              </a:rPr>
              <a:t>8</a:t>
            </a:r>
            <a:r>
              <a:rPr sz="900" b="0" i="0">
                <a:solidFill>
                  <a:srgbClr val="1F2421"/>
                </a:solidFill>
                <a:latin typeface="Consolas"/>
              </a:rPr>
              <a:t>2</a:t>
            </a:r>
            <a:r>
              <a:rPr sz="900" b="0" i="0">
                <a:solidFill>
                  <a:srgbClr val="1F2421"/>
                </a:solidFill>
                <a:latin typeface="Consolas"/>
              </a:rPr>
              <a:t>6</a:t>
            </a:r>
            <a:r>
              <a:rPr sz="900" b="0" i="0">
                <a:solidFill>
                  <a:srgbClr val="1F2421"/>
                </a:solidFill>
                <a:latin typeface="Consolas"/>
              </a:rPr>
              <a:t> </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MAD</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1">
                <a:solidFill>
                  <a:srgbClr val="8C918A"/>
                </a:solidFill>
                <a:latin typeface="Consolas"/>
              </a:rPr>
              <a:t># within this round</a:t>
            </a:r>
          </a:p>
          <a:p>
            <a:pPr algn="l">
              <a:lnSpc>
                <a:spcPct val="108000"/>
              </a:lnSpc>
            </a:pPr>
            <a:r>
              <a:rPr sz="900" b="0" i="0">
                <a:solidFill>
                  <a:srgbClr val="1F2421"/>
                </a:solidFill>
                <a:latin typeface="Consolas"/>
              </a:rPr>
              <a:t>flagged</a:t>
            </a:r>
            <a:r>
              <a:rPr sz="900" b="0" i="0">
                <a:solidFill>
                  <a:srgbClr val="1F2421"/>
                </a:solidFill>
                <a:latin typeface="Consolas"/>
              </a:rPr>
              <a:t> </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any</a:t>
            </a:r>
            <a:r>
              <a:rPr sz="900" b="0" i="0">
                <a:solidFill>
                  <a:srgbClr val="1F2421"/>
                </a:solidFill>
                <a:latin typeface="Consolas"/>
              </a:rPr>
              <a:t>(</a:t>
            </a:r>
            <a:r>
              <a:rPr sz="900" b="0" i="0">
                <a:solidFill>
                  <a:srgbClr val="1F2421"/>
                </a:solidFill>
                <a:latin typeface="Consolas"/>
              </a:rPr>
              <a:t>z</a:t>
            </a:r>
            <a:r>
              <a:rPr sz="900" b="0" i="0">
                <a:solidFill>
                  <a:srgbClr val="1F2421"/>
                </a:solidFill>
                <a:latin typeface="Consolas"/>
              </a:rPr>
              <a:t>[</a:t>
            </a:r>
            <a:r>
              <a:rPr sz="900" b="0" i="0">
                <a:solidFill>
                  <a:srgbClr val="1F2421"/>
                </a:solidFill>
                <a:latin typeface="Consolas"/>
              </a:rPr>
              <a:t>s</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&gt;</a:t>
            </a:r>
            <a:r>
              <a:rPr sz="900" b="0" i="0">
                <a:solidFill>
                  <a:srgbClr val="1F2421"/>
                </a:solidFill>
                <a:latin typeface="Consolas"/>
              </a:rPr>
              <a:t> </a:t>
            </a:r>
            <a:r>
              <a:rPr sz="900" b="0" i="0">
                <a:solidFill>
                  <a:srgbClr val="1F2421"/>
                </a:solidFill>
                <a:latin typeface="Consolas"/>
              </a:rPr>
              <a:t>threshold</a:t>
            </a:r>
            <a:r>
              <a:rPr sz="900" b="0" i="0">
                <a:solidFill>
                  <a:srgbClr val="1F2421"/>
                </a:solidFill>
                <a:latin typeface="Consolas"/>
              </a:rPr>
              <a:t>[</a:t>
            </a:r>
            <a:r>
              <a:rPr sz="900" b="0" i="0">
                <a:solidFill>
                  <a:srgbClr val="1F2421"/>
                </a:solidFill>
                <a:latin typeface="Consolas"/>
              </a:rPr>
              <a:t>s</a:t>
            </a:r>
            <a:r>
              <a:rPr sz="900" b="0" i="0">
                <a:solidFill>
                  <a:srgbClr val="1F2421"/>
                </a:solidFill>
                <a:latin typeface="Consolas"/>
              </a:rPr>
              <a:t>]</a:t>
            </a:r>
            <a:r>
              <a:rPr sz="900" b="0" i="0">
                <a:solidFill>
                  <a:srgbClr val="1F2421"/>
                </a:solidFill>
                <a:latin typeface="Consolas"/>
              </a:rPr>
              <a:t> </a:t>
            </a:r>
            <a:r>
              <a:rPr sz="900" b="1" i="0">
                <a:solidFill>
                  <a:srgbClr val="3E5F5A"/>
                </a:solidFill>
                <a:latin typeface="Consolas"/>
              </a:rPr>
              <a:t>for</a:t>
            </a:r>
            <a:r>
              <a:rPr sz="900" b="0" i="0">
                <a:solidFill>
                  <a:srgbClr val="1F2421"/>
                </a:solidFill>
                <a:latin typeface="Consolas"/>
              </a:rPr>
              <a:t> </a:t>
            </a:r>
            <a:r>
              <a:rPr sz="900" b="0" i="0">
                <a:solidFill>
                  <a:srgbClr val="1F2421"/>
                </a:solidFill>
                <a:latin typeface="Consolas"/>
              </a:rPr>
              <a:t>s</a:t>
            </a:r>
            <a:r>
              <a:rPr sz="900" b="0" i="0">
                <a:solidFill>
                  <a:srgbClr val="1F2421"/>
                </a:solidFill>
                <a:latin typeface="Consolas"/>
              </a:rPr>
              <a:t> </a:t>
            </a:r>
            <a:r>
              <a:rPr sz="900" b="1" i="0">
                <a:solidFill>
                  <a:srgbClr val="3E5F5A"/>
                </a:solidFill>
                <a:latin typeface="Consolas"/>
              </a:rPr>
              <a:t>in</a:t>
            </a:r>
            <a:r>
              <a:rPr sz="900" b="0" i="0">
                <a:solidFill>
                  <a:srgbClr val="1F2421"/>
                </a:solidFill>
                <a:latin typeface="Consolas"/>
              </a:rPr>
              <a:t> </a:t>
            </a:r>
            <a:r>
              <a:rPr sz="900" b="0" i="0">
                <a:solidFill>
                  <a:srgbClr val="1F2421"/>
                </a:solidFill>
                <a:latin typeface="Consolas"/>
              </a:rPr>
              <a:t>SCORE_NAMES</a:t>
            </a:r>
            <a:r>
              <a:rPr sz="900" b="0" i="0">
                <a:solidFill>
                  <a:srgbClr val="1F2421"/>
                </a:solidFill>
                <a:latin typeface="Consolas"/>
              </a:rPr>
              <a:t>)</a:t>
            </a:r>
          </a:p>
          <a:p>
            <a:pPr algn="l">
              <a:lnSpc>
                <a:spcPct val="108000"/>
              </a:lnSpc>
            </a:pPr>
            <a:r>
              <a:rPr sz="900" b="0" i="1">
                <a:solidFill>
                  <a:srgbClr val="8C918A"/>
                </a:solidFill>
                <a:latin typeface="Consolas"/>
              </a:rPr>
              <a:t># threshold = ceil((n+1)(1-alpha))-th calibration score, alpha=0.05</a:t>
            </a:r>
          </a:p>
          <a:p>
            <a:pPr algn="l">
              <a:lnSpc>
                <a:spcPct val="108000"/>
              </a:lnSpc>
            </a:pPr>
            <a:r>
              <a:rPr sz="900" b="0" i="0">
                <a:solidFill>
                  <a:srgbClr val="1F2421"/>
                </a:solidFill>
                <a:latin typeface="Consolas"/>
              </a:rPr>
              <a:t> </a:t>
            </a:r>
          </a:p>
          <a:p>
            <a:pPr algn="l">
              <a:lnSpc>
                <a:spcPct val="108000"/>
              </a:lnSpc>
            </a:pPr>
            <a:r>
              <a:rPr sz="900" b="0" i="0">
                <a:solidFill>
                  <a:srgbClr val="1F2421"/>
                </a:solidFill>
                <a:latin typeface="Consolas"/>
              </a:rPr>
              <a:t>rescued</a:t>
            </a:r>
            <a:r>
              <a:rPr sz="900" b="0" i="0">
                <a:solidFill>
                  <a:srgbClr val="1F2421"/>
                </a:solidFill>
                <a:latin typeface="Consolas"/>
              </a:rPr>
              <a:t> </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second_check</a:t>
            </a:r>
            <a:r>
              <a:rPr sz="900" b="0" i="0">
                <a:solidFill>
                  <a:srgbClr val="1F2421"/>
                </a:solidFill>
                <a:latin typeface="Consolas"/>
              </a:rPr>
              <a:t>(</a:t>
            </a:r>
            <a:r>
              <a:rPr sz="900" b="0" i="0">
                <a:solidFill>
                  <a:srgbClr val="1F2421"/>
                </a:solidFill>
                <a:latin typeface="Consolas"/>
              </a:rPr>
              <a:t>passed</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flagged</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0</a:t>
            </a:r>
            <a:r>
              <a:rPr sz="900" b="0" i="0">
                <a:solidFill>
                  <a:srgbClr val="1F2421"/>
                </a:solidFill>
                <a:latin typeface="Consolas"/>
              </a:rPr>
              <a:t>.</a:t>
            </a:r>
            <a:r>
              <a:rPr sz="900" b="0" i="0">
                <a:solidFill>
                  <a:srgbClr val="1F2421"/>
                </a:solidFill>
                <a:latin typeface="Consolas"/>
              </a:rPr>
              <a:t>2</a:t>
            </a:r>
            <a:r>
              <a:rPr sz="900" b="0" i="0">
                <a:solidFill>
                  <a:srgbClr val="1F2421"/>
                </a:solidFill>
                <a:latin typeface="Consolas"/>
              </a:rPr>
              <a:t>)</a:t>
            </a:r>
          </a:p>
          <a:p>
            <a:pPr algn="l">
              <a:lnSpc>
                <a:spcPct val="108000"/>
              </a:lnSpc>
            </a:pPr>
            <a:r>
              <a:rPr sz="900" b="0" i="0">
                <a:solidFill>
                  <a:srgbClr val="1F2421"/>
                </a:solidFill>
                <a:latin typeface="Consolas"/>
              </a:rPr>
              <a:t>w</a:t>
            </a:r>
            <a:r>
              <a:rPr sz="900" b="0" i="0">
                <a:solidFill>
                  <a:srgbClr val="1F2421"/>
                </a:solidFill>
                <a:latin typeface="Consolas"/>
              </a:rPr>
              <a:t> </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capped_weights</a:t>
            </a:r>
            <a:r>
              <a:rPr sz="900" b="0" i="0">
                <a:solidFill>
                  <a:srgbClr val="1F2421"/>
                </a:solidFill>
                <a:latin typeface="Consolas"/>
              </a:rPr>
              <a:t>(</a:t>
            </a:r>
            <a:r>
              <a:rPr sz="900" b="0" i="0">
                <a:solidFill>
                  <a:srgbClr val="1F2421"/>
                </a:solidFill>
                <a:latin typeface="Consolas"/>
              </a:rPr>
              <a:t>counts</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1</a:t>
            </a:r>
            <a:r>
              <a:rPr sz="900" b="0" i="0">
                <a:solidFill>
                  <a:srgbClr val="1F2421"/>
                </a:solidFill>
                <a:latin typeface="Consolas"/>
              </a:rPr>
              <a:t>.</a:t>
            </a:r>
            <a:r>
              <a:rPr sz="900" b="0" i="0">
                <a:solidFill>
                  <a:srgbClr val="1F2421"/>
                </a:solidFill>
                <a:latin typeface="Consolas"/>
              </a:rPr>
              <a:t>5</a:t>
            </a:r>
            <a:r>
              <a:rPr sz="900" b="0" i="0">
                <a:solidFill>
                  <a:srgbClr val="1F2421"/>
                </a:solidFill>
                <a:latin typeface="Consolas"/>
              </a:rPr>
              <a:t>)</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0">
                <a:solidFill>
                  <a:srgbClr val="1F2421"/>
                </a:solidFill>
                <a:latin typeface="Consolas"/>
              </a:rPr>
              <a:t> </a:t>
            </a:r>
            <a:r>
              <a:rPr sz="900" b="0" i="1">
                <a:solidFill>
                  <a:srgbClr val="8C918A"/>
                </a:solidFill>
                <a:latin typeface="Consolas"/>
              </a:rPr>
              <a:t># 1.5 x 1/10 = 15%</a:t>
            </a:r>
          </a:p>
        </p:txBody>
      </p:sp>
      <p:sp>
        <p:nvSpPr>
          <p:cNvPr id="45" name="TextBox 44"/>
          <p:cNvSpPr txBox="1"/>
          <p:nvPr/>
        </p:nvSpPr>
        <p:spPr>
          <a:xfrm>
            <a:off x="731520" y="5897880"/>
            <a:ext cx="10725912" cy="365760"/>
          </a:xfrm>
          <a:prstGeom prst="rect">
            <a:avLst/>
          </a:prstGeom>
          <a:noFill/>
        </p:spPr>
        <p:txBody>
          <a:bodyPr wrap="square" anchor="t" lIns="0" rIns="0" tIns="0" bIns="0">
            <a:spAutoFit/>
          </a:bodyPr>
          <a:lstStyle/>
          <a:p>
            <a:pPr algn="l">
              <a:lnSpc>
                <a:spcPct val="120000"/>
              </a:lnSpc>
            </a:pPr>
            <a:r>
              <a:rPr sz="1050" b="0" i="0">
                <a:solidFill>
                  <a:srgbClr val="8C918A"/>
                </a:solidFill>
                <a:latin typeface="Segoe UI"/>
              </a:rPr>
              <a:t>Thresholds come from 5 clean calibration rounds: one for all clients (global), or one per k-means cluster of similar clients (Mondrian, k = 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7315200" cy="274320"/>
          </a:xfrm>
          <a:prstGeom prst="rect">
            <a:avLst/>
          </a:prstGeom>
          <a:noFill/>
        </p:spPr>
        <p:txBody>
          <a:bodyPr wrap="square" anchor="t" lIns="0" rIns="0" tIns="0" bIns="0">
            <a:spAutoFit/>
          </a:bodyPr>
          <a:lstStyle/>
          <a:p>
            <a:pPr algn="l">
              <a:lnSpc>
                <a:spcPct val="120000"/>
              </a:lnSpc>
            </a:pPr>
            <a:r>
              <a:rPr sz="1050" b="1" i="0">
                <a:solidFill>
                  <a:srgbClr val="3E5F5A"/>
                </a:solidFill>
                <a:latin typeface="Segoe UI"/>
              </a:rPr>
              <a:t>RESULTS · 1 / 2</a:t>
            </a:r>
          </a:p>
        </p:txBody>
      </p:sp>
      <p:cxnSp>
        <p:nvCxnSpPr>
          <p:cNvPr id="4" name="Connector 3"/>
          <p:cNvCxnSpPr/>
          <p:nvPr/>
        </p:nvCxnSpPr>
        <p:spPr>
          <a:xfrm>
            <a:off x="731520" y="841248"/>
            <a:ext cx="457200" cy="0"/>
          </a:xfrm>
          <a:prstGeom prst="line">
            <a:avLst/>
          </a:prstGeom>
          <a:ln w="19050">
            <a:solidFill>
              <a:srgbClr val="3E5F5A"/>
            </a:solidFill>
          </a:ln>
        </p:spPr>
      </p:cxnSp>
      <p:sp>
        <p:nvSpPr>
          <p:cNvPr id="5" name="TextBox 4"/>
          <p:cNvSpPr txBox="1"/>
          <p:nvPr/>
        </p:nvSpPr>
        <p:spPr>
          <a:xfrm>
            <a:off x="731520" y="960120"/>
            <a:ext cx="10725912" cy="731520"/>
          </a:xfrm>
          <a:prstGeom prst="rect">
            <a:avLst/>
          </a:prstGeom>
          <a:noFill/>
        </p:spPr>
        <p:txBody>
          <a:bodyPr wrap="square" anchor="t" lIns="0" rIns="0" tIns="0" bIns="0">
            <a:spAutoFit/>
          </a:bodyPr>
          <a:lstStyle/>
          <a:p>
            <a:pPr algn="l">
              <a:lnSpc>
                <a:spcPct val="120000"/>
              </a:lnSpc>
            </a:pPr>
            <a:r>
              <a:rPr sz="2800" b="0" i="0">
                <a:solidFill>
                  <a:srgbClr val="1F2421"/>
                </a:solidFill>
                <a:latin typeface="Georgia"/>
              </a:rPr>
              <a:t>Detection: binary is easy, naming the attack is not</a:t>
            </a:r>
          </a:p>
        </p:txBody>
      </p:sp>
      <p:sp>
        <p:nvSpPr>
          <p:cNvPr id="6" name="TextBox 5"/>
          <p:cNvSpPr txBox="1"/>
          <p:nvPr/>
        </p:nvSpPr>
        <p:spPr>
          <a:xfrm>
            <a:off x="731520" y="6400800"/>
            <a:ext cx="5486400" cy="228600"/>
          </a:xfrm>
          <a:prstGeom prst="rect">
            <a:avLst/>
          </a:prstGeom>
          <a:noFill/>
        </p:spPr>
        <p:txBody>
          <a:bodyPr wrap="square" anchor="t" lIns="0" rIns="0" tIns="0" bIns="0">
            <a:spAutoFit/>
          </a:bodyPr>
          <a:lstStyle/>
          <a:p>
            <a:pPr algn="l">
              <a:lnSpc>
                <a:spcPct val="120000"/>
              </a:lnSpc>
            </a:pPr>
            <a:r>
              <a:rPr sz="900" b="0" i="0">
                <a:solidFill>
                  <a:srgbClr val="8C918A"/>
                </a:solidFill>
                <a:latin typeface="Segoe UI"/>
              </a:rPr>
              <a:t>Krypsis  ·  Final Review</a:t>
            </a:r>
          </a:p>
        </p:txBody>
      </p:sp>
      <p:sp>
        <p:nvSpPr>
          <p:cNvPr id="7" name="TextBox 6"/>
          <p:cNvSpPr txBox="1"/>
          <p:nvPr/>
        </p:nvSpPr>
        <p:spPr>
          <a:xfrm>
            <a:off x="10543032" y="6400800"/>
            <a:ext cx="914400" cy="228600"/>
          </a:xfrm>
          <a:prstGeom prst="rect">
            <a:avLst/>
          </a:prstGeom>
          <a:noFill/>
        </p:spPr>
        <p:txBody>
          <a:bodyPr wrap="square" anchor="t" lIns="0" rIns="0" tIns="0" bIns="0">
            <a:spAutoFit/>
          </a:bodyPr>
          <a:lstStyle/>
          <a:p>
            <a:pPr algn="r">
              <a:lnSpc>
                <a:spcPct val="120000"/>
              </a:lnSpc>
            </a:pPr>
            <a:r>
              <a:rPr sz="900" b="0" i="0">
                <a:solidFill>
                  <a:srgbClr val="8C918A"/>
                </a:solidFill>
                <a:latin typeface="Segoe UI"/>
              </a:rPr>
              <a:t>10</a:t>
            </a:r>
          </a:p>
        </p:txBody>
      </p:sp>
      <p:sp>
        <p:nvSpPr>
          <p:cNvPr id="8" name="TextBox 7"/>
          <p:cNvSpPr txBox="1"/>
          <p:nvPr/>
        </p:nvSpPr>
        <p:spPr>
          <a:xfrm>
            <a:off x="731520" y="1783080"/>
            <a:ext cx="3977639" cy="274320"/>
          </a:xfrm>
          <a:prstGeom prst="rect">
            <a:avLst/>
          </a:prstGeom>
          <a:noFill/>
        </p:spPr>
        <p:txBody>
          <a:bodyPr wrap="square" anchor="t" lIns="0" rIns="0" tIns="0" bIns="0">
            <a:spAutoFit/>
          </a:bodyPr>
          <a:lstStyle/>
          <a:p>
            <a:pPr algn="l">
              <a:lnSpc>
                <a:spcPct val="120000"/>
              </a:lnSpc>
            </a:pPr>
            <a:r>
              <a:rPr sz="1050" b="1" i="0">
                <a:solidFill>
                  <a:srgbClr val="3E5F5A"/>
                </a:solidFill>
                <a:latin typeface="Segoe UI"/>
              </a:rPr>
              <a:t>BINARY ACCURACY · FLNET2023 TEST SET</a:t>
            </a:r>
          </a:p>
        </p:txBody>
      </p:sp>
      <p:sp>
        <p:nvSpPr>
          <p:cNvPr id="9" name="TextBox 8"/>
          <p:cNvSpPr txBox="1"/>
          <p:nvPr/>
        </p:nvSpPr>
        <p:spPr>
          <a:xfrm>
            <a:off x="731520" y="2148840"/>
            <a:ext cx="1737360" cy="502920"/>
          </a:xfrm>
          <a:prstGeom prst="rect">
            <a:avLst/>
          </a:prstGeom>
          <a:noFill/>
        </p:spPr>
        <p:txBody>
          <a:bodyPr wrap="square" anchor="ctr" lIns="0" rIns="0" tIns="0" bIns="0">
            <a:spAutoFit/>
          </a:bodyPr>
          <a:lstStyle/>
          <a:p>
            <a:pPr algn="l">
              <a:lnSpc>
                <a:spcPct val="120000"/>
              </a:lnSpc>
            </a:pPr>
            <a:r>
              <a:rPr sz="2000" b="0" i="0">
                <a:solidFill>
                  <a:srgbClr val="1F2421"/>
                </a:solidFill>
                <a:latin typeface="Georgia"/>
              </a:rPr>
              <a:t>100.0%</a:t>
            </a:r>
          </a:p>
        </p:txBody>
      </p:sp>
      <p:sp>
        <p:nvSpPr>
          <p:cNvPr id="10" name="TextBox 9"/>
          <p:cNvSpPr txBox="1"/>
          <p:nvPr/>
        </p:nvSpPr>
        <p:spPr>
          <a:xfrm>
            <a:off x="2514600" y="2148840"/>
            <a:ext cx="2194560" cy="502920"/>
          </a:xfrm>
          <a:prstGeom prst="rect">
            <a:avLst/>
          </a:prstGeom>
          <a:noFill/>
        </p:spPr>
        <p:txBody>
          <a:bodyPr wrap="square" anchor="ctr" lIns="0" rIns="0" tIns="0" bIns="0">
            <a:spAutoFit/>
          </a:bodyPr>
          <a:lstStyle/>
          <a:p>
            <a:pPr algn="l">
              <a:lnSpc>
                <a:spcPct val="120000"/>
              </a:lnSpc>
            </a:pPr>
            <a:r>
              <a:rPr sz="1150" b="0" i="0">
                <a:solidFill>
                  <a:srgbClr val="5B625C"/>
                </a:solidFill>
                <a:latin typeface="Segoe UI"/>
              </a:rPr>
              <a:t>centralized</a:t>
            </a:r>
          </a:p>
        </p:txBody>
      </p:sp>
      <p:sp>
        <p:nvSpPr>
          <p:cNvPr id="11" name="TextBox 10"/>
          <p:cNvSpPr txBox="1"/>
          <p:nvPr/>
        </p:nvSpPr>
        <p:spPr>
          <a:xfrm>
            <a:off x="731520" y="2715768"/>
            <a:ext cx="1737360" cy="502920"/>
          </a:xfrm>
          <a:prstGeom prst="rect">
            <a:avLst/>
          </a:prstGeom>
          <a:noFill/>
        </p:spPr>
        <p:txBody>
          <a:bodyPr wrap="square" anchor="ctr" lIns="0" rIns="0" tIns="0" bIns="0">
            <a:spAutoFit/>
          </a:bodyPr>
          <a:lstStyle/>
          <a:p>
            <a:pPr algn="l">
              <a:lnSpc>
                <a:spcPct val="120000"/>
              </a:lnSpc>
            </a:pPr>
            <a:r>
              <a:rPr sz="2000" b="0" i="0">
                <a:solidFill>
                  <a:srgbClr val="1F2421"/>
                </a:solidFill>
                <a:latin typeface="Georgia"/>
              </a:rPr>
              <a:t>99.93%</a:t>
            </a:r>
          </a:p>
        </p:txBody>
      </p:sp>
      <p:sp>
        <p:nvSpPr>
          <p:cNvPr id="12" name="TextBox 11"/>
          <p:cNvSpPr txBox="1"/>
          <p:nvPr/>
        </p:nvSpPr>
        <p:spPr>
          <a:xfrm>
            <a:off x="2514600" y="2715768"/>
            <a:ext cx="2194560" cy="502920"/>
          </a:xfrm>
          <a:prstGeom prst="rect">
            <a:avLst/>
          </a:prstGeom>
          <a:noFill/>
        </p:spPr>
        <p:txBody>
          <a:bodyPr wrap="square" anchor="ctr" lIns="0" rIns="0" tIns="0" bIns="0">
            <a:spAutoFit/>
          </a:bodyPr>
          <a:lstStyle/>
          <a:p>
            <a:pPr algn="l">
              <a:lnSpc>
                <a:spcPct val="120000"/>
              </a:lnSpc>
            </a:pPr>
            <a:r>
              <a:rPr sz="1150" b="0" i="0">
                <a:solidFill>
                  <a:srgbClr val="5B625C"/>
                </a:solidFill>
                <a:latin typeface="Segoe UI"/>
              </a:rPr>
              <a:t>FedAvg · 10 real routers</a:t>
            </a:r>
          </a:p>
        </p:txBody>
      </p:sp>
      <p:sp>
        <p:nvSpPr>
          <p:cNvPr id="13" name="TextBox 12"/>
          <p:cNvSpPr txBox="1"/>
          <p:nvPr/>
        </p:nvSpPr>
        <p:spPr>
          <a:xfrm>
            <a:off x="731520" y="3282696"/>
            <a:ext cx="1737360" cy="502920"/>
          </a:xfrm>
          <a:prstGeom prst="rect">
            <a:avLst/>
          </a:prstGeom>
          <a:noFill/>
        </p:spPr>
        <p:txBody>
          <a:bodyPr wrap="square" anchor="ctr" lIns="0" rIns="0" tIns="0" bIns="0">
            <a:spAutoFit/>
          </a:bodyPr>
          <a:lstStyle/>
          <a:p>
            <a:pPr algn="l">
              <a:lnSpc>
                <a:spcPct val="120000"/>
              </a:lnSpc>
            </a:pPr>
            <a:r>
              <a:rPr sz="2000" b="0" i="0">
                <a:solidFill>
                  <a:srgbClr val="1F2421"/>
                </a:solidFill>
                <a:latin typeface="Georgia"/>
              </a:rPr>
              <a:t>99.999%</a:t>
            </a:r>
          </a:p>
        </p:txBody>
      </p:sp>
      <p:sp>
        <p:nvSpPr>
          <p:cNvPr id="14" name="TextBox 13"/>
          <p:cNvSpPr txBox="1"/>
          <p:nvPr/>
        </p:nvSpPr>
        <p:spPr>
          <a:xfrm>
            <a:off x="2514600" y="3282696"/>
            <a:ext cx="2194560" cy="502920"/>
          </a:xfrm>
          <a:prstGeom prst="rect">
            <a:avLst/>
          </a:prstGeom>
          <a:noFill/>
        </p:spPr>
        <p:txBody>
          <a:bodyPr wrap="square" anchor="ctr" lIns="0" rIns="0" tIns="0" bIns="0">
            <a:spAutoFit/>
          </a:bodyPr>
          <a:lstStyle/>
          <a:p>
            <a:pPr algn="l">
              <a:lnSpc>
                <a:spcPct val="120000"/>
              </a:lnSpc>
            </a:pPr>
            <a:r>
              <a:rPr sz="1150" b="0" i="0">
                <a:solidFill>
                  <a:srgbClr val="5B625C"/>
                </a:solidFill>
                <a:latin typeface="Segoe UI"/>
              </a:rPr>
              <a:t>FedAvg · IID split</a:t>
            </a:r>
          </a:p>
        </p:txBody>
      </p:sp>
      <p:sp>
        <p:nvSpPr>
          <p:cNvPr id="15" name="TextBox 14"/>
          <p:cNvSpPr txBox="1"/>
          <p:nvPr/>
        </p:nvSpPr>
        <p:spPr>
          <a:xfrm>
            <a:off x="731520" y="3977639"/>
            <a:ext cx="3977639" cy="274320"/>
          </a:xfrm>
          <a:prstGeom prst="rect">
            <a:avLst/>
          </a:prstGeom>
          <a:noFill/>
        </p:spPr>
        <p:txBody>
          <a:bodyPr wrap="square" anchor="t" lIns="0" rIns="0" tIns="0" bIns="0">
            <a:spAutoFit/>
          </a:bodyPr>
          <a:lstStyle/>
          <a:p>
            <a:pPr algn="l">
              <a:lnSpc>
                <a:spcPct val="120000"/>
              </a:lnSpc>
            </a:pPr>
            <a:r>
              <a:rPr sz="1050" b="1" i="0">
                <a:solidFill>
                  <a:srgbClr val="3E5F5A"/>
                </a:solidFill>
                <a:latin typeface="Segoe UI"/>
              </a:rPr>
              <a:t>MULTI-CLASS MACRO-F1 · 11 TYPES</a:t>
            </a:r>
          </a:p>
        </p:txBody>
      </p:sp>
      <p:sp>
        <p:nvSpPr>
          <p:cNvPr id="16" name="TextBox 15"/>
          <p:cNvSpPr txBox="1"/>
          <p:nvPr/>
        </p:nvSpPr>
        <p:spPr>
          <a:xfrm>
            <a:off x="731520" y="4297680"/>
            <a:ext cx="3977639" cy="457200"/>
          </a:xfrm>
          <a:prstGeom prst="rect">
            <a:avLst/>
          </a:prstGeom>
          <a:noFill/>
        </p:spPr>
        <p:txBody>
          <a:bodyPr wrap="square" anchor="t" lIns="0" rIns="0" tIns="0" bIns="0">
            <a:spAutoFit/>
          </a:bodyPr>
          <a:lstStyle/>
          <a:p>
            <a:pPr algn="l">
              <a:lnSpc>
                <a:spcPct val="120000"/>
              </a:lnSpc>
            </a:pPr>
            <a:r>
              <a:rPr sz="1800" b="0" i="0">
                <a:solidFill>
                  <a:srgbClr val="1F2421"/>
                </a:solidFill>
                <a:latin typeface="Georgia"/>
              </a:rPr>
              <a:t>0.79</a:t>
            </a:r>
            <a:r>
              <a:rPr sz="1100" b="0" i="0">
                <a:solidFill>
                  <a:srgbClr val="5B625C"/>
                </a:solidFill>
                <a:latin typeface="Segoe UI"/>
              </a:rPr>
              <a:t>  central   </a:t>
            </a:r>
            <a:r>
              <a:rPr sz="1800" b="0" i="0">
                <a:solidFill>
                  <a:srgbClr val="1F2421"/>
                </a:solidFill>
                <a:latin typeface="Georgia"/>
              </a:rPr>
              <a:t>0.76</a:t>
            </a:r>
            <a:r>
              <a:rPr sz="1100" b="0" i="0">
                <a:solidFill>
                  <a:srgbClr val="5B625C"/>
                </a:solidFill>
                <a:latin typeface="Segoe UI"/>
              </a:rPr>
              <a:t>  IID   </a:t>
            </a:r>
            <a:r>
              <a:rPr sz="1800" b="0" i="0">
                <a:solidFill>
                  <a:srgbClr val="8E673F"/>
                </a:solidFill>
                <a:latin typeface="Georgia"/>
              </a:rPr>
              <a:t>0.39</a:t>
            </a:r>
            <a:r>
              <a:rPr sz="1100" b="0" i="0">
                <a:solidFill>
                  <a:srgbClr val="5B625C"/>
                </a:solidFill>
                <a:latin typeface="Segoe UI"/>
              </a:rPr>
              <a:t>  routers</a:t>
            </a:r>
          </a:p>
        </p:txBody>
      </p:sp>
      <p:sp>
        <p:nvSpPr>
          <p:cNvPr id="17" name="TextBox 16"/>
          <p:cNvSpPr txBox="1"/>
          <p:nvPr/>
        </p:nvSpPr>
        <p:spPr>
          <a:xfrm>
            <a:off x="731520" y="4892040"/>
            <a:ext cx="3977639" cy="1371600"/>
          </a:xfrm>
          <a:prstGeom prst="rect">
            <a:avLst/>
          </a:prstGeom>
          <a:noFill/>
        </p:spPr>
        <p:txBody>
          <a:bodyPr wrap="square" anchor="t" lIns="0" rIns="0" tIns="0" bIns="0">
            <a:spAutoFit/>
          </a:bodyPr>
          <a:lstStyle/>
          <a:p>
            <a:pPr algn="l">
              <a:lnSpc>
                <a:spcPct val="125000"/>
              </a:lnSpc>
            </a:pPr>
            <a:r>
              <a:rPr sz="1100" b="0" i="0">
                <a:solidFill>
                  <a:srgbClr val="5B625C"/>
                </a:solidFill>
                <a:latin typeface="Segoe UI"/>
              </a:rPr>
              <a:t>We checked the 100%: one feature alone scores 97.5%, so binary accuracy cannot separate setups. With 11 classes, attack types seen at only one or two routers are averaged away: the non-IID cost.</a:t>
            </a:r>
          </a:p>
        </p:txBody>
      </p:sp>
      <p:pic>
        <p:nvPicPr>
          <p:cNvPr id="18" name="Picture 17" descr="multiclass_recall.png"/>
          <p:cNvPicPr>
            <a:picLocks noChangeAspect="1"/>
          </p:cNvPicPr>
          <p:nvPr/>
        </p:nvPicPr>
        <p:blipFill>
          <a:blip r:embed="rId2"/>
          <a:stretch>
            <a:fillRect/>
          </a:stretch>
        </p:blipFill>
        <p:spPr>
          <a:xfrm>
            <a:off x="5074920" y="1783080"/>
            <a:ext cx="6382512" cy="413866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7315200" cy="274320"/>
          </a:xfrm>
          <a:prstGeom prst="rect">
            <a:avLst/>
          </a:prstGeom>
          <a:noFill/>
        </p:spPr>
        <p:txBody>
          <a:bodyPr wrap="square" anchor="t" lIns="0" rIns="0" tIns="0" bIns="0">
            <a:spAutoFit/>
          </a:bodyPr>
          <a:lstStyle/>
          <a:p>
            <a:pPr algn="l">
              <a:lnSpc>
                <a:spcPct val="120000"/>
              </a:lnSpc>
            </a:pPr>
            <a:r>
              <a:rPr sz="1050" b="1" i="0">
                <a:solidFill>
                  <a:srgbClr val="3E5F5A"/>
                </a:solidFill>
                <a:latin typeface="Segoe UI"/>
              </a:rPr>
              <a:t>RESULTS · 2 / 2</a:t>
            </a:r>
          </a:p>
        </p:txBody>
      </p:sp>
      <p:cxnSp>
        <p:nvCxnSpPr>
          <p:cNvPr id="4" name="Connector 3"/>
          <p:cNvCxnSpPr/>
          <p:nvPr/>
        </p:nvCxnSpPr>
        <p:spPr>
          <a:xfrm>
            <a:off x="731520" y="841248"/>
            <a:ext cx="457200" cy="0"/>
          </a:xfrm>
          <a:prstGeom prst="line">
            <a:avLst/>
          </a:prstGeom>
          <a:ln w="19050">
            <a:solidFill>
              <a:srgbClr val="3E5F5A"/>
            </a:solidFill>
          </a:ln>
        </p:spPr>
      </p:cxnSp>
      <p:sp>
        <p:nvSpPr>
          <p:cNvPr id="5" name="TextBox 4"/>
          <p:cNvSpPr txBox="1"/>
          <p:nvPr/>
        </p:nvSpPr>
        <p:spPr>
          <a:xfrm>
            <a:off x="731520" y="960120"/>
            <a:ext cx="10725912" cy="731520"/>
          </a:xfrm>
          <a:prstGeom prst="rect">
            <a:avLst/>
          </a:prstGeom>
          <a:noFill/>
        </p:spPr>
        <p:txBody>
          <a:bodyPr wrap="square" anchor="t" lIns="0" rIns="0" tIns="0" bIns="0">
            <a:spAutoFit/>
          </a:bodyPr>
          <a:lstStyle/>
          <a:p>
            <a:pPr algn="l">
              <a:lnSpc>
                <a:spcPct val="120000"/>
              </a:lnSpc>
            </a:pPr>
            <a:r>
              <a:rPr sz="2800" b="0" i="0">
                <a:solidFill>
                  <a:srgbClr val="1F2421"/>
                </a:solidFill>
                <a:latin typeface="Georgia"/>
              </a:rPr>
              <a:t>The protocol under attack</a:t>
            </a:r>
          </a:p>
        </p:txBody>
      </p:sp>
      <p:sp>
        <p:nvSpPr>
          <p:cNvPr id="6" name="TextBox 5"/>
          <p:cNvSpPr txBox="1"/>
          <p:nvPr/>
        </p:nvSpPr>
        <p:spPr>
          <a:xfrm>
            <a:off x="731520" y="6400800"/>
            <a:ext cx="5486400" cy="228600"/>
          </a:xfrm>
          <a:prstGeom prst="rect">
            <a:avLst/>
          </a:prstGeom>
          <a:noFill/>
        </p:spPr>
        <p:txBody>
          <a:bodyPr wrap="square" anchor="t" lIns="0" rIns="0" tIns="0" bIns="0">
            <a:spAutoFit/>
          </a:bodyPr>
          <a:lstStyle/>
          <a:p>
            <a:pPr algn="l">
              <a:lnSpc>
                <a:spcPct val="120000"/>
              </a:lnSpc>
            </a:pPr>
            <a:r>
              <a:rPr sz="900" b="0" i="0">
                <a:solidFill>
                  <a:srgbClr val="8C918A"/>
                </a:solidFill>
                <a:latin typeface="Segoe UI"/>
              </a:rPr>
              <a:t>Krypsis  ·  Final Review</a:t>
            </a:r>
          </a:p>
        </p:txBody>
      </p:sp>
      <p:sp>
        <p:nvSpPr>
          <p:cNvPr id="7" name="TextBox 6"/>
          <p:cNvSpPr txBox="1"/>
          <p:nvPr/>
        </p:nvSpPr>
        <p:spPr>
          <a:xfrm>
            <a:off x="10543032" y="6400800"/>
            <a:ext cx="914400" cy="228600"/>
          </a:xfrm>
          <a:prstGeom prst="rect">
            <a:avLst/>
          </a:prstGeom>
          <a:noFill/>
        </p:spPr>
        <p:txBody>
          <a:bodyPr wrap="square" anchor="t" lIns="0" rIns="0" tIns="0" bIns="0">
            <a:spAutoFit/>
          </a:bodyPr>
          <a:lstStyle/>
          <a:p>
            <a:pPr algn="r">
              <a:lnSpc>
                <a:spcPct val="120000"/>
              </a:lnSpc>
            </a:pPr>
            <a:r>
              <a:rPr sz="900" b="0" i="0">
                <a:solidFill>
                  <a:srgbClr val="8C918A"/>
                </a:solidFill>
                <a:latin typeface="Segoe UI"/>
              </a:rPr>
              <a:t>11</a:t>
            </a:r>
          </a:p>
        </p:txBody>
      </p:sp>
      <p:pic>
        <p:nvPicPr>
          <p:cNvPr id="8" name="Picture 7" descr="attack_accuracy_by_round.png"/>
          <p:cNvPicPr>
            <a:picLocks noChangeAspect="1"/>
          </p:cNvPicPr>
          <p:nvPr/>
        </p:nvPicPr>
        <p:blipFill>
          <a:blip r:embed="rId2"/>
          <a:stretch>
            <a:fillRect/>
          </a:stretch>
        </p:blipFill>
        <p:spPr>
          <a:xfrm>
            <a:off x="731520" y="1783080"/>
            <a:ext cx="6766560" cy="2925973"/>
          </a:xfrm>
          <a:prstGeom prst="rect">
            <a:avLst/>
          </a:prstGeom>
        </p:spPr>
      </p:pic>
      <p:sp>
        <p:nvSpPr>
          <p:cNvPr id="9" name="TextBox 8"/>
          <p:cNvSpPr txBox="1"/>
          <p:nvPr/>
        </p:nvSpPr>
        <p:spPr>
          <a:xfrm>
            <a:off x="731520" y="4892040"/>
            <a:ext cx="6766560" cy="1371600"/>
          </a:xfrm>
          <a:prstGeom prst="rect">
            <a:avLst/>
          </a:prstGeom>
          <a:noFill/>
        </p:spPr>
        <p:txBody>
          <a:bodyPr wrap="square" anchor="t" lIns="0" rIns="0" tIns="0" bIns="0">
            <a:spAutoFit/>
          </a:bodyPr>
          <a:lstStyle/>
          <a:p>
            <a:pPr algn="l">
              <a:lnSpc>
                <a:spcPct val="125000"/>
              </a:lnSpc>
            </a:pPr>
            <a:r>
              <a:rPr sz="1100" b="0" i="0">
                <a:solidFill>
                  <a:srgbClr val="5B625C"/>
                </a:solidFill>
                <a:latin typeface="Segoe UI"/>
              </a:rPr>
              <a:t>Attack setup: 2 of 10 clients flip their labels (attack ↔ normal) from round 6 of 12; rounds 1–5 calibrate the thresholds. NSL-KDD gain is significant (p = 0.009, 10 seeds); FLNET2023 points the same way (5 seeds).</a:t>
            </a:r>
          </a:p>
        </p:txBody>
      </p:sp>
      <p:sp>
        <p:nvSpPr>
          <p:cNvPr id="10" name="TextBox 9"/>
          <p:cNvSpPr txBox="1"/>
          <p:nvPr/>
        </p:nvSpPr>
        <p:spPr>
          <a:xfrm>
            <a:off x="7818120" y="1783080"/>
            <a:ext cx="3639312" cy="274320"/>
          </a:xfrm>
          <a:prstGeom prst="rect">
            <a:avLst/>
          </a:prstGeom>
          <a:noFill/>
        </p:spPr>
        <p:txBody>
          <a:bodyPr wrap="square" anchor="t" lIns="0" rIns="0" tIns="0" bIns="0">
            <a:spAutoFit/>
          </a:bodyPr>
          <a:lstStyle/>
          <a:p>
            <a:pPr algn="l">
              <a:lnSpc>
                <a:spcPct val="120000"/>
              </a:lnSpc>
            </a:pPr>
            <a:r>
              <a:rPr sz="1050" b="1" i="0">
                <a:solidFill>
                  <a:srgbClr val="3E5F5A"/>
                </a:solidFill>
                <a:latin typeface="Segoe UI"/>
              </a:rPr>
              <a:t>NO DEFENSE → KRYPSIS</a:t>
            </a:r>
          </a:p>
        </p:txBody>
      </p:sp>
      <p:sp>
        <p:nvSpPr>
          <p:cNvPr id="11" name="TextBox 10"/>
          <p:cNvSpPr txBox="1"/>
          <p:nvPr/>
        </p:nvSpPr>
        <p:spPr>
          <a:xfrm>
            <a:off x="7818120" y="2148840"/>
            <a:ext cx="3639312" cy="548640"/>
          </a:xfrm>
          <a:prstGeom prst="rect">
            <a:avLst/>
          </a:prstGeom>
          <a:noFill/>
        </p:spPr>
        <p:txBody>
          <a:bodyPr wrap="square" anchor="t" lIns="0" rIns="0" tIns="0" bIns="0">
            <a:spAutoFit/>
          </a:bodyPr>
          <a:lstStyle/>
          <a:p>
            <a:pPr algn="l">
              <a:lnSpc>
                <a:spcPct val="105000"/>
              </a:lnSpc>
            </a:pPr>
            <a:r>
              <a:rPr sz="1050" b="0" i="0">
                <a:solidFill>
                  <a:srgbClr val="5B625C"/>
                </a:solidFill>
                <a:latin typeface="Segoe UI"/>
              </a:rPr>
              <a:t>Tampered messages rejected</a:t>
            </a:r>
          </a:p>
          <a:p>
            <a:pPr algn="l">
              <a:lnSpc>
                <a:spcPct val="105000"/>
              </a:lnSpc>
            </a:pPr>
            <a:r>
              <a:rPr sz="1500" b="0" i="0">
                <a:solidFill>
                  <a:srgbClr val="1F2421"/>
                </a:solidFill>
                <a:latin typeface="Georgia"/>
              </a:rPr>
              <a:t>105 / 105</a:t>
            </a:r>
          </a:p>
        </p:txBody>
      </p:sp>
      <p:cxnSp>
        <p:nvCxnSpPr>
          <p:cNvPr id="12" name="Connector 11"/>
          <p:cNvCxnSpPr/>
          <p:nvPr/>
        </p:nvCxnSpPr>
        <p:spPr>
          <a:xfrm>
            <a:off x="7818120" y="2697480"/>
            <a:ext cx="3639312" cy="0"/>
          </a:xfrm>
          <a:prstGeom prst="line">
            <a:avLst/>
          </a:prstGeom>
          <a:ln w="6350">
            <a:solidFill>
              <a:srgbClr val="DDDAD2"/>
            </a:solidFill>
          </a:ln>
        </p:spPr>
      </p:cxnSp>
      <p:sp>
        <p:nvSpPr>
          <p:cNvPr id="13" name="TextBox 12"/>
          <p:cNvSpPr txBox="1"/>
          <p:nvPr/>
        </p:nvSpPr>
        <p:spPr>
          <a:xfrm>
            <a:off x="7818120" y="2715768"/>
            <a:ext cx="3639312" cy="548640"/>
          </a:xfrm>
          <a:prstGeom prst="rect">
            <a:avLst/>
          </a:prstGeom>
          <a:noFill/>
        </p:spPr>
        <p:txBody>
          <a:bodyPr wrap="square" anchor="t" lIns="0" rIns="0" tIns="0" bIns="0">
            <a:spAutoFit/>
          </a:bodyPr>
          <a:lstStyle/>
          <a:p>
            <a:pPr algn="l">
              <a:lnSpc>
                <a:spcPct val="105000"/>
              </a:lnSpc>
            </a:pPr>
            <a:r>
              <a:rPr sz="1050" b="0" i="0">
                <a:solidFill>
                  <a:srgbClr val="5B625C"/>
                </a:solidFill>
                <a:latin typeface="Segoe UI"/>
              </a:rPr>
              <a:t>Label flip · FLNET2023</a:t>
            </a:r>
          </a:p>
          <a:p>
            <a:pPr algn="l">
              <a:lnSpc>
                <a:spcPct val="105000"/>
              </a:lnSpc>
            </a:pPr>
            <a:r>
              <a:rPr sz="1500" b="0" i="0">
                <a:solidFill>
                  <a:srgbClr val="1F2421"/>
                </a:solidFill>
                <a:latin typeface="Georgia"/>
              </a:rPr>
              <a:t>92.4% → 99.4%</a:t>
            </a:r>
          </a:p>
        </p:txBody>
      </p:sp>
      <p:cxnSp>
        <p:nvCxnSpPr>
          <p:cNvPr id="14" name="Connector 13"/>
          <p:cNvCxnSpPr/>
          <p:nvPr/>
        </p:nvCxnSpPr>
        <p:spPr>
          <a:xfrm>
            <a:off x="7818120" y="3264408"/>
            <a:ext cx="3639312" cy="0"/>
          </a:xfrm>
          <a:prstGeom prst="line">
            <a:avLst/>
          </a:prstGeom>
          <a:ln w="6350">
            <a:solidFill>
              <a:srgbClr val="DDDAD2"/>
            </a:solidFill>
          </a:ln>
        </p:spPr>
      </p:cxnSp>
      <p:sp>
        <p:nvSpPr>
          <p:cNvPr id="15" name="TextBox 14"/>
          <p:cNvSpPr txBox="1"/>
          <p:nvPr/>
        </p:nvSpPr>
        <p:spPr>
          <a:xfrm>
            <a:off x="7818120" y="3282696"/>
            <a:ext cx="3639312" cy="548640"/>
          </a:xfrm>
          <a:prstGeom prst="rect">
            <a:avLst/>
          </a:prstGeom>
          <a:noFill/>
        </p:spPr>
        <p:txBody>
          <a:bodyPr wrap="square" anchor="t" lIns="0" rIns="0" tIns="0" bIns="0">
            <a:spAutoFit/>
          </a:bodyPr>
          <a:lstStyle/>
          <a:p>
            <a:pPr algn="l">
              <a:lnSpc>
                <a:spcPct val="105000"/>
              </a:lnSpc>
            </a:pPr>
            <a:r>
              <a:rPr sz="1050" b="0" i="0">
                <a:solidFill>
                  <a:srgbClr val="5B625C"/>
                </a:solidFill>
                <a:latin typeface="Segoe UI"/>
              </a:rPr>
              <a:t>Label flip · NSL-KDD</a:t>
            </a:r>
          </a:p>
          <a:p>
            <a:pPr algn="l">
              <a:lnSpc>
                <a:spcPct val="105000"/>
              </a:lnSpc>
            </a:pPr>
            <a:r>
              <a:rPr sz="1500" b="0" i="0">
                <a:solidFill>
                  <a:srgbClr val="1F2421"/>
                </a:solidFill>
                <a:latin typeface="Georgia"/>
              </a:rPr>
              <a:t>68.8% → 79.2%</a:t>
            </a:r>
          </a:p>
        </p:txBody>
      </p:sp>
      <p:cxnSp>
        <p:nvCxnSpPr>
          <p:cNvPr id="16" name="Connector 15"/>
          <p:cNvCxnSpPr/>
          <p:nvPr/>
        </p:nvCxnSpPr>
        <p:spPr>
          <a:xfrm>
            <a:off x="7818120" y="3831336"/>
            <a:ext cx="3639312" cy="0"/>
          </a:xfrm>
          <a:prstGeom prst="line">
            <a:avLst/>
          </a:prstGeom>
          <a:ln w="6350">
            <a:solidFill>
              <a:srgbClr val="DDDAD2"/>
            </a:solidFill>
          </a:ln>
        </p:spPr>
      </p:cxnSp>
      <p:sp>
        <p:nvSpPr>
          <p:cNvPr id="17" name="TextBox 16"/>
          <p:cNvSpPr txBox="1"/>
          <p:nvPr/>
        </p:nvSpPr>
        <p:spPr>
          <a:xfrm>
            <a:off x="7818120" y="3849624"/>
            <a:ext cx="3639312" cy="548640"/>
          </a:xfrm>
          <a:prstGeom prst="rect">
            <a:avLst/>
          </a:prstGeom>
          <a:noFill/>
        </p:spPr>
        <p:txBody>
          <a:bodyPr wrap="square" anchor="t" lIns="0" rIns="0" tIns="0" bIns="0">
            <a:spAutoFit/>
          </a:bodyPr>
          <a:lstStyle/>
          <a:p>
            <a:pPr algn="l">
              <a:lnSpc>
                <a:spcPct val="105000"/>
              </a:lnSpc>
            </a:pPr>
            <a:r>
              <a:rPr sz="1050" b="0" i="0">
                <a:solidFill>
                  <a:srgbClr val="5B625C"/>
                </a:solidFill>
                <a:latin typeface="Segoe UI"/>
              </a:rPr>
              <a:t>Backdoor success · NSL-KDD</a:t>
            </a:r>
          </a:p>
          <a:p>
            <a:pPr algn="l">
              <a:lnSpc>
                <a:spcPct val="105000"/>
              </a:lnSpc>
            </a:pPr>
            <a:r>
              <a:rPr sz="1500" b="0" i="0">
                <a:solidFill>
                  <a:srgbClr val="1F2421"/>
                </a:solidFill>
                <a:latin typeface="Georgia"/>
              </a:rPr>
              <a:t>34.1% → 8.7%</a:t>
            </a:r>
          </a:p>
        </p:txBody>
      </p:sp>
      <p:cxnSp>
        <p:nvCxnSpPr>
          <p:cNvPr id="18" name="Connector 17"/>
          <p:cNvCxnSpPr/>
          <p:nvPr/>
        </p:nvCxnSpPr>
        <p:spPr>
          <a:xfrm>
            <a:off x="7818120" y="4398264"/>
            <a:ext cx="3639312" cy="0"/>
          </a:xfrm>
          <a:prstGeom prst="line">
            <a:avLst/>
          </a:prstGeom>
          <a:ln w="6350">
            <a:solidFill>
              <a:srgbClr val="DDDAD2"/>
            </a:solidFill>
          </a:ln>
        </p:spPr>
      </p:cxnSp>
      <p:sp>
        <p:nvSpPr>
          <p:cNvPr id="19" name="TextBox 18"/>
          <p:cNvSpPr txBox="1"/>
          <p:nvPr/>
        </p:nvSpPr>
        <p:spPr>
          <a:xfrm>
            <a:off x="7818120" y="4416552"/>
            <a:ext cx="3639312" cy="548640"/>
          </a:xfrm>
          <a:prstGeom prst="rect">
            <a:avLst/>
          </a:prstGeom>
          <a:noFill/>
        </p:spPr>
        <p:txBody>
          <a:bodyPr wrap="square" anchor="t" lIns="0" rIns="0" tIns="0" bIns="0">
            <a:spAutoFit/>
          </a:bodyPr>
          <a:lstStyle/>
          <a:p>
            <a:pPr algn="l">
              <a:lnSpc>
                <a:spcPct val="105000"/>
              </a:lnSpc>
            </a:pPr>
            <a:r>
              <a:rPr sz="1050" b="0" i="0">
                <a:solidFill>
                  <a:srgbClr val="5B625C"/>
                </a:solidFill>
                <a:latin typeface="Segoe UI"/>
              </a:rPr>
              <a:t>40% routers offline</a:t>
            </a:r>
          </a:p>
          <a:p>
            <a:pPr algn="l">
              <a:lnSpc>
                <a:spcPct val="105000"/>
              </a:lnSpc>
            </a:pPr>
            <a:r>
              <a:rPr sz="1500" b="0" i="0">
                <a:solidFill>
                  <a:srgbClr val="1F2421"/>
                </a:solidFill>
                <a:latin typeface="Georgia"/>
              </a:rPr>
              <a:t>78.6% → 81.9%</a:t>
            </a:r>
          </a:p>
        </p:txBody>
      </p:sp>
      <p:cxnSp>
        <p:nvCxnSpPr>
          <p:cNvPr id="20" name="Connector 19"/>
          <p:cNvCxnSpPr/>
          <p:nvPr/>
        </p:nvCxnSpPr>
        <p:spPr>
          <a:xfrm>
            <a:off x="7818120" y="4965192"/>
            <a:ext cx="3639312" cy="0"/>
          </a:xfrm>
          <a:prstGeom prst="line">
            <a:avLst/>
          </a:prstGeom>
          <a:ln w="6350">
            <a:solidFill>
              <a:srgbClr val="DDDAD2"/>
            </a:solidFill>
          </a:ln>
        </p:spPr>
      </p:cxnSp>
      <p:sp>
        <p:nvSpPr>
          <p:cNvPr id="21" name="TextBox 20"/>
          <p:cNvSpPr txBox="1"/>
          <p:nvPr/>
        </p:nvSpPr>
        <p:spPr>
          <a:xfrm>
            <a:off x="7818120" y="4983480"/>
            <a:ext cx="3639312" cy="548640"/>
          </a:xfrm>
          <a:prstGeom prst="rect">
            <a:avLst/>
          </a:prstGeom>
          <a:noFill/>
        </p:spPr>
        <p:txBody>
          <a:bodyPr wrap="square" anchor="t" lIns="0" rIns="0" tIns="0" bIns="0">
            <a:spAutoFit/>
          </a:bodyPr>
          <a:lstStyle/>
          <a:p>
            <a:pPr algn="l">
              <a:lnSpc>
                <a:spcPct val="105000"/>
              </a:lnSpc>
            </a:pPr>
            <a:r>
              <a:rPr sz="1050" b="0" i="0">
                <a:solidFill>
                  <a:srgbClr val="5B625C"/>
                </a:solidFill>
                <a:latin typeface="Segoe UI"/>
              </a:rPr>
              <a:t>40 clients · caught</a:t>
            </a:r>
          </a:p>
          <a:p>
            <a:pPr algn="l">
              <a:lnSpc>
                <a:spcPct val="105000"/>
              </a:lnSpc>
            </a:pPr>
            <a:r>
              <a:rPr sz="1500" b="0" i="0">
                <a:solidFill>
                  <a:srgbClr val="1F2421"/>
                </a:solidFill>
                <a:latin typeface="Georgia"/>
              </a:rPr>
              <a:t>84% · 73 ms/round</a:t>
            </a:r>
          </a:p>
        </p:txBody>
      </p:sp>
      <p:cxnSp>
        <p:nvCxnSpPr>
          <p:cNvPr id="22" name="Connector 21"/>
          <p:cNvCxnSpPr/>
          <p:nvPr/>
        </p:nvCxnSpPr>
        <p:spPr>
          <a:xfrm>
            <a:off x="7818120" y="5532120"/>
            <a:ext cx="3639312" cy="0"/>
          </a:xfrm>
          <a:prstGeom prst="line">
            <a:avLst/>
          </a:prstGeom>
          <a:ln w="6350">
            <a:solidFill>
              <a:srgbClr val="DDDAD2"/>
            </a:solidFill>
          </a:ln>
        </p:spPr>
      </p:cxnSp>
      <p:sp>
        <p:nvSpPr>
          <p:cNvPr id="23" name="TextBox 22"/>
          <p:cNvSpPr txBox="1"/>
          <p:nvPr/>
        </p:nvSpPr>
        <p:spPr>
          <a:xfrm>
            <a:off x="7818120" y="5550408"/>
            <a:ext cx="3639312" cy="548640"/>
          </a:xfrm>
          <a:prstGeom prst="rect">
            <a:avLst/>
          </a:prstGeom>
          <a:noFill/>
        </p:spPr>
        <p:txBody>
          <a:bodyPr wrap="square" anchor="t" lIns="0" rIns="0" tIns="0" bIns="0">
            <a:spAutoFit/>
          </a:bodyPr>
          <a:lstStyle/>
          <a:p>
            <a:pPr algn="l">
              <a:lnSpc>
                <a:spcPct val="105000"/>
              </a:lnSpc>
            </a:pPr>
            <a:r>
              <a:rPr sz="1050" b="0" i="0">
                <a:solidFill>
                  <a:srgbClr val="5B625C"/>
                </a:solidFill>
                <a:latin typeface="Segoe UI"/>
              </a:rPr>
              <a:t>Shifted honest router excluded</a:t>
            </a:r>
          </a:p>
          <a:p>
            <a:pPr algn="l">
              <a:lnSpc>
                <a:spcPct val="105000"/>
              </a:lnSpc>
            </a:pPr>
            <a:r>
              <a:rPr sz="1500" b="0" i="0">
                <a:solidFill>
                  <a:srgbClr val="1F2421"/>
                </a:solidFill>
                <a:latin typeface="Georgia"/>
              </a:rPr>
              <a:t>0%</a:t>
            </a:r>
          </a:p>
        </p:txBody>
      </p:sp>
      <p:cxnSp>
        <p:nvCxnSpPr>
          <p:cNvPr id="24" name="Connector 23"/>
          <p:cNvCxnSpPr/>
          <p:nvPr/>
        </p:nvCxnSpPr>
        <p:spPr>
          <a:xfrm>
            <a:off x="7818120" y="6099048"/>
            <a:ext cx="3639312" cy="0"/>
          </a:xfrm>
          <a:prstGeom prst="line">
            <a:avLst/>
          </a:prstGeom>
          <a:ln w="6350">
            <a:solidFill>
              <a:srgbClr val="DDDAD2"/>
            </a:solidFill>
          </a:ln>
        </p:spPr>
      </p:cxn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7315200" cy="274320"/>
          </a:xfrm>
          <a:prstGeom prst="rect">
            <a:avLst/>
          </a:prstGeom>
          <a:noFill/>
        </p:spPr>
        <p:txBody>
          <a:bodyPr wrap="square" anchor="t" lIns="0" rIns="0" tIns="0" bIns="0">
            <a:spAutoFit/>
          </a:bodyPr>
          <a:lstStyle/>
          <a:p>
            <a:pPr algn="l">
              <a:lnSpc>
                <a:spcPct val="120000"/>
              </a:lnSpc>
            </a:pPr>
            <a:r>
              <a:rPr sz="1050" b="1" i="0">
                <a:solidFill>
                  <a:srgbClr val="3E5F5A"/>
                </a:solidFill>
                <a:latin typeface="Segoe UI"/>
              </a:rPr>
              <a:t>COMPARISON</a:t>
            </a:r>
          </a:p>
        </p:txBody>
      </p:sp>
      <p:cxnSp>
        <p:nvCxnSpPr>
          <p:cNvPr id="4" name="Connector 3"/>
          <p:cNvCxnSpPr/>
          <p:nvPr/>
        </p:nvCxnSpPr>
        <p:spPr>
          <a:xfrm>
            <a:off x="731520" y="841248"/>
            <a:ext cx="457200" cy="0"/>
          </a:xfrm>
          <a:prstGeom prst="line">
            <a:avLst/>
          </a:prstGeom>
          <a:ln w="19050">
            <a:solidFill>
              <a:srgbClr val="3E5F5A"/>
            </a:solidFill>
          </a:ln>
        </p:spPr>
      </p:cxnSp>
      <p:sp>
        <p:nvSpPr>
          <p:cNvPr id="5" name="TextBox 4"/>
          <p:cNvSpPr txBox="1"/>
          <p:nvPr/>
        </p:nvSpPr>
        <p:spPr>
          <a:xfrm>
            <a:off x="731520" y="960120"/>
            <a:ext cx="10725912" cy="731520"/>
          </a:xfrm>
          <a:prstGeom prst="rect">
            <a:avLst/>
          </a:prstGeom>
          <a:noFill/>
        </p:spPr>
        <p:txBody>
          <a:bodyPr wrap="square" anchor="t" lIns="0" rIns="0" tIns="0" bIns="0">
            <a:spAutoFit/>
          </a:bodyPr>
          <a:lstStyle/>
          <a:p>
            <a:pPr algn="l">
              <a:lnSpc>
                <a:spcPct val="120000"/>
              </a:lnSpc>
            </a:pPr>
            <a:r>
              <a:rPr sz="2800" b="0" i="0">
                <a:solidFill>
                  <a:srgbClr val="1F2421"/>
                </a:solidFill>
                <a:latin typeface="Georgia"/>
              </a:rPr>
              <a:t>Comparison with existing approaches and our setups</a:t>
            </a:r>
          </a:p>
        </p:txBody>
      </p:sp>
      <p:sp>
        <p:nvSpPr>
          <p:cNvPr id="6" name="TextBox 5"/>
          <p:cNvSpPr txBox="1"/>
          <p:nvPr/>
        </p:nvSpPr>
        <p:spPr>
          <a:xfrm>
            <a:off x="731520" y="6400800"/>
            <a:ext cx="5486400" cy="228600"/>
          </a:xfrm>
          <a:prstGeom prst="rect">
            <a:avLst/>
          </a:prstGeom>
          <a:noFill/>
        </p:spPr>
        <p:txBody>
          <a:bodyPr wrap="square" anchor="t" lIns="0" rIns="0" tIns="0" bIns="0">
            <a:spAutoFit/>
          </a:bodyPr>
          <a:lstStyle/>
          <a:p>
            <a:pPr algn="l">
              <a:lnSpc>
                <a:spcPct val="120000"/>
              </a:lnSpc>
            </a:pPr>
            <a:r>
              <a:rPr sz="900" b="0" i="0">
                <a:solidFill>
                  <a:srgbClr val="8C918A"/>
                </a:solidFill>
                <a:latin typeface="Segoe UI"/>
              </a:rPr>
              <a:t>Krypsis  ·  Final Review</a:t>
            </a:r>
          </a:p>
        </p:txBody>
      </p:sp>
      <p:sp>
        <p:nvSpPr>
          <p:cNvPr id="7" name="TextBox 6"/>
          <p:cNvSpPr txBox="1"/>
          <p:nvPr/>
        </p:nvSpPr>
        <p:spPr>
          <a:xfrm>
            <a:off x="10543032" y="6400800"/>
            <a:ext cx="914400" cy="228600"/>
          </a:xfrm>
          <a:prstGeom prst="rect">
            <a:avLst/>
          </a:prstGeom>
          <a:noFill/>
        </p:spPr>
        <p:txBody>
          <a:bodyPr wrap="square" anchor="t" lIns="0" rIns="0" tIns="0" bIns="0">
            <a:spAutoFit/>
          </a:bodyPr>
          <a:lstStyle/>
          <a:p>
            <a:pPr algn="r">
              <a:lnSpc>
                <a:spcPct val="120000"/>
              </a:lnSpc>
            </a:pPr>
            <a:r>
              <a:rPr sz="900" b="0" i="0">
                <a:solidFill>
                  <a:srgbClr val="8C918A"/>
                </a:solidFill>
                <a:latin typeface="Segoe UI"/>
              </a:rPr>
              <a:t>12</a:t>
            </a:r>
          </a:p>
        </p:txBody>
      </p:sp>
      <p:cxnSp>
        <p:nvCxnSpPr>
          <p:cNvPr id="8" name="Connector 7"/>
          <p:cNvCxnSpPr/>
          <p:nvPr/>
        </p:nvCxnSpPr>
        <p:spPr>
          <a:xfrm>
            <a:off x="731520" y="1737360"/>
            <a:ext cx="10725912" cy="0"/>
          </a:xfrm>
          <a:prstGeom prst="line">
            <a:avLst/>
          </a:prstGeom>
          <a:ln w="12700">
            <a:solidFill>
              <a:srgbClr val="5B625C"/>
            </a:solidFill>
          </a:ln>
        </p:spPr>
      </p:cxnSp>
      <p:sp>
        <p:nvSpPr>
          <p:cNvPr id="9" name="TextBox 8"/>
          <p:cNvSpPr txBox="1"/>
          <p:nvPr/>
        </p:nvSpPr>
        <p:spPr>
          <a:xfrm>
            <a:off x="804672" y="1737360"/>
            <a:ext cx="2368296" cy="393192"/>
          </a:xfrm>
          <a:prstGeom prst="rect">
            <a:avLst/>
          </a:prstGeom>
          <a:noFill/>
        </p:spPr>
        <p:txBody>
          <a:bodyPr wrap="square" anchor="ctr" lIns="0" rIns="0" tIns="0" bIns="0">
            <a:spAutoFit/>
          </a:bodyPr>
          <a:lstStyle/>
          <a:p>
            <a:pPr algn="l">
              <a:lnSpc>
                <a:spcPct val="105000"/>
              </a:lnSpc>
            </a:pPr>
            <a:r>
              <a:rPr sz="950" b="1" i="0">
                <a:solidFill>
                  <a:srgbClr val="3E5F5A"/>
                </a:solidFill>
                <a:latin typeface="Segoe UI"/>
              </a:rPr>
              <a:t>Approach</a:t>
            </a:r>
          </a:p>
        </p:txBody>
      </p:sp>
      <p:sp>
        <p:nvSpPr>
          <p:cNvPr id="10" name="TextBox 9"/>
          <p:cNvSpPr txBox="1"/>
          <p:nvPr/>
        </p:nvSpPr>
        <p:spPr>
          <a:xfrm>
            <a:off x="3319272" y="1737360"/>
            <a:ext cx="1362456" cy="393192"/>
          </a:xfrm>
          <a:prstGeom prst="rect">
            <a:avLst/>
          </a:prstGeom>
          <a:noFill/>
        </p:spPr>
        <p:txBody>
          <a:bodyPr wrap="square" anchor="ctr" lIns="0" rIns="0" tIns="0" bIns="0">
            <a:spAutoFit/>
          </a:bodyPr>
          <a:lstStyle/>
          <a:p>
            <a:pPr algn="l">
              <a:lnSpc>
                <a:spcPct val="105000"/>
              </a:lnSpc>
            </a:pPr>
            <a:r>
              <a:rPr sz="950" b="1" i="0">
                <a:solidFill>
                  <a:srgbClr val="3E5F5A"/>
                </a:solidFill>
                <a:latin typeface="Segoe UI"/>
              </a:rPr>
              <a:t>Tamper check</a:t>
            </a:r>
          </a:p>
        </p:txBody>
      </p:sp>
      <p:sp>
        <p:nvSpPr>
          <p:cNvPr id="11" name="TextBox 10"/>
          <p:cNvSpPr txBox="1"/>
          <p:nvPr/>
        </p:nvSpPr>
        <p:spPr>
          <a:xfrm>
            <a:off x="4828032" y="1737360"/>
            <a:ext cx="1865376" cy="393192"/>
          </a:xfrm>
          <a:prstGeom prst="rect">
            <a:avLst/>
          </a:prstGeom>
          <a:noFill/>
        </p:spPr>
        <p:txBody>
          <a:bodyPr wrap="square" anchor="ctr" lIns="0" rIns="0" tIns="0" bIns="0">
            <a:spAutoFit/>
          </a:bodyPr>
          <a:lstStyle/>
          <a:p>
            <a:pPr algn="l">
              <a:lnSpc>
                <a:spcPct val="105000"/>
              </a:lnSpc>
            </a:pPr>
            <a:r>
              <a:rPr sz="950" b="1" i="0">
                <a:solidFill>
                  <a:srgbClr val="3E5F5A"/>
                </a:solidFill>
                <a:latin typeface="Segoe UI"/>
              </a:rPr>
              <a:t>Filters poisoned updates</a:t>
            </a:r>
          </a:p>
        </p:txBody>
      </p:sp>
      <p:sp>
        <p:nvSpPr>
          <p:cNvPr id="12" name="TextBox 11"/>
          <p:cNvSpPr txBox="1"/>
          <p:nvPr/>
        </p:nvSpPr>
        <p:spPr>
          <a:xfrm>
            <a:off x="6839712" y="1737360"/>
            <a:ext cx="2231136" cy="393192"/>
          </a:xfrm>
          <a:prstGeom prst="rect">
            <a:avLst/>
          </a:prstGeom>
          <a:noFill/>
        </p:spPr>
        <p:txBody>
          <a:bodyPr wrap="square" anchor="ctr" lIns="0" rIns="0" tIns="0" bIns="0">
            <a:spAutoFit/>
          </a:bodyPr>
          <a:lstStyle/>
          <a:p>
            <a:pPr algn="l">
              <a:lnSpc>
                <a:spcPct val="105000"/>
              </a:lnSpc>
            </a:pPr>
            <a:r>
              <a:rPr sz="950" b="1" i="0">
                <a:solidFill>
                  <a:srgbClr val="3E5F5A"/>
                </a:solidFill>
                <a:latin typeface="Segoe UI"/>
              </a:rPr>
              <a:t>When / cost</a:t>
            </a:r>
          </a:p>
        </p:txBody>
      </p:sp>
      <p:sp>
        <p:nvSpPr>
          <p:cNvPr id="13" name="TextBox 12"/>
          <p:cNvSpPr txBox="1"/>
          <p:nvPr/>
        </p:nvSpPr>
        <p:spPr>
          <a:xfrm>
            <a:off x="9217152" y="1737360"/>
            <a:ext cx="2167128" cy="393192"/>
          </a:xfrm>
          <a:prstGeom prst="rect">
            <a:avLst/>
          </a:prstGeom>
          <a:noFill/>
        </p:spPr>
        <p:txBody>
          <a:bodyPr wrap="square" anchor="ctr" lIns="0" rIns="0" tIns="0" bIns="0">
            <a:spAutoFit/>
          </a:bodyPr>
          <a:lstStyle/>
          <a:p>
            <a:pPr algn="l">
              <a:lnSpc>
                <a:spcPct val="105000"/>
              </a:lnSpc>
            </a:pPr>
            <a:r>
              <a:rPr sz="950" b="1" i="0">
                <a:solidFill>
                  <a:srgbClr val="3E5F5A"/>
                </a:solidFill>
                <a:latin typeface="Segoe UI"/>
              </a:rPr>
              <a:t>Evidence here</a:t>
            </a:r>
          </a:p>
        </p:txBody>
      </p:sp>
      <p:cxnSp>
        <p:nvCxnSpPr>
          <p:cNvPr id="14" name="Connector 13"/>
          <p:cNvCxnSpPr/>
          <p:nvPr/>
        </p:nvCxnSpPr>
        <p:spPr>
          <a:xfrm>
            <a:off x="731520" y="2130552"/>
            <a:ext cx="10725912" cy="0"/>
          </a:xfrm>
          <a:prstGeom prst="line">
            <a:avLst/>
          </a:prstGeom>
          <a:ln w="12700">
            <a:solidFill>
              <a:srgbClr val="5B625C"/>
            </a:solidFill>
          </a:ln>
        </p:spPr>
      </p:cxnSp>
      <p:sp>
        <p:nvSpPr>
          <p:cNvPr id="15" name="TextBox 14"/>
          <p:cNvSpPr txBox="1"/>
          <p:nvPr/>
        </p:nvSpPr>
        <p:spPr>
          <a:xfrm>
            <a:off x="804672" y="2130552"/>
            <a:ext cx="2368296" cy="393192"/>
          </a:xfrm>
          <a:prstGeom prst="rect">
            <a:avLst/>
          </a:prstGeom>
          <a:noFill/>
        </p:spPr>
        <p:txBody>
          <a:bodyPr wrap="square" anchor="ctr" lIns="0" rIns="0" tIns="0" bIns="0">
            <a:spAutoFit/>
          </a:bodyPr>
          <a:lstStyle/>
          <a:p>
            <a:pPr algn="l">
              <a:lnSpc>
                <a:spcPct val="105000"/>
              </a:lnSpc>
            </a:pPr>
            <a:r>
              <a:rPr sz="1050" b="1" i="0">
                <a:solidFill>
                  <a:srgbClr val="1F2421"/>
                </a:solidFill>
                <a:latin typeface="Segoe UI"/>
              </a:rPr>
              <a:t>Plain FedAvg (McMahan 2017)</a:t>
            </a:r>
          </a:p>
        </p:txBody>
      </p:sp>
      <p:sp>
        <p:nvSpPr>
          <p:cNvPr id="16" name="TextBox 15"/>
          <p:cNvSpPr txBox="1"/>
          <p:nvPr/>
        </p:nvSpPr>
        <p:spPr>
          <a:xfrm>
            <a:off x="3319272" y="2130552"/>
            <a:ext cx="1362456" cy="393192"/>
          </a:xfrm>
          <a:prstGeom prst="rect">
            <a:avLst/>
          </a:prstGeom>
          <a:noFill/>
        </p:spPr>
        <p:txBody>
          <a:bodyPr wrap="square" anchor="ctr" lIns="0" rIns="0" tIns="0" bIns="0">
            <a:spAutoFit/>
          </a:bodyPr>
          <a:lstStyle/>
          <a:p>
            <a:pPr algn="l">
              <a:lnSpc>
                <a:spcPct val="105000"/>
              </a:lnSpc>
            </a:pPr>
            <a:r>
              <a:rPr sz="1050" b="0" i="0">
                <a:solidFill>
                  <a:srgbClr val="1F2421"/>
                </a:solidFill>
                <a:latin typeface="Segoe UI"/>
              </a:rPr>
              <a:t>No</a:t>
            </a:r>
          </a:p>
        </p:txBody>
      </p:sp>
      <p:sp>
        <p:nvSpPr>
          <p:cNvPr id="17" name="TextBox 16"/>
          <p:cNvSpPr txBox="1"/>
          <p:nvPr/>
        </p:nvSpPr>
        <p:spPr>
          <a:xfrm>
            <a:off x="4828032" y="2130552"/>
            <a:ext cx="1865376" cy="393192"/>
          </a:xfrm>
          <a:prstGeom prst="rect">
            <a:avLst/>
          </a:prstGeom>
          <a:noFill/>
        </p:spPr>
        <p:txBody>
          <a:bodyPr wrap="square" anchor="ctr" lIns="0" rIns="0" tIns="0" bIns="0">
            <a:spAutoFit/>
          </a:bodyPr>
          <a:lstStyle/>
          <a:p>
            <a:pPr algn="l">
              <a:lnSpc>
                <a:spcPct val="105000"/>
              </a:lnSpc>
            </a:pPr>
            <a:r>
              <a:rPr sz="1050" b="0" i="0">
                <a:solidFill>
                  <a:srgbClr val="1F2421"/>
                </a:solidFill>
                <a:latin typeface="Segoe UI"/>
              </a:rPr>
              <a:t>No</a:t>
            </a:r>
          </a:p>
        </p:txBody>
      </p:sp>
      <p:sp>
        <p:nvSpPr>
          <p:cNvPr id="18" name="TextBox 17"/>
          <p:cNvSpPr txBox="1"/>
          <p:nvPr/>
        </p:nvSpPr>
        <p:spPr>
          <a:xfrm>
            <a:off x="6839712" y="2130552"/>
            <a:ext cx="2231136" cy="393192"/>
          </a:xfrm>
          <a:prstGeom prst="rect">
            <a:avLst/>
          </a:prstGeom>
          <a:noFill/>
        </p:spPr>
        <p:txBody>
          <a:bodyPr wrap="square" anchor="ctr" lIns="0" rIns="0" tIns="0" bIns="0">
            <a:spAutoFit/>
          </a:bodyPr>
          <a:lstStyle/>
          <a:p>
            <a:pPr algn="l">
              <a:lnSpc>
                <a:spcPct val="105000"/>
              </a:lnSpc>
            </a:pPr>
            <a:r>
              <a:rPr sz="1050" b="0" i="0">
                <a:solidFill>
                  <a:srgbClr val="1F2421"/>
                </a:solidFill>
                <a:latin typeface="Segoe UI"/>
              </a:rPr>
              <a:t>—</a:t>
            </a:r>
          </a:p>
        </p:txBody>
      </p:sp>
      <p:sp>
        <p:nvSpPr>
          <p:cNvPr id="19" name="TextBox 18"/>
          <p:cNvSpPr txBox="1"/>
          <p:nvPr/>
        </p:nvSpPr>
        <p:spPr>
          <a:xfrm>
            <a:off x="9217152" y="2130552"/>
            <a:ext cx="2167128" cy="393192"/>
          </a:xfrm>
          <a:prstGeom prst="rect">
            <a:avLst/>
          </a:prstGeom>
          <a:noFill/>
        </p:spPr>
        <p:txBody>
          <a:bodyPr wrap="square" anchor="ctr" lIns="0" rIns="0" tIns="0" bIns="0">
            <a:spAutoFit/>
          </a:bodyPr>
          <a:lstStyle/>
          <a:p>
            <a:pPr algn="l">
              <a:lnSpc>
                <a:spcPct val="105000"/>
              </a:lnSpc>
            </a:pPr>
            <a:r>
              <a:rPr sz="1050" b="0" i="0">
                <a:solidFill>
                  <a:srgbClr val="1F2421"/>
                </a:solidFill>
                <a:latin typeface="Segoe UI"/>
              </a:rPr>
              <a:t>Label flip: 92.4% FLNET, 68.8% NSL</a:t>
            </a:r>
          </a:p>
        </p:txBody>
      </p:sp>
      <p:cxnSp>
        <p:nvCxnSpPr>
          <p:cNvPr id="20" name="Connector 19"/>
          <p:cNvCxnSpPr/>
          <p:nvPr/>
        </p:nvCxnSpPr>
        <p:spPr>
          <a:xfrm>
            <a:off x="731520" y="2523744"/>
            <a:ext cx="10725912" cy="0"/>
          </a:xfrm>
          <a:prstGeom prst="line">
            <a:avLst/>
          </a:prstGeom>
          <a:ln w="6350">
            <a:solidFill>
              <a:srgbClr val="DDDAD2"/>
            </a:solidFill>
          </a:ln>
        </p:spPr>
      </p:cxnSp>
      <p:sp>
        <p:nvSpPr>
          <p:cNvPr id="21" name="TextBox 20"/>
          <p:cNvSpPr txBox="1"/>
          <p:nvPr/>
        </p:nvSpPr>
        <p:spPr>
          <a:xfrm>
            <a:off x="804672" y="2523744"/>
            <a:ext cx="2368296" cy="393192"/>
          </a:xfrm>
          <a:prstGeom prst="rect">
            <a:avLst/>
          </a:prstGeom>
          <a:noFill/>
        </p:spPr>
        <p:txBody>
          <a:bodyPr wrap="square" anchor="ctr" lIns="0" rIns="0" tIns="0" bIns="0">
            <a:spAutoFit/>
          </a:bodyPr>
          <a:lstStyle/>
          <a:p>
            <a:pPr algn="l">
              <a:lnSpc>
                <a:spcPct val="105000"/>
              </a:lnSpc>
            </a:pPr>
            <a:r>
              <a:rPr sz="1050" b="1" i="0">
                <a:solidFill>
                  <a:srgbClr val="1F2421"/>
                </a:solidFill>
                <a:latin typeface="Segoe UI"/>
              </a:rPr>
              <a:t>HTTP + JSON transfer</a:t>
            </a:r>
          </a:p>
        </p:txBody>
      </p:sp>
      <p:sp>
        <p:nvSpPr>
          <p:cNvPr id="22" name="TextBox 21"/>
          <p:cNvSpPr txBox="1"/>
          <p:nvPr/>
        </p:nvSpPr>
        <p:spPr>
          <a:xfrm>
            <a:off x="3319272" y="2523744"/>
            <a:ext cx="1362456" cy="393192"/>
          </a:xfrm>
          <a:prstGeom prst="rect">
            <a:avLst/>
          </a:prstGeom>
          <a:noFill/>
        </p:spPr>
        <p:txBody>
          <a:bodyPr wrap="square" anchor="ctr" lIns="0" rIns="0" tIns="0" bIns="0">
            <a:spAutoFit/>
          </a:bodyPr>
          <a:lstStyle/>
          <a:p>
            <a:pPr algn="l">
              <a:lnSpc>
                <a:spcPct val="105000"/>
              </a:lnSpc>
            </a:pPr>
            <a:r>
              <a:rPr sz="1050" b="0" i="0">
                <a:solidFill>
                  <a:srgbClr val="1F2421"/>
                </a:solidFill>
                <a:latin typeface="Segoe UI"/>
              </a:rPr>
              <a:t>Channel only (TLS)</a:t>
            </a:r>
          </a:p>
        </p:txBody>
      </p:sp>
      <p:sp>
        <p:nvSpPr>
          <p:cNvPr id="23" name="TextBox 22"/>
          <p:cNvSpPr txBox="1"/>
          <p:nvPr/>
        </p:nvSpPr>
        <p:spPr>
          <a:xfrm>
            <a:off x="4828032" y="2523744"/>
            <a:ext cx="1865376" cy="393192"/>
          </a:xfrm>
          <a:prstGeom prst="rect">
            <a:avLst/>
          </a:prstGeom>
          <a:noFill/>
        </p:spPr>
        <p:txBody>
          <a:bodyPr wrap="square" anchor="ctr" lIns="0" rIns="0" tIns="0" bIns="0">
            <a:spAutoFit/>
          </a:bodyPr>
          <a:lstStyle/>
          <a:p>
            <a:pPr algn="l">
              <a:lnSpc>
                <a:spcPct val="105000"/>
              </a:lnSpc>
            </a:pPr>
            <a:r>
              <a:rPr sz="1050" b="0" i="0">
                <a:solidFill>
                  <a:srgbClr val="1F2421"/>
                </a:solidFill>
                <a:latin typeface="Segoe UI"/>
              </a:rPr>
              <a:t>No</a:t>
            </a:r>
          </a:p>
        </p:txBody>
      </p:sp>
      <p:sp>
        <p:nvSpPr>
          <p:cNvPr id="24" name="TextBox 23"/>
          <p:cNvSpPr txBox="1"/>
          <p:nvPr/>
        </p:nvSpPr>
        <p:spPr>
          <a:xfrm>
            <a:off x="6839712" y="2523744"/>
            <a:ext cx="2231136" cy="393192"/>
          </a:xfrm>
          <a:prstGeom prst="rect">
            <a:avLst/>
          </a:prstGeom>
          <a:noFill/>
        </p:spPr>
        <p:txBody>
          <a:bodyPr wrap="square" anchor="ctr" lIns="0" rIns="0" tIns="0" bIns="0">
            <a:spAutoFit/>
          </a:bodyPr>
          <a:lstStyle/>
          <a:p>
            <a:pPr algn="l">
              <a:lnSpc>
                <a:spcPct val="105000"/>
              </a:lnSpc>
            </a:pPr>
            <a:r>
              <a:rPr sz="1050" b="0" i="0">
                <a:solidFill>
                  <a:srgbClr val="1F2421"/>
                </a:solidFill>
                <a:latin typeface="Segoe UI"/>
              </a:rPr>
              <a:t>5.6× message size</a:t>
            </a:r>
          </a:p>
        </p:txBody>
      </p:sp>
      <p:sp>
        <p:nvSpPr>
          <p:cNvPr id="25" name="TextBox 24"/>
          <p:cNvSpPr txBox="1"/>
          <p:nvPr/>
        </p:nvSpPr>
        <p:spPr>
          <a:xfrm>
            <a:off x="9217152" y="2523744"/>
            <a:ext cx="2167128" cy="393192"/>
          </a:xfrm>
          <a:prstGeom prst="rect">
            <a:avLst/>
          </a:prstGeom>
          <a:noFill/>
        </p:spPr>
        <p:txBody>
          <a:bodyPr wrap="square" anchor="ctr" lIns="0" rIns="0" tIns="0" bIns="0">
            <a:spAutoFit/>
          </a:bodyPr>
          <a:lstStyle/>
          <a:p>
            <a:pPr algn="l">
              <a:lnSpc>
                <a:spcPct val="105000"/>
              </a:lnSpc>
            </a:pPr>
            <a:r>
              <a:rPr sz="1050" b="0" i="0">
                <a:solidFill>
                  <a:srgbClr val="1F2421"/>
                </a:solidFill>
                <a:latin typeface="Segoe UI"/>
              </a:rPr>
              <a:t>Measured: 1,316 KB / update</a:t>
            </a:r>
          </a:p>
        </p:txBody>
      </p:sp>
      <p:cxnSp>
        <p:nvCxnSpPr>
          <p:cNvPr id="26" name="Connector 25"/>
          <p:cNvCxnSpPr/>
          <p:nvPr/>
        </p:nvCxnSpPr>
        <p:spPr>
          <a:xfrm>
            <a:off x="731520" y="2916936"/>
            <a:ext cx="10725912" cy="0"/>
          </a:xfrm>
          <a:prstGeom prst="line">
            <a:avLst/>
          </a:prstGeom>
          <a:ln w="6350">
            <a:solidFill>
              <a:srgbClr val="DDDAD2"/>
            </a:solidFill>
          </a:ln>
        </p:spPr>
      </p:cxnSp>
      <p:sp>
        <p:nvSpPr>
          <p:cNvPr id="27" name="TextBox 26"/>
          <p:cNvSpPr txBox="1"/>
          <p:nvPr/>
        </p:nvSpPr>
        <p:spPr>
          <a:xfrm>
            <a:off x="804672" y="2916936"/>
            <a:ext cx="2368296" cy="393192"/>
          </a:xfrm>
          <a:prstGeom prst="rect">
            <a:avLst/>
          </a:prstGeom>
          <a:noFill/>
        </p:spPr>
        <p:txBody>
          <a:bodyPr wrap="square" anchor="ctr" lIns="0" rIns="0" tIns="0" bIns="0">
            <a:spAutoFit/>
          </a:bodyPr>
          <a:lstStyle/>
          <a:p>
            <a:pPr algn="l">
              <a:lnSpc>
                <a:spcPct val="105000"/>
              </a:lnSpc>
            </a:pPr>
            <a:r>
              <a:rPr sz="1050" b="1" i="0">
                <a:solidFill>
                  <a:srgbClr val="1F2421"/>
                </a:solidFill>
                <a:latin typeface="Segoe UI"/>
              </a:rPr>
              <a:t>Krum (Blanchard 2017)</a:t>
            </a:r>
          </a:p>
        </p:txBody>
      </p:sp>
      <p:sp>
        <p:nvSpPr>
          <p:cNvPr id="28" name="TextBox 27"/>
          <p:cNvSpPr txBox="1"/>
          <p:nvPr/>
        </p:nvSpPr>
        <p:spPr>
          <a:xfrm>
            <a:off x="3319272" y="2916936"/>
            <a:ext cx="1362456" cy="393192"/>
          </a:xfrm>
          <a:prstGeom prst="rect">
            <a:avLst/>
          </a:prstGeom>
          <a:noFill/>
        </p:spPr>
        <p:txBody>
          <a:bodyPr wrap="square" anchor="ctr" lIns="0" rIns="0" tIns="0" bIns="0">
            <a:spAutoFit/>
          </a:bodyPr>
          <a:lstStyle/>
          <a:p>
            <a:pPr algn="l">
              <a:lnSpc>
                <a:spcPct val="105000"/>
              </a:lnSpc>
            </a:pPr>
            <a:r>
              <a:rPr sz="1050" b="0" i="0">
                <a:solidFill>
                  <a:srgbClr val="1F2421"/>
                </a:solidFill>
                <a:latin typeface="Segoe UI"/>
              </a:rPr>
              <a:t>No</a:t>
            </a:r>
          </a:p>
        </p:txBody>
      </p:sp>
      <p:sp>
        <p:nvSpPr>
          <p:cNvPr id="29" name="TextBox 28"/>
          <p:cNvSpPr txBox="1"/>
          <p:nvPr/>
        </p:nvSpPr>
        <p:spPr>
          <a:xfrm>
            <a:off x="4828032" y="2916936"/>
            <a:ext cx="1865376" cy="393192"/>
          </a:xfrm>
          <a:prstGeom prst="rect">
            <a:avLst/>
          </a:prstGeom>
          <a:noFill/>
        </p:spPr>
        <p:txBody>
          <a:bodyPr wrap="square" anchor="ctr" lIns="0" rIns="0" tIns="0" bIns="0">
            <a:spAutoFit/>
          </a:bodyPr>
          <a:lstStyle/>
          <a:p>
            <a:pPr algn="l">
              <a:lnSpc>
                <a:spcPct val="105000"/>
              </a:lnSpc>
            </a:pPr>
            <a:r>
              <a:rPr sz="1050" b="0" i="0">
                <a:solidFill>
                  <a:srgbClr val="1F2421"/>
                </a:solidFill>
                <a:latin typeface="Segoe UI"/>
              </a:rPr>
              <a:t>Yes, every round</a:t>
            </a:r>
          </a:p>
        </p:txBody>
      </p:sp>
      <p:sp>
        <p:nvSpPr>
          <p:cNvPr id="30" name="TextBox 29"/>
          <p:cNvSpPr txBox="1"/>
          <p:nvPr/>
        </p:nvSpPr>
        <p:spPr>
          <a:xfrm>
            <a:off x="6839712" y="2916936"/>
            <a:ext cx="2231136" cy="393192"/>
          </a:xfrm>
          <a:prstGeom prst="rect">
            <a:avLst/>
          </a:prstGeom>
          <a:noFill/>
        </p:spPr>
        <p:txBody>
          <a:bodyPr wrap="square" anchor="ctr" lIns="0" rIns="0" tIns="0" bIns="0">
            <a:spAutoFit/>
          </a:bodyPr>
          <a:lstStyle/>
          <a:p>
            <a:pPr algn="l">
              <a:lnSpc>
                <a:spcPct val="105000"/>
              </a:lnSpc>
            </a:pPr>
            <a:r>
              <a:rPr sz="1050" b="0" i="0">
                <a:solidFill>
                  <a:srgbClr val="1F2421"/>
                </a:solidFill>
                <a:latin typeface="Segoe UI"/>
              </a:rPr>
              <a:t>After full receipt · O(n²·d)</a:t>
            </a:r>
          </a:p>
        </p:txBody>
      </p:sp>
      <p:sp>
        <p:nvSpPr>
          <p:cNvPr id="31" name="TextBox 30"/>
          <p:cNvSpPr txBox="1"/>
          <p:nvPr/>
        </p:nvSpPr>
        <p:spPr>
          <a:xfrm>
            <a:off x="9217152" y="2916936"/>
            <a:ext cx="2167128" cy="393192"/>
          </a:xfrm>
          <a:prstGeom prst="rect">
            <a:avLst/>
          </a:prstGeom>
          <a:noFill/>
        </p:spPr>
        <p:txBody>
          <a:bodyPr wrap="square" anchor="ctr" lIns="0" rIns="0" tIns="0" bIns="0">
            <a:spAutoFit/>
          </a:bodyPr>
          <a:lstStyle/>
          <a:p>
            <a:pPr algn="l">
              <a:lnSpc>
                <a:spcPct val="105000"/>
              </a:lnSpc>
            </a:pPr>
            <a:r>
              <a:rPr sz="1050" b="0" i="0">
                <a:solidFill>
                  <a:srgbClr val="1F2421"/>
                </a:solidFill>
                <a:latin typeface="Segoe UI"/>
              </a:rPr>
              <a:t>Literature (not implemented)</a:t>
            </a:r>
          </a:p>
        </p:txBody>
      </p:sp>
      <p:cxnSp>
        <p:nvCxnSpPr>
          <p:cNvPr id="32" name="Connector 31"/>
          <p:cNvCxnSpPr/>
          <p:nvPr/>
        </p:nvCxnSpPr>
        <p:spPr>
          <a:xfrm>
            <a:off x="731520" y="3310128"/>
            <a:ext cx="10725912" cy="0"/>
          </a:xfrm>
          <a:prstGeom prst="line">
            <a:avLst/>
          </a:prstGeom>
          <a:ln w="6350">
            <a:solidFill>
              <a:srgbClr val="DDDAD2"/>
            </a:solidFill>
          </a:ln>
        </p:spPr>
      </p:cxnSp>
      <p:sp>
        <p:nvSpPr>
          <p:cNvPr id="33" name="TextBox 32"/>
          <p:cNvSpPr txBox="1"/>
          <p:nvPr/>
        </p:nvSpPr>
        <p:spPr>
          <a:xfrm>
            <a:off x="804672" y="3310128"/>
            <a:ext cx="2368296" cy="393192"/>
          </a:xfrm>
          <a:prstGeom prst="rect">
            <a:avLst/>
          </a:prstGeom>
          <a:noFill/>
        </p:spPr>
        <p:txBody>
          <a:bodyPr wrap="square" anchor="ctr" lIns="0" rIns="0" tIns="0" bIns="0">
            <a:spAutoFit/>
          </a:bodyPr>
          <a:lstStyle/>
          <a:p>
            <a:pPr algn="l">
              <a:lnSpc>
                <a:spcPct val="105000"/>
              </a:lnSpc>
            </a:pPr>
            <a:r>
              <a:rPr sz="1050" b="1" i="0">
                <a:solidFill>
                  <a:srgbClr val="1F2421"/>
                </a:solidFill>
                <a:latin typeface="Segoe UI"/>
              </a:rPr>
              <a:t>Trimmed mean (Yin 2018)</a:t>
            </a:r>
          </a:p>
        </p:txBody>
      </p:sp>
      <p:sp>
        <p:nvSpPr>
          <p:cNvPr id="34" name="TextBox 33"/>
          <p:cNvSpPr txBox="1"/>
          <p:nvPr/>
        </p:nvSpPr>
        <p:spPr>
          <a:xfrm>
            <a:off x="3319272" y="3310128"/>
            <a:ext cx="1362456" cy="393192"/>
          </a:xfrm>
          <a:prstGeom prst="rect">
            <a:avLst/>
          </a:prstGeom>
          <a:noFill/>
        </p:spPr>
        <p:txBody>
          <a:bodyPr wrap="square" anchor="ctr" lIns="0" rIns="0" tIns="0" bIns="0">
            <a:spAutoFit/>
          </a:bodyPr>
          <a:lstStyle/>
          <a:p>
            <a:pPr algn="l">
              <a:lnSpc>
                <a:spcPct val="105000"/>
              </a:lnSpc>
            </a:pPr>
            <a:r>
              <a:rPr sz="1050" b="0" i="0">
                <a:solidFill>
                  <a:srgbClr val="1F2421"/>
                </a:solidFill>
                <a:latin typeface="Segoe UI"/>
              </a:rPr>
              <a:t>No</a:t>
            </a:r>
          </a:p>
        </p:txBody>
      </p:sp>
      <p:sp>
        <p:nvSpPr>
          <p:cNvPr id="35" name="TextBox 34"/>
          <p:cNvSpPr txBox="1"/>
          <p:nvPr/>
        </p:nvSpPr>
        <p:spPr>
          <a:xfrm>
            <a:off x="4828032" y="3310128"/>
            <a:ext cx="1865376" cy="393192"/>
          </a:xfrm>
          <a:prstGeom prst="rect">
            <a:avLst/>
          </a:prstGeom>
          <a:noFill/>
        </p:spPr>
        <p:txBody>
          <a:bodyPr wrap="square" anchor="ctr" lIns="0" rIns="0" tIns="0" bIns="0">
            <a:spAutoFit/>
          </a:bodyPr>
          <a:lstStyle/>
          <a:p>
            <a:pPr algn="l">
              <a:lnSpc>
                <a:spcPct val="105000"/>
              </a:lnSpc>
            </a:pPr>
            <a:r>
              <a:rPr sz="1050" b="0" i="0">
                <a:solidFill>
                  <a:srgbClr val="1F2421"/>
                </a:solidFill>
                <a:latin typeface="Segoe UI"/>
              </a:rPr>
              <a:t>Yes, every round</a:t>
            </a:r>
          </a:p>
        </p:txBody>
      </p:sp>
      <p:sp>
        <p:nvSpPr>
          <p:cNvPr id="36" name="TextBox 35"/>
          <p:cNvSpPr txBox="1"/>
          <p:nvPr/>
        </p:nvSpPr>
        <p:spPr>
          <a:xfrm>
            <a:off x="6839712" y="3310128"/>
            <a:ext cx="2231136" cy="393192"/>
          </a:xfrm>
          <a:prstGeom prst="rect">
            <a:avLst/>
          </a:prstGeom>
          <a:noFill/>
        </p:spPr>
        <p:txBody>
          <a:bodyPr wrap="square" anchor="ctr" lIns="0" rIns="0" tIns="0" bIns="0">
            <a:spAutoFit/>
          </a:bodyPr>
          <a:lstStyle/>
          <a:p>
            <a:pPr algn="l">
              <a:lnSpc>
                <a:spcPct val="105000"/>
              </a:lnSpc>
            </a:pPr>
            <a:r>
              <a:rPr sz="1050" b="0" i="0">
                <a:solidFill>
                  <a:srgbClr val="1F2421"/>
                </a:solidFill>
                <a:latin typeface="Segoe UI"/>
              </a:rPr>
              <a:t>After full receipt · O(n·d·log n)</a:t>
            </a:r>
          </a:p>
        </p:txBody>
      </p:sp>
      <p:sp>
        <p:nvSpPr>
          <p:cNvPr id="37" name="TextBox 36"/>
          <p:cNvSpPr txBox="1"/>
          <p:nvPr/>
        </p:nvSpPr>
        <p:spPr>
          <a:xfrm>
            <a:off x="9217152" y="3310128"/>
            <a:ext cx="2167128" cy="393192"/>
          </a:xfrm>
          <a:prstGeom prst="rect">
            <a:avLst/>
          </a:prstGeom>
          <a:noFill/>
        </p:spPr>
        <p:txBody>
          <a:bodyPr wrap="square" anchor="ctr" lIns="0" rIns="0" tIns="0" bIns="0">
            <a:spAutoFit/>
          </a:bodyPr>
          <a:lstStyle/>
          <a:p>
            <a:pPr algn="l">
              <a:lnSpc>
                <a:spcPct val="105000"/>
              </a:lnSpc>
            </a:pPr>
            <a:r>
              <a:rPr sz="1050" b="0" i="0">
                <a:solidFill>
                  <a:srgbClr val="1F2421"/>
                </a:solidFill>
                <a:latin typeface="Segoe UI"/>
              </a:rPr>
              <a:t>Used inside our second check</a:t>
            </a:r>
          </a:p>
        </p:txBody>
      </p:sp>
      <p:cxnSp>
        <p:nvCxnSpPr>
          <p:cNvPr id="38" name="Connector 37"/>
          <p:cNvCxnSpPr/>
          <p:nvPr/>
        </p:nvCxnSpPr>
        <p:spPr>
          <a:xfrm>
            <a:off x="731520" y="3703320"/>
            <a:ext cx="10725912" cy="0"/>
          </a:xfrm>
          <a:prstGeom prst="line">
            <a:avLst/>
          </a:prstGeom>
          <a:ln w="6350">
            <a:solidFill>
              <a:srgbClr val="DDDAD2"/>
            </a:solidFill>
          </a:ln>
        </p:spPr>
      </p:cxnSp>
      <p:sp>
        <p:nvSpPr>
          <p:cNvPr id="39" name="Rectangle 38"/>
          <p:cNvSpPr/>
          <p:nvPr/>
        </p:nvSpPr>
        <p:spPr>
          <a:xfrm>
            <a:off x="731520" y="3703320"/>
            <a:ext cx="10725912" cy="393192"/>
          </a:xfrm>
          <a:prstGeom prst="rect">
            <a:avLst/>
          </a:prstGeom>
          <a:solidFill>
            <a:srgbClr val="E4EB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4672" y="3703320"/>
            <a:ext cx="2368296" cy="393192"/>
          </a:xfrm>
          <a:prstGeom prst="rect">
            <a:avLst/>
          </a:prstGeom>
          <a:noFill/>
        </p:spPr>
        <p:txBody>
          <a:bodyPr wrap="square" anchor="ctr" lIns="0" rIns="0" tIns="0" bIns="0">
            <a:spAutoFit/>
          </a:bodyPr>
          <a:lstStyle/>
          <a:p>
            <a:pPr algn="l">
              <a:lnSpc>
                <a:spcPct val="105000"/>
              </a:lnSpc>
            </a:pPr>
            <a:r>
              <a:rPr sz="1050" b="1" i="0">
                <a:solidFill>
                  <a:srgbClr val="1F2421"/>
                </a:solidFill>
                <a:latin typeface="Segoe UI"/>
              </a:rPr>
              <a:t>Krypsis (ours)</a:t>
            </a:r>
          </a:p>
        </p:txBody>
      </p:sp>
      <p:sp>
        <p:nvSpPr>
          <p:cNvPr id="41" name="TextBox 40"/>
          <p:cNvSpPr txBox="1"/>
          <p:nvPr/>
        </p:nvSpPr>
        <p:spPr>
          <a:xfrm>
            <a:off x="3319272" y="3703320"/>
            <a:ext cx="1362456" cy="393192"/>
          </a:xfrm>
          <a:prstGeom prst="rect">
            <a:avLst/>
          </a:prstGeom>
          <a:noFill/>
        </p:spPr>
        <p:txBody>
          <a:bodyPr wrap="square" anchor="ctr" lIns="0" rIns="0" tIns="0" bIns="0">
            <a:spAutoFit/>
          </a:bodyPr>
          <a:lstStyle/>
          <a:p>
            <a:pPr algn="l">
              <a:lnSpc>
                <a:spcPct val="105000"/>
              </a:lnSpc>
            </a:pPr>
            <a:r>
              <a:rPr sz="1050" b="0" i="0">
                <a:solidFill>
                  <a:srgbClr val="1F2421"/>
                </a:solidFill>
                <a:latin typeface="Segoe UI"/>
              </a:rPr>
              <a:t>Per-client HMAC</a:t>
            </a:r>
          </a:p>
        </p:txBody>
      </p:sp>
      <p:sp>
        <p:nvSpPr>
          <p:cNvPr id="42" name="TextBox 41"/>
          <p:cNvSpPr txBox="1"/>
          <p:nvPr/>
        </p:nvSpPr>
        <p:spPr>
          <a:xfrm>
            <a:off x="4828032" y="3703320"/>
            <a:ext cx="1865376" cy="393192"/>
          </a:xfrm>
          <a:prstGeom prst="rect">
            <a:avLst/>
          </a:prstGeom>
          <a:noFill/>
        </p:spPr>
        <p:txBody>
          <a:bodyPr wrap="square" anchor="ctr" lIns="0" rIns="0" tIns="0" bIns="0">
            <a:spAutoFit/>
          </a:bodyPr>
          <a:lstStyle/>
          <a:p>
            <a:pPr algn="l">
              <a:lnSpc>
                <a:spcPct val="105000"/>
              </a:lnSpc>
            </a:pPr>
            <a:r>
              <a:rPr sz="1050" b="0" i="0">
                <a:solidFill>
                  <a:srgbClr val="1F2421"/>
                </a:solidFill>
                <a:latin typeface="Segoe UI"/>
              </a:rPr>
              <a:t>Yes, cheap filter first</a:t>
            </a:r>
          </a:p>
        </p:txBody>
      </p:sp>
      <p:sp>
        <p:nvSpPr>
          <p:cNvPr id="43" name="TextBox 42"/>
          <p:cNvSpPr txBox="1"/>
          <p:nvPr/>
        </p:nvSpPr>
        <p:spPr>
          <a:xfrm>
            <a:off x="6839712" y="3703320"/>
            <a:ext cx="2231136" cy="393192"/>
          </a:xfrm>
          <a:prstGeom prst="rect">
            <a:avLst/>
          </a:prstGeom>
          <a:noFill/>
        </p:spPr>
        <p:txBody>
          <a:bodyPr wrap="square" anchor="ctr" lIns="0" rIns="0" tIns="0" bIns="0">
            <a:spAutoFit/>
          </a:bodyPr>
          <a:lstStyle/>
          <a:p>
            <a:pPr algn="l">
              <a:lnSpc>
                <a:spcPct val="105000"/>
              </a:lnSpc>
            </a:pPr>
            <a:r>
              <a:rPr sz="1050" b="0" i="0">
                <a:solidFill>
                  <a:srgbClr val="1F2421"/>
                </a:solidFill>
                <a:latin typeface="Segoe UI"/>
              </a:rPr>
              <a:t>Before aggregation · +0.67%</a:t>
            </a:r>
          </a:p>
        </p:txBody>
      </p:sp>
      <p:sp>
        <p:nvSpPr>
          <p:cNvPr id="44" name="TextBox 43"/>
          <p:cNvSpPr txBox="1"/>
          <p:nvPr/>
        </p:nvSpPr>
        <p:spPr>
          <a:xfrm>
            <a:off x="9217152" y="3703320"/>
            <a:ext cx="2167128" cy="393192"/>
          </a:xfrm>
          <a:prstGeom prst="rect">
            <a:avLst/>
          </a:prstGeom>
          <a:noFill/>
        </p:spPr>
        <p:txBody>
          <a:bodyPr wrap="square" anchor="ctr" lIns="0" rIns="0" tIns="0" bIns="0">
            <a:spAutoFit/>
          </a:bodyPr>
          <a:lstStyle/>
          <a:p>
            <a:pPr algn="l">
              <a:lnSpc>
                <a:spcPct val="105000"/>
              </a:lnSpc>
            </a:pPr>
            <a:r>
              <a:rPr sz="1050" b="0" i="0">
                <a:solidFill>
                  <a:srgbClr val="1F2421"/>
                </a:solidFill>
                <a:latin typeface="Segoe UI"/>
              </a:rPr>
              <a:t>Label flip: 99.4% FLNET, 79.2% NSL</a:t>
            </a:r>
          </a:p>
        </p:txBody>
      </p:sp>
      <p:cxnSp>
        <p:nvCxnSpPr>
          <p:cNvPr id="45" name="Connector 44"/>
          <p:cNvCxnSpPr/>
          <p:nvPr/>
        </p:nvCxnSpPr>
        <p:spPr>
          <a:xfrm>
            <a:off x="731520" y="4096512"/>
            <a:ext cx="10725912" cy="0"/>
          </a:xfrm>
          <a:prstGeom prst="line">
            <a:avLst/>
          </a:prstGeom>
          <a:ln w="12700">
            <a:solidFill>
              <a:srgbClr val="5B625C"/>
            </a:solidFill>
          </a:ln>
        </p:spPr>
      </p:cxnSp>
      <p:cxnSp>
        <p:nvCxnSpPr>
          <p:cNvPr id="46" name="Connector 45"/>
          <p:cNvCxnSpPr/>
          <p:nvPr/>
        </p:nvCxnSpPr>
        <p:spPr>
          <a:xfrm>
            <a:off x="731520" y="4206240"/>
            <a:ext cx="10725912" cy="0"/>
          </a:xfrm>
          <a:prstGeom prst="line">
            <a:avLst/>
          </a:prstGeom>
          <a:ln w="12700">
            <a:solidFill>
              <a:srgbClr val="5B625C"/>
            </a:solidFill>
          </a:ln>
        </p:spPr>
      </p:cxnSp>
      <p:sp>
        <p:nvSpPr>
          <p:cNvPr id="47" name="TextBox 46"/>
          <p:cNvSpPr txBox="1"/>
          <p:nvPr/>
        </p:nvSpPr>
        <p:spPr>
          <a:xfrm>
            <a:off x="804672" y="4206240"/>
            <a:ext cx="3264408" cy="347472"/>
          </a:xfrm>
          <a:prstGeom prst="rect">
            <a:avLst/>
          </a:prstGeom>
          <a:noFill/>
        </p:spPr>
        <p:txBody>
          <a:bodyPr wrap="square" anchor="ctr" lIns="0" rIns="0" tIns="0" bIns="0">
            <a:spAutoFit/>
          </a:bodyPr>
          <a:lstStyle/>
          <a:p>
            <a:pPr algn="l">
              <a:lnSpc>
                <a:spcPct val="105000"/>
              </a:lnSpc>
            </a:pPr>
            <a:r>
              <a:rPr sz="950" b="1" i="0">
                <a:solidFill>
                  <a:srgbClr val="3E5F5A"/>
                </a:solidFill>
                <a:latin typeface="Segoe UI"/>
              </a:rPr>
              <a:t>Our setups</a:t>
            </a:r>
          </a:p>
        </p:txBody>
      </p:sp>
      <p:sp>
        <p:nvSpPr>
          <p:cNvPr id="48" name="TextBox 47"/>
          <p:cNvSpPr txBox="1"/>
          <p:nvPr/>
        </p:nvSpPr>
        <p:spPr>
          <a:xfrm>
            <a:off x="4215384" y="4206240"/>
            <a:ext cx="1682496" cy="347472"/>
          </a:xfrm>
          <a:prstGeom prst="rect">
            <a:avLst/>
          </a:prstGeom>
          <a:noFill/>
        </p:spPr>
        <p:txBody>
          <a:bodyPr wrap="square" anchor="ctr" lIns="0" rIns="0" tIns="0" bIns="0">
            <a:spAutoFit/>
          </a:bodyPr>
          <a:lstStyle/>
          <a:p>
            <a:pPr algn="l">
              <a:lnSpc>
                <a:spcPct val="105000"/>
              </a:lnSpc>
            </a:pPr>
            <a:r>
              <a:rPr sz="950" b="1" i="0">
                <a:solidFill>
                  <a:srgbClr val="3E5F5A"/>
                </a:solidFill>
                <a:latin typeface="Segoe UI"/>
              </a:rPr>
              <a:t>No defense</a:t>
            </a:r>
          </a:p>
        </p:txBody>
      </p:sp>
      <p:sp>
        <p:nvSpPr>
          <p:cNvPr id="49" name="TextBox 48"/>
          <p:cNvSpPr txBox="1"/>
          <p:nvPr/>
        </p:nvSpPr>
        <p:spPr>
          <a:xfrm>
            <a:off x="6044184" y="4206240"/>
            <a:ext cx="1682496" cy="347472"/>
          </a:xfrm>
          <a:prstGeom prst="rect">
            <a:avLst/>
          </a:prstGeom>
          <a:noFill/>
        </p:spPr>
        <p:txBody>
          <a:bodyPr wrap="square" anchor="ctr" lIns="0" rIns="0" tIns="0" bIns="0">
            <a:spAutoFit/>
          </a:bodyPr>
          <a:lstStyle/>
          <a:p>
            <a:pPr algn="l">
              <a:lnSpc>
                <a:spcPct val="105000"/>
              </a:lnSpc>
            </a:pPr>
            <a:r>
              <a:rPr sz="950" b="1" i="0">
                <a:solidFill>
                  <a:srgbClr val="3E5F5A"/>
                </a:solidFill>
                <a:latin typeface="Segoe UI"/>
              </a:rPr>
              <a:t>Protocol v1</a:t>
            </a:r>
          </a:p>
        </p:txBody>
      </p:sp>
      <p:sp>
        <p:nvSpPr>
          <p:cNvPr id="50" name="TextBox 49"/>
          <p:cNvSpPr txBox="1"/>
          <p:nvPr/>
        </p:nvSpPr>
        <p:spPr>
          <a:xfrm>
            <a:off x="7872984" y="4206240"/>
            <a:ext cx="1682496" cy="347472"/>
          </a:xfrm>
          <a:prstGeom prst="rect">
            <a:avLst/>
          </a:prstGeom>
          <a:noFill/>
        </p:spPr>
        <p:txBody>
          <a:bodyPr wrap="square" anchor="ctr" lIns="0" rIns="0" tIns="0" bIns="0">
            <a:spAutoFit/>
          </a:bodyPr>
          <a:lstStyle/>
          <a:p>
            <a:pPr algn="l">
              <a:lnSpc>
                <a:spcPct val="105000"/>
              </a:lnSpc>
            </a:pPr>
            <a:r>
              <a:rPr sz="950" b="1" i="0">
                <a:solidFill>
                  <a:srgbClr val="3E5F5A"/>
                </a:solidFill>
                <a:latin typeface="Segoe UI"/>
              </a:rPr>
              <a:t>Protocol v2</a:t>
            </a:r>
          </a:p>
        </p:txBody>
      </p:sp>
      <p:sp>
        <p:nvSpPr>
          <p:cNvPr id="51" name="TextBox 50"/>
          <p:cNvSpPr txBox="1"/>
          <p:nvPr/>
        </p:nvSpPr>
        <p:spPr>
          <a:xfrm>
            <a:off x="9701784" y="4206240"/>
            <a:ext cx="1682496" cy="347472"/>
          </a:xfrm>
          <a:prstGeom prst="rect">
            <a:avLst/>
          </a:prstGeom>
          <a:noFill/>
        </p:spPr>
        <p:txBody>
          <a:bodyPr wrap="square" anchor="ctr" lIns="0" rIns="0" tIns="0" bIns="0">
            <a:spAutoFit/>
          </a:bodyPr>
          <a:lstStyle/>
          <a:p>
            <a:pPr algn="l">
              <a:lnSpc>
                <a:spcPct val="105000"/>
              </a:lnSpc>
            </a:pPr>
            <a:r>
              <a:rPr sz="950" b="1" i="0">
                <a:solidFill>
                  <a:srgbClr val="3E5F5A"/>
                </a:solidFill>
                <a:latin typeface="Segoe UI"/>
              </a:rPr>
              <a:t>v2 Mondrian</a:t>
            </a:r>
          </a:p>
        </p:txBody>
      </p:sp>
      <p:cxnSp>
        <p:nvCxnSpPr>
          <p:cNvPr id="52" name="Connector 51"/>
          <p:cNvCxnSpPr/>
          <p:nvPr/>
        </p:nvCxnSpPr>
        <p:spPr>
          <a:xfrm>
            <a:off x="731520" y="4553712"/>
            <a:ext cx="10725912" cy="0"/>
          </a:xfrm>
          <a:prstGeom prst="line">
            <a:avLst/>
          </a:prstGeom>
          <a:ln w="12700">
            <a:solidFill>
              <a:srgbClr val="5B625C"/>
            </a:solidFill>
          </a:ln>
        </p:spPr>
      </p:cxnSp>
      <p:sp>
        <p:nvSpPr>
          <p:cNvPr id="53" name="TextBox 52"/>
          <p:cNvSpPr txBox="1"/>
          <p:nvPr/>
        </p:nvSpPr>
        <p:spPr>
          <a:xfrm>
            <a:off x="804672" y="4553712"/>
            <a:ext cx="3264408" cy="347472"/>
          </a:xfrm>
          <a:prstGeom prst="rect">
            <a:avLst/>
          </a:prstGeom>
          <a:noFill/>
        </p:spPr>
        <p:txBody>
          <a:bodyPr wrap="square" anchor="ctr" lIns="0" rIns="0" tIns="0" bIns="0">
            <a:spAutoFit/>
          </a:bodyPr>
          <a:lstStyle/>
          <a:p>
            <a:pPr algn="l">
              <a:lnSpc>
                <a:spcPct val="105000"/>
              </a:lnSpc>
            </a:pPr>
            <a:r>
              <a:rPr sz="1050" b="0" i="0">
                <a:solidFill>
                  <a:srgbClr val="1F2421"/>
                </a:solidFill>
                <a:latin typeface="Segoe UI"/>
              </a:rPr>
              <a:t>FLNET2023 · label flip accuracy ↑</a:t>
            </a:r>
          </a:p>
        </p:txBody>
      </p:sp>
      <p:sp>
        <p:nvSpPr>
          <p:cNvPr id="54" name="TextBox 53"/>
          <p:cNvSpPr txBox="1"/>
          <p:nvPr/>
        </p:nvSpPr>
        <p:spPr>
          <a:xfrm>
            <a:off x="4215384" y="4553712"/>
            <a:ext cx="1682496" cy="347472"/>
          </a:xfrm>
          <a:prstGeom prst="rect">
            <a:avLst/>
          </a:prstGeom>
          <a:noFill/>
        </p:spPr>
        <p:txBody>
          <a:bodyPr wrap="square" anchor="ctr" lIns="0" rIns="0" tIns="0" bIns="0">
            <a:spAutoFit/>
          </a:bodyPr>
          <a:lstStyle/>
          <a:p>
            <a:pPr algn="l">
              <a:lnSpc>
                <a:spcPct val="105000"/>
              </a:lnSpc>
            </a:pPr>
            <a:r>
              <a:rPr sz="1050" b="0" i="0">
                <a:solidFill>
                  <a:srgbClr val="1F2421"/>
                </a:solidFill>
                <a:latin typeface="Segoe UI"/>
              </a:rPr>
              <a:t>92.4%</a:t>
            </a:r>
          </a:p>
        </p:txBody>
      </p:sp>
      <p:sp>
        <p:nvSpPr>
          <p:cNvPr id="55" name="TextBox 54"/>
          <p:cNvSpPr txBox="1"/>
          <p:nvPr/>
        </p:nvSpPr>
        <p:spPr>
          <a:xfrm>
            <a:off x="6044184" y="4553712"/>
            <a:ext cx="1682496" cy="347472"/>
          </a:xfrm>
          <a:prstGeom prst="rect">
            <a:avLst/>
          </a:prstGeom>
          <a:noFill/>
        </p:spPr>
        <p:txBody>
          <a:bodyPr wrap="square" anchor="ctr" lIns="0" rIns="0" tIns="0" bIns="0">
            <a:spAutoFit/>
          </a:bodyPr>
          <a:lstStyle/>
          <a:p>
            <a:pPr algn="l">
              <a:lnSpc>
                <a:spcPct val="105000"/>
              </a:lnSpc>
            </a:pPr>
            <a:r>
              <a:rPr sz="1050" b="0" i="0">
                <a:solidFill>
                  <a:srgbClr val="1F2421"/>
                </a:solidFill>
                <a:latin typeface="Segoe UI"/>
              </a:rPr>
              <a:t>99.4%</a:t>
            </a:r>
          </a:p>
        </p:txBody>
      </p:sp>
      <p:sp>
        <p:nvSpPr>
          <p:cNvPr id="56" name="TextBox 55"/>
          <p:cNvSpPr txBox="1"/>
          <p:nvPr/>
        </p:nvSpPr>
        <p:spPr>
          <a:xfrm>
            <a:off x="7872984" y="4553712"/>
            <a:ext cx="1682496" cy="347472"/>
          </a:xfrm>
          <a:prstGeom prst="rect">
            <a:avLst/>
          </a:prstGeom>
          <a:noFill/>
        </p:spPr>
        <p:txBody>
          <a:bodyPr wrap="square" anchor="ctr" lIns="0" rIns="0" tIns="0" bIns="0">
            <a:spAutoFit/>
          </a:bodyPr>
          <a:lstStyle/>
          <a:p>
            <a:pPr algn="l">
              <a:lnSpc>
                <a:spcPct val="105000"/>
              </a:lnSpc>
            </a:pPr>
            <a:r>
              <a:rPr sz="1050" b="0" i="0">
                <a:solidFill>
                  <a:srgbClr val="1F2421"/>
                </a:solidFill>
                <a:latin typeface="Segoe UI"/>
              </a:rPr>
              <a:t>96.7%</a:t>
            </a:r>
          </a:p>
        </p:txBody>
      </p:sp>
      <p:sp>
        <p:nvSpPr>
          <p:cNvPr id="57" name="TextBox 56"/>
          <p:cNvSpPr txBox="1"/>
          <p:nvPr/>
        </p:nvSpPr>
        <p:spPr>
          <a:xfrm>
            <a:off x="9701784" y="4553712"/>
            <a:ext cx="1682496" cy="347472"/>
          </a:xfrm>
          <a:prstGeom prst="rect">
            <a:avLst/>
          </a:prstGeom>
          <a:noFill/>
        </p:spPr>
        <p:txBody>
          <a:bodyPr wrap="square" anchor="ctr" lIns="0" rIns="0" tIns="0" bIns="0">
            <a:spAutoFit/>
          </a:bodyPr>
          <a:lstStyle/>
          <a:p>
            <a:pPr algn="l">
              <a:lnSpc>
                <a:spcPct val="105000"/>
              </a:lnSpc>
            </a:pPr>
            <a:r>
              <a:rPr sz="1050" b="0" i="0">
                <a:solidFill>
                  <a:srgbClr val="1F2421"/>
                </a:solidFill>
                <a:latin typeface="Segoe UI"/>
              </a:rPr>
              <a:t>96.7%</a:t>
            </a:r>
          </a:p>
        </p:txBody>
      </p:sp>
      <p:cxnSp>
        <p:nvCxnSpPr>
          <p:cNvPr id="58" name="Connector 57"/>
          <p:cNvCxnSpPr/>
          <p:nvPr/>
        </p:nvCxnSpPr>
        <p:spPr>
          <a:xfrm>
            <a:off x="731520" y="4901184"/>
            <a:ext cx="10725912" cy="0"/>
          </a:xfrm>
          <a:prstGeom prst="line">
            <a:avLst/>
          </a:prstGeom>
          <a:ln w="6350">
            <a:solidFill>
              <a:srgbClr val="DDDAD2"/>
            </a:solidFill>
          </a:ln>
        </p:spPr>
      </p:cxnSp>
      <p:sp>
        <p:nvSpPr>
          <p:cNvPr id="59" name="TextBox 58"/>
          <p:cNvSpPr txBox="1"/>
          <p:nvPr/>
        </p:nvSpPr>
        <p:spPr>
          <a:xfrm>
            <a:off x="804672" y="4901184"/>
            <a:ext cx="3264408" cy="347472"/>
          </a:xfrm>
          <a:prstGeom prst="rect">
            <a:avLst/>
          </a:prstGeom>
          <a:noFill/>
        </p:spPr>
        <p:txBody>
          <a:bodyPr wrap="square" anchor="ctr" lIns="0" rIns="0" tIns="0" bIns="0">
            <a:spAutoFit/>
          </a:bodyPr>
          <a:lstStyle/>
          <a:p>
            <a:pPr algn="l">
              <a:lnSpc>
                <a:spcPct val="105000"/>
              </a:lnSpc>
            </a:pPr>
            <a:r>
              <a:rPr sz="1050" b="0" i="0">
                <a:solidFill>
                  <a:srgbClr val="1F2421"/>
                </a:solidFill>
                <a:latin typeface="Segoe UI"/>
              </a:rPr>
              <a:t>NSL-KDD · label flip accuracy ↑</a:t>
            </a:r>
          </a:p>
        </p:txBody>
      </p:sp>
      <p:sp>
        <p:nvSpPr>
          <p:cNvPr id="60" name="TextBox 59"/>
          <p:cNvSpPr txBox="1"/>
          <p:nvPr/>
        </p:nvSpPr>
        <p:spPr>
          <a:xfrm>
            <a:off x="4215384" y="4901184"/>
            <a:ext cx="1682496" cy="347472"/>
          </a:xfrm>
          <a:prstGeom prst="rect">
            <a:avLst/>
          </a:prstGeom>
          <a:noFill/>
        </p:spPr>
        <p:txBody>
          <a:bodyPr wrap="square" anchor="ctr" lIns="0" rIns="0" tIns="0" bIns="0">
            <a:spAutoFit/>
          </a:bodyPr>
          <a:lstStyle/>
          <a:p>
            <a:pPr algn="l">
              <a:lnSpc>
                <a:spcPct val="105000"/>
              </a:lnSpc>
            </a:pPr>
            <a:r>
              <a:rPr sz="1050" b="0" i="0">
                <a:solidFill>
                  <a:srgbClr val="1F2421"/>
                </a:solidFill>
                <a:latin typeface="Segoe UI"/>
              </a:rPr>
              <a:t>68.8%</a:t>
            </a:r>
          </a:p>
        </p:txBody>
      </p:sp>
      <p:sp>
        <p:nvSpPr>
          <p:cNvPr id="61" name="TextBox 60"/>
          <p:cNvSpPr txBox="1"/>
          <p:nvPr/>
        </p:nvSpPr>
        <p:spPr>
          <a:xfrm>
            <a:off x="6044184" y="4901184"/>
            <a:ext cx="1682496" cy="347472"/>
          </a:xfrm>
          <a:prstGeom prst="rect">
            <a:avLst/>
          </a:prstGeom>
          <a:noFill/>
        </p:spPr>
        <p:txBody>
          <a:bodyPr wrap="square" anchor="ctr" lIns="0" rIns="0" tIns="0" bIns="0">
            <a:spAutoFit/>
          </a:bodyPr>
          <a:lstStyle/>
          <a:p>
            <a:pPr algn="l">
              <a:lnSpc>
                <a:spcPct val="105000"/>
              </a:lnSpc>
            </a:pPr>
            <a:r>
              <a:rPr sz="1050" b="0" i="0">
                <a:solidFill>
                  <a:srgbClr val="1F2421"/>
                </a:solidFill>
                <a:latin typeface="Segoe UI"/>
              </a:rPr>
              <a:t>78.6%</a:t>
            </a:r>
          </a:p>
        </p:txBody>
      </p:sp>
      <p:sp>
        <p:nvSpPr>
          <p:cNvPr id="62" name="TextBox 61"/>
          <p:cNvSpPr txBox="1"/>
          <p:nvPr/>
        </p:nvSpPr>
        <p:spPr>
          <a:xfrm>
            <a:off x="7872984" y="4901184"/>
            <a:ext cx="1682496" cy="347472"/>
          </a:xfrm>
          <a:prstGeom prst="rect">
            <a:avLst/>
          </a:prstGeom>
          <a:noFill/>
        </p:spPr>
        <p:txBody>
          <a:bodyPr wrap="square" anchor="ctr" lIns="0" rIns="0" tIns="0" bIns="0">
            <a:spAutoFit/>
          </a:bodyPr>
          <a:lstStyle/>
          <a:p>
            <a:pPr algn="l">
              <a:lnSpc>
                <a:spcPct val="105000"/>
              </a:lnSpc>
            </a:pPr>
            <a:r>
              <a:rPr sz="1050" b="0" i="0">
                <a:solidFill>
                  <a:srgbClr val="1F2421"/>
                </a:solidFill>
                <a:latin typeface="Segoe UI"/>
              </a:rPr>
              <a:t>79.2%</a:t>
            </a:r>
          </a:p>
        </p:txBody>
      </p:sp>
      <p:sp>
        <p:nvSpPr>
          <p:cNvPr id="63" name="TextBox 62"/>
          <p:cNvSpPr txBox="1"/>
          <p:nvPr/>
        </p:nvSpPr>
        <p:spPr>
          <a:xfrm>
            <a:off x="9701784" y="4901184"/>
            <a:ext cx="1682496" cy="347472"/>
          </a:xfrm>
          <a:prstGeom prst="rect">
            <a:avLst/>
          </a:prstGeom>
          <a:noFill/>
        </p:spPr>
        <p:txBody>
          <a:bodyPr wrap="square" anchor="ctr" lIns="0" rIns="0" tIns="0" bIns="0">
            <a:spAutoFit/>
          </a:bodyPr>
          <a:lstStyle/>
          <a:p>
            <a:pPr algn="l">
              <a:lnSpc>
                <a:spcPct val="105000"/>
              </a:lnSpc>
            </a:pPr>
            <a:r>
              <a:rPr sz="1050" b="0" i="0">
                <a:solidFill>
                  <a:srgbClr val="1F2421"/>
                </a:solidFill>
                <a:latin typeface="Segoe UI"/>
              </a:rPr>
              <a:t>78.7%</a:t>
            </a:r>
          </a:p>
        </p:txBody>
      </p:sp>
      <p:cxnSp>
        <p:nvCxnSpPr>
          <p:cNvPr id="64" name="Connector 63"/>
          <p:cNvCxnSpPr/>
          <p:nvPr/>
        </p:nvCxnSpPr>
        <p:spPr>
          <a:xfrm>
            <a:off x="731520" y="5248656"/>
            <a:ext cx="10725912" cy="0"/>
          </a:xfrm>
          <a:prstGeom prst="line">
            <a:avLst/>
          </a:prstGeom>
          <a:ln w="6350">
            <a:solidFill>
              <a:srgbClr val="DDDAD2"/>
            </a:solidFill>
          </a:ln>
        </p:spPr>
      </p:cxnSp>
      <p:sp>
        <p:nvSpPr>
          <p:cNvPr id="65" name="TextBox 64"/>
          <p:cNvSpPr txBox="1"/>
          <p:nvPr/>
        </p:nvSpPr>
        <p:spPr>
          <a:xfrm>
            <a:off x="804672" y="5248656"/>
            <a:ext cx="3264408" cy="347472"/>
          </a:xfrm>
          <a:prstGeom prst="rect">
            <a:avLst/>
          </a:prstGeom>
          <a:noFill/>
        </p:spPr>
        <p:txBody>
          <a:bodyPr wrap="square" anchor="ctr" lIns="0" rIns="0" tIns="0" bIns="0">
            <a:spAutoFit/>
          </a:bodyPr>
          <a:lstStyle/>
          <a:p>
            <a:pPr algn="l">
              <a:lnSpc>
                <a:spcPct val="105000"/>
              </a:lnSpc>
            </a:pPr>
            <a:r>
              <a:rPr sz="1050" b="0" i="0">
                <a:solidFill>
                  <a:srgbClr val="1F2421"/>
                </a:solidFill>
                <a:latin typeface="Segoe UI"/>
              </a:rPr>
              <a:t>NSL-KDD · backdoor success ↓</a:t>
            </a:r>
          </a:p>
        </p:txBody>
      </p:sp>
      <p:sp>
        <p:nvSpPr>
          <p:cNvPr id="66" name="TextBox 65"/>
          <p:cNvSpPr txBox="1"/>
          <p:nvPr/>
        </p:nvSpPr>
        <p:spPr>
          <a:xfrm>
            <a:off x="4215384" y="5248656"/>
            <a:ext cx="1682496" cy="347472"/>
          </a:xfrm>
          <a:prstGeom prst="rect">
            <a:avLst/>
          </a:prstGeom>
          <a:noFill/>
        </p:spPr>
        <p:txBody>
          <a:bodyPr wrap="square" anchor="ctr" lIns="0" rIns="0" tIns="0" bIns="0">
            <a:spAutoFit/>
          </a:bodyPr>
          <a:lstStyle/>
          <a:p>
            <a:pPr algn="l">
              <a:lnSpc>
                <a:spcPct val="105000"/>
              </a:lnSpc>
            </a:pPr>
            <a:r>
              <a:rPr sz="1050" b="0" i="0">
                <a:solidFill>
                  <a:srgbClr val="1F2421"/>
                </a:solidFill>
                <a:latin typeface="Segoe UI"/>
              </a:rPr>
              <a:t>34.1%</a:t>
            </a:r>
          </a:p>
        </p:txBody>
      </p:sp>
      <p:sp>
        <p:nvSpPr>
          <p:cNvPr id="67" name="TextBox 66"/>
          <p:cNvSpPr txBox="1"/>
          <p:nvPr/>
        </p:nvSpPr>
        <p:spPr>
          <a:xfrm>
            <a:off x="6044184" y="5248656"/>
            <a:ext cx="1682496" cy="347472"/>
          </a:xfrm>
          <a:prstGeom prst="rect">
            <a:avLst/>
          </a:prstGeom>
          <a:noFill/>
        </p:spPr>
        <p:txBody>
          <a:bodyPr wrap="square" anchor="ctr" lIns="0" rIns="0" tIns="0" bIns="0">
            <a:spAutoFit/>
          </a:bodyPr>
          <a:lstStyle/>
          <a:p>
            <a:pPr algn="l">
              <a:lnSpc>
                <a:spcPct val="105000"/>
              </a:lnSpc>
            </a:pPr>
            <a:r>
              <a:rPr sz="1050" b="0" i="0">
                <a:solidFill>
                  <a:srgbClr val="1F2421"/>
                </a:solidFill>
                <a:latin typeface="Segoe UI"/>
              </a:rPr>
              <a:t>10.8%</a:t>
            </a:r>
          </a:p>
        </p:txBody>
      </p:sp>
      <p:sp>
        <p:nvSpPr>
          <p:cNvPr id="68" name="TextBox 67"/>
          <p:cNvSpPr txBox="1"/>
          <p:nvPr/>
        </p:nvSpPr>
        <p:spPr>
          <a:xfrm>
            <a:off x="7872984" y="5248656"/>
            <a:ext cx="1682496" cy="347472"/>
          </a:xfrm>
          <a:prstGeom prst="rect">
            <a:avLst/>
          </a:prstGeom>
          <a:noFill/>
        </p:spPr>
        <p:txBody>
          <a:bodyPr wrap="square" anchor="ctr" lIns="0" rIns="0" tIns="0" bIns="0">
            <a:spAutoFit/>
          </a:bodyPr>
          <a:lstStyle/>
          <a:p>
            <a:pPr algn="l">
              <a:lnSpc>
                <a:spcPct val="105000"/>
              </a:lnSpc>
            </a:pPr>
            <a:r>
              <a:rPr sz="1050" b="0" i="0">
                <a:solidFill>
                  <a:srgbClr val="1F2421"/>
                </a:solidFill>
                <a:latin typeface="Segoe UI"/>
              </a:rPr>
              <a:t>8.7%</a:t>
            </a:r>
          </a:p>
        </p:txBody>
      </p:sp>
      <p:sp>
        <p:nvSpPr>
          <p:cNvPr id="69" name="TextBox 68"/>
          <p:cNvSpPr txBox="1"/>
          <p:nvPr/>
        </p:nvSpPr>
        <p:spPr>
          <a:xfrm>
            <a:off x="9701784" y="5248656"/>
            <a:ext cx="1682496" cy="347472"/>
          </a:xfrm>
          <a:prstGeom prst="rect">
            <a:avLst/>
          </a:prstGeom>
          <a:noFill/>
        </p:spPr>
        <p:txBody>
          <a:bodyPr wrap="square" anchor="ctr" lIns="0" rIns="0" tIns="0" bIns="0">
            <a:spAutoFit/>
          </a:bodyPr>
          <a:lstStyle/>
          <a:p>
            <a:pPr algn="l">
              <a:lnSpc>
                <a:spcPct val="105000"/>
              </a:lnSpc>
            </a:pPr>
            <a:r>
              <a:rPr sz="1050" b="0" i="0">
                <a:solidFill>
                  <a:srgbClr val="1F2421"/>
                </a:solidFill>
                <a:latin typeface="Segoe UI"/>
              </a:rPr>
              <a:t>8.7%</a:t>
            </a:r>
          </a:p>
        </p:txBody>
      </p:sp>
      <p:cxnSp>
        <p:nvCxnSpPr>
          <p:cNvPr id="70" name="Connector 69"/>
          <p:cNvCxnSpPr/>
          <p:nvPr/>
        </p:nvCxnSpPr>
        <p:spPr>
          <a:xfrm>
            <a:off x="731520" y="5596128"/>
            <a:ext cx="10725912" cy="0"/>
          </a:xfrm>
          <a:prstGeom prst="line">
            <a:avLst/>
          </a:prstGeom>
          <a:ln w="6350">
            <a:solidFill>
              <a:srgbClr val="DDDAD2"/>
            </a:solidFill>
          </a:ln>
        </p:spPr>
      </p:cxnSp>
      <p:sp>
        <p:nvSpPr>
          <p:cNvPr id="71" name="TextBox 70"/>
          <p:cNvSpPr txBox="1"/>
          <p:nvPr/>
        </p:nvSpPr>
        <p:spPr>
          <a:xfrm>
            <a:off x="804672" y="5596128"/>
            <a:ext cx="3264408" cy="347472"/>
          </a:xfrm>
          <a:prstGeom prst="rect">
            <a:avLst/>
          </a:prstGeom>
          <a:noFill/>
        </p:spPr>
        <p:txBody>
          <a:bodyPr wrap="square" anchor="ctr" lIns="0" rIns="0" tIns="0" bIns="0">
            <a:spAutoFit/>
          </a:bodyPr>
          <a:lstStyle/>
          <a:p>
            <a:pPr algn="l">
              <a:lnSpc>
                <a:spcPct val="105000"/>
              </a:lnSpc>
            </a:pPr>
            <a:r>
              <a:rPr sz="1050" b="0" i="0">
                <a:solidFill>
                  <a:srgbClr val="1F2421"/>
                </a:solidFill>
                <a:latin typeface="Segoe UI"/>
              </a:rPr>
              <a:t>NSL-KDD · honest excluded ↓</a:t>
            </a:r>
          </a:p>
        </p:txBody>
      </p:sp>
      <p:sp>
        <p:nvSpPr>
          <p:cNvPr id="72" name="TextBox 71"/>
          <p:cNvSpPr txBox="1"/>
          <p:nvPr/>
        </p:nvSpPr>
        <p:spPr>
          <a:xfrm>
            <a:off x="4215384" y="5596128"/>
            <a:ext cx="1682496" cy="347472"/>
          </a:xfrm>
          <a:prstGeom prst="rect">
            <a:avLst/>
          </a:prstGeom>
          <a:noFill/>
        </p:spPr>
        <p:txBody>
          <a:bodyPr wrap="square" anchor="ctr" lIns="0" rIns="0" tIns="0" bIns="0">
            <a:spAutoFit/>
          </a:bodyPr>
          <a:lstStyle/>
          <a:p>
            <a:pPr algn="l">
              <a:lnSpc>
                <a:spcPct val="105000"/>
              </a:lnSpc>
            </a:pPr>
            <a:r>
              <a:rPr sz="1050" b="0" i="0">
                <a:solidFill>
                  <a:srgbClr val="1F2421"/>
                </a:solidFill>
                <a:latin typeface="Segoe UI"/>
              </a:rPr>
              <a:t>—</a:t>
            </a:r>
          </a:p>
        </p:txBody>
      </p:sp>
      <p:sp>
        <p:nvSpPr>
          <p:cNvPr id="73" name="TextBox 72"/>
          <p:cNvSpPr txBox="1"/>
          <p:nvPr/>
        </p:nvSpPr>
        <p:spPr>
          <a:xfrm>
            <a:off x="6044184" y="5596128"/>
            <a:ext cx="1682496" cy="347472"/>
          </a:xfrm>
          <a:prstGeom prst="rect">
            <a:avLst/>
          </a:prstGeom>
          <a:noFill/>
        </p:spPr>
        <p:txBody>
          <a:bodyPr wrap="square" anchor="ctr" lIns="0" rIns="0" tIns="0" bIns="0">
            <a:spAutoFit/>
          </a:bodyPr>
          <a:lstStyle/>
          <a:p>
            <a:pPr algn="l">
              <a:lnSpc>
                <a:spcPct val="105000"/>
              </a:lnSpc>
            </a:pPr>
            <a:r>
              <a:rPr sz="1050" b="0" i="0">
                <a:solidFill>
                  <a:srgbClr val="1F2421"/>
                </a:solidFill>
                <a:latin typeface="Segoe UI"/>
              </a:rPr>
              <a:t>5.4%</a:t>
            </a:r>
          </a:p>
        </p:txBody>
      </p:sp>
      <p:sp>
        <p:nvSpPr>
          <p:cNvPr id="74" name="TextBox 73"/>
          <p:cNvSpPr txBox="1"/>
          <p:nvPr/>
        </p:nvSpPr>
        <p:spPr>
          <a:xfrm>
            <a:off x="7872984" y="5596128"/>
            <a:ext cx="1682496" cy="347472"/>
          </a:xfrm>
          <a:prstGeom prst="rect">
            <a:avLst/>
          </a:prstGeom>
          <a:noFill/>
        </p:spPr>
        <p:txBody>
          <a:bodyPr wrap="square" anchor="ctr" lIns="0" rIns="0" tIns="0" bIns="0">
            <a:spAutoFit/>
          </a:bodyPr>
          <a:lstStyle/>
          <a:p>
            <a:pPr algn="l">
              <a:lnSpc>
                <a:spcPct val="105000"/>
              </a:lnSpc>
            </a:pPr>
            <a:r>
              <a:rPr sz="1050" b="0" i="0">
                <a:solidFill>
                  <a:srgbClr val="1F2421"/>
                </a:solidFill>
                <a:latin typeface="Segoe UI"/>
              </a:rPr>
              <a:t>1.1%</a:t>
            </a:r>
          </a:p>
        </p:txBody>
      </p:sp>
      <p:sp>
        <p:nvSpPr>
          <p:cNvPr id="75" name="TextBox 74"/>
          <p:cNvSpPr txBox="1"/>
          <p:nvPr/>
        </p:nvSpPr>
        <p:spPr>
          <a:xfrm>
            <a:off x="9701784" y="5596128"/>
            <a:ext cx="1682496" cy="347472"/>
          </a:xfrm>
          <a:prstGeom prst="rect">
            <a:avLst/>
          </a:prstGeom>
          <a:noFill/>
        </p:spPr>
        <p:txBody>
          <a:bodyPr wrap="square" anchor="ctr" lIns="0" rIns="0" tIns="0" bIns="0">
            <a:spAutoFit/>
          </a:bodyPr>
          <a:lstStyle/>
          <a:p>
            <a:pPr algn="l">
              <a:lnSpc>
                <a:spcPct val="105000"/>
              </a:lnSpc>
            </a:pPr>
            <a:r>
              <a:rPr sz="1050" b="0" i="0">
                <a:solidFill>
                  <a:srgbClr val="1F2421"/>
                </a:solidFill>
                <a:latin typeface="Segoe UI"/>
              </a:rPr>
              <a:t>1.8%</a:t>
            </a:r>
          </a:p>
        </p:txBody>
      </p:sp>
      <p:cxnSp>
        <p:nvCxnSpPr>
          <p:cNvPr id="76" name="Connector 75"/>
          <p:cNvCxnSpPr/>
          <p:nvPr/>
        </p:nvCxnSpPr>
        <p:spPr>
          <a:xfrm>
            <a:off x="731520" y="5943600"/>
            <a:ext cx="10725912" cy="0"/>
          </a:xfrm>
          <a:prstGeom prst="line">
            <a:avLst/>
          </a:prstGeom>
          <a:ln w="12700">
            <a:solidFill>
              <a:srgbClr val="5B625C"/>
            </a:solidFill>
          </a:ln>
        </p:spPr>
      </p:cxnSp>
      <p:sp>
        <p:nvSpPr>
          <p:cNvPr id="77" name="TextBox 76"/>
          <p:cNvSpPr txBox="1"/>
          <p:nvPr/>
        </p:nvSpPr>
        <p:spPr>
          <a:xfrm>
            <a:off x="731520" y="6035040"/>
            <a:ext cx="10725912" cy="228600"/>
          </a:xfrm>
          <a:prstGeom prst="rect">
            <a:avLst/>
          </a:prstGeom>
          <a:noFill/>
        </p:spPr>
        <p:txBody>
          <a:bodyPr wrap="square" anchor="t" lIns="0" rIns="0" tIns="0" bIns="0">
            <a:spAutoFit/>
          </a:bodyPr>
          <a:lstStyle/>
          <a:p>
            <a:pPr algn="l">
              <a:lnSpc>
                <a:spcPct val="120000"/>
              </a:lnSpc>
            </a:pPr>
            <a:r>
              <a:rPr sz="950" b="0" i="0">
                <a:solidFill>
                  <a:srgbClr val="8C918A"/>
                </a:solidFill>
                <a:latin typeface="Segoe UI"/>
              </a:rPr>
              <a:t>v1 drops every flagged update · v2 adds the second check and the 15% weight cap · FLNET2023 5 seeds, NSL-KDD 10 seeds, means shown.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7315200" cy="274320"/>
          </a:xfrm>
          <a:prstGeom prst="rect">
            <a:avLst/>
          </a:prstGeom>
          <a:noFill/>
        </p:spPr>
        <p:txBody>
          <a:bodyPr wrap="square" anchor="t" lIns="0" rIns="0" tIns="0" bIns="0">
            <a:spAutoFit/>
          </a:bodyPr>
          <a:lstStyle/>
          <a:p>
            <a:pPr algn="l">
              <a:lnSpc>
                <a:spcPct val="120000"/>
              </a:lnSpc>
            </a:pPr>
            <a:r>
              <a:rPr sz="1050" b="1" i="0">
                <a:solidFill>
                  <a:srgbClr val="3E5F5A"/>
                </a:solidFill>
                <a:latin typeface="Segoe UI"/>
              </a:rPr>
              <a:t>CONCLUSION</a:t>
            </a:r>
          </a:p>
        </p:txBody>
      </p:sp>
      <p:cxnSp>
        <p:nvCxnSpPr>
          <p:cNvPr id="4" name="Connector 3"/>
          <p:cNvCxnSpPr/>
          <p:nvPr/>
        </p:nvCxnSpPr>
        <p:spPr>
          <a:xfrm>
            <a:off x="731520" y="841248"/>
            <a:ext cx="457200" cy="0"/>
          </a:xfrm>
          <a:prstGeom prst="line">
            <a:avLst/>
          </a:prstGeom>
          <a:ln w="19050">
            <a:solidFill>
              <a:srgbClr val="3E5F5A"/>
            </a:solidFill>
          </a:ln>
        </p:spPr>
      </p:cxnSp>
      <p:sp>
        <p:nvSpPr>
          <p:cNvPr id="5" name="TextBox 4"/>
          <p:cNvSpPr txBox="1"/>
          <p:nvPr/>
        </p:nvSpPr>
        <p:spPr>
          <a:xfrm>
            <a:off x="731520" y="960120"/>
            <a:ext cx="10725912" cy="731520"/>
          </a:xfrm>
          <a:prstGeom prst="rect">
            <a:avLst/>
          </a:prstGeom>
          <a:noFill/>
        </p:spPr>
        <p:txBody>
          <a:bodyPr wrap="square" anchor="t" lIns="0" rIns="0" tIns="0" bIns="0">
            <a:spAutoFit/>
          </a:bodyPr>
          <a:lstStyle/>
          <a:p>
            <a:pPr algn="l">
              <a:lnSpc>
                <a:spcPct val="120000"/>
              </a:lnSpc>
            </a:pPr>
            <a:r>
              <a:rPr sz="2800" b="0" i="0">
                <a:solidFill>
                  <a:srgbClr val="1F2421"/>
                </a:solidFill>
                <a:latin typeface="Georgia"/>
              </a:rPr>
              <a:t>Conclusion</a:t>
            </a:r>
          </a:p>
        </p:txBody>
      </p:sp>
      <p:sp>
        <p:nvSpPr>
          <p:cNvPr id="6" name="TextBox 5"/>
          <p:cNvSpPr txBox="1"/>
          <p:nvPr/>
        </p:nvSpPr>
        <p:spPr>
          <a:xfrm>
            <a:off x="731520" y="6400800"/>
            <a:ext cx="5486400" cy="228600"/>
          </a:xfrm>
          <a:prstGeom prst="rect">
            <a:avLst/>
          </a:prstGeom>
          <a:noFill/>
        </p:spPr>
        <p:txBody>
          <a:bodyPr wrap="square" anchor="t" lIns="0" rIns="0" tIns="0" bIns="0">
            <a:spAutoFit/>
          </a:bodyPr>
          <a:lstStyle/>
          <a:p>
            <a:pPr algn="l">
              <a:lnSpc>
                <a:spcPct val="120000"/>
              </a:lnSpc>
            </a:pPr>
            <a:r>
              <a:rPr sz="900" b="0" i="0">
                <a:solidFill>
                  <a:srgbClr val="8C918A"/>
                </a:solidFill>
                <a:latin typeface="Segoe UI"/>
              </a:rPr>
              <a:t>Krypsis  ·  Final Review</a:t>
            </a:r>
          </a:p>
        </p:txBody>
      </p:sp>
      <p:sp>
        <p:nvSpPr>
          <p:cNvPr id="7" name="TextBox 6"/>
          <p:cNvSpPr txBox="1"/>
          <p:nvPr/>
        </p:nvSpPr>
        <p:spPr>
          <a:xfrm>
            <a:off x="10543032" y="6400800"/>
            <a:ext cx="914400" cy="228600"/>
          </a:xfrm>
          <a:prstGeom prst="rect">
            <a:avLst/>
          </a:prstGeom>
          <a:noFill/>
        </p:spPr>
        <p:txBody>
          <a:bodyPr wrap="square" anchor="t" lIns="0" rIns="0" tIns="0" bIns="0">
            <a:spAutoFit/>
          </a:bodyPr>
          <a:lstStyle/>
          <a:p>
            <a:pPr algn="r">
              <a:lnSpc>
                <a:spcPct val="120000"/>
              </a:lnSpc>
            </a:pPr>
            <a:r>
              <a:rPr sz="900" b="0" i="0">
                <a:solidFill>
                  <a:srgbClr val="8C918A"/>
                </a:solidFill>
                <a:latin typeface="Segoe UI"/>
              </a:rPr>
              <a:t>13</a:t>
            </a:r>
          </a:p>
        </p:txBody>
      </p:sp>
      <p:sp>
        <p:nvSpPr>
          <p:cNvPr id="8" name="Rounded Rectangle 7"/>
          <p:cNvSpPr/>
          <p:nvPr/>
        </p:nvSpPr>
        <p:spPr>
          <a:xfrm>
            <a:off x="731520" y="1737360"/>
            <a:ext cx="10725912" cy="960120"/>
          </a:xfrm>
          <a:prstGeom prst="roundRect">
            <a:avLst>
              <a:gd name="adj" fmla="val 6000"/>
            </a:avLst>
          </a:prstGeom>
          <a:solidFill>
            <a:srgbClr val="E4EB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737360"/>
            <a:ext cx="10177272" cy="960120"/>
          </a:xfrm>
          <a:prstGeom prst="rect">
            <a:avLst/>
          </a:prstGeom>
          <a:noFill/>
        </p:spPr>
        <p:txBody>
          <a:bodyPr wrap="square" anchor="ctr" lIns="0" rIns="0" tIns="0" bIns="0">
            <a:spAutoFit/>
          </a:bodyPr>
          <a:lstStyle/>
          <a:p>
            <a:pPr algn="l">
              <a:lnSpc>
                <a:spcPct val="125000"/>
              </a:lnSpc>
            </a:pPr>
            <a:r>
              <a:rPr sz="1300" b="1" i="0">
                <a:solidFill>
                  <a:srgbClr val="3E5F5A"/>
                </a:solidFill>
                <a:latin typeface="Segoe UI"/>
              </a:rPr>
              <a:t>Research question · answer: no.  </a:t>
            </a:r>
            <a:r>
              <a:rPr sz="1250" b="0" i="0">
                <a:solidFill>
                  <a:srgbClr val="1F2421"/>
                </a:solidFill>
                <a:latin typeface="Segoe UI"/>
              </a:rPr>
              <a:t>Mondrian caught 57.6% vs global 53.3% (p = 0.21, 15 seeds), and no other test was significant (all p ≥ 0.11). With per-round standardization, one global threshold is enough.</a:t>
            </a:r>
          </a:p>
        </p:txBody>
      </p:sp>
      <p:sp>
        <p:nvSpPr>
          <p:cNvPr id="10" name="TextBox 9"/>
          <p:cNvSpPr txBox="1"/>
          <p:nvPr/>
        </p:nvSpPr>
        <p:spPr>
          <a:xfrm>
            <a:off x="731520" y="2926080"/>
            <a:ext cx="5120640" cy="274320"/>
          </a:xfrm>
          <a:prstGeom prst="rect">
            <a:avLst/>
          </a:prstGeom>
          <a:noFill/>
        </p:spPr>
        <p:txBody>
          <a:bodyPr wrap="square" anchor="t" lIns="0" rIns="0" tIns="0" bIns="0">
            <a:spAutoFit/>
          </a:bodyPr>
          <a:lstStyle/>
          <a:p>
            <a:pPr algn="l">
              <a:lnSpc>
                <a:spcPct val="120000"/>
              </a:lnSpc>
            </a:pPr>
            <a:r>
              <a:rPr sz="1050" b="1" i="0">
                <a:solidFill>
                  <a:srgbClr val="3E5F5A"/>
                </a:solidFill>
                <a:latin typeface="Segoe UI"/>
              </a:rPr>
              <a:t>CONCLUSIONS</a:t>
            </a:r>
          </a:p>
        </p:txBody>
      </p:sp>
      <p:sp>
        <p:nvSpPr>
          <p:cNvPr id="11" name="TextBox 10"/>
          <p:cNvSpPr txBox="1"/>
          <p:nvPr/>
        </p:nvSpPr>
        <p:spPr>
          <a:xfrm>
            <a:off x="731520" y="3246120"/>
            <a:ext cx="5120640" cy="3017520"/>
          </a:xfrm>
          <a:prstGeom prst="rect">
            <a:avLst/>
          </a:prstGeom>
          <a:noFill/>
        </p:spPr>
        <p:txBody>
          <a:bodyPr wrap="square" lIns="0" rIns="0" tIns="0" bIns="0">
            <a:spAutoFit/>
          </a:bodyPr>
          <a:lstStyle/>
          <a:p>
            <a:pPr marL="219456" indent="-219456">
              <a:lnSpc>
                <a:spcPct val="120000"/>
              </a:lnSpc>
              <a:spcAft>
                <a:spcPts val="800"/>
              </a:spcAft>
              <a:buClr>
                <a:srgbClr val="3E5F5A"/>
              </a:buClr>
              <a:buFont typeface="Arial"/>
              <a:buChar char="•"/>
            </a:pPr>
            <a:r>
              <a:rPr sz="1200">
                <a:solidFill>
                  <a:srgbClr val="1F2421"/>
                </a:solidFill>
                <a:latin typeface="Segoe UI"/>
              </a:rPr>
              <a:t>Federated training over 10 real routers matches centralized binary detection.</a:t>
            </a:r>
          </a:p>
          <a:p>
            <a:pPr marL="219456" indent="-219456">
              <a:lnSpc>
                <a:spcPct val="120000"/>
              </a:lnSpc>
              <a:spcAft>
                <a:spcPts val="800"/>
              </a:spcAft>
              <a:buClr>
                <a:srgbClr val="3E5F5A"/>
              </a:buClr>
              <a:buFont typeface="Arial"/>
              <a:buChar char="•"/>
            </a:pPr>
            <a:r>
              <a:rPr sz="1200">
                <a:solidFill>
                  <a:srgbClr val="1F2421"/>
                </a:solidFill>
                <a:latin typeface="Segoe UI"/>
              </a:rPr>
              <a:t>Naming the attack exposes the non-IID cost: macro-F1 0.39 vs 0.76 IID.</a:t>
            </a:r>
          </a:p>
          <a:p>
            <a:pPr marL="219456" indent="-219456">
              <a:lnSpc>
                <a:spcPct val="120000"/>
              </a:lnSpc>
              <a:spcAft>
                <a:spcPts val="800"/>
              </a:spcAft>
              <a:buClr>
                <a:srgbClr val="3E5F5A"/>
              </a:buClr>
              <a:buFont typeface="Arial"/>
              <a:buChar char="•"/>
            </a:pPr>
            <a:r>
              <a:rPr sz="1200">
                <a:solidFill>
                  <a:srgbClr val="1F2421"/>
                </a:solidFill>
                <a:latin typeface="Segoe UI"/>
              </a:rPr>
              <a:t>Krypsis rejects every tampered message and raises accuracy under attack, for under 1% extra message size.</a:t>
            </a:r>
          </a:p>
          <a:p>
            <a:pPr marL="219456" indent="-219456">
              <a:lnSpc>
                <a:spcPct val="120000"/>
              </a:lnSpc>
              <a:spcAft>
                <a:spcPts val="800"/>
              </a:spcAft>
              <a:buClr>
                <a:srgbClr val="3E5F5A"/>
              </a:buClr>
              <a:buFont typeface="Arial"/>
              <a:buChar char="•"/>
            </a:pPr>
            <a:r>
              <a:rPr sz="1200">
                <a:solidFill>
                  <a:srgbClr val="1F2421"/>
                </a:solidFill>
                <a:latin typeface="Segoe UI"/>
              </a:rPr>
              <a:t>A global threshold is enough; Mondrian brought no significant gain.</a:t>
            </a:r>
          </a:p>
        </p:txBody>
      </p:sp>
      <p:sp>
        <p:nvSpPr>
          <p:cNvPr id="12" name="TextBox 11"/>
          <p:cNvSpPr txBox="1"/>
          <p:nvPr/>
        </p:nvSpPr>
        <p:spPr>
          <a:xfrm>
            <a:off x="6336792" y="2926080"/>
            <a:ext cx="5120640" cy="274320"/>
          </a:xfrm>
          <a:prstGeom prst="rect">
            <a:avLst/>
          </a:prstGeom>
          <a:noFill/>
        </p:spPr>
        <p:txBody>
          <a:bodyPr wrap="square" anchor="t" lIns="0" rIns="0" tIns="0" bIns="0">
            <a:spAutoFit/>
          </a:bodyPr>
          <a:lstStyle/>
          <a:p>
            <a:pPr algn="l">
              <a:lnSpc>
                <a:spcPct val="120000"/>
              </a:lnSpc>
            </a:pPr>
            <a:r>
              <a:rPr sz="1050" b="1" i="0">
                <a:solidFill>
                  <a:srgbClr val="8E673F"/>
                </a:solidFill>
                <a:latin typeface="Segoe UI"/>
              </a:rPr>
              <a:t>LIMITATIONS AND FUTURE WORK</a:t>
            </a:r>
          </a:p>
        </p:txBody>
      </p:sp>
      <p:sp>
        <p:nvSpPr>
          <p:cNvPr id="13" name="TextBox 12"/>
          <p:cNvSpPr txBox="1"/>
          <p:nvPr/>
        </p:nvSpPr>
        <p:spPr>
          <a:xfrm>
            <a:off x="6336792" y="3246120"/>
            <a:ext cx="5120640" cy="3017520"/>
          </a:xfrm>
          <a:prstGeom prst="rect">
            <a:avLst/>
          </a:prstGeom>
          <a:noFill/>
        </p:spPr>
        <p:txBody>
          <a:bodyPr wrap="square" lIns="0" rIns="0" tIns="0" bIns="0">
            <a:spAutoFit/>
          </a:bodyPr>
          <a:lstStyle/>
          <a:p>
            <a:pPr marL="219456" indent="-219456">
              <a:lnSpc>
                <a:spcPct val="120000"/>
              </a:lnSpc>
              <a:spcAft>
                <a:spcPts val="800"/>
              </a:spcAft>
              <a:buClr>
                <a:srgbClr val="3E5F5A"/>
              </a:buClr>
              <a:buFont typeface="Arial"/>
              <a:buChar char="•"/>
            </a:pPr>
            <a:r>
              <a:rPr sz="1200">
                <a:solidFill>
                  <a:srgbClr val="1F2421"/>
                </a:solidFill>
                <a:latin typeface="Segoe UI"/>
              </a:rPr>
              <a:t>Simulated in one process on emulated traffic; attackers do not adapt.</a:t>
            </a:r>
          </a:p>
          <a:p>
            <a:pPr marL="219456" indent="-219456">
              <a:lnSpc>
                <a:spcPct val="120000"/>
              </a:lnSpc>
              <a:spcAft>
                <a:spcPts val="800"/>
              </a:spcAft>
              <a:buClr>
                <a:srgbClr val="3E5F5A"/>
              </a:buClr>
              <a:buFont typeface="Arial"/>
              <a:buChar char="•"/>
            </a:pPr>
            <a:r>
              <a:rPr sz="1200">
                <a:solidFill>
                  <a:srgbClr val="1F2421"/>
                </a:solidFill>
                <a:latin typeface="Segoe UI"/>
              </a:rPr>
              <a:t>The weight cap can shift weight from an honest large router to attackers.</a:t>
            </a:r>
          </a:p>
          <a:p>
            <a:pPr marL="219456" indent="-219456">
              <a:lnSpc>
                <a:spcPct val="120000"/>
              </a:lnSpc>
              <a:spcAft>
                <a:spcPts val="800"/>
              </a:spcAft>
              <a:buClr>
                <a:srgbClr val="3E5F5A"/>
              </a:buClr>
              <a:buFont typeface="Arial"/>
              <a:buChar char="•"/>
            </a:pPr>
            <a:r>
              <a:rPr sz="1200">
                <a:solidFill>
                  <a:srgbClr val="1F2421"/>
                </a:solidFill>
                <a:latin typeface="Segoe UI"/>
              </a:rPr>
              <a:t>At 40% dropout only about a third of poisoned updates are caught.</a:t>
            </a:r>
          </a:p>
          <a:p>
            <a:pPr marL="219456" indent="-219456">
              <a:lnSpc>
                <a:spcPct val="120000"/>
              </a:lnSpc>
              <a:spcAft>
                <a:spcPts val="800"/>
              </a:spcAft>
              <a:buClr>
                <a:srgbClr val="3E5F5A"/>
              </a:buClr>
              <a:buFont typeface="Arial"/>
              <a:buChar char="•"/>
            </a:pPr>
            <a:r>
              <a:rPr sz="1200">
                <a:solidFill>
                  <a:srgbClr val="1F2421"/>
                </a:solidFill>
                <a:latin typeface="Segoe UI"/>
              </a:rPr>
              <a:t>Next: protocol on the 11-class task, a trust-based cap, a real network (Mininet / SDN), more FLNET2023 seeds.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7315200" cy="274320"/>
          </a:xfrm>
          <a:prstGeom prst="rect">
            <a:avLst/>
          </a:prstGeom>
          <a:noFill/>
        </p:spPr>
        <p:txBody>
          <a:bodyPr wrap="square" anchor="t" lIns="0" rIns="0" tIns="0" bIns="0">
            <a:spAutoFit/>
          </a:bodyPr>
          <a:lstStyle/>
          <a:p>
            <a:pPr algn="l">
              <a:lnSpc>
                <a:spcPct val="120000"/>
              </a:lnSpc>
            </a:pPr>
            <a:r>
              <a:rPr sz="1050" b="1" i="0">
                <a:solidFill>
                  <a:srgbClr val="3E5F5A"/>
                </a:solidFill>
                <a:latin typeface="Segoe UI"/>
              </a:rPr>
              <a:t>REFERENCES</a:t>
            </a:r>
          </a:p>
        </p:txBody>
      </p:sp>
      <p:cxnSp>
        <p:nvCxnSpPr>
          <p:cNvPr id="4" name="Connector 3"/>
          <p:cNvCxnSpPr/>
          <p:nvPr/>
        </p:nvCxnSpPr>
        <p:spPr>
          <a:xfrm>
            <a:off x="731520" y="841248"/>
            <a:ext cx="457200" cy="0"/>
          </a:xfrm>
          <a:prstGeom prst="line">
            <a:avLst/>
          </a:prstGeom>
          <a:ln w="19050">
            <a:solidFill>
              <a:srgbClr val="3E5F5A"/>
            </a:solidFill>
          </a:ln>
        </p:spPr>
      </p:cxnSp>
      <p:sp>
        <p:nvSpPr>
          <p:cNvPr id="5" name="TextBox 4"/>
          <p:cNvSpPr txBox="1"/>
          <p:nvPr/>
        </p:nvSpPr>
        <p:spPr>
          <a:xfrm>
            <a:off x="731520" y="960120"/>
            <a:ext cx="10725912" cy="731520"/>
          </a:xfrm>
          <a:prstGeom prst="rect">
            <a:avLst/>
          </a:prstGeom>
          <a:noFill/>
        </p:spPr>
        <p:txBody>
          <a:bodyPr wrap="square" anchor="t" lIns="0" rIns="0" tIns="0" bIns="0">
            <a:spAutoFit/>
          </a:bodyPr>
          <a:lstStyle/>
          <a:p>
            <a:pPr algn="l">
              <a:lnSpc>
                <a:spcPct val="120000"/>
              </a:lnSpc>
            </a:pPr>
            <a:r>
              <a:rPr sz="2800" b="0" i="0">
                <a:solidFill>
                  <a:srgbClr val="1F2421"/>
                </a:solidFill>
                <a:latin typeface="Georgia"/>
              </a:rPr>
              <a:t>References</a:t>
            </a:r>
          </a:p>
        </p:txBody>
      </p:sp>
      <p:sp>
        <p:nvSpPr>
          <p:cNvPr id="6" name="TextBox 5"/>
          <p:cNvSpPr txBox="1"/>
          <p:nvPr/>
        </p:nvSpPr>
        <p:spPr>
          <a:xfrm>
            <a:off x="731520" y="6400800"/>
            <a:ext cx="5486400" cy="228600"/>
          </a:xfrm>
          <a:prstGeom prst="rect">
            <a:avLst/>
          </a:prstGeom>
          <a:noFill/>
        </p:spPr>
        <p:txBody>
          <a:bodyPr wrap="square" anchor="t" lIns="0" rIns="0" tIns="0" bIns="0">
            <a:spAutoFit/>
          </a:bodyPr>
          <a:lstStyle/>
          <a:p>
            <a:pPr algn="l">
              <a:lnSpc>
                <a:spcPct val="120000"/>
              </a:lnSpc>
            </a:pPr>
            <a:r>
              <a:rPr sz="900" b="0" i="0">
                <a:solidFill>
                  <a:srgbClr val="8C918A"/>
                </a:solidFill>
                <a:latin typeface="Segoe UI"/>
              </a:rPr>
              <a:t>Krypsis  ·  Final Review</a:t>
            </a:r>
          </a:p>
        </p:txBody>
      </p:sp>
      <p:sp>
        <p:nvSpPr>
          <p:cNvPr id="7" name="TextBox 6"/>
          <p:cNvSpPr txBox="1"/>
          <p:nvPr/>
        </p:nvSpPr>
        <p:spPr>
          <a:xfrm>
            <a:off x="10543032" y="6400800"/>
            <a:ext cx="914400" cy="228600"/>
          </a:xfrm>
          <a:prstGeom prst="rect">
            <a:avLst/>
          </a:prstGeom>
          <a:noFill/>
        </p:spPr>
        <p:txBody>
          <a:bodyPr wrap="square" anchor="t" lIns="0" rIns="0" tIns="0" bIns="0">
            <a:spAutoFit/>
          </a:bodyPr>
          <a:lstStyle/>
          <a:p>
            <a:pPr algn="r">
              <a:lnSpc>
                <a:spcPct val="120000"/>
              </a:lnSpc>
            </a:pPr>
            <a:r>
              <a:rPr sz="900" b="0" i="0">
                <a:solidFill>
                  <a:srgbClr val="8C918A"/>
                </a:solidFill>
                <a:latin typeface="Segoe UI"/>
              </a:rPr>
              <a:t>14</a:t>
            </a:r>
          </a:p>
        </p:txBody>
      </p:sp>
      <p:sp>
        <p:nvSpPr>
          <p:cNvPr id="8" name="TextBox 7"/>
          <p:cNvSpPr txBox="1"/>
          <p:nvPr/>
        </p:nvSpPr>
        <p:spPr>
          <a:xfrm>
            <a:off x="731520" y="1691640"/>
            <a:ext cx="5257800" cy="658368"/>
          </a:xfrm>
          <a:prstGeom prst="rect">
            <a:avLst/>
          </a:prstGeom>
          <a:noFill/>
        </p:spPr>
        <p:txBody>
          <a:bodyPr wrap="square" anchor="t" lIns="0" rIns="0" tIns="0" bIns="0">
            <a:spAutoFit/>
          </a:bodyPr>
          <a:lstStyle/>
          <a:p>
            <a:pPr algn="l">
              <a:lnSpc>
                <a:spcPct val="108000"/>
              </a:lnSpc>
            </a:pPr>
            <a:r>
              <a:rPr sz="950" b="1" i="0">
                <a:solidFill>
                  <a:srgbClr val="3E5F5A"/>
                </a:solidFill>
                <a:latin typeface="Segoe UI"/>
              </a:rPr>
              <a:t>[1]  </a:t>
            </a:r>
            <a:r>
              <a:rPr sz="950" b="0" i="0">
                <a:solidFill>
                  <a:srgbClr val="1F2421"/>
                </a:solidFill>
                <a:latin typeface="Segoe UI"/>
              </a:rPr>
              <a:t>Kumar, P., Liu, J., et al. (2023). FLNET2023: Realistic Network Intrusion Detection Dataset for Federated Learning. MILCOM 2023.</a:t>
            </a:r>
          </a:p>
          <a:p>
            <a:pPr algn="l">
              <a:lnSpc>
                <a:spcPct val="108000"/>
              </a:lnSpc>
            </a:pPr>
            <a:r>
              <a:rPr sz="900" b="0" i="0">
                <a:solidFill>
                  <a:srgbClr val="3E5F5A"/>
                </a:solidFill>
                <a:latin typeface="Segoe UI"/>
                <a:hlinkClick r:id="rId2"/>
              </a:rPr>
              <a:t>https://doi.org/10.1109/MILCOM58377.2023.10356272</a:t>
            </a:r>
          </a:p>
        </p:txBody>
      </p:sp>
      <p:sp>
        <p:nvSpPr>
          <p:cNvPr id="9" name="TextBox 8"/>
          <p:cNvSpPr txBox="1"/>
          <p:nvPr/>
        </p:nvSpPr>
        <p:spPr>
          <a:xfrm>
            <a:off x="731520" y="2377440"/>
            <a:ext cx="5257800" cy="658368"/>
          </a:xfrm>
          <a:prstGeom prst="rect">
            <a:avLst/>
          </a:prstGeom>
          <a:noFill/>
        </p:spPr>
        <p:txBody>
          <a:bodyPr wrap="square" anchor="t" lIns="0" rIns="0" tIns="0" bIns="0">
            <a:spAutoFit/>
          </a:bodyPr>
          <a:lstStyle/>
          <a:p>
            <a:pPr algn="l">
              <a:lnSpc>
                <a:spcPct val="108000"/>
              </a:lnSpc>
            </a:pPr>
            <a:r>
              <a:rPr sz="950" b="1" i="0">
                <a:solidFill>
                  <a:srgbClr val="3E5F5A"/>
                </a:solidFill>
                <a:latin typeface="Segoe UI"/>
              </a:rPr>
              <a:t>[2]  </a:t>
            </a:r>
            <a:r>
              <a:rPr sz="950" b="0" i="0">
                <a:solidFill>
                  <a:srgbClr val="1F2421"/>
                </a:solidFill>
                <a:latin typeface="Segoe UI"/>
              </a:rPr>
              <a:t>FLNET2023 dataset and documentation (nsol-nmsu / FML-Network).</a:t>
            </a:r>
          </a:p>
          <a:p>
            <a:pPr algn="l">
              <a:lnSpc>
                <a:spcPct val="108000"/>
              </a:lnSpc>
            </a:pPr>
            <a:r>
              <a:rPr sz="900" b="0" i="0">
                <a:solidFill>
                  <a:srgbClr val="3E5F5A"/>
                </a:solidFill>
                <a:latin typeface="Segoe UI"/>
                <a:hlinkClick r:id="rId3"/>
              </a:rPr>
              <a:t>https://github.com/nsol-nmsu/FML-Network</a:t>
            </a:r>
          </a:p>
        </p:txBody>
      </p:sp>
      <p:sp>
        <p:nvSpPr>
          <p:cNvPr id="10" name="TextBox 9"/>
          <p:cNvSpPr txBox="1"/>
          <p:nvPr/>
        </p:nvSpPr>
        <p:spPr>
          <a:xfrm>
            <a:off x="731520" y="3063240"/>
            <a:ext cx="5257800" cy="658368"/>
          </a:xfrm>
          <a:prstGeom prst="rect">
            <a:avLst/>
          </a:prstGeom>
          <a:noFill/>
        </p:spPr>
        <p:txBody>
          <a:bodyPr wrap="square" anchor="t" lIns="0" rIns="0" tIns="0" bIns="0">
            <a:spAutoFit/>
          </a:bodyPr>
          <a:lstStyle/>
          <a:p>
            <a:pPr algn="l">
              <a:lnSpc>
                <a:spcPct val="108000"/>
              </a:lnSpc>
            </a:pPr>
            <a:r>
              <a:rPr sz="950" b="1" i="0">
                <a:solidFill>
                  <a:srgbClr val="3E5F5A"/>
                </a:solidFill>
                <a:latin typeface="Segoe UI"/>
              </a:rPr>
              <a:t>[3]  </a:t>
            </a:r>
            <a:r>
              <a:rPr sz="950" b="0" i="0">
                <a:solidFill>
                  <a:srgbClr val="1F2421"/>
                </a:solidFill>
                <a:latin typeface="Segoe UI"/>
              </a:rPr>
              <a:t>McMahan, B., et al. (2017). Communication-Efficient Learning of Deep Networks from Decentralized Data. AISTATS.</a:t>
            </a:r>
          </a:p>
          <a:p>
            <a:pPr algn="l">
              <a:lnSpc>
                <a:spcPct val="108000"/>
              </a:lnSpc>
            </a:pPr>
            <a:r>
              <a:rPr sz="900" b="0" i="0">
                <a:solidFill>
                  <a:srgbClr val="3E5F5A"/>
                </a:solidFill>
                <a:latin typeface="Segoe UI"/>
                <a:hlinkClick r:id="rId4"/>
              </a:rPr>
              <a:t>https://arxiv.org/abs/1602.05629</a:t>
            </a:r>
          </a:p>
        </p:txBody>
      </p:sp>
      <p:sp>
        <p:nvSpPr>
          <p:cNvPr id="11" name="TextBox 10"/>
          <p:cNvSpPr txBox="1"/>
          <p:nvPr/>
        </p:nvSpPr>
        <p:spPr>
          <a:xfrm>
            <a:off x="731520" y="3749040"/>
            <a:ext cx="5257800" cy="658368"/>
          </a:xfrm>
          <a:prstGeom prst="rect">
            <a:avLst/>
          </a:prstGeom>
          <a:noFill/>
        </p:spPr>
        <p:txBody>
          <a:bodyPr wrap="square" anchor="t" lIns="0" rIns="0" tIns="0" bIns="0">
            <a:spAutoFit/>
          </a:bodyPr>
          <a:lstStyle/>
          <a:p>
            <a:pPr algn="l">
              <a:lnSpc>
                <a:spcPct val="108000"/>
              </a:lnSpc>
            </a:pPr>
            <a:r>
              <a:rPr sz="950" b="1" i="0">
                <a:solidFill>
                  <a:srgbClr val="3E5F5A"/>
                </a:solidFill>
                <a:latin typeface="Segoe UI"/>
              </a:rPr>
              <a:t>[4]  </a:t>
            </a:r>
            <a:r>
              <a:rPr sz="950" b="0" i="0">
                <a:solidFill>
                  <a:srgbClr val="1F2421"/>
                </a:solidFill>
                <a:latin typeface="Segoe UI"/>
              </a:rPr>
              <a:t>Blanchard, P., et al. (2017). Machine Learning with Adversaries: Byzantine Tolerant Gradient Descent (Krum). NeurIPS.</a:t>
            </a:r>
          </a:p>
          <a:p>
            <a:pPr algn="l">
              <a:lnSpc>
                <a:spcPct val="108000"/>
              </a:lnSpc>
            </a:pPr>
            <a:r>
              <a:rPr sz="900" b="0" i="0">
                <a:solidFill>
                  <a:srgbClr val="3E5F5A"/>
                </a:solidFill>
                <a:latin typeface="Segoe UI"/>
                <a:hlinkClick r:id="rId5"/>
              </a:rPr>
              <a:t>https://arxiv.org/abs/1703.02757</a:t>
            </a:r>
          </a:p>
        </p:txBody>
      </p:sp>
      <p:sp>
        <p:nvSpPr>
          <p:cNvPr id="12" name="TextBox 11"/>
          <p:cNvSpPr txBox="1"/>
          <p:nvPr/>
        </p:nvSpPr>
        <p:spPr>
          <a:xfrm>
            <a:off x="731520" y="4434840"/>
            <a:ext cx="5257800" cy="658368"/>
          </a:xfrm>
          <a:prstGeom prst="rect">
            <a:avLst/>
          </a:prstGeom>
          <a:noFill/>
        </p:spPr>
        <p:txBody>
          <a:bodyPr wrap="square" anchor="t" lIns="0" rIns="0" tIns="0" bIns="0">
            <a:spAutoFit/>
          </a:bodyPr>
          <a:lstStyle/>
          <a:p>
            <a:pPr algn="l">
              <a:lnSpc>
                <a:spcPct val="108000"/>
              </a:lnSpc>
            </a:pPr>
            <a:r>
              <a:rPr sz="950" b="1" i="0">
                <a:solidFill>
                  <a:srgbClr val="3E5F5A"/>
                </a:solidFill>
                <a:latin typeface="Segoe UI"/>
              </a:rPr>
              <a:t>[5]  </a:t>
            </a:r>
            <a:r>
              <a:rPr sz="950" b="0" i="0">
                <a:solidFill>
                  <a:srgbClr val="1F2421"/>
                </a:solidFill>
                <a:latin typeface="Segoe UI"/>
              </a:rPr>
              <a:t>Yin, D., et al. (2018). Byzantine-Robust Distributed Learning: Towards Optimal Statistical Rates (trimmed mean). ICML.</a:t>
            </a:r>
          </a:p>
          <a:p>
            <a:pPr algn="l">
              <a:lnSpc>
                <a:spcPct val="108000"/>
              </a:lnSpc>
            </a:pPr>
            <a:r>
              <a:rPr sz="900" b="0" i="0">
                <a:solidFill>
                  <a:srgbClr val="3E5F5A"/>
                </a:solidFill>
                <a:latin typeface="Segoe UI"/>
                <a:hlinkClick r:id="rId6"/>
              </a:rPr>
              <a:t>https://arxiv.org/abs/1803.01498</a:t>
            </a:r>
          </a:p>
        </p:txBody>
      </p:sp>
      <p:sp>
        <p:nvSpPr>
          <p:cNvPr id="13" name="TextBox 12"/>
          <p:cNvSpPr txBox="1"/>
          <p:nvPr/>
        </p:nvSpPr>
        <p:spPr>
          <a:xfrm>
            <a:off x="731520" y="5120640"/>
            <a:ext cx="5257800" cy="658368"/>
          </a:xfrm>
          <a:prstGeom prst="rect">
            <a:avLst/>
          </a:prstGeom>
          <a:noFill/>
        </p:spPr>
        <p:txBody>
          <a:bodyPr wrap="square" anchor="t" lIns="0" rIns="0" tIns="0" bIns="0">
            <a:spAutoFit/>
          </a:bodyPr>
          <a:lstStyle/>
          <a:p>
            <a:pPr algn="l">
              <a:lnSpc>
                <a:spcPct val="108000"/>
              </a:lnSpc>
            </a:pPr>
            <a:r>
              <a:rPr sz="950" b="1" i="0">
                <a:solidFill>
                  <a:srgbClr val="3E5F5A"/>
                </a:solidFill>
                <a:latin typeface="Segoe UI"/>
              </a:rPr>
              <a:t>[6]  </a:t>
            </a:r>
            <a:r>
              <a:rPr sz="950" b="0" i="0">
                <a:solidFill>
                  <a:srgbClr val="1F2421"/>
                </a:solidFill>
                <a:latin typeface="Segoe UI"/>
              </a:rPr>
              <a:t>Bagdasaryan, E., et al. (2020). How To Backdoor Federated Learning. AISTATS.</a:t>
            </a:r>
          </a:p>
          <a:p>
            <a:pPr algn="l">
              <a:lnSpc>
                <a:spcPct val="108000"/>
              </a:lnSpc>
            </a:pPr>
            <a:r>
              <a:rPr sz="900" b="0" i="0">
                <a:solidFill>
                  <a:srgbClr val="3E5F5A"/>
                </a:solidFill>
                <a:latin typeface="Segoe UI"/>
                <a:hlinkClick r:id="rId7"/>
              </a:rPr>
              <a:t>https://arxiv.org/abs/1807.00459</a:t>
            </a:r>
          </a:p>
        </p:txBody>
      </p:sp>
      <p:sp>
        <p:nvSpPr>
          <p:cNvPr id="14" name="TextBox 13"/>
          <p:cNvSpPr txBox="1"/>
          <p:nvPr/>
        </p:nvSpPr>
        <p:spPr>
          <a:xfrm>
            <a:off x="6199632" y="1691640"/>
            <a:ext cx="5257800" cy="658368"/>
          </a:xfrm>
          <a:prstGeom prst="rect">
            <a:avLst/>
          </a:prstGeom>
          <a:noFill/>
        </p:spPr>
        <p:txBody>
          <a:bodyPr wrap="square" anchor="t" lIns="0" rIns="0" tIns="0" bIns="0">
            <a:spAutoFit/>
          </a:bodyPr>
          <a:lstStyle/>
          <a:p>
            <a:pPr algn="l">
              <a:lnSpc>
                <a:spcPct val="108000"/>
              </a:lnSpc>
            </a:pPr>
            <a:r>
              <a:rPr sz="950" b="1" i="0">
                <a:solidFill>
                  <a:srgbClr val="3E5F5A"/>
                </a:solidFill>
                <a:latin typeface="Segoe UI"/>
              </a:rPr>
              <a:t>[7]  </a:t>
            </a:r>
            <a:r>
              <a:rPr sz="950" b="0" i="0">
                <a:solidFill>
                  <a:srgbClr val="1F2421"/>
                </a:solidFill>
                <a:latin typeface="Segoe UI"/>
              </a:rPr>
              <a:t>Tolpegin, V., et al. (2020). Data Poisoning Attacks Against Federated Learning Systems. ESORICS.</a:t>
            </a:r>
          </a:p>
          <a:p>
            <a:pPr algn="l">
              <a:lnSpc>
                <a:spcPct val="108000"/>
              </a:lnSpc>
            </a:pPr>
            <a:r>
              <a:rPr sz="900" b="0" i="0">
                <a:solidFill>
                  <a:srgbClr val="3E5F5A"/>
                </a:solidFill>
                <a:latin typeface="Segoe UI"/>
                <a:hlinkClick r:id="rId8"/>
              </a:rPr>
              <a:t>https://arxiv.org/abs/2007.08432</a:t>
            </a:r>
          </a:p>
        </p:txBody>
      </p:sp>
      <p:sp>
        <p:nvSpPr>
          <p:cNvPr id="15" name="TextBox 14"/>
          <p:cNvSpPr txBox="1"/>
          <p:nvPr/>
        </p:nvSpPr>
        <p:spPr>
          <a:xfrm>
            <a:off x="6199632" y="2377440"/>
            <a:ext cx="5257800" cy="658368"/>
          </a:xfrm>
          <a:prstGeom prst="rect">
            <a:avLst/>
          </a:prstGeom>
          <a:noFill/>
        </p:spPr>
        <p:txBody>
          <a:bodyPr wrap="square" anchor="t" lIns="0" rIns="0" tIns="0" bIns="0">
            <a:spAutoFit/>
          </a:bodyPr>
          <a:lstStyle/>
          <a:p>
            <a:pPr algn="l">
              <a:lnSpc>
                <a:spcPct val="108000"/>
              </a:lnSpc>
            </a:pPr>
            <a:r>
              <a:rPr sz="950" b="1" i="0">
                <a:solidFill>
                  <a:srgbClr val="3E5F5A"/>
                </a:solidFill>
                <a:latin typeface="Segoe UI"/>
              </a:rPr>
              <a:t>[8]  </a:t>
            </a:r>
            <a:r>
              <a:rPr sz="950" b="0" i="0">
                <a:solidFill>
                  <a:srgbClr val="1F2421"/>
                </a:solidFill>
                <a:latin typeface="Segoe UI"/>
              </a:rPr>
              <a:t>Hsu, T.-M. H., Qi, H., Brown, M. (2019). Measuring the Effects of Non-Identical Data Distribution for Federated Visual Classification.</a:t>
            </a:r>
          </a:p>
          <a:p>
            <a:pPr algn="l">
              <a:lnSpc>
                <a:spcPct val="108000"/>
              </a:lnSpc>
            </a:pPr>
            <a:r>
              <a:rPr sz="900" b="0" i="0">
                <a:solidFill>
                  <a:srgbClr val="3E5F5A"/>
                </a:solidFill>
                <a:latin typeface="Segoe UI"/>
                <a:hlinkClick r:id="rId9"/>
              </a:rPr>
              <a:t>https://arxiv.org/abs/1909.06335</a:t>
            </a:r>
          </a:p>
        </p:txBody>
      </p:sp>
      <p:sp>
        <p:nvSpPr>
          <p:cNvPr id="16" name="TextBox 15"/>
          <p:cNvSpPr txBox="1"/>
          <p:nvPr/>
        </p:nvSpPr>
        <p:spPr>
          <a:xfrm>
            <a:off x="6199632" y="3063240"/>
            <a:ext cx="5257800" cy="658368"/>
          </a:xfrm>
          <a:prstGeom prst="rect">
            <a:avLst/>
          </a:prstGeom>
          <a:noFill/>
        </p:spPr>
        <p:txBody>
          <a:bodyPr wrap="square" anchor="t" lIns="0" rIns="0" tIns="0" bIns="0">
            <a:spAutoFit/>
          </a:bodyPr>
          <a:lstStyle/>
          <a:p>
            <a:pPr algn="l">
              <a:lnSpc>
                <a:spcPct val="108000"/>
              </a:lnSpc>
            </a:pPr>
            <a:r>
              <a:rPr sz="950" b="1" i="0">
                <a:solidFill>
                  <a:srgbClr val="3E5F5A"/>
                </a:solidFill>
                <a:latin typeface="Segoe UI"/>
              </a:rPr>
              <a:t>[9]  </a:t>
            </a:r>
            <a:r>
              <a:rPr sz="950" b="0" i="0">
                <a:solidFill>
                  <a:srgbClr val="1F2421"/>
                </a:solidFill>
                <a:latin typeface="Segoe UI"/>
              </a:rPr>
              <a:t>Angelopoulos, A., Bates, S. (2021). A Gentle Introduction to Conformal Prediction.</a:t>
            </a:r>
          </a:p>
          <a:p>
            <a:pPr algn="l">
              <a:lnSpc>
                <a:spcPct val="108000"/>
              </a:lnSpc>
            </a:pPr>
            <a:r>
              <a:rPr sz="900" b="0" i="0">
                <a:solidFill>
                  <a:srgbClr val="3E5F5A"/>
                </a:solidFill>
                <a:latin typeface="Segoe UI"/>
                <a:hlinkClick r:id="rId10"/>
              </a:rPr>
              <a:t>https://arxiv.org/abs/2107.07511</a:t>
            </a:r>
          </a:p>
        </p:txBody>
      </p:sp>
      <p:sp>
        <p:nvSpPr>
          <p:cNvPr id="17" name="TextBox 16"/>
          <p:cNvSpPr txBox="1"/>
          <p:nvPr/>
        </p:nvSpPr>
        <p:spPr>
          <a:xfrm>
            <a:off x="6199632" y="3749040"/>
            <a:ext cx="5257800" cy="658368"/>
          </a:xfrm>
          <a:prstGeom prst="rect">
            <a:avLst/>
          </a:prstGeom>
          <a:noFill/>
        </p:spPr>
        <p:txBody>
          <a:bodyPr wrap="square" anchor="t" lIns="0" rIns="0" tIns="0" bIns="0">
            <a:spAutoFit/>
          </a:bodyPr>
          <a:lstStyle/>
          <a:p>
            <a:pPr algn="l">
              <a:lnSpc>
                <a:spcPct val="108000"/>
              </a:lnSpc>
            </a:pPr>
            <a:r>
              <a:rPr sz="950" b="1" i="0">
                <a:solidFill>
                  <a:srgbClr val="3E5F5A"/>
                </a:solidFill>
                <a:latin typeface="Segoe UI"/>
              </a:rPr>
              <a:t>[10]  </a:t>
            </a:r>
            <a:r>
              <a:rPr sz="950" b="0" i="0">
                <a:solidFill>
                  <a:srgbClr val="1F2421"/>
                </a:solidFill>
                <a:latin typeface="Segoe UI"/>
              </a:rPr>
              <a:t>Tavallaee, M., et al. (2009). A Detailed Analysis of the KDD CUP 99 Data Set (NSL-KDD). CISDA.</a:t>
            </a:r>
          </a:p>
          <a:p>
            <a:pPr algn="l">
              <a:lnSpc>
                <a:spcPct val="108000"/>
              </a:lnSpc>
            </a:pPr>
            <a:r>
              <a:rPr sz="900" b="0" i="0">
                <a:solidFill>
                  <a:srgbClr val="3E5F5A"/>
                </a:solidFill>
                <a:latin typeface="Segoe UI"/>
                <a:hlinkClick r:id="rId11"/>
              </a:rPr>
              <a:t>https://www.unb.ca/cic/datasets/nsl.html</a:t>
            </a:r>
          </a:p>
        </p:txBody>
      </p:sp>
      <p:sp>
        <p:nvSpPr>
          <p:cNvPr id="18" name="TextBox 17"/>
          <p:cNvSpPr txBox="1"/>
          <p:nvPr/>
        </p:nvSpPr>
        <p:spPr>
          <a:xfrm>
            <a:off x="6199632" y="4434840"/>
            <a:ext cx="5257800" cy="658368"/>
          </a:xfrm>
          <a:prstGeom prst="rect">
            <a:avLst/>
          </a:prstGeom>
          <a:noFill/>
        </p:spPr>
        <p:txBody>
          <a:bodyPr wrap="square" anchor="t" lIns="0" rIns="0" tIns="0" bIns="0">
            <a:spAutoFit/>
          </a:bodyPr>
          <a:lstStyle/>
          <a:p>
            <a:pPr algn="l">
              <a:lnSpc>
                <a:spcPct val="108000"/>
              </a:lnSpc>
            </a:pPr>
            <a:r>
              <a:rPr sz="950" b="1" i="0">
                <a:solidFill>
                  <a:srgbClr val="3E5F5A"/>
                </a:solidFill>
                <a:latin typeface="Segoe UI"/>
              </a:rPr>
              <a:t>[11]  </a:t>
            </a:r>
            <a:r>
              <a:rPr sz="950" b="0" i="0">
                <a:solidFill>
                  <a:srgbClr val="1F2421"/>
                </a:solidFill>
                <a:latin typeface="Segoe UI"/>
              </a:rPr>
              <a:t>Khraisat, A., et al. (2024). Survey on Federated Learning for Intrusion Detection System. ACM Computing Surveys 57(1).</a:t>
            </a:r>
          </a:p>
          <a:p>
            <a:pPr algn="l">
              <a:lnSpc>
                <a:spcPct val="108000"/>
              </a:lnSpc>
            </a:pPr>
            <a:r>
              <a:rPr sz="900" b="0" i="0">
                <a:solidFill>
                  <a:srgbClr val="3E5F5A"/>
                </a:solidFill>
                <a:latin typeface="Segoe UI"/>
                <a:hlinkClick r:id="rId12"/>
              </a:rPr>
              <a:t>https://doi.org/10.1145/3687124</a:t>
            </a:r>
          </a:p>
        </p:txBody>
      </p:sp>
      <p:sp>
        <p:nvSpPr>
          <p:cNvPr id="19" name="TextBox 18"/>
          <p:cNvSpPr txBox="1"/>
          <p:nvPr/>
        </p:nvSpPr>
        <p:spPr>
          <a:xfrm>
            <a:off x="6199632" y="5120640"/>
            <a:ext cx="5257800" cy="658368"/>
          </a:xfrm>
          <a:prstGeom prst="rect">
            <a:avLst/>
          </a:prstGeom>
          <a:noFill/>
        </p:spPr>
        <p:txBody>
          <a:bodyPr wrap="square" anchor="t" lIns="0" rIns="0" tIns="0" bIns="0">
            <a:spAutoFit/>
          </a:bodyPr>
          <a:lstStyle/>
          <a:p>
            <a:pPr algn="l">
              <a:lnSpc>
                <a:spcPct val="108000"/>
              </a:lnSpc>
            </a:pPr>
            <a:r>
              <a:rPr sz="950" b="1" i="0">
                <a:solidFill>
                  <a:srgbClr val="3E5F5A"/>
                </a:solidFill>
                <a:latin typeface="Segoe UI"/>
              </a:rPr>
              <a:t>[12]  </a:t>
            </a:r>
            <a:r>
              <a:rPr sz="950" b="0" i="0">
                <a:solidFill>
                  <a:srgbClr val="1F2421"/>
                </a:solidFill>
                <a:latin typeface="Segoe UI"/>
              </a:rPr>
              <a:t>Krawczyk, H., Bellare, M., Canetti, R. (1997). HMAC: Keyed-Hashing for Message Authentication. RFC 2104.</a:t>
            </a:r>
          </a:p>
          <a:p>
            <a:pPr algn="l">
              <a:lnSpc>
                <a:spcPct val="108000"/>
              </a:lnSpc>
            </a:pPr>
            <a:r>
              <a:rPr sz="900" b="0" i="0">
                <a:solidFill>
                  <a:srgbClr val="3E5F5A"/>
                </a:solidFill>
                <a:latin typeface="Segoe UI"/>
                <a:hlinkClick r:id="rId13"/>
              </a:rPr>
              <a:t>https://www.rfc-editor.org/rfc/rfc2104</a:t>
            </a:r>
          </a:p>
        </p:txBody>
      </p:sp>
      <p:cxnSp>
        <p:nvCxnSpPr>
          <p:cNvPr id="20" name="Connector 19"/>
          <p:cNvCxnSpPr/>
          <p:nvPr/>
        </p:nvCxnSpPr>
        <p:spPr>
          <a:xfrm>
            <a:off x="731520" y="5852160"/>
            <a:ext cx="10725912" cy="0"/>
          </a:xfrm>
          <a:prstGeom prst="line">
            <a:avLst/>
          </a:prstGeom>
          <a:ln w="9525">
            <a:solidFill>
              <a:srgbClr val="DDDAD2"/>
            </a:solidFill>
          </a:ln>
        </p:spPr>
      </p:cxnSp>
      <p:sp>
        <p:nvSpPr>
          <p:cNvPr id="21" name="TextBox 20"/>
          <p:cNvSpPr txBox="1"/>
          <p:nvPr/>
        </p:nvSpPr>
        <p:spPr>
          <a:xfrm>
            <a:off x="731520" y="5943600"/>
            <a:ext cx="3657600" cy="365760"/>
          </a:xfrm>
          <a:prstGeom prst="rect">
            <a:avLst/>
          </a:prstGeom>
          <a:noFill/>
        </p:spPr>
        <p:txBody>
          <a:bodyPr wrap="square" anchor="t" lIns="0" rIns="0" tIns="0" bIns="0">
            <a:spAutoFit/>
          </a:bodyPr>
          <a:lstStyle/>
          <a:p>
            <a:pPr algn="l">
              <a:lnSpc>
                <a:spcPct val="120000"/>
              </a:lnSpc>
            </a:pPr>
            <a:r>
              <a:rPr sz="1500" b="0" i="0">
                <a:solidFill>
                  <a:srgbClr val="3E5F5A"/>
                </a:solidFill>
                <a:latin typeface="Georgia"/>
              </a:rPr>
              <a:t>Thank you · questions welcome</a:t>
            </a:r>
          </a:p>
        </p:txBody>
      </p:sp>
      <p:sp>
        <p:nvSpPr>
          <p:cNvPr id="22" name="TextBox 21"/>
          <p:cNvSpPr txBox="1"/>
          <p:nvPr/>
        </p:nvSpPr>
        <p:spPr>
          <a:xfrm>
            <a:off x="4754880" y="5989320"/>
            <a:ext cx="6702552" cy="274320"/>
          </a:xfrm>
          <a:prstGeom prst="rect">
            <a:avLst/>
          </a:prstGeom>
          <a:noFill/>
        </p:spPr>
        <p:txBody>
          <a:bodyPr wrap="square" anchor="t" lIns="0" rIns="0" tIns="0" bIns="0">
            <a:spAutoFit/>
          </a:bodyPr>
          <a:lstStyle/>
          <a:p>
            <a:pPr algn="r">
              <a:lnSpc>
                <a:spcPct val="120000"/>
              </a:lnSpc>
            </a:pPr>
            <a:r>
              <a:rPr sz="950" b="0" i="0">
                <a:solidFill>
                  <a:srgbClr val="8C918A"/>
                </a:solidFill>
                <a:latin typeface="Segoe UI"/>
              </a:rPr>
              <a:t>Code and results: github.com/Vinudharshini18/Krypsis-A-network-intrusion-detection-system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3E5F5A"/>
      </a:hlink>
      <a:folHlink>
        <a:srgbClr val="3E5F5A"/>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