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800" b="1">
                <a:solidFill>
                  <a:srgbClr val="1E2A30"/>
                </a:solidFill>
              </a:rPr>
              <a:t>Attack % in each client's data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IID split</c:v>
                </c:pt>
              </c:strCache>
            </c:strRef>
          </c:tx>
          <c:spPr>
            <a:solidFill>
              <a:srgbClr val="A3ADB4"/>
            </a:solidFill>
          </c:spPr>
          <c:cat>
            <c:strRef>
              <c:f>Sheet1!$A$2:$A$11</c:f>
              <c:strCach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66.0</c:v>
                </c:pt>
                <c:pt idx="1">
                  <c:v>66.3</c:v>
                </c:pt>
                <c:pt idx="2">
                  <c:v>65.7</c:v>
                </c:pt>
                <c:pt idx="3">
                  <c:v>65.6</c:v>
                </c:pt>
                <c:pt idx="4">
                  <c:v>65.8</c:v>
                </c:pt>
                <c:pt idx="5">
                  <c:v>65.8</c:v>
                </c:pt>
                <c:pt idx="6">
                  <c:v>66.3</c:v>
                </c:pt>
                <c:pt idx="7">
                  <c:v>65.6</c:v>
                </c:pt>
                <c:pt idx="8">
                  <c:v>66.1</c:v>
                </c:pt>
                <c:pt idx="9">
                  <c:v>66.1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Real routers (FLNET2023)</c:v>
                </c:pt>
              </c:strCache>
            </c:strRef>
          </c:tx>
          <c:spPr>
            <a:solidFill>
              <a:srgbClr val="0F5F6B"/>
            </a:solidFill>
          </c:spPr>
          <c:cat>
            <c:strRef>
              <c:f>Sheet1!$A$2:$A$11</c:f>
              <c:strCach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55.7</c:v>
                </c:pt>
                <c:pt idx="1">
                  <c:v>83.2</c:v>
                </c:pt>
                <c:pt idx="2">
                  <c:v>19.0</c:v>
                </c:pt>
                <c:pt idx="3">
                  <c:v>92.1</c:v>
                </c:pt>
                <c:pt idx="4">
                  <c:v>76.3</c:v>
                </c:pt>
                <c:pt idx="5">
                  <c:v>66.1</c:v>
                </c:pt>
                <c:pt idx="6">
                  <c:v>42.2</c:v>
                </c:pt>
                <c:pt idx="7">
                  <c:v>50.8</c:v>
                </c:pt>
                <c:pt idx="8">
                  <c:v>72.3</c:v>
                </c:pt>
                <c:pt idx="9">
                  <c:v>68.5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Dirichlet split (NSL-KDD)</c:v>
                </c:pt>
              </c:strCache>
            </c:strRef>
          </c:tx>
          <c:spPr>
            <a:solidFill>
              <a:srgbClr val="7FB4BA"/>
            </a:solidFill>
          </c:spPr>
          <c:cat>
            <c:strRef>
              <c:f>Sheet1!$A$2:$A$11</c:f>
              <c:strCach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28.0</c:v>
                </c:pt>
                <c:pt idx="1">
                  <c:v>100.0</c:v>
                </c:pt>
                <c:pt idx="2">
                  <c:v>99.2</c:v>
                </c:pt>
                <c:pt idx="3">
                  <c:v>18.4</c:v>
                </c:pt>
                <c:pt idx="4">
                  <c:v>40.2</c:v>
                </c:pt>
                <c:pt idx="5">
                  <c:v>97.6</c:v>
                </c:pt>
                <c:pt idx="6">
                  <c:v>40.2</c:v>
                </c:pt>
                <c:pt idx="7">
                  <c:v>11.9</c:v>
                </c:pt>
                <c:pt idx="8">
                  <c:v>84.1</c:v>
                </c:pt>
                <c:pt idx="9">
                  <c:v>54.3</c:v>
                </c:pt>
              </c:numCache>
            </c:numRef>
          </c:val>
        </c:ser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CE0"/>
            </a:solidFill>
          </a:ln>
        </c:spPr>
        <c:txPr>
          <a:bodyPr/>
          <a:lstStyle/>
          <a:p>
            <a:pPr>
              <a:defRPr sz="16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>
          <c:spPr>
            <a:ln>
              <a:solidFill>
                <a:srgbClr val="D5DCE0"/>
              </a:solidFill>
            </a:ln>
          </c:spPr>
        </c:majorGridlines>
        <c:numFmt formatCode="0&quot;%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600">
                <a:solidFill>
                  <a:srgbClr val="5F6B73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600"/>
          </a:pPr>
        </a:p>
      </c:txPr>
    </c:legend>
    <c:dispBlanksAs val="gap"/>
  </c:chart>
  <c:txPr>
    <a:bodyPr/>
    <a:lstStyle/>
    <a:p>
      <a:pPr>
        <a:defRPr sz="1600">
          <a:solidFill>
            <a:srgbClr val="1E2A30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800" b="1">
                <a:solidFill>
                  <a:srgbClr val="1E2A30"/>
                </a:solidFill>
              </a:rPr>
              <a:t>Normal vs attack: accuracy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0F5F6B"/>
            </a:solidFill>
          </c:spPr>
          <c:cat>
            <c:strRef>
              <c:f>Sheet1!$A$2:$A$4</c:f>
              <c:strCache>
                <c:ptCount val="3"/>
                <c:pt idx="0">
                  <c:v>Centralized</c:v>
                </c:pt>
                <c:pt idx="1">
                  <c:v>FedAvg IID</c:v>
                </c:pt>
                <c:pt idx="2">
                  <c:v>FedAvg non-IID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100.0</c:v>
                </c:pt>
                <c:pt idx="1">
                  <c:v>99.99874199594923</c:v>
                </c:pt>
                <c:pt idx="2">
                  <c:v>99.93080977720749</c:v>
                </c:pt>
              </c:numCache>
            </c:numRef>
          </c:val>
        </c:ser>
        <c:dLbls>
          <c:numFmt formatCode="0.000&quot;%&quot;" sourceLinked="0"/>
          <c:txPr>
            <a:bodyPr/>
            <a:lstStyle/>
            <a:p>
              <a:pPr>
                <a:defRPr sz="16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CE0"/>
            </a:solidFill>
          </a:ln>
        </c:spPr>
        <c:txPr>
          <a:bodyPr/>
          <a:lstStyle/>
          <a:p>
            <a:pPr>
              <a:defRPr sz="16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5"/>
          <c:min val="99.8"/>
        </c:scaling>
        <c:delete val="0"/>
        <c:axPos val="l"/>
        <c:majorGridlines>
          <c:spPr>
            <a:ln>
              <a:solidFill>
                <a:srgbClr val="D5DCE0"/>
              </a:solidFill>
            </a:ln>
          </c:spPr>
        </c:majorGridlines>
        <c:numFmt formatCode="0.00&quot;%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600">
                <a:solidFill>
                  <a:srgbClr val="5F6B73"/>
                </a:solidFill>
              </a:defRPr>
            </a:pPr>
          </a:p>
        </c:txPr>
        <c:crossAx val="-2068027336"/>
        <c:crosses val="autoZero"/>
        <c:majorUnit val="0.05"/>
      </c:valAx>
    </c:plotArea>
    <c:dispBlanksAs val="gap"/>
  </c:chart>
  <c:txPr>
    <a:bodyPr/>
    <a:lstStyle/>
    <a:p>
      <a:pPr>
        <a:defRPr sz="1600">
          <a:solidFill>
            <a:srgbClr val="1E2A30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800" b="1">
                <a:solidFill>
                  <a:srgbClr val="1E2A30"/>
                </a:solidFill>
              </a:rPr>
              <a:t>Naming the attack type: macro-F1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Macro-F1</c:v>
                </c:pt>
              </c:strCache>
            </c:strRef>
          </c:tx>
          <c:spPr>
            <a:solidFill>
              <a:srgbClr val="7FB4BA"/>
            </a:solidFill>
          </c:spPr>
          <c:cat>
            <c:strRef>
              <c:f>Sheet1!$A$2:$A$4</c:f>
              <c:strCache>
                <c:ptCount val="3"/>
                <c:pt idx="0">
                  <c:v>Centralized</c:v>
                </c:pt>
                <c:pt idx="1">
                  <c:v>FedAvg IID</c:v>
                </c:pt>
                <c:pt idx="2">
                  <c:v>FedAvg non-IID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0.789875770383257</c:v>
                </c:pt>
                <c:pt idx="1">
                  <c:v>0.7588834627427782</c:v>
                </c:pt>
                <c:pt idx="2">
                  <c:v>0.3889182280782382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6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CE0"/>
            </a:solidFill>
          </a:ln>
        </c:spPr>
        <c:txPr>
          <a:bodyPr/>
          <a:lstStyle/>
          <a:p>
            <a:pPr>
              <a:defRPr sz="16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 val="0"/>
        <c:axPos val="l"/>
        <c:majorGridlines>
          <c:spPr>
            <a:ln>
              <a:solidFill>
                <a:srgbClr val="D5DCE0"/>
              </a:solidFill>
            </a:ln>
          </c:spPr>
        </c:majorGridlines>
        <c:numFmt formatCode="0.0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600">
                <a:solidFill>
                  <a:srgbClr val="5F6B73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600">
          <a:solidFill>
            <a:srgbClr val="1E2A30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800" b="1">
                <a:solidFill>
                  <a:srgbClr val="1E2A30"/>
                </a:solidFill>
              </a:rPr>
              <a:t>Accuracy under attack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 protocol</c:v>
                </c:pt>
              </c:strCache>
            </c:strRef>
          </c:tx>
          <c:spPr>
            <a:solidFill>
              <a:srgbClr val="A3ADB4"/>
            </a:solidFill>
          </c:spPr>
          <c:cat>
            <c:strRef>
              <c:f>Sheet1!$A$2:$A$3</c:f>
              <c:strCache>
                <c:ptCount val="2"/>
                <c:pt idx="0">
                  <c:v>FLNET2023</c:v>
                </c:pt>
                <c:pt idx="1">
                  <c:v>NSL-KDD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92.35561258507254</c:v>
                </c:pt>
                <c:pt idx="1">
                  <c:v>68.76863023420864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With Krypsis</c:v>
                </c:pt>
              </c:strCache>
            </c:strRef>
          </c:tx>
          <c:spPr>
            <a:solidFill>
              <a:srgbClr val="0F5F6B"/>
            </a:solidFill>
          </c:spPr>
          <c:cat>
            <c:strRef>
              <c:f>Sheet1!$A$2:$A$3</c:f>
              <c:strCache>
                <c:ptCount val="2"/>
                <c:pt idx="0">
                  <c:v>FLNET2023</c:v>
                </c:pt>
                <c:pt idx="1">
                  <c:v>NSL-KDD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96.72742826231901</c:v>
                </c:pt>
                <c:pt idx="1">
                  <c:v>79.15498580553584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6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CE0"/>
            </a:solidFill>
          </a:ln>
        </c:spPr>
        <c:txPr>
          <a:bodyPr/>
          <a:lstStyle/>
          <a:p>
            <a:pPr>
              <a:defRPr sz="16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0.0"/>
          <c:min val="0.0"/>
        </c:scaling>
        <c:delete val="0"/>
        <c:axPos val="l"/>
        <c:majorGridlines>
          <c:spPr>
            <a:ln>
              <a:solidFill>
                <a:srgbClr val="D5DCE0"/>
              </a:solidFill>
            </a:ln>
          </c:spPr>
        </c:majorGridlines>
        <c:numFmt formatCode="0&quot;%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600">
                <a:solidFill>
                  <a:srgbClr val="5F6B73"/>
                </a:solidFill>
              </a:defRPr>
            </a:pPr>
          </a:p>
        </c:txPr>
        <c:crossAx val="-2068027336"/>
        <c:crosses val="autoZero"/>
        <c:majorUnit val="20.0"/>
      </c:valAx>
    </c:plotArea>
    <c:legend>
      <c:legendPos val="b"/>
      <c:overlay val="0"/>
      <c:txPr>
        <a:bodyPr/>
        <a:lstStyle/>
        <a:p>
          <a:pPr>
            <a:defRPr sz="1600"/>
          </a:pPr>
        </a:p>
      </c:txPr>
    </c:legend>
    <c:dispBlanksAs val="gap"/>
  </c:chart>
  <c:txPr>
    <a:bodyPr/>
    <a:lstStyle/>
    <a:p>
      <a:pPr>
        <a:defRPr sz="1600">
          <a:solidFill>
            <a:srgbClr val="1E2A30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800" b="1">
                <a:solidFill>
                  <a:srgbClr val="1E2A30"/>
                </a:solidFill>
              </a:rPr>
              <a:t>What the protocol flagged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Attacks caught</c:v>
                </c:pt>
              </c:strCache>
            </c:strRef>
          </c:tx>
          <c:spPr>
            <a:solidFill>
              <a:srgbClr val="0F5F6B"/>
            </a:solidFill>
          </c:spPr>
          <c:cat>
            <c:strRef>
              <c:f>Sheet1!$A$2:$A$3</c:f>
              <c:strCache>
                <c:ptCount val="2"/>
                <c:pt idx="0">
                  <c:v>FLNET2023</c:v>
                </c:pt>
                <c:pt idx="1">
                  <c:v>NSL-KDD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71.42857142857142</c:v>
                </c:pt>
                <c:pt idx="1">
                  <c:v>99.28571428571429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Honest wrongly flagged</c:v>
                </c:pt>
              </c:strCache>
            </c:strRef>
          </c:tx>
          <c:spPr>
            <a:solidFill>
              <a:srgbClr val="7FB4BA"/>
            </a:solidFill>
          </c:spPr>
          <c:cat>
            <c:strRef>
              <c:f>Sheet1!$A$2:$A$3</c:f>
              <c:strCache>
                <c:ptCount val="2"/>
                <c:pt idx="0">
                  <c:v>FLNET2023</c:v>
                </c:pt>
                <c:pt idx="1">
                  <c:v>NSL-KDD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0.35714285714285715</c:v>
                </c:pt>
                <c:pt idx="1">
                  <c:v>1.0714285714285714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6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CE0"/>
            </a:solidFill>
          </a:ln>
        </c:spPr>
        <c:txPr>
          <a:bodyPr/>
          <a:lstStyle/>
          <a:p>
            <a:pPr>
              <a:defRPr sz="16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0.0"/>
          <c:min val="0.0"/>
        </c:scaling>
        <c:delete val="0"/>
        <c:axPos val="l"/>
        <c:majorGridlines>
          <c:spPr>
            <a:ln>
              <a:solidFill>
                <a:srgbClr val="D5DCE0"/>
              </a:solidFill>
            </a:ln>
          </c:spPr>
        </c:majorGridlines>
        <c:numFmt formatCode="0&quot;%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600">
                <a:solidFill>
                  <a:srgbClr val="5F6B73"/>
                </a:solidFill>
              </a:defRPr>
            </a:pPr>
          </a:p>
        </c:txPr>
        <c:crossAx val="-2068027336"/>
        <c:crosses val="autoZero"/>
        <c:majorUnit val="20.0"/>
      </c:valAx>
    </c:plotArea>
    <c:legend>
      <c:legendPos val="b"/>
      <c:overlay val="0"/>
      <c:txPr>
        <a:bodyPr/>
        <a:lstStyle/>
        <a:p>
          <a:pPr>
            <a:defRPr sz="1600"/>
          </a:pPr>
        </a:p>
      </c:txPr>
    </c:legend>
    <c:dispBlanksAs val="gap"/>
  </c:chart>
  <c:txPr>
    <a:bodyPr/>
    <a:lstStyle/>
    <a:p>
      <a:pPr>
        <a:defRPr sz="1600">
          <a:solidFill>
            <a:srgbClr val="1E2A30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morning. Our project is called Krypsis.</a:t>
            </a:r>
          </a:p>
          <a:p>
            <a:r>
              <a:t>It is a network intrusion detection system that learns from many routers</a:t>
            </a:r>
          </a:p>
          <a:p>
            <a:r>
              <a:t>without collecting their traffic in one place. This is called federated learning.</a:t>
            </a:r>
          </a:p>
          <a:p>
            <a:r>
              <a:t>On top of that, we designed our own protocol that checks every model update</a:t>
            </a:r>
          </a:p>
          <a:p>
            <a:r>
              <a:t>before the server uses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First, what is intrusion detection? It means looking at network traffic and</a:t>
            </a:r>
          </a:p>
          <a:p>
            <a:r>
              <a:t>deciding if it is normal or an attack.</a:t>
            </a:r>
          </a:p>
          <a:p>
            <a:r>
              <a:t>To learn this well, a model needs traffic from many places. But companies cannot</a:t>
            </a:r>
          </a:p>
          <a:p>
            <a:r>
              <a:t>share their traffic, because it is private.</a:t>
            </a:r>
          </a:p>
          <a:p>
            <a:r>
              <a:t>Federated learning solves this. Each device trains the model on its own data and</a:t>
            </a:r>
          </a:p>
          <a:p>
            <a:r>
              <a:t>only sends the model update, which is just a list of numbers, to the server.</a:t>
            </a:r>
          </a:p>
          <a:p>
            <a:r>
              <a:t>The server combines the updates into one shared model.</a:t>
            </a:r>
          </a:p>
          <a:p>
            <a:r>
              <a:t>But there is a new risk, shown as the dashed client on the right. A bad client can</a:t>
            </a:r>
          </a:p>
          <a:p>
            <a:r>
              <a:t>send a poisoned update and spoil the shared model.</a:t>
            </a:r>
          </a:p>
          <a:p>
            <a:r>
              <a:t>So our idea is simple: check every update before the server uses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had five objectives.</a:t>
            </a:r>
          </a:p>
          <a:p>
            <a:r>
              <a:t>One: build an attack detector where no one shares their raw traffic.</a:t>
            </a:r>
          </a:p>
          <a:p>
            <a:r>
              <a:t>Two: protect the training from clients that send poisoned or fake updates.</a:t>
            </a:r>
          </a:p>
          <a:p>
            <a:r>
              <a:t>Three: design our own protocol for sending updates safely.</a:t>
            </a:r>
          </a:p>
          <a:p>
            <a:r>
              <a:t>Four: our research question. Clients have different traffic, so an honest client</a:t>
            </a:r>
          </a:p>
          <a:p>
            <a:r>
              <a:t>can look unusual. We check whether one single threshold for everyone wrongly</a:t>
            </a:r>
          </a:p>
          <a:p>
            <a:r>
              <a:t>flags these honest clients.</a:t>
            </a:r>
          </a:p>
          <a:p>
            <a:r>
              <a:t>Five: compare that single global threshold with a Mondrian threshold, which means</a:t>
            </a:r>
          </a:p>
          <a:p>
            <a:r>
              <a:t>one threshold for each group of similar clients.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whole system in one picture.</a:t>
            </a:r>
          </a:p>
          <a:p>
            <a:r>
              <a:t>We start with the FLNET2023 dataset, which has traffic from 10 routers.</a:t>
            </a:r>
          </a:p>
          <a:p>
            <a:r>
              <a:t>We clean and scale the data. Then we give each router's data to one client, so we have</a:t>
            </a:r>
          </a:p>
          <a:p>
            <a:r>
              <a:t>10 clients.</a:t>
            </a:r>
          </a:p>
          <a:p>
            <a:r>
              <a:t>Each client trains the model on its own data. Then the update goes through our protocol</a:t>
            </a:r>
          </a:p>
          <a:p>
            <a:r>
              <a:t>check, the highlighted box. Only updates that pass are averaged by the server. This</a:t>
            </a:r>
          </a:p>
          <a:p>
            <a:r>
              <a:t>is called FedAvg.</a:t>
            </a:r>
          </a:p>
          <a:p>
            <a:r>
              <a:t>The result is the new global model. It is sent back to the clients and the loop repeats</a:t>
            </a:r>
          </a:p>
          <a:p>
            <a:r>
              <a:t>for the next round.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main dataset is FLNET2023. It was made for federated learning research. Traffic was</a:t>
            </a:r>
          </a:p>
          <a:p>
            <a:r>
              <a:t>recorded at 10 routers in a network.</a:t>
            </a:r>
          </a:p>
          <a:p>
            <a:r>
              <a:t>Each row is one flow, which means one conversation between two machines. Each flow has</a:t>
            </a:r>
          </a:p>
          <a:p>
            <a:r>
              <a:t>66 features, like number of packets, bytes and timing.</a:t>
            </a:r>
          </a:p>
          <a:p>
            <a:r>
              <a:t>The label is normal or attack. About 66 percent of training flows are attacks, of 10</a:t>
            </a:r>
          </a:p>
          <a:p>
            <a:r>
              <a:t>different types like DDoS, DoS, web attacks and man-in-the-middle.</a:t>
            </a:r>
          </a:p>
          <a:p>
            <a:r>
              <a:t>Preprocessing has four steps. First, we take a 10 percent sample of each file, because</a:t>
            </a:r>
          </a:p>
          <a:p>
            <a:r>
              <a:t>the full data is 4.8 million flows, too big to train many times on a laptop.</a:t>
            </a:r>
          </a:p>
          <a:p>
            <a:r>
              <a:t>Second, we remove IP addresses, port and time. Otherwise the model would just learn the</a:t>
            </a:r>
          </a:p>
          <a:p>
            <a:r>
              <a:t>attacker's address instead of what an attack looks like.</a:t>
            </a:r>
          </a:p>
          <a:p>
            <a:r>
              <a:t>Third, we remove broken rows and columns that never change.</a:t>
            </a:r>
          </a:p>
          <a:p>
            <a:r>
              <a:t>Fourth, we use a log scale and then scale every value to between 0 and 1. The scaler is</a:t>
            </a:r>
          </a:p>
          <a:p>
            <a:r>
              <a:t>fitted on training data only, so the test data stays unseen.</a:t>
            </a:r>
          </a:p>
          <a:p>
            <a:r>
              <a:t>We also repeat our tests on NSL-KDD, a well-known older dataset.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federated learning, we must decide how the data is spread over the clients.</a:t>
            </a:r>
          </a:p>
          <a:p>
            <a:r>
              <a:t>IID means every client gets a similar mix. In the chart, the grey bars are flat:</a:t>
            </a:r>
          </a:p>
          <a:p>
            <a:r>
              <a:t>every client has about 66 percent attack traffic.</a:t>
            </a:r>
          </a:p>
          <a:p>
            <a:r>
              <a:t>Non-IID means each client's data is different. This is how real networks are.</a:t>
            </a:r>
          </a:p>
          <a:p>
            <a:r>
              <a:t>For FLNET2023 we did not need to fake this. Each real router is one client. The dark bars</a:t>
            </a:r>
          </a:p>
          <a:p>
            <a:r>
              <a:t>show that router 3 has only 19 percent attacks, while router 4 has 92 percent.</a:t>
            </a:r>
          </a:p>
          <a:p>
            <a:r>
              <a:t>For NSL-KDD we created uneven clients with a Dirichlet split. A Dirichlet split gives each</a:t>
            </a:r>
          </a:p>
          <a:p>
            <a:r>
              <a:t>client a random share of each attack type. We used alpha equal to 0.5. A smaller alpha</a:t>
            </a:r>
          </a:p>
          <a:p>
            <a:r>
              <a:t>makes the clients more uneven. The light bars show it: some clients are almost all</a:t>
            </a:r>
          </a:p>
          <a:p>
            <a:r>
              <a:t>attack, others almost all normal.</a:t>
            </a:r>
          </a:p>
          <a:p>
            <a:r>
              <a:t>This matters because an honest client with unusual data can look suspicious. That is</a:t>
            </a:r>
          </a:p>
          <a:p>
            <a:r>
              <a:t>exactly our research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model is a simple neural network called an MLP, a multilayer perceptron.</a:t>
            </a:r>
          </a:p>
          <a:p>
            <a:r>
              <a:t>It takes the 66 features, passes them through three layers of 256, 128 and 64 neurons,</a:t>
            </a:r>
          </a:p>
          <a:p>
            <a:r>
              <a:t>and outputs one number: normal or attack. Dropout randomly switches off some neurons while</a:t>
            </a:r>
          </a:p>
          <a:p>
            <a:r>
              <a:t>training, which stops the model from memorising.</a:t>
            </a:r>
          </a:p>
          <a:p>
            <a:r>
              <a:t>Federated training works in a loop, shown at the bottom. The server sends the model. Each</a:t>
            </a:r>
          </a:p>
          <a:p>
            <a:r>
              <a:t>client trains it on its own data. The clients send back their updates. The server averages</a:t>
            </a:r>
          </a:p>
          <a:p>
            <a:r>
              <a:t>them. This averaging is called FedAvg. A client with more data gets more weight.</a:t>
            </a:r>
          </a:p>
          <a:p>
            <a:r>
              <a:t>We run 15 rounds, and each client trains for 2 passes over its data per round.</a:t>
            </a:r>
          </a:p>
          <a:p>
            <a:r>
              <a:t>For comparison, we also train the same model the normal way, with all data in one place.</a:t>
            </a:r>
          </a:p>
          <a:p>
            <a:r>
              <a:t>This is the centralized baseline. It tells us the best accuracy we can hope for.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most important part: our own protocol.</a:t>
            </a:r>
          </a:p>
          <a:p>
            <a:r>
              <a:t>Every round, each client sends one message with three parts. The model update in the</a:t>
            </a:r>
          </a:p>
          <a:p>
            <a:r>
              <a:t>middle is the actual list of numbers, about 233 kilobytes.</a:t>
            </a:r>
          </a:p>
          <a:p>
            <a:r>
              <a:t>On the right is the integrity tag. It is an HMAC, a kind of digital seal made with a</a:t>
            </a:r>
          </a:p>
          <a:p>
            <a:r>
              <a:t>secret key that only that client and the server know. If anyone changes even one byte on</a:t>
            </a:r>
          </a:p>
          <a:p>
            <a:r>
              <a:t>the way, the seal does not match and the server rejects the message.</a:t>
            </a:r>
          </a:p>
          <a:p>
            <a:r>
              <a:t>On the left is the header with the fingerprint. The fingerprint is a short summary of the</a:t>
            </a:r>
          </a:p>
          <a:p>
            <a:r>
              <a:t>update: how big it is, and a 64-number sketch of its direction. The server recalculates the</a:t>
            </a:r>
          </a:p>
          <a:p>
            <a:r>
              <a:t>fingerprint itself, so a client cannot lie about it.</a:t>
            </a:r>
          </a:p>
          <a:p>
            <a:r>
              <a:t>From the fingerprint the server computes three scores: is the update unusually big or</a:t>
            </a:r>
          </a:p>
          <a:p>
            <a:r>
              <a:t>small, does it point away from the other clients, and does it differ from this client's</a:t>
            </a:r>
          </a:p>
          <a:p>
            <a:r>
              <a:t>last update. High scores mean suspicious.</a:t>
            </a:r>
          </a:p>
          <a:p>
            <a:r>
              <a:t>All this protection makes the message only 0.67 percent bigger. Sending the same update</a:t>
            </a:r>
          </a:p>
          <a:p>
            <a:r>
              <a:t>as plain JSON text would be 5.6 times bigger.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 test our protocol, we attack our own system.</a:t>
            </a:r>
          </a:p>
          <a:p>
            <a:r>
              <a:t>We use label flipping. A malicious client takes its own data and swaps the labels:</a:t>
            </a:r>
          </a:p>
          <a:p>
            <a:r>
              <a:t>attack flows are called normal, and normal flows are called attack. It trains on this</a:t>
            </a:r>
          </a:p>
          <a:p>
            <a:r>
              <a:t>wrong data and sends the update. This pulls the shared model in the wrong direction.</a:t>
            </a:r>
          </a:p>
          <a:p>
            <a:r>
              <a:t>In every run, 2 of the 10 clients are malicious. Which two is chosen randomly for each run.</a:t>
            </a:r>
          </a:p>
          <a:p>
            <a:r>
              <a:t>The first 5 rounds are clean. The server uses them to learn what normal updates look like</a:t>
            </a:r>
          </a:p>
          <a:p>
            <a:r>
              <a:t>and to set its thresholds. The attack starts in round 6. Each run is 12 rounds.</a:t>
            </a:r>
          </a:p>
          <a:p>
            <a:r>
              <a:t>We repeat every test with different random seeds, 15 seeds in the main protocol test,</a:t>
            </a:r>
          </a:p>
          <a:p>
            <a:r>
              <a:t>so the result is not just luck.</a:t>
            </a:r>
          </a:p>
          <a:p>
            <a:r>
              <a:t>We also test tampering: we changed one byte in 105 honest messages on the way to the server.</a:t>
            </a:r>
          </a:p>
          <a:p>
            <a:r>
              <a:t>We also tried a backdoor attack, which is in our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the difference our protocol makes.</a:t>
            </a:r>
          </a:p>
          <a:p>
            <a:r>
              <a:t>At the top, without protection, every update goes straight into the average, including</a:t>
            </a:r>
          </a:p>
          <a:p>
            <a:r>
              <a:t>the bad ones. So the model gets poisoned.</a:t>
            </a:r>
          </a:p>
          <a:p>
            <a:r>
              <a:t>Below, with Krypsis, the server first checks the integrity tag. If the message was</a:t>
            </a:r>
          </a:p>
          <a:p>
            <a:r>
              <a:t>changed, it is rejected. Then it scores the fingerprint. If the score is too high, the</a:t>
            </a:r>
          </a:p>
          <a:p>
            <a:r>
              <a:t>update is flagged. A flagged update gets a second check against a robust average. If it</a:t>
            </a:r>
          </a:p>
          <a:p>
            <a:r>
              <a:t>still looks bad, it is rejected. Also, no client can have more than 15 percent weight in</a:t>
            </a:r>
          </a:p>
          <a:p>
            <a:r>
              <a:t>the average. That is the down-weighting. Only then the server averages.</a:t>
            </a:r>
          </a:p>
          <a:p>
            <a:r>
              <a:t>But this raises a question: how high must a score be to flag an update? That limit is</a:t>
            </a:r>
          </a:p>
          <a:p>
            <a:r>
              <a:t>the threshold. We set it from the first 5 clean rounds so that only about 5 percent of</a:t>
            </a:r>
          </a:p>
          <a:p>
            <a:r>
              <a:t>honest updates would cross it.</a:t>
            </a:r>
          </a:p>
          <a:p>
            <a:r>
              <a:t>With a global threshold, there is one limit for everyone. With a Mondrian threshold, the</a:t>
            </a:r>
          </a:p>
          <a:p>
            <a:r>
              <a:t>server groups similar clients into 3 clusters and gives each group its own limit.</a:t>
            </a:r>
          </a:p>
          <a:p>
            <a:r>
              <a:t>Our worry was that honest clients with unusual data, the non-IID ones, would be wrongly</a:t>
            </a:r>
          </a:p>
          <a:p>
            <a:r>
              <a:t>flagged by one global limit. Mondrian should be fairer to them. We tested whether it 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code makes the uneven, non-IID clients for NSL-KDD.</a:t>
            </a:r>
          </a:p>
          <a:p>
            <a:r>
              <a:t>It goes through each attack type one at a time. For each type, it shuffles the rows and</a:t>
            </a:r>
          </a:p>
          <a:p>
            <a:r>
              <a:t>then asks the Dirichlet distribution for 10 random shares that add up to one. One share per</a:t>
            </a:r>
          </a:p>
          <a:p>
            <a:r>
              <a:t>client. So one client may get 70 percent of an attack type and another almost nothing.</a:t>
            </a:r>
          </a:p>
          <a:p>
            <a:r>
              <a:t>Alpha controls how uneven it is. We used 0.5, which gives quite uneven clients.</a:t>
            </a:r>
          </a:p>
          <a:p>
            <a:r>
              <a:t>The last line of the loop gives every row a client number. For FLNET2023 we did not need</a:t>
            </a:r>
          </a:p>
          <a:p>
            <a:r>
              <a:t>this, because the real routers are already uneven.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FedAvg, the heart of federated learning.</a:t>
            </a:r>
          </a:p>
          <a:p>
            <a:r>
              <a:t>Look at the loop at the bottom first. In every round, each client copies the global</a:t>
            </a:r>
          </a:p>
          <a:p>
            <a:r>
              <a:t>model, trains it for 2 passes on its own data, and keeps its new weights.</a:t>
            </a:r>
          </a:p>
          <a:p>
            <a:r>
              <a:t>Then federated_average combines them. For each layer of the network, it multiplies each</a:t>
            </a:r>
          </a:p>
          <a:p>
            <a:r>
              <a:t>client's weights by that client's share of the data and adds them up. So a client with</a:t>
            </a:r>
          </a:p>
          <a:p>
            <a:r>
              <a:t>twice as much data counts twice as much.</a:t>
            </a:r>
          </a:p>
          <a:p>
            <a:r>
              <a:t>The result becomes the new global model for the next round.</a:t>
            </a:r>
          </a:p>
          <a:p>
            <a:r>
              <a:t>In the protocol version, only updates that passed our checks are averaged.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our protocol in code. The top half runs on the client.</a:t>
            </a:r>
          </a:p>
          <a:p>
            <a:r>
              <a:t>It computes the fingerprint of the update, puts it in the header with the client</a:t>
            </a:r>
          </a:p>
          <a:p>
            <a:r>
              <a:t>number and round, turns the update into bytes, and makes the HMAC tag using the client's</a:t>
            </a:r>
          </a:p>
          <a:p>
            <a:r>
              <a:t>secret key.</a:t>
            </a:r>
          </a:p>
          <a:p>
            <a:r>
              <a:t>The bottom half runs on the server. It makes the tag again with the same key. If the two</a:t>
            </a:r>
          </a:p>
          <a:p>
            <a:r>
              <a:t>tags are not the same, the message was changed, and it is rejected with bad_tag.</a:t>
            </a:r>
          </a:p>
          <a:p>
            <a:r>
              <a:t>Then it recomputes the fingerprint from the update itself. If it does not match what</a:t>
            </a:r>
          </a:p>
          <a:p>
            <a:r>
              <a:t>the client claimed, the message is rejected too. So a client cannot hide a bad update</a:t>
            </a:r>
          </a:p>
          <a:p>
            <a:r>
              <a:t>behind a nice-looking fingerprint.</a:t>
            </a:r>
          </a:p>
          <a:p>
            <a:r>
              <a:t>The code is slightly shortened to fit; the full version is in src/protocol.py.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code decides when an update is suspicious.</a:t>
            </a:r>
          </a:p>
          <a:p>
            <a:r>
              <a:t>conformal_threshold looks at the scores from the 5 clean calibration rounds and picks a</a:t>
            </a:r>
          </a:p>
          <a:p>
            <a:r>
              <a:t>limit so that only about 5 percent of honest updates would go above it. Alpha is 0.05.</a:t>
            </a:r>
          </a:p>
          <a:p>
            <a:r>
              <a:t>The global calibrator gives the same limit to every client.</a:t>
            </a:r>
          </a:p>
          <a:p>
            <a:r>
              <a:t>The Mondrian calibrator first groups the clients into 3 clusters with k-means, based on</a:t>
            </a:r>
          </a:p>
          <a:p>
            <a:r>
              <a:t>how their updates look. Then each cluster gets its own limit, and threshold_for returns</a:t>
            </a:r>
          </a:p>
          <a:p>
            <a:r>
              <a:t>the limit of that client's cluster.</a:t>
            </a:r>
          </a:p>
          <a:p>
            <a:r>
              <a:t>Finally is_flagged says: if any of the three scores is above its limit, flag the update.</a:t>
            </a:r>
          </a:p>
          <a:p>
            <a:r>
              <a:t>Some lines are shortened with dots to fit the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results are on the FLNET2023 test set, with no attack.</a:t>
            </a:r>
          </a:p>
          <a:p>
            <a:r>
              <a:t>Left chart: normal-versus-attack accuracy. The centralized model scores</a:t>
            </a:r>
          </a:p>
          <a:p>
            <a:r>
              <a:t>100.0%. Federated learning with an even IID split scores</a:t>
            </a:r>
          </a:p>
          <a:p>
            <a:r>
              <a:t>99.999%, and with the real uneven routers 99.93%.</a:t>
            </a:r>
          </a:p>
          <a:p>
            <a:r>
              <a:t>So keeping data private costs almost nothing. Please note the axis starts at 99.8 percent,</a:t>
            </a:r>
          </a:p>
          <a:p>
            <a:r>
              <a:t>so the small difference is visible.</a:t>
            </a:r>
          </a:p>
          <a:p>
            <a:r>
              <a:t>We checked why it is so high: one single feature, forward packet count, already gives</a:t>
            </a:r>
          </a:p>
          <a:p>
            <a:r>
              <a:t>97.5 percent. This dataset's binary task is easy.</a:t>
            </a:r>
          </a:p>
          <a:p>
            <a:r>
              <a:t>So we also trained the model to name the exact attack type, 11 classes. Right chart:</a:t>
            </a:r>
          </a:p>
          <a:p>
            <a:r>
              <a:t>macro-F1, which is the average score over all types. Centralized</a:t>
            </a:r>
          </a:p>
          <a:p>
            <a:r>
              <a:t>0.79, IID 0.76, but real</a:t>
            </a:r>
          </a:p>
          <a:p>
            <a:r>
              <a:t>routers only 0.39. Attack types that only one router</a:t>
            </a:r>
          </a:p>
          <a:p>
            <a:r>
              <a:t>sees get averaged away. That is the real cost of uneven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 the attack. 2 of the 10 clients flip their labels.</a:t>
            </a:r>
          </a:p>
          <a:p>
            <a:r>
              <a:t>Left chart: accuracy at the end of training. On FLNET2023, without protection the model</a:t>
            </a:r>
          </a:p>
          <a:p>
            <a:r>
              <a:t>gets 92.4%; with Krypsis 96.7%.</a:t>
            </a:r>
          </a:p>
          <a:p>
            <a:r>
              <a:t>On NSL-KDD, without protection 68.8%; with Krypsis</a:t>
            </a:r>
          </a:p>
          <a:p>
            <a:r>
              <a:t>79.2%. On NSL-KDD this improvement is statistically significant.</a:t>
            </a:r>
          </a:p>
          <a:p>
            <a:r>
              <a:t>FLNET2023 has only 5 seeds, so it points the same way but is not significant.</a:t>
            </a:r>
          </a:p>
          <a:p>
            <a:r>
              <a:t>Right chart: the dark bars show how many poisoned updates were caught:</a:t>
            </a:r>
          </a:p>
          <a:p>
            <a:r>
              <a:t>71.4% on FLNET2023 and 99.3%</a:t>
            </a:r>
          </a:p>
          <a:p>
            <a:r>
              <a:t>on NSL-KDD. The light bars, almost invisible, show honest updates wrongly flagged:</a:t>
            </a:r>
          </a:p>
          <a:p>
            <a:r>
              <a:t>only 0.4% and 1.1%.</a:t>
            </a:r>
          </a:p>
          <a:p>
            <a:r>
              <a:t>And every one of the 105 tampered messages was rejected by the</a:t>
            </a:r>
          </a:p>
          <a:p>
            <a:r>
              <a:t>integrity tag.</a:t>
            </a:r>
          </a:p>
          <a:p>
            <a:r>
              <a:t>These numbers are means over 5 seeds for FLNET2023 and 10 seeds for NSL-KDD.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table answers our research question. It is the FLNET2023 test with 15 seeds.</a:t>
            </a:r>
          </a:p>
          <a:p>
            <a:r>
              <a:t>Without the protocol, final accuracy under attack is 78.0%.</a:t>
            </a:r>
          </a:p>
          <a:p>
            <a:r>
              <a:t>With the protocol and a global threshold it is 88.2%, and with</a:t>
            </a:r>
          </a:p>
          <a:p>
            <a:r>
              <a:t>Mondrian 87.5%.</a:t>
            </a:r>
          </a:p>
          <a:p>
            <a:r>
              <a:t>Mondrian caught slightly more attacks, 57.6% against</a:t>
            </a:r>
          </a:p>
          <a:p>
            <a:r>
              <a:t>53.3%, but it also wrongly flagged more honest clients,</a:t>
            </a:r>
          </a:p>
          <a:p>
            <a:r>
              <a:t>4.6% against 2.7%.</a:t>
            </a:r>
          </a:p>
          <a:p>
            <a:r>
              <a:t>We used a paired t-test over the 15 seeds. Neither difference is significant: p equals</a:t>
            </a:r>
          </a:p>
          <a:p>
            <a:r>
              <a:t>0.21 and 0.18.</a:t>
            </a:r>
          </a:p>
          <a:p>
            <a:r>
              <a:t>So the global threshold, highlighted, is the best choice: highest accuracy, fewest false</a:t>
            </a:r>
          </a:p>
          <a:p>
            <a:r>
              <a:t>alarms, and simpler. Both versions rejected every tampered message.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 conclude.</a:t>
            </a:r>
          </a:p>
          <a:p>
            <a:r>
              <a:t>We built Krypsis, a federated intrusion detector where 10 real routers train one model</a:t>
            </a:r>
          </a:p>
          <a:p>
            <a:r>
              <a:t>together without sharing their traffic.</a:t>
            </a:r>
          </a:p>
          <a:p>
            <a:r>
              <a:t>Federated training worked: it nearly matches the model trained on all the data.</a:t>
            </a:r>
          </a:p>
          <a:p>
            <a:r>
              <a:t>Our protocol worked: it rejected every tampered message, caught most poisoned updates,</a:t>
            </a:r>
          </a:p>
          <a:p>
            <a:r>
              <a:t>and kept accuracy higher under attack, for less than 1 percent extra message size.</a:t>
            </a:r>
          </a:p>
          <a:p>
            <a:r>
              <a:t>And our key finding: we expected a single global threshold to be unfair to honest clients</a:t>
            </a:r>
          </a:p>
          <a:p>
            <a:r>
              <a:t>with unusual data. It was not. Once scores are compared within each round, one global</a:t>
            </a:r>
          </a:p>
          <a:p>
            <a:r>
              <a:t>threshold is enough, and Mondrian gave no significant gain.</a:t>
            </a:r>
          </a:p>
          <a:p>
            <a:r>
              <a:t>Thank you. We are happy to take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chart" Target="../charts/chart5.xml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35508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A3ADB4"/>
                </a:solidFill>
                <a:latin typeface="Segoe UI"/>
              </a:rPr>
              <a:t>Krypsis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4472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600" b="0" i="0">
                <a:solidFill>
                  <a:srgbClr val="A3ADB4"/>
                </a:solidFill>
                <a:latin typeface="Segoe UI"/>
              </a:rPr>
              <a:t>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F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10058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600" b="0" i="0">
                <a:solidFill>
                  <a:srgbClr val="0F5F6B"/>
                </a:solidFill>
                <a:latin typeface="Segoe UI Semibold"/>
              </a:rPr>
              <a:t>Krypsis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1E2A30"/>
                </a:solidFill>
                <a:latin typeface="Segoe UI"/>
              </a:rPr>
              <a:t>Federated intrusion detection with our own secure update protocol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914400" y="3566160"/>
            <a:ext cx="1828800" cy="0"/>
          </a:xfrm>
          <a:prstGeom prst="line">
            <a:avLst/>
          </a:prstGeom>
          <a:ln w="25400">
            <a:solidFill>
              <a:srgbClr val="0F5F6B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914400" y="3886200"/>
            <a:ext cx="100584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2000" b="1" i="0">
                <a:solidFill>
                  <a:srgbClr val="5F6B73"/>
                </a:solidFill>
                <a:latin typeface="Segoe UI"/>
              </a:rPr>
              <a:t>Team:  </a:t>
            </a:r>
            <a:r>
              <a:rPr sz="2000" b="0" i="0">
                <a:solidFill>
                  <a:srgbClr val="1E2A30"/>
                </a:solidFill>
                <a:latin typeface="Segoe UI"/>
              </a:rPr>
              <a:t>Rithika K  ·  Pradhaniya S  ·  Sathya K  ·  Vinudharshini PP</a:t>
            </a:r>
          </a:p>
          <a:p>
            <a:pPr algn="l">
              <a:lnSpc>
                <a:spcPct val="150000"/>
              </a:lnSpc>
            </a:pPr>
            <a:r>
              <a:rPr sz="2000" b="1" i="0">
                <a:solidFill>
                  <a:srgbClr val="5F6B73"/>
                </a:solidFill>
                <a:latin typeface="Segoe UI"/>
              </a:rPr>
              <a:t>Guide:  </a:t>
            </a:r>
            <a:r>
              <a:rPr sz="2000" b="1" i="0">
                <a:solidFill>
                  <a:srgbClr val="C00000"/>
                </a:solidFill>
                <a:latin typeface="Segoe UI"/>
              </a:rPr>
              <a:t>[FILL]</a:t>
            </a:r>
          </a:p>
          <a:p>
            <a:pPr algn="l">
              <a:lnSpc>
                <a:spcPct val="150000"/>
              </a:lnSpc>
            </a:pPr>
            <a:r>
              <a:rPr sz="2000" b="1" i="0">
                <a:solidFill>
                  <a:srgbClr val="5F6B73"/>
                </a:solidFill>
                <a:latin typeface="Segoe UI"/>
              </a:rPr>
              <a:t>College:  </a:t>
            </a:r>
            <a:r>
              <a:rPr sz="2000" b="1" i="0">
                <a:solidFill>
                  <a:srgbClr val="C00000"/>
                </a:solidFill>
                <a:latin typeface="Segoe UI"/>
              </a:rPr>
              <a:t>[FILL]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475488"/>
            <a:ext cx="73152" cy="566928"/>
          </a:xfrm>
          <a:prstGeom prst="rect">
            <a:avLst/>
          </a:prstGeom>
          <a:solidFill>
            <a:srgbClr val="0F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908792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0" i="0">
                <a:solidFill>
                  <a:srgbClr val="1E2A30"/>
                </a:solidFill>
                <a:latin typeface="Segoe UI Semibold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A3ADB4"/>
                </a:solidFill>
                <a:latin typeface="Segoe UI"/>
              </a:rPr>
              <a:t>Krypsis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34472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600" b="0" i="0">
                <a:solidFill>
                  <a:srgbClr val="A3ADB4"/>
                </a:solidFill>
                <a:latin typeface="Segoe U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585216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lnSpc>
                <a:spcPct val="110000"/>
              </a:lnSpc>
              <a:spcAft>
                <a:spcPts val="2000"/>
              </a:spcAft>
              <a:buClr>
                <a:srgbClr val="0F5F6B"/>
              </a:buClr>
              <a:buFont typeface="Arial"/>
              <a:buChar char="•"/>
            </a:pPr>
            <a:r>
              <a:rPr sz="2200" b="1">
                <a:solidFill>
                  <a:srgbClr val="0F5F6B"/>
                </a:solidFill>
                <a:latin typeface="Segoe UI"/>
              </a:rPr>
              <a:t>Intrusion detection: </a:t>
            </a:r>
            <a:r>
              <a:rPr sz="2200" b="0">
                <a:solidFill>
                  <a:srgbClr val="1E2A30"/>
                </a:solidFill>
                <a:latin typeface="Segoe UI"/>
              </a:rPr>
              <a:t>spotting attacks inside network traffic.</a:t>
            </a:r>
          </a:p>
          <a:p>
            <a:pPr marL="274320" indent="-274320">
              <a:lnSpc>
                <a:spcPct val="110000"/>
              </a:lnSpc>
              <a:spcAft>
                <a:spcPts val="2000"/>
              </a:spcAft>
              <a:buClr>
                <a:srgbClr val="0F5F6B"/>
              </a:buClr>
              <a:buFont typeface="Arial"/>
              <a:buChar char="•"/>
            </a:pPr>
            <a:r>
              <a:rPr sz="2200" b="1">
                <a:solidFill>
                  <a:srgbClr val="0F5F6B"/>
                </a:solidFill>
                <a:latin typeface="Segoe UI"/>
              </a:rPr>
              <a:t>Federated learning: </a:t>
            </a:r>
            <a:r>
              <a:rPr sz="2200" b="0">
                <a:solidFill>
                  <a:srgbClr val="1E2A30"/>
                </a:solidFill>
                <a:latin typeface="Segoe UI"/>
              </a:rPr>
              <a:t>data stays on each device; only model updates are shared.</a:t>
            </a:r>
          </a:p>
          <a:p>
            <a:pPr marL="274320" indent="-274320">
              <a:lnSpc>
                <a:spcPct val="110000"/>
              </a:lnSpc>
              <a:spcAft>
                <a:spcPts val="2000"/>
              </a:spcAft>
              <a:buClr>
                <a:srgbClr val="0F5F6B"/>
              </a:buClr>
              <a:buFont typeface="Arial"/>
              <a:buChar char="•"/>
            </a:pPr>
            <a:r>
              <a:rPr sz="2200" b="1">
                <a:solidFill>
                  <a:srgbClr val="0F5F6B"/>
                </a:solidFill>
                <a:latin typeface="Segoe UI"/>
              </a:rPr>
              <a:t>The risk: </a:t>
            </a:r>
            <a:r>
              <a:rPr sz="2200" b="0">
                <a:solidFill>
                  <a:srgbClr val="1E2A30"/>
                </a:solidFill>
                <a:latin typeface="Segoe UI"/>
              </a:rPr>
              <a:t>a bad client can send poisoned updates.</a:t>
            </a:r>
          </a:p>
          <a:p>
            <a:pPr marL="274320" indent="-274320">
              <a:lnSpc>
                <a:spcPct val="110000"/>
              </a:lnSpc>
              <a:spcAft>
                <a:spcPts val="2000"/>
              </a:spcAft>
              <a:buClr>
                <a:srgbClr val="0F5F6B"/>
              </a:buClr>
              <a:buFont typeface="Arial"/>
              <a:buChar char="•"/>
            </a:pPr>
            <a:r>
              <a:rPr sz="2200" b="1">
                <a:solidFill>
                  <a:srgbClr val="0F5F6B"/>
                </a:solidFill>
                <a:latin typeface="Segoe UI"/>
              </a:rPr>
              <a:t>Our idea: </a:t>
            </a:r>
            <a:r>
              <a:rPr sz="2200" b="0">
                <a:solidFill>
                  <a:srgbClr val="1E2A30"/>
                </a:solidFill>
                <a:latin typeface="Segoe UI"/>
              </a:rPr>
              <a:t>check every update before the server uses 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1600200"/>
            <a:ext cx="2468880" cy="868680"/>
          </a:xfrm>
          <a:prstGeom prst="roundRect">
            <a:avLst>
              <a:gd name="adj" fmla="val 8000"/>
            </a:avLst>
          </a:prstGeom>
          <a:solidFill>
            <a:srgbClr val="E4F0F1"/>
          </a:solidFill>
          <a:ln w="12700">
            <a:solidFill>
              <a:srgbClr val="0F5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09560" y="1600200"/>
            <a:ext cx="22860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 i="0">
                <a:solidFill>
                  <a:srgbClr val="0F5F6B"/>
                </a:solidFill>
                <a:latin typeface="Segoe UI"/>
              </a:rPr>
              <a:t>Server</a:t>
            </a:r>
          </a:p>
          <a:p>
            <a:pPr algn="ctr">
              <a:lnSpc>
                <a:spcPct val="105000"/>
              </a:lnSpc>
            </a:pPr>
            <a:r>
              <a:rPr sz="1600" b="0" i="0">
                <a:solidFill>
                  <a:srgbClr val="5F6B73"/>
                </a:solidFill>
                <a:latin typeface="Segoe UI"/>
              </a:rPr>
              <a:t>combines updates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95160" y="3931920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6600" y="3931920"/>
            <a:ext cx="12344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 i="0">
                <a:solidFill>
                  <a:srgbClr val="1E2A30"/>
                </a:solidFill>
                <a:latin typeface="Segoe UI"/>
              </a:rPr>
              <a:t>Client 1</a:t>
            </a:r>
          </a:p>
          <a:p>
            <a:pPr algn="ctr">
              <a:lnSpc>
                <a:spcPct val="105000"/>
              </a:lnSpc>
            </a:pPr>
            <a:r>
              <a:rPr sz="1600" b="0" i="0">
                <a:solidFill>
                  <a:srgbClr val="5F6B73"/>
                </a:solidFill>
                <a:latin typeface="Segoe UI"/>
              </a:rPr>
              <a:t>honest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7703820" y="2468880"/>
            <a:ext cx="800100" cy="1463040"/>
          </a:xfrm>
          <a:prstGeom prst="line">
            <a:avLst/>
          </a:prstGeom>
          <a:ln w="19050">
            <a:solidFill>
              <a:srgbClr val="0F5F6B"/>
            </a:solidFill>
            <a:tailEnd type="triangle" w="med" len="med"/>
          </a:ln>
        </p:spPr>
      </p:cxnSp>
      <p:sp>
        <p:nvSpPr>
          <p:cNvPr id="13" name="Rounded Rectangle 12"/>
          <p:cNvSpPr/>
          <p:nvPr/>
        </p:nvSpPr>
        <p:spPr>
          <a:xfrm>
            <a:off x="8595360" y="3931920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0" y="3931920"/>
            <a:ext cx="12344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 i="0">
                <a:solidFill>
                  <a:srgbClr val="1E2A30"/>
                </a:solidFill>
                <a:latin typeface="Segoe UI"/>
              </a:rPr>
              <a:t>Client 2</a:t>
            </a:r>
          </a:p>
          <a:p>
            <a:pPr algn="ctr">
              <a:lnSpc>
                <a:spcPct val="105000"/>
              </a:lnSpc>
            </a:pPr>
            <a:r>
              <a:rPr sz="1600" b="0" i="0">
                <a:solidFill>
                  <a:srgbClr val="5F6B73"/>
                </a:solidFill>
                <a:latin typeface="Segoe UI"/>
              </a:rPr>
              <a:t>honest</a:t>
            </a:r>
          </a:p>
        </p:txBody>
      </p:sp>
      <p:cxnSp>
        <p:nvCxnSpPr>
          <p:cNvPr id="15" name="Connector 14"/>
          <p:cNvCxnSpPr/>
          <p:nvPr/>
        </p:nvCxnSpPr>
        <p:spPr>
          <a:xfrm flipH="1" flipV="1">
            <a:off x="9052560" y="2468880"/>
            <a:ext cx="251460" cy="1463040"/>
          </a:xfrm>
          <a:prstGeom prst="line">
            <a:avLst/>
          </a:prstGeom>
          <a:ln w="19050">
            <a:solidFill>
              <a:srgbClr val="0F5F6B"/>
            </a:solidFill>
            <a:tailEnd type="triangle" w="med" len="med"/>
          </a:ln>
        </p:spPr>
      </p:cxnSp>
      <p:sp>
        <p:nvSpPr>
          <p:cNvPr id="16" name="Rounded Rectangle 15"/>
          <p:cNvSpPr/>
          <p:nvPr/>
        </p:nvSpPr>
        <p:spPr>
          <a:xfrm>
            <a:off x="10195560" y="3931920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E2A3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87000" y="3931920"/>
            <a:ext cx="12344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 i="0">
                <a:solidFill>
                  <a:srgbClr val="1E2A30"/>
                </a:solidFill>
                <a:latin typeface="Segoe UI"/>
              </a:rPr>
              <a:t>Client 3</a:t>
            </a:r>
          </a:p>
          <a:p>
            <a:pPr algn="ctr">
              <a:lnSpc>
                <a:spcPct val="105000"/>
              </a:lnSpc>
            </a:pPr>
            <a:r>
              <a:rPr sz="1600" b="0" i="0">
                <a:solidFill>
                  <a:srgbClr val="1E2A30"/>
                </a:solidFill>
                <a:latin typeface="Segoe UI"/>
              </a:rPr>
              <a:t>bad</a:t>
            </a:r>
          </a:p>
        </p:txBody>
      </p:sp>
      <p:cxnSp>
        <p:nvCxnSpPr>
          <p:cNvPr id="18" name="Connector 17"/>
          <p:cNvCxnSpPr/>
          <p:nvPr/>
        </p:nvCxnSpPr>
        <p:spPr>
          <a:xfrm flipH="1" flipV="1">
            <a:off x="9601200" y="2468880"/>
            <a:ext cx="1303020" cy="1463040"/>
          </a:xfrm>
          <a:prstGeom prst="line">
            <a:avLst/>
          </a:prstGeom>
          <a:ln w="25400">
            <a:solidFill>
              <a:srgbClr val="1E2A30"/>
            </a:solidFill>
            <a:tailEnd type="triangle" w="med" len="med"/>
          </a:ln>
        </p:spPr>
      </p:cxnSp>
      <p:sp>
        <p:nvSpPr>
          <p:cNvPr id="19" name="TextBox 18"/>
          <p:cNvSpPr txBox="1"/>
          <p:nvPr/>
        </p:nvSpPr>
        <p:spPr>
          <a:xfrm>
            <a:off x="6995160" y="5074920"/>
            <a:ext cx="4572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i="0">
                <a:solidFill>
                  <a:srgbClr val="5F6B73"/>
                </a:solidFill>
                <a:latin typeface="Segoe UI"/>
              </a:rPr>
              <a:t>Traffic stays with each client.</a:t>
            </a:r>
          </a:p>
          <a:p>
            <a:pPr algn="ctr">
              <a:lnSpc>
                <a:spcPct val="115000"/>
              </a:lnSpc>
            </a:pPr>
            <a:r>
              <a:rPr sz="1600" b="0" i="0">
                <a:solidFill>
                  <a:srgbClr val="5F6B73"/>
                </a:solidFill>
                <a:latin typeface="Segoe UI"/>
              </a:rPr>
              <a:t>Only the model update travels.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475488"/>
            <a:ext cx="73152" cy="566928"/>
          </a:xfrm>
          <a:prstGeom prst="rect">
            <a:avLst/>
          </a:prstGeom>
          <a:solidFill>
            <a:srgbClr val="0F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908792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0" i="0">
                <a:solidFill>
                  <a:srgbClr val="1E2A30"/>
                </a:solidFill>
                <a:latin typeface="Segoe UI Semibold"/>
              </a:rPr>
              <a:t>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A3ADB4"/>
                </a:solidFill>
                <a:latin typeface="Segoe UI"/>
              </a:rPr>
              <a:t>Krypsis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34472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600" b="0" i="0">
                <a:solidFill>
                  <a:srgbClr val="A3ADB4"/>
                </a:solidFill>
                <a:latin typeface="Segoe UI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E4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0020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0F5F6B"/>
                </a:solidFill>
                <a:latin typeface="Segoe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600200"/>
            <a:ext cx="96012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1E2A30"/>
                </a:solidFill>
                <a:latin typeface="Segoe UI"/>
              </a:rPr>
              <a:t>Detect network attacks without sharing raw data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51460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E4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51460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0F5F6B"/>
                </a:solidFill>
                <a:latin typeface="Segoe U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514600"/>
            <a:ext cx="96012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1E2A30"/>
                </a:solidFill>
                <a:latin typeface="Segoe UI"/>
              </a:rPr>
              <a:t>Protect training from poisoned or fake client updates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42900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E4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42900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0F5F6B"/>
                </a:solidFill>
                <a:latin typeface="Segoe U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429000"/>
            <a:ext cx="96012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1E2A30"/>
                </a:solidFill>
                <a:latin typeface="Segoe UI"/>
              </a:rPr>
              <a:t>Design our own secure communication protocol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4340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E4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34340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0F5F6B"/>
                </a:solidFill>
                <a:latin typeface="Segoe U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343400"/>
            <a:ext cx="96012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1E2A30"/>
                </a:solidFill>
                <a:latin typeface="Segoe UI"/>
              </a:rPr>
              <a:t>Check if one global threshold unfairly flags honest clients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25780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E4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25780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0F5F6B"/>
                </a:solidFill>
                <a:latin typeface="Segoe U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5257800"/>
            <a:ext cx="96012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1E2A30"/>
                </a:solidFill>
                <a:latin typeface="Segoe UI"/>
              </a:rPr>
              <a:t>Compare global vs per-cluster (Mondrian) thresholds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475488"/>
            <a:ext cx="73152" cy="566928"/>
          </a:xfrm>
          <a:prstGeom prst="rect">
            <a:avLst/>
          </a:prstGeom>
          <a:solidFill>
            <a:srgbClr val="0F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908792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0" i="0">
                <a:solidFill>
                  <a:srgbClr val="1E2A30"/>
                </a:solidFill>
                <a:latin typeface="Segoe UI Semibold"/>
              </a:rPr>
              <a:t>Methodology: overall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A3ADB4"/>
                </a:solidFill>
                <a:latin typeface="Segoe UI"/>
              </a:rPr>
              <a:t>Krypsis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34472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600" b="0" i="0">
                <a:solidFill>
                  <a:srgbClr val="A3ADB4"/>
                </a:solidFill>
                <a:latin typeface="Segoe UI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23774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91640"/>
            <a:ext cx="219456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1" i="0">
                <a:solidFill>
                  <a:srgbClr val="1E2A30"/>
                </a:solidFill>
                <a:latin typeface="Segoe UI"/>
              </a:rPr>
              <a:t>Dataset</a:t>
            </a:r>
          </a:p>
          <a:p>
            <a:pPr algn="ctr">
              <a:lnSpc>
                <a:spcPct val="105000"/>
              </a:lnSpc>
            </a:pPr>
            <a:r>
              <a:rPr sz="1600" b="0" i="0">
                <a:solidFill>
                  <a:srgbClr val="5F6B73"/>
                </a:solidFill>
                <a:latin typeface="Segoe UI"/>
              </a:rPr>
              <a:t>FLNET2023, 10 routers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108960" y="2263140"/>
            <a:ext cx="457200" cy="0"/>
          </a:xfrm>
          <a:prstGeom prst="line">
            <a:avLst/>
          </a:prstGeom>
          <a:ln w="19050">
            <a:solidFill>
              <a:srgbClr val="0F5F6B"/>
            </a:solidFill>
            <a:tailEnd type="triangle" w="med" len="med"/>
          </a:ln>
        </p:spPr>
      </p:cxnSp>
      <p:sp>
        <p:nvSpPr>
          <p:cNvPr id="10" name="Rounded Rectangle 9"/>
          <p:cNvSpPr/>
          <p:nvPr/>
        </p:nvSpPr>
        <p:spPr>
          <a:xfrm>
            <a:off x="3566160" y="1691640"/>
            <a:ext cx="23774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1691640"/>
            <a:ext cx="219456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1" i="0">
                <a:solidFill>
                  <a:srgbClr val="1E2A30"/>
                </a:solidFill>
                <a:latin typeface="Segoe UI"/>
              </a:rPr>
              <a:t>Preprocessing</a:t>
            </a:r>
          </a:p>
          <a:p>
            <a:pPr algn="ctr">
              <a:lnSpc>
                <a:spcPct val="105000"/>
              </a:lnSpc>
            </a:pPr>
            <a:r>
              <a:rPr sz="1600" b="0" i="0">
                <a:solidFill>
                  <a:srgbClr val="5F6B73"/>
                </a:solidFill>
                <a:latin typeface="Segoe UI"/>
              </a:rPr>
              <a:t>clean and scale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0" y="2263140"/>
            <a:ext cx="457200" cy="0"/>
          </a:xfrm>
          <a:prstGeom prst="line">
            <a:avLst/>
          </a:prstGeom>
          <a:ln w="19050">
            <a:solidFill>
              <a:srgbClr val="0F5F6B"/>
            </a:solidFill>
            <a:tailEnd type="triangle" w="med" len="med"/>
          </a:ln>
        </p:spPr>
      </p:cxnSp>
      <p:sp>
        <p:nvSpPr>
          <p:cNvPr id="13" name="Rounded Rectangle 12"/>
          <p:cNvSpPr/>
          <p:nvPr/>
        </p:nvSpPr>
        <p:spPr>
          <a:xfrm>
            <a:off x="6400800" y="1691640"/>
            <a:ext cx="23774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691640"/>
            <a:ext cx="219456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1" i="0">
                <a:solidFill>
                  <a:srgbClr val="1E2A30"/>
                </a:solidFill>
                <a:latin typeface="Segoe UI"/>
              </a:rPr>
              <a:t>Split to clients</a:t>
            </a:r>
          </a:p>
          <a:p>
            <a:pPr algn="ctr">
              <a:lnSpc>
                <a:spcPct val="105000"/>
              </a:lnSpc>
            </a:pPr>
            <a:r>
              <a:rPr sz="1600" b="0" i="0">
                <a:solidFill>
                  <a:srgbClr val="5F6B73"/>
                </a:solidFill>
                <a:latin typeface="Segoe UI"/>
              </a:rPr>
              <a:t>1 router = 1 client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778240" y="2263140"/>
            <a:ext cx="457200" cy="0"/>
          </a:xfrm>
          <a:prstGeom prst="line">
            <a:avLst/>
          </a:prstGeom>
          <a:ln w="19050">
            <a:solidFill>
              <a:srgbClr val="0F5F6B"/>
            </a:solidFill>
            <a:tailEnd type="triangle" w="med" len="med"/>
          </a:ln>
        </p:spPr>
      </p:cxnSp>
      <p:sp>
        <p:nvSpPr>
          <p:cNvPr id="16" name="Rounded Rectangle 15"/>
          <p:cNvSpPr/>
          <p:nvPr/>
        </p:nvSpPr>
        <p:spPr>
          <a:xfrm>
            <a:off x="9235440" y="1691640"/>
            <a:ext cx="23774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0" y="1691640"/>
            <a:ext cx="219456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1" i="0">
                <a:solidFill>
                  <a:srgbClr val="1E2A30"/>
                </a:solidFill>
                <a:latin typeface="Segoe UI"/>
              </a:rPr>
              <a:t>Local training</a:t>
            </a:r>
          </a:p>
          <a:p>
            <a:pPr algn="ctr">
              <a:lnSpc>
                <a:spcPct val="105000"/>
              </a:lnSpc>
            </a:pPr>
            <a:r>
              <a:rPr sz="1600" b="0" i="0">
                <a:solidFill>
                  <a:srgbClr val="5F6B73"/>
                </a:solidFill>
                <a:latin typeface="Segoe UI"/>
              </a:rPr>
              <a:t>each client trains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0424160" y="2834640"/>
            <a:ext cx="0" cy="731520"/>
          </a:xfrm>
          <a:prstGeom prst="line">
            <a:avLst/>
          </a:prstGeom>
          <a:ln w="19050">
            <a:solidFill>
              <a:srgbClr val="0F5F6B"/>
            </a:solidFill>
            <a:tailEnd type="triangle" w="med" len="med"/>
          </a:ln>
        </p:spPr>
      </p:cxnSp>
      <p:sp>
        <p:nvSpPr>
          <p:cNvPr id="19" name="Rounded Rectangle 18"/>
          <p:cNvSpPr/>
          <p:nvPr/>
        </p:nvSpPr>
        <p:spPr>
          <a:xfrm>
            <a:off x="9235440" y="3566160"/>
            <a:ext cx="2377440" cy="1143000"/>
          </a:xfrm>
          <a:prstGeom prst="roundRect">
            <a:avLst>
              <a:gd name="adj" fmla="val 8000"/>
            </a:avLst>
          </a:prstGeom>
          <a:solidFill>
            <a:srgbClr val="E4F0F1"/>
          </a:solidFill>
          <a:ln w="12700">
            <a:solidFill>
              <a:srgbClr val="0F5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0" y="3566160"/>
            <a:ext cx="219456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1" i="0">
                <a:solidFill>
                  <a:srgbClr val="0F5F6B"/>
                </a:solidFill>
                <a:latin typeface="Segoe UI"/>
              </a:rPr>
              <a:t>Protocol check</a:t>
            </a:r>
          </a:p>
          <a:p>
            <a:pPr algn="ctr">
              <a:lnSpc>
                <a:spcPct val="105000"/>
              </a:lnSpc>
            </a:pPr>
            <a:r>
              <a:rPr sz="1600" b="0" i="0">
                <a:solidFill>
                  <a:srgbClr val="5F6B73"/>
                </a:solidFill>
                <a:latin typeface="Segoe UI"/>
              </a:rPr>
              <a:t>tag + fingerprint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8778240" y="4137660"/>
            <a:ext cx="457200" cy="0"/>
          </a:xfrm>
          <a:prstGeom prst="line">
            <a:avLst/>
          </a:prstGeom>
          <a:ln w="19050">
            <a:solidFill>
              <a:srgbClr val="0F5F6B"/>
            </a:solidFill>
            <a:tailEnd type="triangle" w="med" len="med"/>
          </a:ln>
        </p:spPr>
      </p:cxnSp>
      <p:sp>
        <p:nvSpPr>
          <p:cNvPr id="22" name="Rounded Rectangle 21"/>
          <p:cNvSpPr/>
          <p:nvPr/>
        </p:nvSpPr>
        <p:spPr>
          <a:xfrm>
            <a:off x="6400800" y="3566160"/>
            <a:ext cx="23774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566160"/>
            <a:ext cx="219456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1" i="0">
                <a:solidFill>
                  <a:srgbClr val="1E2A30"/>
                </a:solidFill>
                <a:latin typeface="Segoe UI"/>
              </a:rPr>
              <a:t>Server aggregation</a:t>
            </a:r>
          </a:p>
          <a:p>
            <a:pPr algn="ctr">
              <a:lnSpc>
                <a:spcPct val="105000"/>
              </a:lnSpc>
            </a:pPr>
            <a:r>
              <a:rPr sz="1600" b="0" i="0">
                <a:solidFill>
                  <a:srgbClr val="5F6B73"/>
                </a:solidFill>
                <a:latin typeface="Segoe UI"/>
              </a:rPr>
              <a:t>FedAvg average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5943600" y="4137660"/>
            <a:ext cx="457200" cy="0"/>
          </a:xfrm>
          <a:prstGeom prst="line">
            <a:avLst/>
          </a:prstGeom>
          <a:ln w="19050">
            <a:solidFill>
              <a:srgbClr val="0F5F6B"/>
            </a:solidFill>
            <a:tailEnd type="triangle" w="med" len="med"/>
          </a:ln>
        </p:spPr>
      </p:cxnSp>
      <p:sp>
        <p:nvSpPr>
          <p:cNvPr id="25" name="Rounded Rectangle 24"/>
          <p:cNvSpPr/>
          <p:nvPr/>
        </p:nvSpPr>
        <p:spPr>
          <a:xfrm>
            <a:off x="3566160" y="3566160"/>
            <a:ext cx="23774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0" y="3566160"/>
            <a:ext cx="219456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1" i="0">
                <a:solidFill>
                  <a:srgbClr val="1E2A30"/>
                </a:solidFill>
                <a:latin typeface="Segoe UI"/>
              </a:rPr>
              <a:t>Global model</a:t>
            </a:r>
          </a:p>
          <a:p>
            <a:pPr algn="ctr">
              <a:lnSpc>
                <a:spcPct val="105000"/>
              </a:lnSpc>
            </a:pPr>
            <a:r>
              <a:rPr sz="1600" b="0" i="0">
                <a:solidFill>
                  <a:srgbClr val="5F6B73"/>
                </a:solidFill>
                <a:latin typeface="Segoe UI"/>
              </a:rPr>
              <a:t>better every round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754880" y="4709160"/>
            <a:ext cx="0" cy="365760"/>
          </a:xfrm>
          <a:prstGeom prst="line">
            <a:avLst/>
          </a:prstGeom>
          <a:ln w="19050">
            <a:solidFill>
              <a:srgbClr val="A3ADB4"/>
            </a:solidFill>
          </a:ln>
        </p:spPr>
      </p:cxnSp>
      <p:cxnSp>
        <p:nvCxnSpPr>
          <p:cNvPr id="28" name="Connector 27"/>
          <p:cNvCxnSpPr/>
          <p:nvPr/>
        </p:nvCxnSpPr>
        <p:spPr>
          <a:xfrm>
            <a:off x="4754880" y="5074920"/>
            <a:ext cx="7086600" cy="0"/>
          </a:xfrm>
          <a:prstGeom prst="line">
            <a:avLst/>
          </a:prstGeom>
          <a:ln w="19050">
            <a:solidFill>
              <a:srgbClr val="A3ADB4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11841480" y="2263140"/>
            <a:ext cx="0" cy="2811780"/>
          </a:xfrm>
          <a:prstGeom prst="line">
            <a:avLst/>
          </a:prstGeom>
          <a:ln w="19050">
            <a:solidFill>
              <a:srgbClr val="A3ADB4"/>
            </a:solidFill>
          </a:ln>
        </p:spPr>
      </p:cxnSp>
      <p:cxnSp>
        <p:nvCxnSpPr>
          <p:cNvPr id="30" name="Connector 29"/>
          <p:cNvCxnSpPr/>
          <p:nvPr/>
        </p:nvCxnSpPr>
        <p:spPr>
          <a:xfrm flipH="1">
            <a:off x="11612880" y="2263140"/>
            <a:ext cx="228600" cy="0"/>
          </a:xfrm>
          <a:prstGeom prst="line">
            <a:avLst/>
          </a:prstGeom>
          <a:ln w="19050">
            <a:solidFill>
              <a:srgbClr val="A3ADB4"/>
            </a:solidFill>
            <a:tailEnd type="triangle" w="med" len="med"/>
          </a:ln>
        </p:spPr>
      </p:cxnSp>
      <p:sp>
        <p:nvSpPr>
          <p:cNvPr id="31" name="TextBox 30"/>
          <p:cNvSpPr txBox="1"/>
          <p:nvPr/>
        </p:nvSpPr>
        <p:spPr>
          <a:xfrm>
            <a:off x="4937760" y="5148072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5F6B73"/>
                </a:solidFill>
                <a:latin typeface="Segoe UI"/>
              </a:rPr>
              <a:t>sent back to clients for the next round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3703320"/>
            <a:ext cx="2377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0F5F6B"/>
                </a:solidFill>
                <a:latin typeface="Segoe UI"/>
              </a:rPr>
              <a:t>Highlighted box = our protocol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475488"/>
            <a:ext cx="73152" cy="566928"/>
          </a:xfrm>
          <a:prstGeom prst="rect">
            <a:avLst/>
          </a:prstGeom>
          <a:solidFill>
            <a:srgbClr val="0F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908792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0" i="0">
                <a:solidFill>
                  <a:srgbClr val="1E2A30"/>
                </a:solidFill>
                <a:latin typeface="Segoe UI Semibold"/>
              </a:rPr>
              <a:t>Methodology: dataset and preprocessing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A3ADB4"/>
                </a:solidFill>
                <a:latin typeface="Segoe UI"/>
              </a:rPr>
              <a:t>Krypsis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34472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600" b="0" i="0">
                <a:solidFill>
                  <a:srgbClr val="A3ADB4"/>
                </a:solidFill>
                <a:latin typeface="Segoe U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F5F6B"/>
                </a:solidFill>
                <a:latin typeface="Segoe UI"/>
              </a:rPr>
              <a:t>Dataset: FLNET2023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512064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lnSpc>
                <a:spcPct val="110000"/>
              </a:lnSpc>
              <a:spcAft>
                <a:spcPts val="1400"/>
              </a:spcAft>
              <a:buClr>
                <a:srgbClr val="0F5F6B"/>
              </a:buClr>
              <a:buFont typeface="Arial"/>
              <a:buChar char="•"/>
            </a:pPr>
            <a:r>
              <a:rPr sz="2000" b="0">
                <a:solidFill>
                  <a:srgbClr val="1E2A30"/>
                </a:solidFill>
                <a:latin typeface="Segoe UI"/>
              </a:rPr>
              <a:t>Network traffic recorded at 10 routers</a:t>
            </a:r>
          </a:p>
          <a:p>
            <a:pPr marL="274320" indent="-274320">
              <a:lnSpc>
                <a:spcPct val="110000"/>
              </a:lnSpc>
              <a:spcAft>
                <a:spcPts val="1400"/>
              </a:spcAft>
              <a:buClr>
                <a:srgbClr val="0F5F6B"/>
              </a:buClr>
              <a:buFont typeface="Arial"/>
              <a:buChar char="•"/>
            </a:pPr>
            <a:r>
              <a:rPr sz="2000" b="0">
                <a:solidFill>
                  <a:srgbClr val="1E2A30"/>
                </a:solidFill>
                <a:latin typeface="Segoe UI"/>
              </a:rPr>
              <a:t>564,007 training flows, 79,491 test flows</a:t>
            </a:r>
          </a:p>
          <a:p>
            <a:pPr marL="274320" indent="-274320">
              <a:lnSpc>
                <a:spcPct val="110000"/>
              </a:lnSpc>
              <a:spcAft>
                <a:spcPts val="1400"/>
              </a:spcAft>
              <a:buClr>
                <a:srgbClr val="0F5F6B"/>
              </a:buClr>
              <a:buFont typeface="Arial"/>
              <a:buChar char="•"/>
            </a:pPr>
            <a:r>
              <a:rPr sz="2000" b="0">
                <a:solidFill>
                  <a:srgbClr val="1E2A30"/>
                </a:solidFill>
                <a:latin typeface="Segoe UI"/>
              </a:rPr>
              <a:t>66 features per flow: packets, bytes, timing</a:t>
            </a:r>
          </a:p>
          <a:p>
            <a:pPr marL="274320" indent="-274320">
              <a:lnSpc>
                <a:spcPct val="110000"/>
              </a:lnSpc>
              <a:spcAft>
                <a:spcPts val="1400"/>
              </a:spcAft>
              <a:buClr>
                <a:srgbClr val="0F5F6B"/>
              </a:buClr>
              <a:buFont typeface="Arial"/>
              <a:buChar char="•"/>
            </a:pPr>
            <a:r>
              <a:rPr sz="2000" b="0">
                <a:solidFill>
                  <a:srgbClr val="1E2A30"/>
                </a:solidFill>
                <a:latin typeface="Segoe UI"/>
              </a:rPr>
              <a:t>Label: Normal (34%) or Attack (66%, 10 types)</a:t>
            </a:r>
          </a:p>
          <a:p>
            <a:pPr marL="274320" indent="-274320">
              <a:lnSpc>
                <a:spcPct val="110000"/>
              </a:lnSpc>
              <a:spcAft>
                <a:spcPts val="1400"/>
              </a:spcAft>
              <a:buClr>
                <a:srgbClr val="0F5F6B"/>
              </a:buClr>
              <a:buFont typeface="Arial"/>
              <a:buChar char="•"/>
            </a:pPr>
            <a:r>
              <a:rPr sz="2000" b="0">
                <a:solidFill>
                  <a:srgbClr val="1E2A30"/>
                </a:solidFill>
                <a:latin typeface="Segoe UI"/>
              </a:rPr>
              <a:t>NSL-KDD used as a second dataset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1463040"/>
            <a:ext cx="5349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F5F6B"/>
                </a:solidFill>
                <a:latin typeface="Segoe UI"/>
              </a:rPr>
              <a:t>Preprocessing steps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2011680"/>
            <a:ext cx="5349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2011680"/>
            <a:ext cx="51663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 i="0">
                <a:solidFill>
                  <a:srgbClr val="1E2A30"/>
                </a:solidFill>
                <a:latin typeface="Segoe UI"/>
              </a:rPr>
              <a:t>Take a 10% sample of each file</a:t>
            </a:r>
          </a:p>
          <a:p>
            <a:pPr algn="ctr">
              <a:lnSpc>
                <a:spcPct val="105000"/>
              </a:lnSpc>
            </a:pPr>
            <a:r>
              <a:rPr sz="1600" b="0" i="0">
                <a:solidFill>
                  <a:srgbClr val="5F6B73"/>
                </a:solidFill>
                <a:latin typeface="Segoe UI"/>
              </a:rPr>
              <a:t>why: 4.8 M flows is too many to train often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846820" y="2926080"/>
            <a:ext cx="0" cy="164592"/>
          </a:xfrm>
          <a:prstGeom prst="line">
            <a:avLst/>
          </a:prstGeom>
          <a:ln w="19050">
            <a:solidFill>
              <a:srgbClr val="0F5F6B"/>
            </a:solidFill>
            <a:tailEnd type="triangle" w="med" len="med"/>
          </a:ln>
        </p:spPr>
      </p:cxnSp>
      <p:sp>
        <p:nvSpPr>
          <p:cNvPr id="13" name="Rounded Rectangle 12"/>
          <p:cNvSpPr/>
          <p:nvPr/>
        </p:nvSpPr>
        <p:spPr>
          <a:xfrm>
            <a:off x="6172200" y="3090672"/>
            <a:ext cx="5349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3090672"/>
            <a:ext cx="51663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 i="0">
                <a:solidFill>
                  <a:srgbClr val="1E2A30"/>
                </a:solidFill>
                <a:latin typeface="Segoe UI"/>
              </a:rPr>
              <a:t>Remove IP, port and timestamp</a:t>
            </a:r>
          </a:p>
          <a:p>
            <a:pPr algn="ctr">
              <a:lnSpc>
                <a:spcPct val="105000"/>
              </a:lnSpc>
            </a:pPr>
            <a:r>
              <a:rPr sz="1600" b="0" i="0">
                <a:solidFill>
                  <a:srgbClr val="5F6B73"/>
                </a:solidFill>
                <a:latin typeface="Segoe UI"/>
              </a:rPr>
              <a:t>why: learn behaviour, not addresses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846820" y="4005072"/>
            <a:ext cx="0" cy="164592"/>
          </a:xfrm>
          <a:prstGeom prst="line">
            <a:avLst/>
          </a:prstGeom>
          <a:ln w="19050">
            <a:solidFill>
              <a:srgbClr val="0F5F6B"/>
            </a:solidFill>
            <a:tailEnd type="triangle" w="med" len="med"/>
          </a:ln>
        </p:spPr>
      </p:cxnSp>
      <p:sp>
        <p:nvSpPr>
          <p:cNvPr id="16" name="Rounded Rectangle 15"/>
          <p:cNvSpPr/>
          <p:nvPr/>
        </p:nvSpPr>
        <p:spPr>
          <a:xfrm>
            <a:off x="6172200" y="4169664"/>
            <a:ext cx="5349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4169664"/>
            <a:ext cx="51663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 i="0">
                <a:solidFill>
                  <a:srgbClr val="1E2A30"/>
                </a:solidFill>
                <a:latin typeface="Segoe UI"/>
              </a:rPr>
              <a:t>Remove broken rows and constant columns</a:t>
            </a:r>
          </a:p>
          <a:p>
            <a:pPr algn="ctr">
              <a:lnSpc>
                <a:spcPct val="105000"/>
              </a:lnSpc>
            </a:pPr>
            <a:r>
              <a:rPr sz="1600" b="0" i="0">
                <a:solidFill>
                  <a:srgbClr val="5F6B73"/>
                </a:solidFill>
                <a:latin typeface="Segoe UI"/>
              </a:rPr>
              <a:t>why: inf / empty values, no information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846820" y="5084064"/>
            <a:ext cx="0" cy="164592"/>
          </a:xfrm>
          <a:prstGeom prst="line">
            <a:avLst/>
          </a:prstGeom>
          <a:ln w="19050">
            <a:solidFill>
              <a:srgbClr val="0F5F6B"/>
            </a:solidFill>
            <a:tailEnd type="triangle" w="med" len="med"/>
          </a:ln>
        </p:spPr>
      </p:cxnSp>
      <p:sp>
        <p:nvSpPr>
          <p:cNvPr id="19" name="Rounded Rectangle 18"/>
          <p:cNvSpPr/>
          <p:nvPr/>
        </p:nvSpPr>
        <p:spPr>
          <a:xfrm>
            <a:off x="6172200" y="5248656"/>
            <a:ext cx="5349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3640" y="5248656"/>
            <a:ext cx="51663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 i="0">
                <a:solidFill>
                  <a:srgbClr val="1E2A30"/>
                </a:solidFill>
                <a:latin typeface="Segoe UI"/>
              </a:rPr>
              <a:t>Log scale, then scale to 0–1</a:t>
            </a:r>
          </a:p>
          <a:p>
            <a:pPr algn="ctr">
              <a:lnSpc>
                <a:spcPct val="105000"/>
              </a:lnSpc>
            </a:pPr>
            <a:r>
              <a:rPr sz="1600" b="0" i="0">
                <a:solidFill>
                  <a:srgbClr val="5F6B73"/>
                </a:solidFill>
                <a:latin typeface="Segoe UI"/>
              </a:rPr>
              <a:t>why: fitted on training data only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475488"/>
            <a:ext cx="73152" cy="566928"/>
          </a:xfrm>
          <a:prstGeom prst="rect">
            <a:avLst/>
          </a:prstGeom>
          <a:solidFill>
            <a:srgbClr val="0F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908792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0" i="0">
                <a:solidFill>
                  <a:srgbClr val="1E2A30"/>
                </a:solidFill>
                <a:latin typeface="Segoe UI Semibold"/>
              </a:rPr>
              <a:t>Methodology: client simulation (IID vs non-IID)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A3ADB4"/>
                </a:solidFill>
                <a:latin typeface="Segoe UI"/>
              </a:rPr>
              <a:t>Krypsis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34472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600" b="0" i="0">
                <a:solidFill>
                  <a:srgbClr val="A3ADB4"/>
                </a:solidFill>
                <a:latin typeface="Segoe UI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420624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lnSpc>
                <a:spcPct val="110000"/>
              </a:lnSpc>
              <a:spcAft>
                <a:spcPts val="1200"/>
              </a:spcAft>
              <a:buClr>
                <a:srgbClr val="0F5F6B"/>
              </a:buClr>
              <a:buFont typeface="Arial"/>
              <a:buChar char="•"/>
            </a:pPr>
            <a:r>
              <a:rPr sz="1900" b="1">
                <a:solidFill>
                  <a:srgbClr val="0F5F6B"/>
                </a:solidFill>
                <a:latin typeface="Segoe UI"/>
              </a:rPr>
              <a:t>IID: </a:t>
            </a:r>
            <a:r>
              <a:rPr sz="1900" b="0">
                <a:solidFill>
                  <a:srgbClr val="1E2A30"/>
                </a:solidFill>
                <a:latin typeface="Segoe UI"/>
              </a:rPr>
              <a:t>every client gets a similar mix of data.</a:t>
            </a:r>
          </a:p>
          <a:p>
            <a:pPr marL="274320" indent="-274320">
              <a:lnSpc>
                <a:spcPct val="110000"/>
              </a:lnSpc>
              <a:spcAft>
                <a:spcPts val="1200"/>
              </a:spcAft>
              <a:buClr>
                <a:srgbClr val="0F5F6B"/>
              </a:buClr>
              <a:buFont typeface="Arial"/>
              <a:buChar char="•"/>
            </a:pPr>
            <a:r>
              <a:rPr sz="1900" b="1">
                <a:solidFill>
                  <a:srgbClr val="0F5F6B"/>
                </a:solidFill>
                <a:latin typeface="Segoe UI"/>
              </a:rPr>
              <a:t>Non-IID: </a:t>
            </a:r>
            <a:r>
              <a:rPr sz="1900" b="0">
                <a:solidFill>
                  <a:srgbClr val="1E2A30"/>
                </a:solidFill>
                <a:latin typeface="Segoe UI"/>
              </a:rPr>
              <a:t>each client's data is different.</a:t>
            </a:r>
          </a:p>
          <a:p>
            <a:pPr marL="274320" indent="-274320">
              <a:lnSpc>
                <a:spcPct val="110000"/>
              </a:lnSpc>
              <a:spcAft>
                <a:spcPts val="1200"/>
              </a:spcAft>
              <a:buClr>
                <a:srgbClr val="0F5F6B"/>
              </a:buClr>
              <a:buFont typeface="Arial"/>
              <a:buChar char="•"/>
            </a:pPr>
            <a:r>
              <a:rPr sz="1900" b="1">
                <a:solidFill>
                  <a:srgbClr val="0F5F6B"/>
                </a:solidFill>
                <a:latin typeface="Segoe UI"/>
              </a:rPr>
              <a:t>FLNET2023: </a:t>
            </a:r>
            <a:r>
              <a:rPr sz="1900" b="0">
                <a:solidFill>
                  <a:srgbClr val="1E2A30"/>
                </a:solidFill>
                <a:latin typeface="Segoe UI"/>
              </a:rPr>
              <a:t>each real router is one client.</a:t>
            </a:r>
          </a:p>
          <a:p>
            <a:pPr marL="274320" indent="-274320">
              <a:lnSpc>
                <a:spcPct val="110000"/>
              </a:lnSpc>
              <a:spcAft>
                <a:spcPts val="1200"/>
              </a:spcAft>
              <a:buClr>
                <a:srgbClr val="0F5F6B"/>
              </a:buClr>
              <a:buFont typeface="Arial"/>
              <a:buChar char="•"/>
            </a:pPr>
            <a:r>
              <a:rPr sz="1900" b="1">
                <a:solidFill>
                  <a:srgbClr val="0F5F6B"/>
                </a:solidFill>
                <a:latin typeface="Segoe UI"/>
              </a:rPr>
              <a:t>NSL-KDD: </a:t>
            </a:r>
            <a:r>
              <a:rPr sz="1900" b="0">
                <a:solidFill>
                  <a:srgbClr val="1E2A30"/>
                </a:solidFill>
                <a:latin typeface="Segoe UI"/>
              </a:rPr>
              <a:t>uneven clients made with a Dirichlet split.</a:t>
            </a:r>
          </a:p>
          <a:p>
            <a:pPr marL="274320" indent="-274320">
              <a:lnSpc>
                <a:spcPct val="110000"/>
              </a:lnSpc>
              <a:spcAft>
                <a:spcPts val="1200"/>
              </a:spcAft>
              <a:buClr>
                <a:srgbClr val="0F5F6B"/>
              </a:buClr>
              <a:buFont typeface="Arial"/>
              <a:buChar char="•"/>
            </a:pPr>
            <a:r>
              <a:rPr sz="1900" b="1">
                <a:solidFill>
                  <a:srgbClr val="0F5F6B"/>
                </a:solidFill>
                <a:latin typeface="Segoe UI"/>
              </a:rPr>
              <a:t>Why: </a:t>
            </a:r>
            <a:r>
              <a:rPr sz="1900" b="0">
                <a:solidFill>
                  <a:srgbClr val="1E2A30"/>
                </a:solidFill>
                <a:latin typeface="Segoe UI"/>
              </a:rPr>
              <a:t>real networks are uneven, so this matters.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074920" y="1371600"/>
          <a:ext cx="649224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475488"/>
            <a:ext cx="73152" cy="566928"/>
          </a:xfrm>
          <a:prstGeom prst="rect">
            <a:avLst/>
          </a:prstGeom>
          <a:solidFill>
            <a:srgbClr val="0F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908792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0" i="0">
                <a:solidFill>
                  <a:srgbClr val="1E2A30"/>
                </a:solidFill>
                <a:latin typeface="Segoe UI Semibold"/>
              </a:rPr>
              <a:t>Methodology: model and federated training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A3ADB4"/>
                </a:solidFill>
                <a:latin typeface="Segoe UI"/>
              </a:rPr>
              <a:t>Krypsis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34472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600" b="0" i="0">
                <a:solidFill>
                  <a:srgbClr val="A3ADB4"/>
                </a:solidFill>
                <a:latin typeface="Segoe UI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63040"/>
            <a:ext cx="1874519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1691639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1" i="0">
                <a:solidFill>
                  <a:srgbClr val="1E2A30"/>
                </a:solidFill>
                <a:latin typeface="Segoe UI"/>
              </a:rPr>
              <a:t>Input</a:t>
            </a:r>
          </a:p>
          <a:p>
            <a:pPr algn="ctr">
              <a:lnSpc>
                <a:spcPct val="105000"/>
              </a:lnSpc>
            </a:pPr>
            <a:r>
              <a:rPr sz="1600" b="0" i="0">
                <a:solidFill>
                  <a:srgbClr val="5F6B73"/>
                </a:solidFill>
                <a:latin typeface="Segoe UI"/>
              </a:rPr>
              <a:t>66 features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14599" y="1920240"/>
            <a:ext cx="384048" cy="0"/>
          </a:xfrm>
          <a:prstGeom prst="line">
            <a:avLst/>
          </a:prstGeom>
          <a:ln w="19050">
            <a:solidFill>
              <a:srgbClr val="0F5F6B"/>
            </a:solidFill>
            <a:tailEnd type="triangle" w="med" len="med"/>
          </a:ln>
        </p:spPr>
      </p:cxnSp>
      <p:sp>
        <p:nvSpPr>
          <p:cNvPr id="10" name="Rounded Rectangle 9"/>
          <p:cNvSpPr/>
          <p:nvPr/>
        </p:nvSpPr>
        <p:spPr>
          <a:xfrm>
            <a:off x="2898647" y="1463040"/>
            <a:ext cx="1874519" cy="914400"/>
          </a:xfrm>
          <a:prstGeom prst="roundRect">
            <a:avLst>
              <a:gd name="adj" fmla="val 8000"/>
            </a:avLst>
          </a:prstGeom>
          <a:solidFill>
            <a:srgbClr val="E4F0F1"/>
          </a:solidFill>
          <a:ln w="12700">
            <a:solidFill>
              <a:srgbClr val="0F5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90087" y="1463040"/>
            <a:ext cx="1691639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1" i="0">
                <a:solidFill>
                  <a:srgbClr val="1E2A30"/>
                </a:solidFill>
                <a:latin typeface="Segoe UI"/>
              </a:rPr>
              <a:t>Dense 256</a:t>
            </a:r>
          </a:p>
          <a:p>
            <a:pPr algn="ctr">
              <a:lnSpc>
                <a:spcPct val="105000"/>
              </a:lnSpc>
            </a:pPr>
            <a:r>
              <a:rPr sz="1600" b="0" i="0">
                <a:solidFill>
                  <a:srgbClr val="5F6B73"/>
                </a:solidFill>
                <a:latin typeface="Segoe UI"/>
              </a:rPr>
              <a:t>ReLU + dropout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773166" y="1920240"/>
            <a:ext cx="384048" cy="0"/>
          </a:xfrm>
          <a:prstGeom prst="line">
            <a:avLst/>
          </a:prstGeom>
          <a:ln w="19050">
            <a:solidFill>
              <a:srgbClr val="0F5F6B"/>
            </a:solidFill>
            <a:tailEnd type="triangle" w="med" len="med"/>
          </a:ln>
        </p:spPr>
      </p:cxnSp>
      <p:sp>
        <p:nvSpPr>
          <p:cNvPr id="13" name="Rounded Rectangle 12"/>
          <p:cNvSpPr/>
          <p:nvPr/>
        </p:nvSpPr>
        <p:spPr>
          <a:xfrm>
            <a:off x="5157214" y="1463040"/>
            <a:ext cx="1874519" cy="914400"/>
          </a:xfrm>
          <a:prstGeom prst="roundRect">
            <a:avLst>
              <a:gd name="adj" fmla="val 8000"/>
            </a:avLst>
          </a:prstGeom>
          <a:solidFill>
            <a:srgbClr val="E4F0F1"/>
          </a:solidFill>
          <a:ln w="12700">
            <a:solidFill>
              <a:srgbClr val="0F5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48654" y="1463040"/>
            <a:ext cx="1691639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1" i="0">
                <a:solidFill>
                  <a:srgbClr val="1E2A30"/>
                </a:solidFill>
                <a:latin typeface="Segoe UI"/>
              </a:rPr>
              <a:t>Dense 128</a:t>
            </a:r>
          </a:p>
          <a:p>
            <a:pPr algn="ctr">
              <a:lnSpc>
                <a:spcPct val="105000"/>
              </a:lnSpc>
            </a:pPr>
            <a:r>
              <a:rPr sz="1600" b="0" i="0">
                <a:solidFill>
                  <a:srgbClr val="5F6B73"/>
                </a:solidFill>
                <a:latin typeface="Segoe UI"/>
              </a:rPr>
              <a:t>ReLU + dropout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031733" y="1920240"/>
            <a:ext cx="384048" cy="0"/>
          </a:xfrm>
          <a:prstGeom prst="line">
            <a:avLst/>
          </a:prstGeom>
          <a:ln w="19050">
            <a:solidFill>
              <a:srgbClr val="0F5F6B"/>
            </a:solidFill>
            <a:tailEnd type="triangle" w="med" len="med"/>
          </a:ln>
        </p:spPr>
      </p:cxnSp>
      <p:sp>
        <p:nvSpPr>
          <p:cNvPr id="16" name="Rounded Rectangle 15"/>
          <p:cNvSpPr/>
          <p:nvPr/>
        </p:nvSpPr>
        <p:spPr>
          <a:xfrm>
            <a:off x="7415781" y="1463040"/>
            <a:ext cx="1874519" cy="914400"/>
          </a:xfrm>
          <a:prstGeom prst="roundRect">
            <a:avLst>
              <a:gd name="adj" fmla="val 8000"/>
            </a:avLst>
          </a:prstGeom>
          <a:solidFill>
            <a:srgbClr val="E4F0F1"/>
          </a:solidFill>
          <a:ln w="12700">
            <a:solidFill>
              <a:srgbClr val="0F5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07221" y="1463040"/>
            <a:ext cx="1691639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1" i="0">
                <a:solidFill>
                  <a:srgbClr val="1E2A30"/>
                </a:solidFill>
                <a:latin typeface="Segoe UI"/>
              </a:rPr>
              <a:t>Dense 64</a:t>
            </a:r>
          </a:p>
          <a:p>
            <a:pPr algn="ctr">
              <a:lnSpc>
                <a:spcPct val="105000"/>
              </a:lnSpc>
            </a:pPr>
            <a:r>
              <a:rPr sz="1600" b="0" i="0">
                <a:solidFill>
                  <a:srgbClr val="5F6B73"/>
                </a:solidFill>
                <a:latin typeface="Segoe UI"/>
              </a:rPr>
              <a:t>ReLU + dropout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290300" y="1920240"/>
            <a:ext cx="384048" cy="0"/>
          </a:xfrm>
          <a:prstGeom prst="line">
            <a:avLst/>
          </a:prstGeom>
          <a:ln w="19050">
            <a:solidFill>
              <a:srgbClr val="0F5F6B"/>
            </a:solidFill>
            <a:tailEnd type="triangle" w="med" len="med"/>
          </a:ln>
        </p:spPr>
      </p:cxnSp>
      <p:sp>
        <p:nvSpPr>
          <p:cNvPr id="19" name="Rounded Rectangle 18"/>
          <p:cNvSpPr/>
          <p:nvPr/>
        </p:nvSpPr>
        <p:spPr>
          <a:xfrm>
            <a:off x="9674348" y="1463040"/>
            <a:ext cx="1874519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65788" y="1463040"/>
            <a:ext cx="1691639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1" i="0">
                <a:solidFill>
                  <a:srgbClr val="1E2A30"/>
                </a:solidFill>
                <a:latin typeface="Segoe UI"/>
              </a:rPr>
              <a:t>Output</a:t>
            </a:r>
          </a:p>
          <a:p>
            <a:pPr algn="ctr">
              <a:lnSpc>
                <a:spcPct val="105000"/>
              </a:lnSpc>
            </a:pPr>
            <a:r>
              <a:rPr sz="1600" b="0" i="0">
                <a:solidFill>
                  <a:srgbClr val="5F6B73"/>
                </a:solidFill>
                <a:latin typeface="Segoe UI"/>
              </a:rPr>
              <a:t>normal / attack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2971800"/>
            <a:ext cx="265176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2971800"/>
            <a:ext cx="246888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 i="0">
                <a:solidFill>
                  <a:srgbClr val="1E2A30"/>
                </a:solidFill>
                <a:latin typeface="Segoe UI"/>
              </a:rPr>
              <a:t>1. Server sends model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069080" y="2971800"/>
            <a:ext cx="265176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60520" y="2971800"/>
            <a:ext cx="246888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 i="0">
                <a:solidFill>
                  <a:srgbClr val="1E2A30"/>
                </a:solidFill>
                <a:latin typeface="Segoe UI"/>
              </a:rPr>
              <a:t>2. Clients train locally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069080" y="4846320"/>
            <a:ext cx="265176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60520" y="4846320"/>
            <a:ext cx="246888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 i="0">
                <a:solidFill>
                  <a:srgbClr val="1E2A30"/>
                </a:solidFill>
                <a:latin typeface="Segoe UI"/>
              </a:rPr>
              <a:t>3. Clients send updates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4846320"/>
            <a:ext cx="265176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846320"/>
            <a:ext cx="246888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 i="0">
                <a:solidFill>
                  <a:srgbClr val="1E2A30"/>
                </a:solidFill>
                <a:latin typeface="Segoe UI"/>
              </a:rPr>
              <a:t>4. Server averages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291840" y="3451860"/>
            <a:ext cx="777240" cy="0"/>
          </a:xfrm>
          <a:prstGeom prst="line">
            <a:avLst/>
          </a:prstGeom>
          <a:ln w="19050">
            <a:solidFill>
              <a:srgbClr val="0F5F6B"/>
            </a:solidFill>
            <a:tailEnd type="triangle" w="med" len="med"/>
          </a:ln>
        </p:spPr>
      </p:cxnSp>
      <p:cxnSp>
        <p:nvCxnSpPr>
          <p:cNvPr id="30" name="Connector 29"/>
          <p:cNvCxnSpPr/>
          <p:nvPr/>
        </p:nvCxnSpPr>
        <p:spPr>
          <a:xfrm>
            <a:off x="5394960" y="3931920"/>
            <a:ext cx="0" cy="914400"/>
          </a:xfrm>
          <a:prstGeom prst="line">
            <a:avLst/>
          </a:prstGeom>
          <a:ln w="19050">
            <a:solidFill>
              <a:srgbClr val="0F5F6B"/>
            </a:solidFill>
            <a:tailEnd type="triangle" w="med" len="med"/>
          </a:ln>
        </p:spPr>
      </p:cxnSp>
      <p:cxnSp>
        <p:nvCxnSpPr>
          <p:cNvPr id="31" name="Connector 30"/>
          <p:cNvCxnSpPr/>
          <p:nvPr/>
        </p:nvCxnSpPr>
        <p:spPr>
          <a:xfrm flipH="1">
            <a:off x="3291840" y="5326380"/>
            <a:ext cx="777240" cy="0"/>
          </a:xfrm>
          <a:prstGeom prst="line">
            <a:avLst/>
          </a:prstGeom>
          <a:ln w="19050">
            <a:solidFill>
              <a:srgbClr val="0F5F6B"/>
            </a:solidFill>
            <a:tailEnd type="triangle" w="med" len="med"/>
          </a:ln>
        </p:spPr>
      </p:cxnSp>
      <p:cxnSp>
        <p:nvCxnSpPr>
          <p:cNvPr id="32" name="Connector 31"/>
          <p:cNvCxnSpPr/>
          <p:nvPr/>
        </p:nvCxnSpPr>
        <p:spPr>
          <a:xfrm flipV="1">
            <a:off x="1965960" y="3931920"/>
            <a:ext cx="0" cy="914400"/>
          </a:xfrm>
          <a:prstGeom prst="line">
            <a:avLst/>
          </a:prstGeom>
          <a:ln w="19050">
            <a:solidFill>
              <a:srgbClr val="0F5F6B"/>
            </a:solidFill>
            <a:tailEnd type="triangle" w="med" len="med"/>
          </a:ln>
        </p:spPr>
      </p:cxnSp>
      <p:sp>
        <p:nvSpPr>
          <p:cNvPr id="33" name="TextBox 32"/>
          <p:cNvSpPr txBox="1"/>
          <p:nvPr/>
        </p:nvSpPr>
        <p:spPr>
          <a:xfrm>
            <a:off x="2057400" y="41605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i="0">
                <a:solidFill>
                  <a:srgbClr val="5F6B73"/>
                </a:solidFill>
                <a:latin typeface="Segoe UI"/>
              </a:rPr>
              <a:t>repeat every round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23760" y="3017520"/>
            <a:ext cx="43434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lnSpc>
                <a:spcPct val="110000"/>
              </a:lnSpc>
              <a:spcAft>
                <a:spcPts val="1200"/>
              </a:spcAft>
              <a:buClr>
                <a:srgbClr val="0F5F6B"/>
              </a:buClr>
              <a:buFont typeface="Arial"/>
              <a:buChar char="•"/>
            </a:pPr>
            <a:r>
              <a:rPr sz="1900" b="1">
                <a:solidFill>
                  <a:srgbClr val="0F5F6B"/>
                </a:solidFill>
                <a:latin typeface="Segoe UI"/>
              </a:rPr>
              <a:t>FedAvg: </a:t>
            </a:r>
            <a:r>
              <a:rPr sz="1900" b="0">
                <a:solidFill>
                  <a:srgbClr val="1E2A30"/>
                </a:solidFill>
                <a:latin typeface="Segoe UI"/>
              </a:rPr>
              <a:t>average of client models, weighted by data size.</a:t>
            </a:r>
          </a:p>
          <a:p>
            <a:pPr marL="274320" indent="-274320">
              <a:lnSpc>
                <a:spcPct val="110000"/>
              </a:lnSpc>
              <a:spcAft>
                <a:spcPts val="1200"/>
              </a:spcAft>
              <a:buClr>
                <a:srgbClr val="0F5F6B"/>
              </a:buClr>
              <a:buFont typeface="Arial"/>
              <a:buChar char="•"/>
            </a:pPr>
            <a:r>
              <a:rPr sz="1900" b="1">
                <a:solidFill>
                  <a:srgbClr val="0F5F6B"/>
                </a:solidFill>
                <a:latin typeface="Segoe UI"/>
              </a:rPr>
              <a:t>Training: </a:t>
            </a:r>
            <a:r>
              <a:rPr sz="1900" b="0">
                <a:solidFill>
                  <a:srgbClr val="1E2A30"/>
                </a:solidFill>
                <a:latin typeface="Segoe UI"/>
              </a:rPr>
              <a:t>15 rounds, 2 local passes per round.</a:t>
            </a:r>
          </a:p>
          <a:p>
            <a:pPr marL="274320" indent="-274320">
              <a:lnSpc>
                <a:spcPct val="110000"/>
              </a:lnSpc>
              <a:spcAft>
                <a:spcPts val="1200"/>
              </a:spcAft>
              <a:buClr>
                <a:srgbClr val="0F5F6B"/>
              </a:buClr>
              <a:buFont typeface="Arial"/>
              <a:buChar char="•"/>
            </a:pPr>
            <a:r>
              <a:rPr sz="1900" b="1">
                <a:solidFill>
                  <a:srgbClr val="0F5F6B"/>
                </a:solidFill>
                <a:latin typeface="Segoe UI"/>
              </a:rPr>
              <a:t>Baseline: </a:t>
            </a:r>
            <a:r>
              <a:rPr sz="1900" b="0">
                <a:solidFill>
                  <a:srgbClr val="1E2A30"/>
                </a:solidFill>
                <a:latin typeface="Segoe UI"/>
              </a:rPr>
              <a:t>same model trained on all data together.</a:t>
            </a:r>
          </a:p>
          <a:p>
            <a:pPr marL="274320" indent="-274320">
              <a:lnSpc>
                <a:spcPct val="110000"/>
              </a:lnSpc>
              <a:spcAft>
                <a:spcPts val="1200"/>
              </a:spcAft>
              <a:buClr>
                <a:srgbClr val="0F5F6B"/>
              </a:buClr>
              <a:buFont typeface="Arial"/>
              <a:buChar char="•"/>
            </a:pPr>
            <a:r>
              <a:rPr sz="1900" b="0">
                <a:solidFill>
                  <a:srgbClr val="1E2A30"/>
                </a:solidFill>
                <a:latin typeface="Segoe UI"/>
              </a:rPr>
              <a:t>The baseline shows the best accuracy to aim for.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475488"/>
            <a:ext cx="73152" cy="566928"/>
          </a:xfrm>
          <a:prstGeom prst="rect">
            <a:avLst/>
          </a:prstGeom>
          <a:solidFill>
            <a:srgbClr val="0F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908792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0" i="0">
                <a:solidFill>
                  <a:srgbClr val="1E2A30"/>
                </a:solidFill>
                <a:latin typeface="Segoe UI Semibold"/>
              </a:rPr>
              <a:t>Methodology: our protocol (Krypsis message)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A3ADB4"/>
                </a:solidFill>
                <a:latin typeface="Segoe UI"/>
              </a:rPr>
              <a:t>Krypsis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34472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600" b="0" i="0">
                <a:solidFill>
                  <a:srgbClr val="A3ADB4"/>
                </a:solidFill>
                <a:latin typeface="Segoe UI"/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63040"/>
            <a:ext cx="3566160" cy="1005840"/>
          </a:xfrm>
          <a:prstGeom prst="roundRect">
            <a:avLst>
              <a:gd name="adj" fmla="val 8000"/>
            </a:avLst>
          </a:prstGeom>
          <a:solidFill>
            <a:srgbClr val="E4F0F1"/>
          </a:solidFill>
          <a:ln w="12700">
            <a:solidFill>
              <a:srgbClr val="0F5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338328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1" i="0">
                <a:solidFill>
                  <a:srgbClr val="0F5F6B"/>
                </a:solidFill>
                <a:latin typeface="Segoe UI"/>
              </a:rPr>
              <a:t>Header + fingerprint</a:t>
            </a:r>
          </a:p>
          <a:p>
            <a:pPr algn="ctr">
              <a:lnSpc>
                <a:spcPct val="105000"/>
              </a:lnSpc>
            </a:pPr>
            <a:r>
              <a:rPr sz="1600" b="0" i="0">
                <a:solidFill>
                  <a:srgbClr val="5F6B73"/>
                </a:solidFill>
                <a:latin typeface="Segoe UI"/>
              </a:rPr>
              <a:t>≈1.5 KB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1463040"/>
            <a:ext cx="475488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1463040"/>
            <a:ext cx="457200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1" i="0">
                <a:solidFill>
                  <a:srgbClr val="1E2A30"/>
                </a:solidFill>
                <a:latin typeface="Segoe UI"/>
              </a:rPr>
              <a:t>Model update</a:t>
            </a:r>
          </a:p>
          <a:p>
            <a:pPr algn="ctr">
              <a:lnSpc>
                <a:spcPct val="105000"/>
              </a:lnSpc>
            </a:pPr>
            <a:r>
              <a:rPr sz="1600" b="0" i="0">
                <a:solidFill>
                  <a:srgbClr val="5F6B73"/>
                </a:solidFill>
                <a:latin typeface="Segoe UI"/>
              </a:rPr>
              <a:t>233 KB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463040"/>
            <a:ext cx="2587752" cy="1005840"/>
          </a:xfrm>
          <a:prstGeom prst="roundRect">
            <a:avLst>
              <a:gd name="adj" fmla="val 8000"/>
            </a:avLst>
          </a:prstGeom>
          <a:solidFill>
            <a:srgbClr val="E4F0F1"/>
          </a:solidFill>
          <a:ln w="12700">
            <a:solidFill>
              <a:srgbClr val="0F5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0" y="1463040"/>
            <a:ext cx="2404872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1" i="0">
                <a:solidFill>
                  <a:srgbClr val="0F5F6B"/>
                </a:solidFill>
                <a:latin typeface="Segoe UI"/>
              </a:rPr>
              <a:t>Integrity tag</a:t>
            </a:r>
          </a:p>
          <a:p>
            <a:pPr algn="ctr">
              <a:lnSpc>
                <a:spcPct val="105000"/>
              </a:lnSpc>
            </a:pPr>
            <a:r>
              <a:rPr sz="1600" b="0" i="0">
                <a:solidFill>
                  <a:srgbClr val="5F6B73"/>
                </a:solidFill>
                <a:latin typeface="Segoe UI"/>
              </a:rPr>
              <a:t>32 bytes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560320"/>
            <a:ext cx="109087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i="0">
                <a:solidFill>
                  <a:srgbClr val="5F6B73"/>
                </a:solidFill>
                <a:latin typeface="Segoe UI"/>
              </a:rPr>
              <a:t>One message sent by a client each round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108960"/>
            <a:ext cx="5358384" cy="2514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24612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F5F6B"/>
                </a:solidFill>
                <a:latin typeface="Segoe UI"/>
              </a:rPr>
              <a:t>Integrity tag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794760"/>
            <a:ext cx="489204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lnSpc>
                <a:spcPct val="110000"/>
              </a:lnSpc>
              <a:spcAft>
                <a:spcPts val="800"/>
              </a:spcAft>
              <a:buClr>
                <a:srgbClr val="0F5F6B"/>
              </a:buClr>
              <a:buFont typeface="Arial"/>
              <a:buChar char="•"/>
            </a:pPr>
            <a:r>
              <a:rPr sz="1800" b="0">
                <a:solidFill>
                  <a:srgbClr val="1E2A30"/>
                </a:solidFill>
                <a:latin typeface="Segoe UI"/>
              </a:rPr>
              <a:t>HMAC-SHA256 with each client's secret key</a:t>
            </a:r>
          </a:p>
          <a:p>
            <a:pPr marL="274320" indent="-274320">
              <a:lnSpc>
                <a:spcPct val="110000"/>
              </a:lnSpc>
              <a:spcAft>
                <a:spcPts val="800"/>
              </a:spcAft>
              <a:buClr>
                <a:srgbClr val="0F5F6B"/>
              </a:buClr>
              <a:buFont typeface="Arial"/>
              <a:buChar char="•"/>
            </a:pPr>
            <a:r>
              <a:rPr sz="1800" b="0">
                <a:solidFill>
                  <a:srgbClr val="1E2A30"/>
                </a:solidFill>
                <a:latin typeface="Segoe UI"/>
              </a:rPr>
              <a:t>Proves the update was not changed on the way</a:t>
            </a:r>
          </a:p>
          <a:p>
            <a:pPr marL="274320" indent="-274320">
              <a:lnSpc>
                <a:spcPct val="110000"/>
              </a:lnSpc>
              <a:spcAft>
                <a:spcPts val="800"/>
              </a:spcAft>
              <a:buClr>
                <a:srgbClr val="0F5F6B"/>
              </a:buClr>
              <a:buFont typeface="Arial"/>
              <a:buChar char="•"/>
            </a:pPr>
            <a:r>
              <a:rPr sz="1800" b="0">
                <a:solidFill>
                  <a:srgbClr val="1E2A30"/>
                </a:solidFill>
                <a:latin typeface="Segoe UI"/>
              </a:rPr>
              <a:t>One changed byte → message rejected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3108960"/>
            <a:ext cx="5358384" cy="2514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64808" y="324612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F5F6B"/>
                </a:solidFill>
                <a:latin typeface="Segoe UI"/>
              </a:rPr>
              <a:t>Anomaly fingerprint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4808" y="3794760"/>
            <a:ext cx="489204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lnSpc>
                <a:spcPct val="110000"/>
              </a:lnSpc>
              <a:spcAft>
                <a:spcPts val="800"/>
              </a:spcAft>
              <a:buClr>
                <a:srgbClr val="0F5F6B"/>
              </a:buClr>
              <a:buFont typeface="Arial"/>
              <a:buChar char="•"/>
            </a:pPr>
            <a:r>
              <a:rPr sz="1800" b="0">
                <a:solidFill>
                  <a:srgbClr val="1E2A30"/>
                </a:solidFill>
                <a:latin typeface="Segoe UI"/>
              </a:rPr>
              <a:t>Short summary: update size + 64-number sketch</a:t>
            </a:r>
          </a:p>
          <a:p>
            <a:pPr marL="274320" indent="-274320">
              <a:lnSpc>
                <a:spcPct val="110000"/>
              </a:lnSpc>
              <a:spcAft>
                <a:spcPts val="800"/>
              </a:spcAft>
              <a:buClr>
                <a:srgbClr val="0F5F6B"/>
              </a:buClr>
              <a:buFont typeface="Arial"/>
              <a:buChar char="•"/>
            </a:pPr>
            <a:r>
              <a:rPr sz="1800" b="0">
                <a:solidFill>
                  <a:srgbClr val="1E2A30"/>
                </a:solidFill>
                <a:latin typeface="Segoe UI"/>
              </a:rPr>
              <a:t>Server recomputes it, so it cannot be faked</a:t>
            </a:r>
          </a:p>
          <a:p>
            <a:pPr marL="274320" indent="-274320">
              <a:lnSpc>
                <a:spcPct val="110000"/>
              </a:lnSpc>
              <a:spcAft>
                <a:spcPts val="800"/>
              </a:spcAft>
              <a:buClr>
                <a:srgbClr val="0F5F6B"/>
              </a:buClr>
              <a:buFont typeface="Arial"/>
              <a:buChar char="•"/>
            </a:pPr>
            <a:r>
              <a:rPr sz="1800" b="0">
                <a:solidFill>
                  <a:srgbClr val="1E2A30"/>
                </a:solidFill>
                <a:latin typeface="Segoe UI"/>
              </a:rPr>
              <a:t>Gives scores: does this update look suspicious?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760720"/>
            <a:ext cx="1090879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 i="0">
                <a:solidFill>
                  <a:srgbClr val="1E2A30"/>
                </a:solidFill>
                <a:latin typeface="Segoe UI"/>
              </a:rPr>
              <a:t>Extra cost: only +0.67% message size. Plain JSON would be 5.6× bigger.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475488"/>
            <a:ext cx="73152" cy="566928"/>
          </a:xfrm>
          <a:prstGeom prst="rect">
            <a:avLst/>
          </a:prstGeom>
          <a:solidFill>
            <a:srgbClr val="0F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908792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0" i="0">
                <a:solidFill>
                  <a:srgbClr val="1E2A30"/>
                </a:solidFill>
                <a:latin typeface="Segoe UI Semibold"/>
              </a:rPr>
              <a:t>Methodology: attack simulation (label flipping)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A3ADB4"/>
                </a:solidFill>
                <a:latin typeface="Segoe UI"/>
              </a:rPr>
              <a:t>Krypsis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34472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600" b="0" i="0">
                <a:solidFill>
                  <a:srgbClr val="A3ADB4"/>
                </a:solidFill>
                <a:latin typeface="Segoe UI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F5F6B"/>
                </a:solidFill>
                <a:latin typeface="Segoe UI"/>
              </a:rPr>
              <a:t>What a malicious client does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148840"/>
            <a:ext cx="21031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148840"/>
            <a:ext cx="19202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1" i="0">
                <a:solidFill>
                  <a:srgbClr val="1E2A30"/>
                </a:solidFill>
                <a:latin typeface="Segoe UI"/>
              </a:rPr>
              <a:t>Attack flow</a:t>
            </a:r>
          </a:p>
          <a:p>
            <a:pPr algn="ctr">
              <a:lnSpc>
                <a:spcPct val="105000"/>
              </a:lnSpc>
            </a:pPr>
            <a:r>
              <a:rPr sz="1600" b="0" i="0">
                <a:solidFill>
                  <a:srgbClr val="5F6B73"/>
                </a:solidFill>
                <a:latin typeface="Segoe UI"/>
              </a:rPr>
              <a:t>true label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743200" y="2606040"/>
            <a:ext cx="731520" cy="0"/>
          </a:xfrm>
          <a:prstGeom prst="line">
            <a:avLst/>
          </a:prstGeom>
          <a:ln w="25400">
            <a:solidFill>
              <a:srgbClr val="1E2A30"/>
            </a:solidFill>
            <a:tailEnd type="triangle" w="med" len="med"/>
          </a:ln>
        </p:spPr>
      </p:cxnSp>
      <p:sp>
        <p:nvSpPr>
          <p:cNvPr id="11" name="Rounded Rectangle 10"/>
          <p:cNvSpPr/>
          <p:nvPr/>
        </p:nvSpPr>
        <p:spPr>
          <a:xfrm>
            <a:off x="3474720" y="214884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E2A3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2148840"/>
            <a:ext cx="21031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1" i="0">
                <a:solidFill>
                  <a:srgbClr val="1E2A30"/>
                </a:solidFill>
                <a:latin typeface="Segoe UI"/>
              </a:rPr>
              <a:t>trained as Normal</a:t>
            </a:r>
          </a:p>
          <a:p>
            <a:pPr algn="ctr">
              <a:lnSpc>
                <a:spcPct val="105000"/>
              </a:lnSpc>
            </a:pPr>
            <a:r>
              <a:rPr sz="1600" b="0" i="0">
                <a:solidFill>
                  <a:srgbClr val="5F6B73"/>
                </a:solidFill>
                <a:latin typeface="Segoe UI"/>
              </a:rPr>
              <a:t>wrong label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474720"/>
            <a:ext cx="21031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474720"/>
            <a:ext cx="19202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1" i="0">
                <a:solidFill>
                  <a:srgbClr val="1E2A30"/>
                </a:solidFill>
                <a:latin typeface="Segoe UI"/>
              </a:rPr>
              <a:t>Normal flow</a:t>
            </a:r>
          </a:p>
          <a:p>
            <a:pPr algn="ctr">
              <a:lnSpc>
                <a:spcPct val="105000"/>
              </a:lnSpc>
            </a:pPr>
            <a:r>
              <a:rPr sz="1600" b="0" i="0">
                <a:solidFill>
                  <a:srgbClr val="5F6B73"/>
                </a:solidFill>
                <a:latin typeface="Segoe UI"/>
              </a:rPr>
              <a:t>true label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743200" y="3931920"/>
            <a:ext cx="731520" cy="0"/>
          </a:xfrm>
          <a:prstGeom prst="line">
            <a:avLst/>
          </a:prstGeom>
          <a:ln w="25400">
            <a:solidFill>
              <a:srgbClr val="1E2A30"/>
            </a:solidFill>
            <a:tailEnd type="triangle" w="med" len="med"/>
          </a:ln>
        </p:spPr>
      </p:cxnSp>
      <p:sp>
        <p:nvSpPr>
          <p:cNvPr id="16" name="Rounded Rectangle 15"/>
          <p:cNvSpPr/>
          <p:nvPr/>
        </p:nvSpPr>
        <p:spPr>
          <a:xfrm>
            <a:off x="3474720" y="347472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E2A3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66160" y="3474720"/>
            <a:ext cx="21031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1" i="0">
                <a:solidFill>
                  <a:srgbClr val="1E2A30"/>
                </a:solidFill>
                <a:latin typeface="Segoe UI"/>
              </a:rPr>
              <a:t>trained as Attack</a:t>
            </a:r>
          </a:p>
          <a:p>
            <a:pPr algn="ctr">
              <a:lnSpc>
                <a:spcPct val="105000"/>
              </a:lnSpc>
            </a:pPr>
            <a:r>
              <a:rPr sz="1600" b="0" i="0">
                <a:solidFill>
                  <a:srgbClr val="5F6B73"/>
                </a:solidFill>
                <a:latin typeface="Segoe UI"/>
              </a:rPr>
              <a:t>wrong label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846320"/>
            <a:ext cx="51206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5F6B73"/>
                </a:solidFill>
                <a:latin typeface="Segoe UI"/>
              </a:rPr>
              <a:t>The poisoned update teaches the shared model the opposite of the truth.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1554480"/>
            <a:ext cx="52578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lnSpc>
                <a:spcPct val="110000"/>
              </a:lnSpc>
              <a:spcAft>
                <a:spcPts val="1600"/>
              </a:spcAft>
              <a:buClr>
                <a:srgbClr val="0F5F6B"/>
              </a:buClr>
              <a:buFont typeface="Arial"/>
              <a:buChar char="•"/>
            </a:pPr>
            <a:r>
              <a:rPr sz="2000" b="0">
                <a:solidFill>
                  <a:srgbClr val="1E2A30"/>
                </a:solidFill>
                <a:latin typeface="Segoe UI"/>
              </a:rPr>
              <a:t>2 of 10 clients are malicious, chosen randomly</a:t>
            </a:r>
          </a:p>
          <a:p>
            <a:pPr marL="274320" indent="-274320">
              <a:lnSpc>
                <a:spcPct val="110000"/>
              </a:lnSpc>
              <a:spcAft>
                <a:spcPts val="1600"/>
              </a:spcAft>
              <a:buClr>
                <a:srgbClr val="0F5F6B"/>
              </a:buClr>
              <a:buFont typeface="Arial"/>
              <a:buChar char="•"/>
            </a:pPr>
            <a:r>
              <a:rPr sz="2000" b="0">
                <a:solidFill>
                  <a:srgbClr val="1E2A30"/>
                </a:solidFill>
                <a:latin typeface="Segoe UI"/>
              </a:rPr>
              <a:t>They flip labels: attack ↔ normal</a:t>
            </a:r>
          </a:p>
          <a:p>
            <a:pPr marL="274320" indent="-274320">
              <a:lnSpc>
                <a:spcPct val="110000"/>
              </a:lnSpc>
              <a:spcAft>
                <a:spcPts val="1600"/>
              </a:spcAft>
              <a:buClr>
                <a:srgbClr val="0F5F6B"/>
              </a:buClr>
              <a:buFont typeface="Arial"/>
              <a:buChar char="•"/>
            </a:pPr>
            <a:r>
              <a:rPr sz="2000" b="0">
                <a:solidFill>
                  <a:srgbClr val="1E2A30"/>
                </a:solidFill>
                <a:latin typeface="Segoe UI"/>
              </a:rPr>
              <a:t>Rounds 1–5 are clean; attack starts round 6</a:t>
            </a:r>
          </a:p>
          <a:p>
            <a:pPr marL="274320" indent="-274320">
              <a:lnSpc>
                <a:spcPct val="110000"/>
              </a:lnSpc>
              <a:spcAft>
                <a:spcPts val="1600"/>
              </a:spcAft>
              <a:buClr>
                <a:srgbClr val="0F5F6B"/>
              </a:buClr>
              <a:buFont typeface="Arial"/>
              <a:buChar char="•"/>
            </a:pPr>
            <a:r>
              <a:rPr sz="2000" b="0">
                <a:solidFill>
                  <a:srgbClr val="1E2A30"/>
                </a:solidFill>
                <a:latin typeface="Segoe UI"/>
              </a:rPr>
              <a:t>12 rounds per run, repeated with 5–15 seeds</a:t>
            </a:r>
          </a:p>
          <a:p>
            <a:pPr marL="274320" indent="-274320">
              <a:lnSpc>
                <a:spcPct val="110000"/>
              </a:lnSpc>
              <a:spcAft>
                <a:spcPts val="1600"/>
              </a:spcAft>
              <a:buClr>
                <a:srgbClr val="0F5F6B"/>
              </a:buClr>
              <a:buFont typeface="Arial"/>
              <a:buChar char="•"/>
            </a:pPr>
            <a:r>
              <a:rPr sz="2000" b="0">
                <a:solidFill>
                  <a:srgbClr val="1E2A30"/>
                </a:solidFill>
                <a:latin typeface="Segoe UI"/>
              </a:rPr>
              <a:t>Also: 105 messages changed on the way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475488"/>
            <a:ext cx="73152" cy="566928"/>
          </a:xfrm>
          <a:prstGeom prst="rect">
            <a:avLst/>
          </a:prstGeom>
          <a:solidFill>
            <a:srgbClr val="0F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908792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0" i="0">
                <a:solidFill>
                  <a:srgbClr val="1E2A30"/>
                </a:solidFill>
                <a:latin typeface="Segoe UI Semibold"/>
              </a:rPr>
              <a:t>Methodology: before vs after the protocol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A3ADB4"/>
                </a:solidFill>
                <a:latin typeface="Segoe UI"/>
              </a:rPr>
              <a:t>Krypsis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34472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600" b="0" i="0">
                <a:solidFill>
                  <a:srgbClr val="A3ADB4"/>
                </a:solidFill>
                <a:latin typeface="Segoe U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78308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5F6B73"/>
                </a:solidFill>
                <a:latin typeface="Segoe UI"/>
              </a:rPr>
              <a:t>Without protocol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14600" y="1463040"/>
            <a:ext cx="265176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06040" y="1463040"/>
            <a:ext cx="246888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E2A30"/>
                </a:solidFill>
                <a:latin typeface="Segoe UI"/>
              </a:rPr>
              <a:t>Clients</a:t>
            </a:r>
          </a:p>
          <a:p>
            <a:pPr algn="ctr">
              <a:lnSpc>
                <a:spcPct val="105000"/>
              </a:lnSpc>
            </a:pPr>
            <a:r>
              <a:rPr sz="1600" b="0" i="0">
                <a:solidFill>
                  <a:srgbClr val="5F6B73"/>
                </a:solidFill>
                <a:latin typeface="Segoe UI"/>
              </a:rPr>
              <a:t>incl. bad ones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166360" y="1938528"/>
            <a:ext cx="539496" cy="0"/>
          </a:xfrm>
          <a:prstGeom prst="line">
            <a:avLst/>
          </a:prstGeom>
          <a:ln w="19050">
            <a:solidFill>
              <a:srgbClr val="A3ADB4"/>
            </a:solidFill>
            <a:tailEnd type="triangle" w="med" len="med"/>
          </a:ln>
        </p:spPr>
      </p:cxnSp>
      <p:sp>
        <p:nvSpPr>
          <p:cNvPr id="11" name="Rounded Rectangle 10"/>
          <p:cNvSpPr/>
          <p:nvPr/>
        </p:nvSpPr>
        <p:spPr>
          <a:xfrm>
            <a:off x="5705856" y="1463040"/>
            <a:ext cx="265176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97296" y="1463040"/>
            <a:ext cx="246888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E2A30"/>
                </a:solidFill>
                <a:latin typeface="Segoe UI"/>
              </a:rPr>
              <a:t>Average</a:t>
            </a:r>
          </a:p>
          <a:p>
            <a:pPr algn="ctr">
              <a:lnSpc>
                <a:spcPct val="105000"/>
              </a:lnSpc>
            </a:pPr>
            <a:r>
              <a:rPr sz="1600" b="0" i="0">
                <a:solidFill>
                  <a:srgbClr val="5F6B73"/>
                </a:solidFill>
                <a:latin typeface="Segoe UI"/>
              </a:rPr>
              <a:t>everything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357616" y="1938528"/>
            <a:ext cx="539496" cy="0"/>
          </a:xfrm>
          <a:prstGeom prst="line">
            <a:avLst/>
          </a:prstGeom>
          <a:ln w="19050">
            <a:solidFill>
              <a:srgbClr val="A3ADB4"/>
            </a:solidFill>
            <a:tailEnd type="triangle" w="med" len="med"/>
          </a:ln>
        </p:spPr>
      </p:cxnSp>
      <p:sp>
        <p:nvSpPr>
          <p:cNvPr id="14" name="Rounded Rectangle 13"/>
          <p:cNvSpPr/>
          <p:nvPr/>
        </p:nvSpPr>
        <p:spPr>
          <a:xfrm>
            <a:off x="8897112" y="1463040"/>
            <a:ext cx="265176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88552" y="1463040"/>
            <a:ext cx="246888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E2A30"/>
                </a:solidFill>
                <a:latin typeface="Segoe UI"/>
              </a:rPr>
              <a:t>Poisoned 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788920"/>
            <a:ext cx="178308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0F5F6B"/>
                </a:solidFill>
                <a:latin typeface="Segoe UI"/>
              </a:rPr>
              <a:t>With Krypsis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514600" y="2788920"/>
            <a:ext cx="1627632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06040" y="2788920"/>
            <a:ext cx="1444752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E2A30"/>
                </a:solidFill>
                <a:latin typeface="Segoe UI"/>
              </a:rPr>
              <a:t>Clients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142232" y="3264408"/>
            <a:ext cx="224028" cy="0"/>
          </a:xfrm>
          <a:prstGeom prst="line">
            <a:avLst/>
          </a:prstGeom>
          <a:ln w="19050">
            <a:solidFill>
              <a:srgbClr val="0F5F6B"/>
            </a:solidFill>
            <a:tailEnd type="triangle" w="med" len="med"/>
          </a:ln>
        </p:spPr>
      </p:cxnSp>
      <p:sp>
        <p:nvSpPr>
          <p:cNvPr id="20" name="Rounded Rectangle 19"/>
          <p:cNvSpPr/>
          <p:nvPr/>
        </p:nvSpPr>
        <p:spPr>
          <a:xfrm>
            <a:off x="4366260" y="2788920"/>
            <a:ext cx="1627632" cy="960120"/>
          </a:xfrm>
          <a:prstGeom prst="roundRect">
            <a:avLst>
              <a:gd name="adj" fmla="val 8000"/>
            </a:avLst>
          </a:prstGeom>
          <a:solidFill>
            <a:srgbClr val="E4F0F1"/>
          </a:solidFill>
          <a:ln w="12700">
            <a:solidFill>
              <a:srgbClr val="0F5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57700" y="2788920"/>
            <a:ext cx="1444752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0F5F6B"/>
                </a:solidFill>
                <a:latin typeface="Segoe UI"/>
              </a:rPr>
              <a:t>Check tag</a:t>
            </a:r>
          </a:p>
          <a:p>
            <a:pPr algn="ctr">
              <a:lnSpc>
                <a:spcPct val="105000"/>
              </a:lnSpc>
            </a:pPr>
            <a:r>
              <a:rPr sz="1600" b="0" i="0">
                <a:solidFill>
                  <a:srgbClr val="5F6B73"/>
                </a:solidFill>
                <a:latin typeface="Segoe UI"/>
              </a:rPr>
              <a:t>changed? reject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993892" y="3264408"/>
            <a:ext cx="224028" cy="0"/>
          </a:xfrm>
          <a:prstGeom prst="line">
            <a:avLst/>
          </a:prstGeom>
          <a:ln w="19050">
            <a:solidFill>
              <a:srgbClr val="0F5F6B"/>
            </a:solidFill>
            <a:tailEnd type="triangle" w="med" len="med"/>
          </a:ln>
        </p:spPr>
      </p:cxnSp>
      <p:sp>
        <p:nvSpPr>
          <p:cNvPr id="23" name="Rounded Rectangle 22"/>
          <p:cNvSpPr/>
          <p:nvPr/>
        </p:nvSpPr>
        <p:spPr>
          <a:xfrm>
            <a:off x="6217920" y="2788920"/>
            <a:ext cx="1627632" cy="960120"/>
          </a:xfrm>
          <a:prstGeom prst="roundRect">
            <a:avLst>
              <a:gd name="adj" fmla="val 8000"/>
            </a:avLst>
          </a:prstGeom>
          <a:solidFill>
            <a:srgbClr val="E4F0F1"/>
          </a:solidFill>
          <a:ln w="12700">
            <a:solidFill>
              <a:srgbClr val="0F5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2788920"/>
            <a:ext cx="1444752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0F5F6B"/>
                </a:solidFill>
                <a:latin typeface="Segoe UI"/>
              </a:rPr>
              <a:t>Score fingerprint</a:t>
            </a:r>
          </a:p>
          <a:p>
            <a:pPr algn="ctr">
              <a:lnSpc>
                <a:spcPct val="105000"/>
              </a:lnSpc>
            </a:pPr>
            <a:r>
              <a:rPr sz="1600" b="0" i="0">
                <a:solidFill>
                  <a:srgbClr val="5F6B73"/>
                </a:solidFill>
                <a:latin typeface="Segoe UI"/>
              </a:rPr>
              <a:t>suspicious?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845552" y="3264408"/>
            <a:ext cx="224028" cy="0"/>
          </a:xfrm>
          <a:prstGeom prst="line">
            <a:avLst/>
          </a:prstGeom>
          <a:ln w="19050">
            <a:solidFill>
              <a:srgbClr val="0F5F6B"/>
            </a:solidFill>
            <a:tailEnd type="triangle" w="med" len="med"/>
          </a:ln>
        </p:spPr>
      </p:cxnSp>
      <p:sp>
        <p:nvSpPr>
          <p:cNvPr id="26" name="Rounded Rectangle 25"/>
          <p:cNvSpPr/>
          <p:nvPr/>
        </p:nvSpPr>
        <p:spPr>
          <a:xfrm>
            <a:off x="8069580" y="2788920"/>
            <a:ext cx="1627632" cy="960120"/>
          </a:xfrm>
          <a:prstGeom prst="roundRect">
            <a:avLst>
              <a:gd name="adj" fmla="val 8000"/>
            </a:avLst>
          </a:prstGeom>
          <a:solidFill>
            <a:srgbClr val="E4F0F1"/>
          </a:solidFill>
          <a:ln w="12700">
            <a:solidFill>
              <a:srgbClr val="0F5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61020" y="2788920"/>
            <a:ext cx="1444752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0F5F6B"/>
                </a:solidFill>
                <a:latin typeface="Segoe UI"/>
              </a:rPr>
              <a:t>Reject or down-weight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697212" y="3264408"/>
            <a:ext cx="224028" cy="0"/>
          </a:xfrm>
          <a:prstGeom prst="line">
            <a:avLst/>
          </a:prstGeom>
          <a:ln w="19050">
            <a:solidFill>
              <a:srgbClr val="0F5F6B"/>
            </a:solidFill>
            <a:tailEnd type="triangle" w="med" len="med"/>
          </a:ln>
        </p:spPr>
      </p:cxnSp>
      <p:sp>
        <p:nvSpPr>
          <p:cNvPr id="29" name="Rounded Rectangle 28"/>
          <p:cNvSpPr/>
          <p:nvPr/>
        </p:nvSpPr>
        <p:spPr>
          <a:xfrm>
            <a:off x="9921240" y="2788920"/>
            <a:ext cx="1627632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12680" y="2788920"/>
            <a:ext cx="1444752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E2A30"/>
                </a:solidFill>
                <a:latin typeface="Segoe UI"/>
              </a:rPr>
              <a:t>Safe average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40080" y="4023360"/>
            <a:ext cx="10908792" cy="0"/>
          </a:xfrm>
          <a:prstGeom prst="line">
            <a:avLst/>
          </a:prstGeom>
          <a:ln w="12700">
            <a:solidFill>
              <a:srgbClr val="D5DCE0"/>
            </a:solidFill>
          </a:ln>
        </p:spPr>
      </p:cxnSp>
      <p:sp>
        <p:nvSpPr>
          <p:cNvPr id="32" name="TextBox 31"/>
          <p:cNvSpPr txBox="1"/>
          <p:nvPr/>
        </p:nvSpPr>
        <p:spPr>
          <a:xfrm>
            <a:off x="640080" y="4160520"/>
            <a:ext cx="109087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0F5F6B"/>
                </a:solidFill>
                <a:latin typeface="Segoe UI"/>
              </a:rPr>
              <a:t>The threshold problem: how high must a score be to flag an update?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754880"/>
            <a:ext cx="306324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4754880"/>
            <a:ext cx="288036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1" i="0">
                <a:solidFill>
                  <a:srgbClr val="1E2A30"/>
                </a:solidFill>
                <a:latin typeface="Segoe UI"/>
              </a:rPr>
              <a:t>Global threshold</a:t>
            </a:r>
          </a:p>
          <a:p>
            <a:pPr algn="ctr">
              <a:lnSpc>
                <a:spcPct val="105000"/>
              </a:lnSpc>
            </a:pPr>
            <a:r>
              <a:rPr sz="1600" b="0" i="0">
                <a:solidFill>
                  <a:srgbClr val="5F6B73"/>
                </a:solidFill>
                <a:latin typeface="Segoe UI"/>
              </a:rPr>
              <a:t>one limit for all clients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886200" y="4754880"/>
            <a:ext cx="306324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977640" y="4754880"/>
            <a:ext cx="288036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1" i="0">
                <a:solidFill>
                  <a:srgbClr val="1E2A30"/>
                </a:solidFill>
                <a:latin typeface="Segoe UI"/>
              </a:rPr>
              <a:t>Mondrian threshold</a:t>
            </a:r>
          </a:p>
          <a:p>
            <a:pPr algn="ctr">
              <a:lnSpc>
                <a:spcPct val="105000"/>
              </a:lnSpc>
            </a:pPr>
            <a:r>
              <a:rPr sz="1600" b="0" i="0">
                <a:solidFill>
                  <a:srgbClr val="5F6B73"/>
                </a:solidFill>
                <a:latin typeface="Segoe UI"/>
              </a:rPr>
              <a:t>one limit per group of similar clients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69480" y="4754880"/>
            <a:ext cx="42976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1E2A30"/>
                </a:solidFill>
                <a:latin typeface="Segoe UI"/>
              </a:rPr>
              <a:t>Worry: honest clients with unusual (non-IID) data may cross one global limit.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475488"/>
            <a:ext cx="73152" cy="566928"/>
          </a:xfrm>
          <a:prstGeom prst="rect">
            <a:avLst/>
          </a:prstGeom>
          <a:solidFill>
            <a:srgbClr val="0F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908792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0" i="0">
                <a:solidFill>
                  <a:srgbClr val="1E2A30"/>
                </a:solidFill>
                <a:latin typeface="Segoe UI Semibold"/>
              </a:rPr>
              <a:t>Code: Dirichlet non-IID split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A3ADB4"/>
                </a:solidFill>
                <a:latin typeface="Segoe UI"/>
              </a:rPr>
              <a:t>Krypsis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34472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600" b="0" i="0">
                <a:solidFill>
                  <a:srgbClr val="A3ADB4"/>
                </a:solidFill>
                <a:latin typeface="Segoe UI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7818120" cy="4754880"/>
          </a:xfrm>
          <a:prstGeom prst="roundRect">
            <a:avLst>
              <a:gd name="adj" fmla="val 3000"/>
            </a:avLst>
          </a:prstGeom>
          <a:solidFill>
            <a:srgbClr val="F3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54480"/>
            <a:ext cx="7360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5F6B73"/>
                </a:solidFill>
                <a:latin typeface="Consolas"/>
              </a:rPr>
              <a:t>src/preprocess_nslkdd.py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11680"/>
            <a:ext cx="7452360" cy="4069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F5F6B"/>
                </a:solidFill>
                <a:latin typeface="Consolas"/>
              </a:rPr>
              <a:t>def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split_non_iid_dirichlet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(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labels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,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num_clients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,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alpha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,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seed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)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:</a:t>
            </a:r>
          </a:p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rng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=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np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.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random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.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default_rng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(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seed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)</a:t>
            </a:r>
          </a:p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assignment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=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np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.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full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(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len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(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labels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)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,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-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1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,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dtype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=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int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)</a:t>
            </a:r>
          </a:p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1" i="0">
                <a:solidFill>
                  <a:srgbClr val="0F5F6B"/>
                </a:solidFill>
                <a:latin typeface="Consolas"/>
              </a:rPr>
              <a:t>for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category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1" i="0">
                <a:solidFill>
                  <a:srgbClr val="0F5F6B"/>
                </a:solidFill>
                <a:latin typeface="Consolas"/>
              </a:rPr>
              <a:t>in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np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.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unique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(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labels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)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:</a:t>
            </a:r>
          </a:p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idx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=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np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.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where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(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labels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=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=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category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)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[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0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]</a:t>
            </a:r>
          </a:p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rng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.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shuffle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(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idx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)</a:t>
            </a:r>
          </a:p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share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=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rng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.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dirichlet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(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alpha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*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np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.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ones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(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num_clients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)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)</a:t>
            </a:r>
          </a:p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sizes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=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(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share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*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len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(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idx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)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)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.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astype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(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int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)</a:t>
            </a:r>
          </a:p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sizes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[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-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1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]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+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=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len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(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idx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)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-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sizes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.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sum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(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)</a:t>
            </a:r>
          </a:p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start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=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0</a:t>
            </a:r>
          </a:p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1" i="0">
                <a:solidFill>
                  <a:srgbClr val="0F5F6B"/>
                </a:solidFill>
                <a:latin typeface="Consolas"/>
              </a:rPr>
              <a:t>for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client_id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,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size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1" i="0">
                <a:solidFill>
                  <a:srgbClr val="0F5F6B"/>
                </a:solidFill>
                <a:latin typeface="Consolas"/>
              </a:rPr>
              <a:t>in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enumerate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(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sizes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)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:</a:t>
            </a:r>
          </a:p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assignment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[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idx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[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start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: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start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+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size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]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]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=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client_id</a:t>
            </a:r>
          </a:p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start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+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=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size</a:t>
            </a:r>
          </a:p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1" i="0">
                <a:solidFill>
                  <a:srgbClr val="0F5F6B"/>
                </a:solidFill>
                <a:latin typeface="Consolas"/>
              </a:rPr>
              <a:t>return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assignment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1463040"/>
            <a:ext cx="27706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0F5F6B"/>
                </a:solidFill>
                <a:latin typeface="Segoe UI"/>
              </a:rPr>
              <a:t>What this code does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0" y="2011680"/>
            <a:ext cx="277063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lnSpc>
                <a:spcPct val="110000"/>
              </a:lnSpc>
              <a:spcAft>
                <a:spcPts val="1400"/>
              </a:spcAft>
              <a:buClr>
                <a:srgbClr val="0F5F6B"/>
              </a:buClr>
              <a:buFont typeface="Arial"/>
              <a:buChar char="•"/>
            </a:pPr>
            <a:r>
              <a:rPr sz="1800" b="0">
                <a:solidFill>
                  <a:srgbClr val="1E2A30"/>
                </a:solidFill>
                <a:latin typeface="Segoe UI"/>
              </a:rPr>
              <a:t>Takes each attack type one by one</a:t>
            </a:r>
          </a:p>
          <a:p>
            <a:pPr marL="274320" indent="-274320">
              <a:lnSpc>
                <a:spcPct val="110000"/>
              </a:lnSpc>
              <a:spcAft>
                <a:spcPts val="1400"/>
              </a:spcAft>
              <a:buClr>
                <a:srgbClr val="0F5F6B"/>
              </a:buClr>
              <a:buFont typeface="Arial"/>
              <a:buChar char="•"/>
            </a:pPr>
            <a:r>
              <a:rPr sz="1800" b="0">
                <a:solidFill>
                  <a:srgbClr val="1E2A30"/>
                </a:solidFill>
                <a:latin typeface="Segoe UI"/>
              </a:rPr>
              <a:t>Draws random shares for the 10 clients</a:t>
            </a:r>
          </a:p>
          <a:p>
            <a:pPr marL="274320" indent="-274320">
              <a:lnSpc>
                <a:spcPct val="110000"/>
              </a:lnSpc>
              <a:spcAft>
                <a:spcPts val="1400"/>
              </a:spcAft>
              <a:buClr>
                <a:srgbClr val="0F5F6B"/>
              </a:buClr>
              <a:buFont typeface="Arial"/>
              <a:buChar char="•"/>
            </a:pPr>
            <a:r>
              <a:rPr sz="1800" b="0">
                <a:solidFill>
                  <a:srgbClr val="1E2A30"/>
                </a:solidFill>
                <a:latin typeface="Segoe UI"/>
              </a:rPr>
              <a:t>Smaller alpha = more uneven clients (we use 0.5)</a:t>
            </a:r>
          </a:p>
          <a:p>
            <a:pPr marL="274320" indent="-274320">
              <a:lnSpc>
                <a:spcPct val="110000"/>
              </a:lnSpc>
              <a:spcAft>
                <a:spcPts val="1400"/>
              </a:spcAft>
              <a:buClr>
                <a:srgbClr val="0F5F6B"/>
              </a:buClr>
              <a:buFont typeface="Arial"/>
              <a:buChar char="•"/>
            </a:pPr>
            <a:r>
              <a:rPr sz="1800" b="0">
                <a:solidFill>
                  <a:srgbClr val="1E2A30"/>
                </a:solidFill>
                <a:latin typeface="Segoe UI"/>
              </a:rPr>
              <a:t>Returns a client number for every row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475488"/>
            <a:ext cx="73152" cy="566928"/>
          </a:xfrm>
          <a:prstGeom prst="rect">
            <a:avLst/>
          </a:prstGeom>
          <a:solidFill>
            <a:srgbClr val="0F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908792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0" i="0">
                <a:solidFill>
                  <a:srgbClr val="1E2A30"/>
                </a:solidFill>
                <a:latin typeface="Segoe UI Semibold"/>
              </a:rPr>
              <a:t>Code: FedAvg aggregation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A3ADB4"/>
                </a:solidFill>
                <a:latin typeface="Segoe UI"/>
              </a:rPr>
              <a:t>Krypsis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34472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600" b="0" i="0">
                <a:solidFill>
                  <a:srgbClr val="A3ADB4"/>
                </a:solidFill>
                <a:latin typeface="Segoe UI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7818120" cy="4754880"/>
          </a:xfrm>
          <a:prstGeom prst="roundRect">
            <a:avLst>
              <a:gd name="adj" fmla="val 3000"/>
            </a:avLst>
          </a:prstGeom>
          <a:solidFill>
            <a:srgbClr val="F3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54480"/>
            <a:ext cx="7360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5F6B73"/>
                </a:solidFill>
                <a:latin typeface="Consolas"/>
              </a:rPr>
              <a:t>src/federated_training.py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11680"/>
            <a:ext cx="7452360" cy="4069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F5F6B"/>
                </a:solidFill>
                <a:latin typeface="Consolas"/>
              </a:rPr>
              <a:t>def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federated_average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(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weight_list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,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sample_counts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)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:</a:t>
            </a:r>
          </a:p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total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=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sum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(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sample_counts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)</a:t>
            </a:r>
          </a:p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averaged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=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[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]</a:t>
            </a:r>
          </a:p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1" i="0">
                <a:solidFill>
                  <a:srgbClr val="0F5F6B"/>
                </a:solidFill>
                <a:latin typeface="Consolas"/>
              </a:rPr>
              <a:t>for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layer_idx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1" i="0">
                <a:solidFill>
                  <a:srgbClr val="0F5F6B"/>
                </a:solidFill>
                <a:latin typeface="Consolas"/>
              </a:rPr>
              <a:t>in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range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(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len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(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weight_list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[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0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]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)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)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:</a:t>
            </a:r>
          </a:p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layer_sum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=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sum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(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weight_list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[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i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]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[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layer_idx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]</a:t>
            </a:r>
          </a:p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*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(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sample_counts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[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i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]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/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total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)</a:t>
            </a:r>
          </a:p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1" i="0">
                <a:solidFill>
                  <a:srgbClr val="0F5F6B"/>
                </a:solidFill>
                <a:latin typeface="Consolas"/>
              </a:rPr>
              <a:t>for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i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1" i="0">
                <a:solidFill>
                  <a:srgbClr val="0F5F6B"/>
                </a:solidFill>
                <a:latin typeface="Consolas"/>
              </a:rPr>
              <a:t>in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range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(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len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(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weight_list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)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)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)</a:t>
            </a:r>
          </a:p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averaged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.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append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(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layer_sum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)</a:t>
            </a:r>
          </a:p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1" i="0">
                <a:solidFill>
                  <a:srgbClr val="0F5F6B"/>
                </a:solidFill>
                <a:latin typeface="Consolas"/>
              </a:rPr>
              <a:t>return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averaged</a:t>
            </a:r>
          </a:p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F5F6B"/>
                </a:solidFill>
                <a:latin typeface="Consolas"/>
              </a:rPr>
              <a:t>for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round_num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1" i="0">
                <a:solidFill>
                  <a:srgbClr val="0F5F6B"/>
                </a:solidFill>
                <a:latin typeface="Consolas"/>
              </a:rPr>
              <a:t>in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range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(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1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,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num_rounds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+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1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)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:</a:t>
            </a:r>
          </a:p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1" i="0">
                <a:solidFill>
                  <a:srgbClr val="0F5F6B"/>
                </a:solidFill>
                <a:latin typeface="Consolas"/>
              </a:rPr>
              <a:t>for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client_id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1" i="0">
                <a:solidFill>
                  <a:srgbClr val="0F5F6B"/>
                </a:solidFill>
                <a:latin typeface="Consolas"/>
              </a:rPr>
              <a:t>in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range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(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num_clients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)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:</a:t>
            </a:r>
          </a:p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local_model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.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set_weights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(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global_weights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)</a:t>
            </a:r>
          </a:p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local_model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.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fit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(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X_client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,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y_client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,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epochs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=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2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)</a:t>
            </a:r>
          </a:p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.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.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.</a:t>
            </a:r>
          </a:p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global_weights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=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federated_average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(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local_weights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,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counts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1463040"/>
            <a:ext cx="27706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0F5F6B"/>
                </a:solidFill>
                <a:latin typeface="Segoe UI"/>
              </a:rPr>
              <a:t>What this code does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0" y="2011680"/>
            <a:ext cx="277063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lnSpc>
                <a:spcPct val="110000"/>
              </a:lnSpc>
              <a:spcAft>
                <a:spcPts val="1400"/>
              </a:spcAft>
              <a:buClr>
                <a:srgbClr val="0F5F6B"/>
              </a:buClr>
              <a:buFont typeface="Arial"/>
              <a:buChar char="•"/>
            </a:pPr>
            <a:r>
              <a:rPr sz="1800" b="0">
                <a:solidFill>
                  <a:srgbClr val="1E2A30"/>
                </a:solidFill>
                <a:latin typeface="Segoe UI"/>
              </a:rPr>
              <a:t>Each client starts from the global model</a:t>
            </a:r>
          </a:p>
          <a:p>
            <a:pPr marL="274320" indent="-274320">
              <a:lnSpc>
                <a:spcPct val="110000"/>
              </a:lnSpc>
              <a:spcAft>
                <a:spcPts val="1400"/>
              </a:spcAft>
              <a:buClr>
                <a:srgbClr val="0F5F6B"/>
              </a:buClr>
              <a:buFont typeface="Arial"/>
              <a:buChar char="•"/>
            </a:pPr>
            <a:r>
              <a:rPr sz="1800" b="0">
                <a:solidFill>
                  <a:srgbClr val="1E2A30"/>
                </a:solidFill>
                <a:latin typeface="Segoe UI"/>
              </a:rPr>
              <a:t>Trains on its own data only</a:t>
            </a:r>
          </a:p>
          <a:p>
            <a:pPr marL="274320" indent="-274320">
              <a:lnSpc>
                <a:spcPct val="110000"/>
              </a:lnSpc>
              <a:spcAft>
                <a:spcPts val="1400"/>
              </a:spcAft>
              <a:buClr>
                <a:srgbClr val="0F5F6B"/>
              </a:buClr>
              <a:buFont typeface="Arial"/>
              <a:buChar char="•"/>
            </a:pPr>
            <a:r>
              <a:rPr sz="1800" b="0">
                <a:solidFill>
                  <a:srgbClr val="1E2A30"/>
                </a:solidFill>
                <a:latin typeface="Segoe UI"/>
              </a:rPr>
              <a:t>Server averages every layer</a:t>
            </a:r>
          </a:p>
          <a:p>
            <a:pPr marL="274320" indent="-274320">
              <a:lnSpc>
                <a:spcPct val="110000"/>
              </a:lnSpc>
              <a:spcAft>
                <a:spcPts val="1400"/>
              </a:spcAft>
              <a:buClr>
                <a:srgbClr val="0F5F6B"/>
              </a:buClr>
              <a:buFont typeface="Arial"/>
              <a:buChar char="•"/>
            </a:pPr>
            <a:r>
              <a:rPr sz="1800" b="0">
                <a:solidFill>
                  <a:srgbClr val="1E2A30"/>
                </a:solidFill>
                <a:latin typeface="Segoe UI"/>
              </a:rPr>
              <a:t>Clients with more data count more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475488"/>
            <a:ext cx="73152" cy="566928"/>
          </a:xfrm>
          <a:prstGeom prst="rect">
            <a:avLst/>
          </a:prstGeom>
          <a:solidFill>
            <a:srgbClr val="0F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908792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0" i="0">
                <a:solidFill>
                  <a:srgbClr val="1E2A30"/>
                </a:solidFill>
                <a:latin typeface="Segoe UI Semibold"/>
              </a:rPr>
              <a:t>Code: integrity tag and fingerprint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A3ADB4"/>
                </a:solidFill>
                <a:latin typeface="Segoe UI"/>
              </a:rPr>
              <a:t>Krypsis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34472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600" b="0" i="0">
                <a:solidFill>
                  <a:srgbClr val="A3ADB4"/>
                </a:solidFill>
                <a:latin typeface="Segoe UI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7818120" cy="4754880"/>
          </a:xfrm>
          <a:prstGeom prst="roundRect">
            <a:avLst>
              <a:gd name="adj" fmla="val 3000"/>
            </a:avLst>
          </a:prstGeom>
          <a:solidFill>
            <a:srgbClr val="F3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54480"/>
            <a:ext cx="7360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5F6B73"/>
                </a:solidFill>
                <a:latin typeface="Consolas"/>
              </a:rPr>
              <a:t>src/protocol.py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11680"/>
            <a:ext cx="7452360" cy="4069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1">
                <a:solidFill>
                  <a:srgbClr val="5F6B73"/>
                </a:solidFill>
                <a:latin typeface="Consolas"/>
              </a:rPr>
              <a:t># client: build the message</a:t>
            </a:r>
          </a:p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E2A30"/>
                </a:solidFill>
                <a:latin typeface="Consolas"/>
              </a:rPr>
              <a:t>fp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=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fingerprinter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.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compute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(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delta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)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1">
                <a:solidFill>
                  <a:srgbClr val="5F6B73"/>
                </a:solidFill>
                <a:latin typeface="Consolas"/>
              </a:rPr>
              <a:t># size + 64-number sketch</a:t>
            </a:r>
          </a:p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E2A30"/>
                </a:solidFill>
                <a:latin typeface="Consolas"/>
              </a:rPr>
              <a:t>header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=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json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.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dumps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(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{</a:t>
            </a:r>
            <a:r>
              <a:rPr sz="1600" b="0" i="0">
                <a:solidFill>
                  <a:srgbClr val="8A5A00"/>
                </a:solidFill>
                <a:latin typeface="Consolas"/>
              </a:rPr>
              <a:t>"client"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: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client_id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,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8A5A00"/>
                </a:solidFill>
                <a:latin typeface="Consolas"/>
              </a:rPr>
              <a:t>"round"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: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rnd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,</a:t>
            </a:r>
          </a:p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8A5A00"/>
                </a:solidFill>
                <a:latin typeface="Consolas"/>
              </a:rPr>
              <a:t>"n"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: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num_samples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,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8A5A00"/>
                </a:solidFill>
                <a:latin typeface="Consolas"/>
              </a:rPr>
              <a:t>"fp"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: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fp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}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)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.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encode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(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)</a:t>
            </a:r>
          </a:p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E2A30"/>
                </a:solidFill>
                <a:latin typeface="Consolas"/>
              </a:rPr>
              <a:t>payload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=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delta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.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astype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(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np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.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float32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)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.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tobytes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(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)</a:t>
            </a:r>
          </a:p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E2A30"/>
                </a:solidFill>
                <a:latin typeface="Consolas"/>
              </a:rPr>
              <a:t>tag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=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hmac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.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new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(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key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,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header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+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payload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,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hashlib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.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sha256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)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.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digest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(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)</a:t>
            </a:r>
          </a:p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600" b="0" i="1">
                <a:solidFill>
                  <a:srgbClr val="5F6B73"/>
                </a:solidFill>
                <a:latin typeface="Consolas"/>
              </a:rPr>
              <a:t># server: verify before using it</a:t>
            </a:r>
          </a:p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E2A30"/>
                </a:solidFill>
                <a:latin typeface="Consolas"/>
              </a:rPr>
              <a:t>expected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=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hmac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.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new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(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key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,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header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+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payload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,</a:t>
            </a:r>
          </a:p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hashlib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.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sha256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)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.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digest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(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)</a:t>
            </a:r>
          </a:p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F5F6B"/>
                </a:solidFill>
                <a:latin typeface="Consolas"/>
              </a:rPr>
              <a:t>if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1" i="0">
                <a:solidFill>
                  <a:srgbClr val="0F5F6B"/>
                </a:solidFill>
                <a:latin typeface="Consolas"/>
              </a:rPr>
              <a:t>not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hmac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.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compare_digest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(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tag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,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expected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)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:</a:t>
            </a:r>
          </a:p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1" i="0">
                <a:solidFill>
                  <a:srgbClr val="0F5F6B"/>
                </a:solidFill>
                <a:latin typeface="Consolas"/>
              </a:rPr>
              <a:t>return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header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,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1" i="0">
                <a:solidFill>
                  <a:srgbClr val="0F5F6B"/>
                </a:solidFill>
                <a:latin typeface="Consolas"/>
              </a:rPr>
              <a:t>None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,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8A5A00"/>
                </a:solidFill>
                <a:latin typeface="Consolas"/>
              </a:rPr>
              <a:t>"bad_tag"</a:t>
            </a:r>
          </a:p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E2A30"/>
                </a:solidFill>
                <a:latin typeface="Consolas"/>
              </a:rPr>
              <a:t>actual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=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fingerprinter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.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compute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(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delta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)</a:t>
            </a:r>
          </a:p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F5F6B"/>
                </a:solidFill>
                <a:latin typeface="Consolas"/>
              </a:rPr>
              <a:t>if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1" i="0">
                <a:solidFill>
                  <a:srgbClr val="0F5F6B"/>
                </a:solidFill>
                <a:latin typeface="Consolas"/>
              </a:rPr>
              <a:t>not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np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.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allclose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(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actual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[</a:t>
            </a:r>
            <a:r>
              <a:rPr sz="1600" b="0" i="0">
                <a:solidFill>
                  <a:srgbClr val="8A5A00"/>
                </a:solidFill>
                <a:latin typeface="Consolas"/>
              </a:rPr>
              <a:t>"sketch"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]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,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claimed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[</a:t>
            </a:r>
            <a:r>
              <a:rPr sz="1600" b="0" i="0">
                <a:solidFill>
                  <a:srgbClr val="8A5A00"/>
                </a:solidFill>
                <a:latin typeface="Consolas"/>
              </a:rPr>
              <a:t>"sketch"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]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)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:</a:t>
            </a:r>
          </a:p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1" i="0">
                <a:solidFill>
                  <a:srgbClr val="0F5F6B"/>
                </a:solidFill>
                <a:latin typeface="Consolas"/>
              </a:rPr>
              <a:t>return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header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,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1" i="0">
                <a:solidFill>
                  <a:srgbClr val="0F5F6B"/>
                </a:solidFill>
                <a:latin typeface="Consolas"/>
              </a:rPr>
              <a:t>None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,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8A5A00"/>
                </a:solidFill>
                <a:latin typeface="Consolas"/>
              </a:rPr>
              <a:t>"fingerprint_mismatch"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1463040"/>
            <a:ext cx="27706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0F5F6B"/>
                </a:solidFill>
                <a:latin typeface="Segoe UI"/>
              </a:rPr>
              <a:t>What this code does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0" y="2011680"/>
            <a:ext cx="277063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lnSpc>
                <a:spcPct val="110000"/>
              </a:lnSpc>
              <a:spcAft>
                <a:spcPts val="1400"/>
              </a:spcAft>
              <a:buClr>
                <a:srgbClr val="0F5F6B"/>
              </a:buClr>
              <a:buFont typeface="Arial"/>
              <a:buChar char="•"/>
            </a:pPr>
            <a:r>
              <a:rPr sz="1800" b="0">
                <a:solidFill>
                  <a:srgbClr val="1E2A30"/>
                </a:solidFill>
                <a:latin typeface="Segoe UI"/>
              </a:rPr>
              <a:t>Client seals header + update with its key</a:t>
            </a:r>
          </a:p>
          <a:p>
            <a:pPr marL="274320" indent="-274320">
              <a:lnSpc>
                <a:spcPct val="110000"/>
              </a:lnSpc>
              <a:spcAft>
                <a:spcPts val="1400"/>
              </a:spcAft>
              <a:buClr>
                <a:srgbClr val="0F5F6B"/>
              </a:buClr>
              <a:buFont typeface="Arial"/>
              <a:buChar char="•"/>
            </a:pPr>
            <a:r>
              <a:rPr sz="1800" b="0">
                <a:solidFill>
                  <a:srgbClr val="1E2A30"/>
                </a:solidFill>
                <a:latin typeface="Segoe UI"/>
              </a:rPr>
              <a:t>Server rebuilds the seal and compares</a:t>
            </a:r>
          </a:p>
          <a:p>
            <a:pPr marL="274320" indent="-274320">
              <a:lnSpc>
                <a:spcPct val="110000"/>
              </a:lnSpc>
              <a:spcAft>
                <a:spcPts val="1400"/>
              </a:spcAft>
              <a:buClr>
                <a:srgbClr val="0F5F6B"/>
              </a:buClr>
              <a:buFont typeface="Arial"/>
              <a:buChar char="•"/>
            </a:pPr>
            <a:r>
              <a:rPr sz="1800" b="0">
                <a:solidFill>
                  <a:srgbClr val="1E2A30"/>
                </a:solidFill>
                <a:latin typeface="Segoe UI"/>
              </a:rPr>
              <a:t>Server recomputes the fingerprint too</a:t>
            </a:r>
          </a:p>
          <a:p>
            <a:pPr marL="274320" indent="-274320">
              <a:lnSpc>
                <a:spcPct val="110000"/>
              </a:lnSpc>
              <a:spcAft>
                <a:spcPts val="1400"/>
              </a:spcAft>
              <a:buClr>
                <a:srgbClr val="0F5F6B"/>
              </a:buClr>
              <a:buFont typeface="Arial"/>
              <a:buChar char="•"/>
            </a:pPr>
            <a:r>
              <a:rPr sz="1800" b="0">
                <a:solidFill>
                  <a:srgbClr val="1E2A30"/>
                </a:solidFill>
                <a:latin typeface="Segoe UI"/>
              </a:rPr>
              <a:t>Any mismatch → message rejected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475488"/>
            <a:ext cx="73152" cy="566928"/>
          </a:xfrm>
          <a:prstGeom prst="rect">
            <a:avLst/>
          </a:prstGeom>
          <a:solidFill>
            <a:srgbClr val="0F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908792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0" i="0">
                <a:solidFill>
                  <a:srgbClr val="1E2A30"/>
                </a:solidFill>
                <a:latin typeface="Segoe UI Semibold"/>
              </a:rPr>
              <a:t>Code: threshold check (global vs Mondrian)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A3ADB4"/>
                </a:solidFill>
                <a:latin typeface="Segoe UI"/>
              </a:rPr>
              <a:t>Krypsis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34472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600" b="0" i="0">
                <a:solidFill>
                  <a:srgbClr val="A3ADB4"/>
                </a:solidFill>
                <a:latin typeface="Segoe UI"/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7818120" cy="4754880"/>
          </a:xfrm>
          <a:prstGeom prst="roundRect">
            <a:avLst>
              <a:gd name="adj" fmla="val 3000"/>
            </a:avLst>
          </a:prstGeom>
          <a:solidFill>
            <a:srgbClr val="F3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54480"/>
            <a:ext cx="7360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5F6B73"/>
                </a:solidFill>
                <a:latin typeface="Consolas"/>
              </a:rPr>
              <a:t>src/protocol.py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11680"/>
            <a:ext cx="7452360" cy="4069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F5F6B"/>
                </a:solidFill>
                <a:latin typeface="Consolas"/>
              </a:rPr>
              <a:t>def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conformal_threshold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(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scores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,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alpha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)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: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1">
                <a:solidFill>
                  <a:srgbClr val="5F6B73"/>
                </a:solidFill>
                <a:latin typeface="Consolas"/>
              </a:rPr>
              <a:t># alpha = 0.05</a:t>
            </a:r>
          </a:p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rank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=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math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.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ceil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(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(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len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(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scores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)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+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1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)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*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(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1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-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alpha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)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)</a:t>
            </a:r>
          </a:p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1" i="0">
                <a:solidFill>
                  <a:srgbClr val="0F5F6B"/>
                </a:solidFill>
                <a:latin typeface="Consolas"/>
              </a:rPr>
              <a:t>return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float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(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np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.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sort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(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scores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)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[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rank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-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1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]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)</a:t>
            </a:r>
          </a:p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F5F6B"/>
                </a:solidFill>
                <a:latin typeface="Consolas"/>
              </a:rPr>
              <a:t>class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GlobalCalibrator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: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1">
                <a:solidFill>
                  <a:srgbClr val="5F6B73"/>
                </a:solidFill>
                <a:latin typeface="Consolas"/>
              </a:rPr>
              <a:t># one limit for everyone</a:t>
            </a:r>
          </a:p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1" i="0">
                <a:solidFill>
                  <a:srgbClr val="0F5F6B"/>
                </a:solidFill>
                <a:latin typeface="Consolas"/>
              </a:rPr>
              <a:t>def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threshold_for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(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self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,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client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)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:</a:t>
            </a:r>
          </a:p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1" i="0">
                <a:solidFill>
                  <a:srgbClr val="0F5F6B"/>
                </a:solidFill>
                <a:latin typeface="Consolas"/>
              </a:rPr>
              <a:t>return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self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.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thresholds</a:t>
            </a:r>
          </a:p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F5F6B"/>
                </a:solidFill>
                <a:latin typeface="Consolas"/>
              </a:rPr>
              <a:t>class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MondrianCalibrator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: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1">
                <a:solidFill>
                  <a:srgbClr val="5F6B73"/>
                </a:solidFill>
                <a:latin typeface="Consolas"/>
              </a:rPr>
              <a:t># one limit per cluster</a:t>
            </a:r>
          </a:p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1" i="0">
                <a:solidFill>
                  <a:srgbClr val="0F5F6B"/>
                </a:solidFill>
                <a:latin typeface="Consolas"/>
              </a:rPr>
              <a:t>def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fit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(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self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)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:</a:t>
            </a:r>
          </a:p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labels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=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KMeans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(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n_clusters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=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k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,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.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.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.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)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.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fit_predict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(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prof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)</a:t>
            </a:r>
          </a:p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.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.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.</a:t>
            </a:r>
          </a:p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1" i="0">
                <a:solidFill>
                  <a:srgbClr val="0F5F6B"/>
                </a:solidFill>
                <a:latin typeface="Consolas"/>
              </a:rPr>
              <a:t>def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threshold_for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(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self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,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client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)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:</a:t>
            </a:r>
          </a:p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1" i="0">
                <a:solidFill>
                  <a:srgbClr val="0F5F6B"/>
                </a:solidFill>
                <a:latin typeface="Consolas"/>
              </a:rPr>
              <a:t>return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self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.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thresholds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[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self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.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cluster_of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[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client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]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]</a:t>
            </a:r>
          </a:p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F5F6B"/>
                </a:solidFill>
                <a:latin typeface="Consolas"/>
              </a:rPr>
              <a:t>def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is_flagged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(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scores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,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thresholds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)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:</a:t>
            </a:r>
          </a:p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1" i="0">
                <a:solidFill>
                  <a:srgbClr val="0F5F6B"/>
                </a:solidFill>
                <a:latin typeface="Consolas"/>
              </a:rPr>
              <a:t>return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any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(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scores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[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s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]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&gt;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thresholds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[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s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]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1" i="0">
                <a:solidFill>
                  <a:srgbClr val="0F5F6B"/>
                </a:solidFill>
                <a:latin typeface="Consolas"/>
              </a:rPr>
              <a:t>for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s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1" i="0">
                <a:solidFill>
                  <a:srgbClr val="0F5F6B"/>
                </a:solidFill>
                <a:latin typeface="Consolas"/>
              </a:rPr>
              <a:t>in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 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SCORE_NAMES</a:t>
            </a:r>
            <a:r>
              <a:rPr sz="1600" b="0" i="0">
                <a:solidFill>
                  <a:srgbClr val="1E2A30"/>
                </a:solidFill>
                <a:latin typeface="Consolas"/>
              </a:rPr>
              <a:t>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1463040"/>
            <a:ext cx="27706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0F5F6B"/>
                </a:solidFill>
                <a:latin typeface="Segoe UI"/>
              </a:rPr>
              <a:t>What this code does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0" y="2011680"/>
            <a:ext cx="277063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lnSpc>
                <a:spcPct val="110000"/>
              </a:lnSpc>
              <a:spcAft>
                <a:spcPts val="1400"/>
              </a:spcAft>
              <a:buClr>
                <a:srgbClr val="0F5F6B"/>
              </a:buClr>
              <a:buFont typeface="Arial"/>
              <a:buChar char="•"/>
            </a:pPr>
            <a:r>
              <a:rPr sz="1800" b="0">
                <a:solidFill>
                  <a:srgbClr val="1E2A30"/>
                </a:solidFill>
                <a:latin typeface="Segoe UI"/>
              </a:rPr>
              <a:t>Limit set from 5 clean rounds</a:t>
            </a:r>
          </a:p>
          <a:p>
            <a:pPr marL="274320" indent="-274320">
              <a:lnSpc>
                <a:spcPct val="110000"/>
              </a:lnSpc>
              <a:spcAft>
                <a:spcPts val="1400"/>
              </a:spcAft>
              <a:buClr>
                <a:srgbClr val="0F5F6B"/>
              </a:buClr>
              <a:buFont typeface="Arial"/>
              <a:buChar char="•"/>
            </a:pPr>
            <a:r>
              <a:rPr sz="1800" b="0">
                <a:solidFill>
                  <a:srgbClr val="1E2A30"/>
                </a:solidFill>
                <a:latin typeface="Segoe UI"/>
              </a:rPr>
              <a:t>Only ~5% of honest scores cross it</a:t>
            </a:r>
          </a:p>
          <a:p>
            <a:pPr marL="274320" indent="-274320">
              <a:lnSpc>
                <a:spcPct val="110000"/>
              </a:lnSpc>
              <a:spcAft>
                <a:spcPts val="1400"/>
              </a:spcAft>
              <a:buClr>
                <a:srgbClr val="0F5F6B"/>
              </a:buClr>
              <a:buFont typeface="Arial"/>
              <a:buChar char="•"/>
            </a:pPr>
            <a:r>
              <a:rPr sz="1800" b="0">
                <a:solidFill>
                  <a:srgbClr val="1E2A30"/>
                </a:solidFill>
                <a:latin typeface="Segoe UI"/>
              </a:rPr>
              <a:t>Global: same limit for all clients</a:t>
            </a:r>
          </a:p>
          <a:p>
            <a:pPr marL="274320" indent="-274320">
              <a:lnSpc>
                <a:spcPct val="110000"/>
              </a:lnSpc>
              <a:spcAft>
                <a:spcPts val="1400"/>
              </a:spcAft>
              <a:buClr>
                <a:srgbClr val="0F5F6B"/>
              </a:buClr>
              <a:buFont typeface="Arial"/>
              <a:buChar char="•"/>
            </a:pPr>
            <a:r>
              <a:rPr sz="1800" b="0">
                <a:solidFill>
                  <a:srgbClr val="1E2A30"/>
                </a:solidFill>
                <a:latin typeface="Segoe UI"/>
              </a:rPr>
              <a:t>Mondrian: limit for the client's cluster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475488"/>
            <a:ext cx="73152" cy="566928"/>
          </a:xfrm>
          <a:prstGeom prst="rect">
            <a:avLst/>
          </a:prstGeom>
          <a:solidFill>
            <a:srgbClr val="0F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908792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0" i="0">
                <a:solidFill>
                  <a:srgbClr val="1E2A30"/>
                </a:solidFill>
                <a:latin typeface="Segoe UI Semibold"/>
              </a:rPr>
              <a:t>Results: accuracy (no attack)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A3ADB4"/>
                </a:solidFill>
                <a:latin typeface="Segoe UI"/>
              </a:rPr>
              <a:t>Krypsis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34472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600" b="0" i="0">
                <a:solidFill>
                  <a:srgbClr val="A3ADB4"/>
                </a:solidFill>
                <a:latin typeface="Segoe UI"/>
              </a:rPr>
              <a:t>15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40080" y="1371600"/>
          <a:ext cx="539496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217920" y="1371600"/>
          <a:ext cx="5349240" cy="4114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5577840"/>
            <a:ext cx="1090879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 i="0">
                <a:solidFill>
                  <a:srgbClr val="5F6B73"/>
                </a:solidFill>
                <a:latin typeface="Segoe UI"/>
              </a:rPr>
              <a:t>Left axis starts at 99.8%. Federated nearly matches centralized; uneven data hurts the harder 11-type task.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475488"/>
            <a:ext cx="73152" cy="566928"/>
          </a:xfrm>
          <a:prstGeom prst="rect">
            <a:avLst/>
          </a:prstGeom>
          <a:solidFill>
            <a:srgbClr val="0F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908792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0" i="0">
                <a:solidFill>
                  <a:srgbClr val="1E2A30"/>
                </a:solidFill>
                <a:latin typeface="Segoe UI Semibold"/>
              </a:rPr>
              <a:t>Results: under label-flipping attack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A3ADB4"/>
                </a:solidFill>
                <a:latin typeface="Segoe UI"/>
              </a:rPr>
              <a:t>Krypsis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34472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600" b="0" i="0">
                <a:solidFill>
                  <a:srgbClr val="A3ADB4"/>
                </a:solidFill>
                <a:latin typeface="Segoe UI"/>
              </a:rPr>
              <a:t>16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40080" y="1371600"/>
          <a:ext cx="539496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217920" y="1371600"/>
          <a:ext cx="5349240" cy="42062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5669280"/>
            <a:ext cx="109087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0F5F6B"/>
                </a:solidFill>
                <a:latin typeface="Segoe UI"/>
              </a:rPr>
              <a:t>All 105 tampered messages were rejected.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475488"/>
            <a:ext cx="73152" cy="566928"/>
          </a:xfrm>
          <a:prstGeom prst="rect">
            <a:avLst/>
          </a:prstGeom>
          <a:solidFill>
            <a:srgbClr val="0F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908792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0" i="0">
                <a:solidFill>
                  <a:srgbClr val="1E2A30"/>
                </a:solidFill>
                <a:latin typeface="Segoe UI Semibold"/>
              </a:rPr>
              <a:t>Comparison: no protocol vs global vs Mondrian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A3ADB4"/>
                </a:solidFill>
                <a:latin typeface="Segoe UI"/>
              </a:rPr>
              <a:t>Krypsis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34472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600" b="0" i="0">
                <a:solidFill>
                  <a:srgbClr val="A3ADB4"/>
                </a:solidFill>
                <a:latin typeface="Segoe UI"/>
              </a:rPr>
              <a:t>17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554480"/>
          <a:ext cx="10908792" cy="36576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566160"/>
                <a:gridCol w="2377440"/>
                <a:gridCol w="2514600"/>
                <a:gridCol w="2450592"/>
              </a:tblGrid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1E2A30"/>
                          </a:solidFill>
                          <a:latin typeface="Segoe UI"/>
                        </a:rPr>
                        <a:t/>
                      </a:r>
                    </a:p>
                  </a:txBody>
                  <a:tcPr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1E2A30"/>
                          </a:solidFill>
                          <a:latin typeface="Segoe UI"/>
                        </a:rPr>
                        <a:t>No protocol</a:t>
                      </a:r>
                    </a:p>
                  </a:txBody>
                  <a:tcPr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  <a:latin typeface="Segoe UI"/>
                        </a:rPr>
                        <a:t>Protocol + global</a:t>
                      </a:r>
                    </a:p>
                  </a:txBody>
                  <a:tcPr anchor="ctr">
                    <a:solidFill>
                      <a:srgbClr val="0F5F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1E2A30"/>
                          </a:solidFill>
                          <a:latin typeface="Segoe UI"/>
                        </a:rPr>
                        <a:t>Protocol + Mondrian</a:t>
                      </a:r>
                    </a:p>
                  </a:txBody>
                  <a:tcPr anchor="ctr">
                    <a:solidFill>
                      <a:srgbClr val="F3F5F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E2A30"/>
                          </a:solidFill>
                          <a:latin typeface="Segoe UI"/>
                        </a:rPr>
                        <a:t>Accuracy under attack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E2A30"/>
                          </a:solidFill>
                          <a:latin typeface="Segoe UI"/>
                        </a:rPr>
                        <a:t>78.0%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F5F6B"/>
                          </a:solidFill>
                          <a:latin typeface="Segoe UI"/>
                        </a:rPr>
                        <a:t>88.2%</a:t>
                      </a:r>
                    </a:p>
                  </a:txBody>
                  <a:tcPr anchor="ctr">
                    <a:solidFill>
                      <a:srgbClr val="E4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E2A30"/>
                          </a:solidFill>
                          <a:latin typeface="Segoe UI"/>
                        </a:rPr>
                        <a:t>87.5%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E2A30"/>
                          </a:solidFill>
                          <a:latin typeface="Segoe UI"/>
                        </a:rPr>
                        <a:t>Attacks caught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E2A30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F5F6B"/>
                          </a:solidFill>
                          <a:latin typeface="Segoe UI"/>
                        </a:rPr>
                        <a:t>53.3%</a:t>
                      </a:r>
                    </a:p>
                  </a:txBody>
                  <a:tcPr anchor="ctr">
                    <a:solidFill>
                      <a:srgbClr val="E4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E2A30"/>
                          </a:solidFill>
                          <a:latin typeface="Segoe UI"/>
                        </a:rPr>
                        <a:t>57.6%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E2A30"/>
                          </a:solidFill>
                          <a:latin typeface="Segoe UI"/>
                        </a:rPr>
                        <a:t>Honest wrongly flagged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E2A30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F5F6B"/>
                          </a:solidFill>
                          <a:latin typeface="Segoe UI"/>
                        </a:rPr>
                        <a:t>2.7%</a:t>
                      </a:r>
                    </a:p>
                  </a:txBody>
                  <a:tcPr anchor="ctr">
                    <a:solidFill>
                      <a:srgbClr val="E4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E2A30"/>
                          </a:solidFill>
                          <a:latin typeface="Segoe UI"/>
                        </a:rPr>
                        <a:t>4.6%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E2A30"/>
                          </a:solidFill>
                          <a:latin typeface="Segoe UI"/>
                        </a:rPr>
                        <a:t>Tampered messages rejected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E2A30"/>
                          </a:solidFill>
                          <a:latin typeface="Segoe UI"/>
                        </a:rPr>
                        <a:t>not checked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F5F6B"/>
                          </a:solidFill>
                          <a:latin typeface="Segoe UI"/>
                        </a:rPr>
                        <a:t>105 / 105</a:t>
                      </a:r>
                    </a:p>
                  </a:txBody>
                  <a:tcPr anchor="ctr">
                    <a:solidFill>
                      <a:srgbClr val="E4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E2A30"/>
                          </a:solidFill>
                          <a:latin typeface="Segoe UI"/>
                        </a:rPr>
                        <a:t>105 / 105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5440680"/>
            <a:ext cx="1090879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5F6B73"/>
                </a:solidFill>
                <a:latin typeface="Segoe UI"/>
              </a:rPr>
              <a:t>FLNET2023, 2 of 10 attackers, 15 seeds. Global vs Mondrian: no significant difference (p = 0.21 caught, p = 0.18 wrongly flagged).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475488"/>
            <a:ext cx="73152" cy="566928"/>
          </a:xfrm>
          <a:prstGeom prst="rect">
            <a:avLst/>
          </a:prstGeom>
          <a:solidFill>
            <a:srgbClr val="0F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908792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0" i="0">
                <a:solidFill>
                  <a:srgbClr val="1E2A30"/>
                </a:solidFill>
                <a:latin typeface="Segoe UI Semibold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A3ADB4"/>
                </a:solidFill>
                <a:latin typeface="Segoe UI"/>
              </a:rPr>
              <a:t>Krypsis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34472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600" b="0" i="0">
                <a:solidFill>
                  <a:srgbClr val="A3ADB4"/>
                </a:solidFill>
                <a:latin typeface="Segoe UI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1051560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lnSpc>
                <a:spcPct val="110000"/>
              </a:lnSpc>
              <a:spcAft>
                <a:spcPts val="2200"/>
              </a:spcAft>
              <a:buClr>
                <a:srgbClr val="0F5F6B"/>
              </a:buClr>
              <a:buFont typeface="Arial"/>
              <a:buChar char="•"/>
            </a:pPr>
            <a:r>
              <a:rPr sz="2400" b="1">
                <a:solidFill>
                  <a:srgbClr val="0F5F6B"/>
                </a:solidFill>
                <a:latin typeface="Segoe UI"/>
              </a:rPr>
              <a:t>Built: </a:t>
            </a:r>
            <a:r>
              <a:rPr sz="2400" b="0">
                <a:solidFill>
                  <a:srgbClr val="1E2A30"/>
                </a:solidFill>
                <a:latin typeface="Segoe UI"/>
              </a:rPr>
              <a:t>a federated attack detector over 10 real router clients.</a:t>
            </a:r>
          </a:p>
          <a:p>
            <a:pPr marL="274320" indent="-274320">
              <a:lnSpc>
                <a:spcPct val="110000"/>
              </a:lnSpc>
              <a:spcAft>
                <a:spcPts val="2200"/>
              </a:spcAft>
              <a:buClr>
                <a:srgbClr val="0F5F6B"/>
              </a:buClr>
              <a:buFont typeface="Arial"/>
              <a:buChar char="•"/>
            </a:pPr>
            <a:r>
              <a:rPr sz="2400" b="1">
                <a:solidFill>
                  <a:srgbClr val="0F5F6B"/>
                </a:solidFill>
                <a:latin typeface="Segoe UI"/>
              </a:rPr>
              <a:t>Worked: </a:t>
            </a:r>
            <a:r>
              <a:rPr sz="2400" b="0">
                <a:solidFill>
                  <a:srgbClr val="1E2A30"/>
                </a:solidFill>
                <a:latin typeface="Segoe UI"/>
              </a:rPr>
              <a:t>federated model nearly matches central (99.93% vs 100.0%).</a:t>
            </a:r>
          </a:p>
          <a:p>
            <a:pPr marL="274320" indent="-274320">
              <a:lnSpc>
                <a:spcPct val="110000"/>
              </a:lnSpc>
              <a:spcAft>
                <a:spcPts val="2200"/>
              </a:spcAft>
              <a:buClr>
                <a:srgbClr val="0F5F6B"/>
              </a:buClr>
              <a:buFont typeface="Arial"/>
              <a:buChar char="•"/>
            </a:pPr>
            <a:r>
              <a:rPr sz="2400" b="1">
                <a:solidFill>
                  <a:srgbClr val="0F5F6B"/>
                </a:solidFill>
                <a:latin typeface="Segoe UI"/>
              </a:rPr>
              <a:t>Worked: </a:t>
            </a:r>
            <a:r>
              <a:rPr sz="2400" b="0">
                <a:solidFill>
                  <a:srgbClr val="1E2A30"/>
                </a:solidFill>
                <a:latin typeface="Segoe UI"/>
              </a:rPr>
              <a:t>protocol rejected all tampering and raised accuracy under attack.</a:t>
            </a:r>
          </a:p>
          <a:p>
            <a:pPr marL="274320" indent="-274320">
              <a:lnSpc>
                <a:spcPct val="110000"/>
              </a:lnSpc>
              <a:spcAft>
                <a:spcPts val="2200"/>
              </a:spcAft>
              <a:buClr>
                <a:srgbClr val="0F5F6B"/>
              </a:buClr>
              <a:buFont typeface="Arial"/>
              <a:buChar char="•"/>
            </a:pPr>
            <a:r>
              <a:rPr sz="2400" b="1">
                <a:solidFill>
                  <a:srgbClr val="0F5F6B"/>
                </a:solidFill>
                <a:latin typeface="Segoe UI"/>
              </a:rPr>
              <a:t>Key finding: </a:t>
            </a:r>
            <a:r>
              <a:rPr sz="2400" b="0">
                <a:solidFill>
                  <a:srgbClr val="1E2A30"/>
                </a:solidFill>
                <a:latin typeface="Segoe UI"/>
              </a:rPr>
              <a:t>one global threshold is enough; Mondrian was not better.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120640"/>
            <a:ext cx="10908792" cy="868680"/>
          </a:xfrm>
          <a:prstGeom prst="roundRect">
            <a:avLst>
              <a:gd name="adj" fmla="val 10000"/>
            </a:avLst>
          </a:prstGeom>
          <a:solidFill>
            <a:srgbClr val="E4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120640"/>
            <a:ext cx="10908792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 i="0">
                <a:solidFill>
                  <a:srgbClr val="0F5F6B"/>
                </a:solidFill>
                <a:latin typeface="Segoe UI"/>
              </a:rPr>
              <a:t>Thank you  · 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